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sldIdLst>
    <p:sldId id="327" r:id="rId2"/>
    <p:sldId id="257" r:id="rId3"/>
    <p:sldId id="258" r:id="rId4"/>
    <p:sldId id="330" r:id="rId5"/>
    <p:sldId id="331" r:id="rId6"/>
    <p:sldId id="259" r:id="rId7"/>
    <p:sldId id="260" r:id="rId8"/>
    <p:sldId id="261" r:id="rId9"/>
    <p:sldId id="262" r:id="rId10"/>
    <p:sldId id="263" r:id="rId11"/>
    <p:sldId id="317" r:id="rId12"/>
    <p:sldId id="318" r:id="rId13"/>
    <p:sldId id="319" r:id="rId14"/>
    <p:sldId id="320" r:id="rId15"/>
    <p:sldId id="321" r:id="rId16"/>
    <p:sldId id="322" r:id="rId17"/>
    <p:sldId id="323" r:id="rId18"/>
    <p:sldId id="324" r:id="rId19"/>
    <p:sldId id="325" r:id="rId20"/>
    <p:sldId id="326" r:id="rId21"/>
    <p:sldId id="264" r:id="rId22"/>
    <p:sldId id="265" r:id="rId23"/>
    <p:sldId id="333" r:id="rId24"/>
    <p:sldId id="334" r:id="rId25"/>
    <p:sldId id="361" r:id="rId26"/>
    <p:sldId id="335" r:id="rId27"/>
    <p:sldId id="336" r:id="rId28"/>
    <p:sldId id="337" r:id="rId29"/>
    <p:sldId id="338" r:id="rId30"/>
    <p:sldId id="339" r:id="rId31"/>
    <p:sldId id="340" r:id="rId32"/>
    <p:sldId id="341" r:id="rId33"/>
    <p:sldId id="342" r:id="rId34"/>
    <p:sldId id="343" r:id="rId35"/>
    <p:sldId id="344" r:id="rId36"/>
    <p:sldId id="345" r:id="rId37"/>
    <p:sldId id="346" r:id="rId38"/>
    <p:sldId id="347" r:id="rId39"/>
    <p:sldId id="348" r:id="rId40"/>
    <p:sldId id="349" r:id="rId41"/>
    <p:sldId id="350" r:id="rId42"/>
    <p:sldId id="351" r:id="rId43"/>
    <p:sldId id="352" r:id="rId44"/>
    <p:sldId id="353" r:id="rId45"/>
    <p:sldId id="354" r:id="rId46"/>
    <p:sldId id="355" r:id="rId47"/>
    <p:sldId id="356" r:id="rId48"/>
    <p:sldId id="357" r:id="rId49"/>
    <p:sldId id="358" r:id="rId50"/>
    <p:sldId id="362" r:id="rId51"/>
    <p:sldId id="359" r:id="rId52"/>
    <p:sldId id="360" r:id="rId53"/>
    <p:sldId id="292"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9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4"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image" Target="../media/image48.png"/></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image" Target="../media/image5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B076FB-D9EE-4378-AC99-C5F3989AFD58}" type="datetimeFigureOut">
              <a:rPr lang="zh-CN" altLang="en-US" smtClean="0"/>
              <a:pPr/>
              <a:t>2018/3/6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604805-669E-4152-A7F2-8E160C06D317}" type="slidenum">
              <a:rPr lang="zh-CN" altLang="en-US" smtClean="0"/>
              <a:pPr/>
              <a:t>‹#›</a:t>
            </a:fld>
            <a:endParaRPr lang="zh-CN" altLang="en-US"/>
          </a:p>
        </p:txBody>
      </p:sp>
    </p:spTree>
    <p:extLst>
      <p:ext uri="{BB962C8B-B14F-4D97-AF65-F5344CB8AC3E}">
        <p14:creationId xmlns:p14="http://schemas.microsoft.com/office/powerpoint/2010/main" val="214720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圆角矩形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标题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p:txBody>
          <a:bodyPr/>
          <a:lstStyle/>
          <a:p>
            <a:fld id="{564CF2E0-CCC4-4E1E-9902-C3C36AB3FDA4}" type="datetimeFigureOut">
              <a:rPr lang="en-US" smtClean="0"/>
              <a:pPr/>
              <a:t>3/6/2018</a:t>
            </a:fld>
            <a:endParaRPr lang="en-US"/>
          </a:p>
        </p:txBody>
      </p:sp>
      <p:sp>
        <p:nvSpPr>
          <p:cNvPr id="17" name="页脚占位符 16"/>
          <p:cNvSpPr>
            <a:spLocks noGrp="1"/>
          </p:cNvSpPr>
          <p:nvPr>
            <p:ph type="ftr" sz="quarter" idx="11"/>
          </p:nvPr>
        </p:nvSpPr>
        <p:spPr/>
        <p:txBody>
          <a:bodyPr/>
          <a:lstStyle/>
          <a:p>
            <a:endParaRPr kumimoji="0" lang="en-US"/>
          </a:p>
        </p:txBody>
      </p:sp>
      <p:sp>
        <p:nvSpPr>
          <p:cNvPr id="29" name="灯片编号占位符 28"/>
          <p:cNvSpPr>
            <a:spLocks noGrp="1"/>
          </p:cNvSpPr>
          <p:nvPr>
            <p:ph type="sldNum" sz="quarter" idx="12"/>
          </p:nvPr>
        </p:nvSpPr>
        <p:spPr/>
        <p:txBody>
          <a:bodyPr lIns="0" tIns="0" rIns="0" bIns="0">
            <a:noAutofit/>
          </a:bodyPr>
          <a:lstStyle>
            <a:lvl1pPr>
              <a:defRPr sz="1400">
                <a:solidFill>
                  <a:srgbClr val="FFFFFF"/>
                </a:solidFill>
              </a:defRPr>
            </a:lvl1pPr>
          </a:lstStyle>
          <a:p>
            <a:fld id="{6F42FDE4-A7DD-41A7-A0A6-9B649FB43336}" type="slidenum">
              <a:rPr kumimoji="0" lang="en-US" smtClean="0"/>
              <a:pPr/>
              <a:t>‹#›</a:t>
            </a:fld>
            <a:endParaRPr kumimoji="0" lang="en-US" sz="1400" dirty="0">
              <a:solidFill>
                <a:srgbClr val="FFFFFF"/>
              </a:solidFill>
            </a:endParaRPr>
          </a:p>
        </p:txBody>
      </p:sp>
      <p:sp>
        <p:nvSpPr>
          <p:cNvPr id="7" name="矩形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zh-CN" altLang="en-US" smtClean="0"/>
              <a:t>单击此处编辑母版标题样式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fld id="{564CF2E0-CCC4-4E1E-9902-C3C36AB3FDA4}" type="datetimeFigureOut">
              <a:rPr lang="en-US" smtClean="0"/>
              <a:pPr/>
              <a:t>3/6/2018</a:t>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fld id="{6F42FDE4-A7DD-41A7-A0A6-9B649FB43336}" type="slidenum">
              <a:rPr kumimoji="0" lang="en-US" smtClean="0"/>
              <a:pPr/>
              <a:t>‹#›</a:t>
            </a:fld>
            <a:endParaRPr kumimoji="0" lang="en-US"/>
          </a:p>
        </p:txBody>
      </p:sp>
      <p:sp>
        <p:nvSpPr>
          <p:cNvPr id="8" name="内容占位符 7"/>
          <p:cNvSpPr>
            <a:spLocks noGrp="1"/>
          </p:cNvSpPr>
          <p:nvPr>
            <p:ph sz="quarter" idx="1"/>
          </p:nvPr>
        </p:nvSpPr>
        <p:spPr>
          <a:xfrm>
            <a:off x="914400" y="1447800"/>
            <a:ext cx="7772400" cy="4572000"/>
          </a:xfrm>
        </p:spPr>
        <p:txBody>
          <a:bodyPr vert="horz"/>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圆角矩形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13" y="952500"/>
            <a:ext cx="7772400" cy="1362075"/>
          </a:xfrm>
        </p:spPr>
        <p:txBody>
          <a:bodyPr anchor="b" anchorCtr="0"/>
          <a:lstStyle>
            <a:lvl1pPr algn="l">
              <a:buNone/>
              <a:defRPr sz="4000" b="0" cap="none"/>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564CF2E0-CCC4-4E1E-9902-C3C36AB3FDA4}" type="datetimeFigureOut">
              <a:rPr lang="en-US" smtClean="0"/>
              <a:pPr/>
              <a:t>3/6/2018</a:t>
            </a:fld>
            <a:endParaRPr lang="en-US"/>
          </a:p>
        </p:txBody>
      </p:sp>
      <p:sp>
        <p:nvSpPr>
          <p:cNvPr id="5" name="页脚占位符 4"/>
          <p:cNvSpPr>
            <a:spLocks noGrp="1"/>
          </p:cNvSpPr>
          <p:nvPr>
            <p:ph type="ftr" sz="quarter" idx="11"/>
          </p:nvPr>
        </p:nvSpPr>
        <p:spPr>
          <a:xfrm>
            <a:off x="800100" y="6172200"/>
            <a:ext cx="4000500" cy="457200"/>
          </a:xfrm>
        </p:spPr>
        <p:txBody>
          <a:bodyPr/>
          <a:lstStyle/>
          <a:p>
            <a:endParaRPr kumimoji="0" lang="en-US" dirty="0"/>
          </a:p>
        </p:txBody>
      </p:sp>
      <p:sp>
        <p:nvSpPr>
          <p:cNvPr id="7" name="矩形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灯片编号占位符 5"/>
          <p:cNvSpPr>
            <a:spLocks noGrp="1"/>
          </p:cNvSpPr>
          <p:nvPr>
            <p:ph type="sldNum" sz="quarter" idx="12"/>
          </p:nvPr>
        </p:nvSpPr>
        <p:spPr>
          <a:xfrm>
            <a:off x="146304" y="6208776"/>
            <a:ext cx="457200" cy="457200"/>
          </a:xfrm>
        </p:spPr>
        <p:txBody>
          <a:bodyPr/>
          <a:lstStyle/>
          <a:p>
            <a:fld id="{6F42FDE4-A7DD-41A7-A0A6-9B649FB43336}" type="slidenum">
              <a:rPr kumimoji="0" lang="en-US" smtClean="0"/>
              <a:pPr/>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564CF2E0-CCC4-4E1E-9902-C3C36AB3FDA4}" type="datetimeFigureOut">
              <a:rPr lang="en-US" smtClean="0"/>
              <a:pPr/>
              <a:t>3/6/2018</a:t>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fld id="{6F42FDE4-A7DD-41A7-A0A6-9B649FB43336}" type="slidenum">
              <a:rPr kumimoji="0" lang="en-US" smtClean="0"/>
              <a:pPr/>
              <a:t>‹#›</a:t>
            </a:fld>
            <a:endParaRPr kumimoji="0" lang="en-US"/>
          </a:p>
        </p:txBody>
      </p:sp>
      <p:sp>
        <p:nvSpPr>
          <p:cNvPr id="9" name="内容占位符 8"/>
          <p:cNvSpPr>
            <a:spLocks noGrp="1"/>
          </p:cNvSpPr>
          <p:nvPr>
            <p:ph sz="quarter" idx="1"/>
          </p:nvPr>
        </p:nvSpPr>
        <p:spPr>
          <a:xfrm>
            <a:off x="914400" y="1447800"/>
            <a:ext cx="3749040" cy="4572000"/>
          </a:xfrm>
        </p:spPr>
        <p:txBody>
          <a:bodyPr vert="horz"/>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1" name="内容占位符 10"/>
          <p:cNvSpPr>
            <a:spLocks noGrp="1"/>
          </p:cNvSpPr>
          <p:nvPr>
            <p:ph sz="quarter" idx="2"/>
          </p:nvPr>
        </p:nvSpPr>
        <p:spPr>
          <a:xfrm>
            <a:off x="4933950" y="1447800"/>
            <a:ext cx="3749040" cy="4572000"/>
          </a:xfrm>
        </p:spPr>
        <p:txBody>
          <a:bodyPr vert="horz"/>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14400" y="273050"/>
            <a:ext cx="7772400" cy="1143000"/>
          </a:xfrm>
        </p:spPr>
        <p:txBody>
          <a:bodyPr anchor="b" anchorCtr="0"/>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7" name="日期占位符 6"/>
          <p:cNvSpPr>
            <a:spLocks noGrp="1"/>
          </p:cNvSpPr>
          <p:nvPr>
            <p:ph type="dt" sz="half" idx="10"/>
          </p:nvPr>
        </p:nvSpPr>
        <p:spPr/>
        <p:txBody>
          <a:bodyPr/>
          <a:lstStyle/>
          <a:p>
            <a:fld id="{564CF2E0-CCC4-4E1E-9902-C3C36AB3FDA4}" type="datetimeFigureOut">
              <a:rPr lang="en-US" smtClean="0"/>
              <a:pPr/>
              <a:t>3/6/2018</a:t>
            </a:fld>
            <a:endParaRPr lang="en-US"/>
          </a:p>
        </p:txBody>
      </p:sp>
      <p:sp>
        <p:nvSpPr>
          <p:cNvPr id="8" name="页脚占位符 7"/>
          <p:cNvSpPr>
            <a:spLocks noGrp="1"/>
          </p:cNvSpPr>
          <p:nvPr>
            <p:ph type="ftr" sz="quarter" idx="11"/>
          </p:nvPr>
        </p:nvSpPr>
        <p:spPr/>
        <p:txBody>
          <a:bodyPr/>
          <a:lstStyle/>
          <a:p>
            <a:endParaRPr kumimoji="0" lang="en-US"/>
          </a:p>
        </p:txBody>
      </p:sp>
      <p:sp>
        <p:nvSpPr>
          <p:cNvPr id="9" name="灯片编号占位符 8"/>
          <p:cNvSpPr>
            <a:spLocks noGrp="1"/>
          </p:cNvSpPr>
          <p:nvPr>
            <p:ph type="sldNum" sz="quarter" idx="12"/>
          </p:nvPr>
        </p:nvSpPr>
        <p:spPr/>
        <p:txBody>
          <a:bodyPr/>
          <a:lstStyle/>
          <a:p>
            <a:fld id="{6F42FDE4-A7DD-41A7-A0A6-9B649FB43336}" type="slidenum">
              <a:rPr kumimoji="0" lang="en-US" smtClean="0"/>
              <a:pPr/>
              <a:t>‹#›</a:t>
            </a:fld>
            <a:endParaRPr kumimoji="0" lang="en-US"/>
          </a:p>
        </p:txBody>
      </p:sp>
      <p:sp>
        <p:nvSpPr>
          <p:cNvPr id="11" name="内容占位符 10"/>
          <p:cNvSpPr>
            <a:spLocks noGrp="1"/>
          </p:cNvSpPr>
          <p:nvPr>
            <p:ph sz="half" idx="2"/>
          </p:nvPr>
        </p:nvSpPr>
        <p:spPr>
          <a:xfrm>
            <a:off x="914400" y="2247900"/>
            <a:ext cx="3733800" cy="3886200"/>
          </a:xfrm>
        </p:spPr>
        <p:txBody>
          <a:bodyPr vert="horz"/>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half" idx="4"/>
          </p:nvPr>
        </p:nvSpPr>
        <p:spPr>
          <a:xfrm>
            <a:off x="4953000" y="2247900"/>
            <a:ext cx="3733800" cy="3886200"/>
          </a:xfrm>
        </p:spPr>
        <p:txBody>
          <a:bodyPr vert="horz"/>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64CF2E0-CCC4-4E1E-9902-C3C36AB3FDA4}" type="datetimeFigureOut">
              <a:rPr lang="en-US" smtClean="0"/>
              <a:pPr/>
              <a:t>3/6/2018</a:t>
            </a:fld>
            <a:endParaRPr lang="en-US"/>
          </a:p>
        </p:txBody>
      </p:sp>
      <p:sp>
        <p:nvSpPr>
          <p:cNvPr id="4" name="页脚占位符 3"/>
          <p:cNvSpPr>
            <a:spLocks noGrp="1"/>
          </p:cNvSpPr>
          <p:nvPr>
            <p:ph type="ftr" sz="quarter" idx="11"/>
          </p:nvPr>
        </p:nvSpPr>
        <p:spPr/>
        <p:txBody>
          <a:bodyPr/>
          <a:lstStyle/>
          <a:p>
            <a:endParaRPr kumimoji="0" lang="en-US"/>
          </a:p>
        </p:txBody>
      </p:sp>
      <p:sp>
        <p:nvSpPr>
          <p:cNvPr id="5" name="灯片编号占位符 4"/>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64CF2E0-CCC4-4E1E-9902-C3C36AB3FDA4}" type="datetimeFigureOut">
              <a:rPr lang="en-US" smtClean="0"/>
              <a:pPr/>
              <a:t>3/6/2018</a:t>
            </a:fld>
            <a:endParaRPr lang="en-US"/>
          </a:p>
        </p:txBody>
      </p:sp>
      <p:sp>
        <p:nvSpPr>
          <p:cNvPr id="3" name="页脚占位符 2"/>
          <p:cNvSpPr>
            <a:spLocks noGrp="1"/>
          </p:cNvSpPr>
          <p:nvPr>
            <p:ph type="ftr" sz="quarter" idx="11"/>
          </p:nvPr>
        </p:nvSpPr>
        <p:spPr/>
        <p:txBody>
          <a:bodyPr/>
          <a:lstStyle/>
          <a:p>
            <a:endParaRPr kumimoji="0" lang="en-US"/>
          </a:p>
        </p:txBody>
      </p:sp>
      <p:sp>
        <p:nvSpPr>
          <p:cNvPr id="4" name="灯片编号占位符 3"/>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圆角矩形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914400" y="273050"/>
            <a:ext cx="7772400" cy="1143000"/>
          </a:xfrm>
        </p:spPr>
        <p:txBody>
          <a:bodyPr anchor="b" anchorCtr="0"/>
          <a:lstStyle>
            <a:lvl1pPr algn="l">
              <a:buNone/>
              <a:defRPr sz="4000" b="0"/>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fld id="{564CF2E0-CCC4-4E1E-9902-C3C36AB3FDA4}" type="datetimeFigureOut">
              <a:rPr lang="en-US" smtClean="0"/>
              <a:pPr/>
              <a:t>3/6/2018</a:t>
            </a:fld>
            <a:endParaRPr lang="en-US"/>
          </a:p>
        </p:txBody>
      </p:sp>
      <p:sp>
        <p:nvSpPr>
          <p:cNvPr id="6" name="页脚占位符 5"/>
          <p:cNvSpPr>
            <a:spLocks noGrp="1"/>
          </p:cNvSpPr>
          <p:nvPr>
            <p:ph type="ftr" sz="quarter" idx="11"/>
          </p:nvPr>
        </p:nvSpPr>
        <p:spPr/>
        <p:txBody>
          <a:bodyPr/>
          <a:lstStyle/>
          <a:p>
            <a:endParaRPr kumimoji="0" lang="en-US"/>
          </a:p>
        </p:txBody>
      </p:sp>
      <p:sp>
        <p:nvSpPr>
          <p:cNvPr id="7" name="灯片编号占位符 6"/>
          <p:cNvSpPr>
            <a:spLocks noGrp="1"/>
          </p:cNvSpPr>
          <p:nvPr>
            <p:ph type="sldNum" sz="quarter" idx="12"/>
          </p:nvPr>
        </p:nvSpPr>
        <p:spPr/>
        <p:txBody>
          <a:bodyPr/>
          <a:lstStyle/>
          <a:p>
            <a:fld id="{6F42FDE4-A7DD-41A7-A0A6-9B649FB43336}" type="slidenum">
              <a:rPr kumimoji="0" lang="en-US" smtClean="0"/>
              <a:pPr/>
              <a:t>‹#›</a:t>
            </a:fld>
            <a:endParaRPr kumimoji="0" lang="en-US"/>
          </a:p>
        </p:txBody>
      </p:sp>
      <p:sp>
        <p:nvSpPr>
          <p:cNvPr id="11" name="内容占位符 10"/>
          <p:cNvSpPr>
            <a:spLocks noGrp="1"/>
          </p:cNvSpPr>
          <p:nvPr>
            <p:ph sz="quarter" idx="1"/>
          </p:nvPr>
        </p:nvSpPr>
        <p:spPr>
          <a:xfrm>
            <a:off x="2971800" y="1600200"/>
            <a:ext cx="5715000" cy="4495800"/>
          </a:xfrm>
        </p:spPr>
        <p:txBody>
          <a:bodyPr vert="horz"/>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fld id="{564CF2E0-CCC4-4E1E-9902-C3C36AB3FDA4}" type="datetimeFigureOut">
              <a:rPr lang="en-US" smtClean="0"/>
              <a:pPr/>
              <a:t>3/6/2018</a:t>
            </a:fld>
            <a:endParaRPr lang="en-US"/>
          </a:p>
        </p:txBody>
      </p:sp>
      <p:sp>
        <p:nvSpPr>
          <p:cNvPr id="6" name="页脚占位符 5"/>
          <p:cNvSpPr>
            <a:spLocks noGrp="1"/>
          </p:cNvSpPr>
          <p:nvPr>
            <p:ph type="ftr" sz="quarter" idx="11"/>
          </p:nvPr>
        </p:nvSpPr>
        <p:spPr>
          <a:xfrm>
            <a:off x="914400" y="6172200"/>
            <a:ext cx="3886200" cy="457200"/>
          </a:xfrm>
        </p:spPr>
        <p:txBody>
          <a:bodyPr/>
          <a:lstStyle/>
          <a:p>
            <a:endParaRPr kumimoji="0" lang="en-US" dirty="0"/>
          </a:p>
        </p:txBody>
      </p:sp>
      <p:sp>
        <p:nvSpPr>
          <p:cNvPr id="7" name="灯片编号占位符 6"/>
          <p:cNvSpPr>
            <a:spLocks noGrp="1"/>
          </p:cNvSpPr>
          <p:nvPr>
            <p:ph type="sldNum" sz="quarter" idx="12"/>
          </p:nvPr>
        </p:nvSpPr>
        <p:spPr>
          <a:xfrm>
            <a:off x="146304" y="6208776"/>
            <a:ext cx="457200" cy="457200"/>
          </a:xfrm>
        </p:spPr>
        <p:txBody>
          <a:bodyPr/>
          <a:lstStyle/>
          <a:p>
            <a:fld id="{6F42FDE4-A7DD-41A7-A0A6-9B649FB43336}" type="slidenum">
              <a:rPr kumimoji="0" lang="en-US" smtClean="0"/>
              <a:pPr/>
              <a:t>‹#›</a:t>
            </a:fld>
            <a:endParaRPr kumimoji="0" lang="en-US" dirty="0"/>
          </a:p>
        </p:txBody>
      </p:sp>
      <p:sp>
        <p:nvSpPr>
          <p:cNvPr id="11" name="矩形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图片占位符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CN" altLang="en-US" smtClean="0"/>
              <a:t>单击图标添加图片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64CF2E0-CCC4-4E1E-9902-C3C36AB3FDA4}" type="datetimeFigureOut">
              <a:rPr lang="en-US" smtClean="0"/>
              <a:pPr/>
              <a:t>3/6/2018</a:t>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1168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914400" y="274640"/>
            <a:ext cx="55626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64CF2E0-CCC4-4E1E-9902-C3C36AB3FDA4}" type="datetimeFigureOut">
              <a:rPr lang="en-US" smtClean="0"/>
              <a:pPr/>
              <a:t>3/6/2018</a:t>
            </a:fld>
            <a:endParaRPr lang="en-US"/>
          </a:p>
        </p:txBody>
      </p:sp>
      <p:sp>
        <p:nvSpPr>
          <p:cNvPr id="5" name="页脚占位符 4"/>
          <p:cNvSpPr>
            <a:spLocks noGrp="1"/>
          </p:cNvSpPr>
          <p:nvPr>
            <p:ph type="ftr" sz="quarter" idx="11"/>
          </p:nvPr>
        </p:nvSpPr>
        <p:spPr/>
        <p:txBody>
          <a:bodyPr/>
          <a:lstStyle/>
          <a:p>
            <a:endParaRPr kumimoji="0" lang="en-US"/>
          </a:p>
        </p:txBody>
      </p:sp>
      <p:sp>
        <p:nvSpPr>
          <p:cNvPr id="6" name="灯片编号占位符 5"/>
          <p:cNvSpPr>
            <a:spLocks noGrp="1"/>
          </p:cNvSpPr>
          <p:nvPr>
            <p:ph type="sldNum" sz="quarter" idx="12"/>
          </p:nvPr>
        </p:nvSpPr>
        <p:spPr/>
        <p:txBody>
          <a:bodyPr/>
          <a:lstStyle/>
          <a:p>
            <a:fld id="{6F42FDE4-A7DD-41A7-A0A6-9B649FB43336}" type="slidenum">
              <a:rPr kumimoji="0" lang="en-US" smtClean="0"/>
              <a:pPr/>
              <a:t>‹#›</a:t>
            </a:fld>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4000500" cy="44989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762500" y="1600200"/>
            <a:ext cx="4000500" cy="2173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762500" y="3925888"/>
            <a:ext cx="4000500" cy="2173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298450" y="6245225"/>
            <a:ext cx="2289175"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1025" y="6245225"/>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0025" y="6245225"/>
            <a:ext cx="2289175" cy="476250"/>
          </a:xfrm>
        </p:spPr>
        <p:txBody>
          <a:bodyPr/>
          <a:lstStyle>
            <a:lvl1pPr>
              <a:defRPr/>
            </a:lvl1pPr>
          </a:lstStyle>
          <a:p>
            <a:fld id="{648C9549-A76F-44FC-82EE-0C3B7E563D9C}" type="slidenum">
              <a:rPr lang="en-US" altLang="zh-CN"/>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600200"/>
            <a:ext cx="4000500" cy="44989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600200"/>
            <a:ext cx="4000500" cy="44989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298450" y="6245225"/>
            <a:ext cx="2289175"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3121025" y="6245225"/>
            <a:ext cx="28956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0025" y="6245225"/>
            <a:ext cx="2289175" cy="476250"/>
          </a:xfrm>
        </p:spPr>
        <p:txBody>
          <a:bodyPr/>
          <a:lstStyle>
            <a:lvl1pPr>
              <a:defRPr/>
            </a:lvl1pPr>
          </a:lstStyle>
          <a:p>
            <a:fld id="{2FDA72D0-9E45-41F3-8D5E-088B149A10FC}"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圆角矩形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标题占位符 21"/>
          <p:cNvSpPr>
            <a:spLocks noGrp="1"/>
          </p:cNvSpPr>
          <p:nvPr>
            <p:ph type="title"/>
          </p:nvPr>
        </p:nvSpPr>
        <p:spPr>
          <a:xfrm>
            <a:off x="914400" y="274638"/>
            <a:ext cx="7772400" cy="1143000"/>
          </a:xfrm>
          <a:prstGeom prst="rect">
            <a:avLst/>
          </a:prstGeom>
        </p:spPr>
        <p:txBody>
          <a:bodyPr bIns="91440" anchor="b" anchorCtr="0">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lgn="r" eaLnBrk="1" latinLnBrk="0" hangingPunct="1"/>
            <a:fld id="{564CF2E0-CCC4-4E1E-9902-C3C36AB3FDA4}" type="datetimeFigureOut">
              <a:rPr lang="en-US" smtClean="0"/>
              <a:pPr algn="r" eaLnBrk="1" latinLnBrk="0" hangingPunct="1"/>
              <a:t>3/6/2018</a:t>
            </a:fld>
            <a:endParaRPr lang="en-US" sz="1400" dirty="0">
              <a:solidFill>
                <a:schemeClr val="tx2"/>
              </a:solidFill>
            </a:endParaRPr>
          </a:p>
        </p:txBody>
      </p:sp>
      <p:sp>
        <p:nvSpPr>
          <p:cNvPr id="3" name="页脚占位符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kumimoji="0" lang="en-US" sz="1400" dirty="0">
              <a:solidFill>
                <a:schemeClr val="tx2"/>
              </a:solidFill>
            </a:endParaRPr>
          </a:p>
        </p:txBody>
      </p:sp>
      <p:sp>
        <p:nvSpPr>
          <p:cNvPr id="23" name="灯片编号占位符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lgn="ctr" eaLnBrk="1" latinLnBrk="0" hangingPunct="1"/>
            <a:fld id="{6F42FDE4-A7DD-41A7-A0A6-9B649FB43336}" type="slidenum">
              <a:rPr kumimoji="0" lang="en-US" smtClean="0"/>
              <a:pPr algn="ctr" eaLnBrk="1" latinLnBrk="0" hangingPunct="1"/>
              <a:t>‹#›</a:t>
            </a:fld>
            <a:endParaRPr kumimoji="0" lang="en-US" sz="1400" dirty="0">
              <a:solidFill>
                <a:srgbClr val="FFFFFF"/>
              </a:solidFill>
              <a:latin typeface="+mj-lt"/>
              <a:ea typeface="+mj-ea"/>
              <a:cs typeface="+mj-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4.vml"/><Relationship Id="rId5" Type="http://schemas.openxmlformats.org/officeDocument/2006/relationships/image" Target="../media/image13.wmf"/><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5.wmf"/><Relationship Id="rId4"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7.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0.wmf"/><Relationship Id="rId5" Type="http://schemas.openxmlformats.org/officeDocument/2006/relationships/oleObject" Target="../embeddings/oleObject13.bin"/><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1.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2.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30.png"/><Relationship Id="rId4" Type="http://schemas.openxmlformats.org/officeDocument/2006/relationships/oleObject" Target="../embeddings/oleObject16.bin"/></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8.bin"/><Relationship Id="rId5" Type="http://schemas.openxmlformats.org/officeDocument/2006/relationships/image" Target="../media/image32.wmf"/><Relationship Id="rId4" Type="http://schemas.openxmlformats.org/officeDocument/2006/relationships/oleObject" Target="../embeddings/oleObject17.bin"/></Relationships>
</file>

<file path=ppt/slides/_rels/slide38.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5.wmf"/><Relationship Id="rId5" Type="http://schemas.openxmlformats.org/officeDocument/2006/relationships/oleObject" Target="../embeddings/oleObject20.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22.bin"/></Relationships>
</file>

<file path=ppt/slides/_rels/slide39.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0.wmf"/><Relationship Id="rId5" Type="http://schemas.openxmlformats.org/officeDocument/2006/relationships/oleObject" Target="../embeddings/oleObject24.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6.bin"/></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47.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49.png"/><Relationship Id="rId5" Type="http://schemas.openxmlformats.org/officeDocument/2006/relationships/oleObject" Target="../embeddings/oleObject32.bin"/><Relationship Id="rId4" Type="http://schemas.openxmlformats.org/officeDocument/2006/relationships/image" Target="../media/image48.png"/></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hyperlink" Target="http://zh.wikipedia.org/wiki/File:Color_cones.png" TargetMode="External"/><Relationship Id="rId3" Type="http://schemas.openxmlformats.org/officeDocument/2006/relationships/oleObject" Target="../embeddings/oleObject33.bin"/><Relationship Id="rId7"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52.png"/><Relationship Id="rId5" Type="http://schemas.openxmlformats.org/officeDocument/2006/relationships/oleObject" Target="../embeddings/oleObject34.bin"/><Relationship Id="rId4" Type="http://schemas.openxmlformats.org/officeDocument/2006/relationships/image" Target="../media/image51.png"/><Relationship Id="rId9" Type="http://schemas.openxmlformats.org/officeDocument/2006/relationships/image" Target="../media/image54.png"/></Relationships>
</file>

<file path=ppt/slides/_rels/slide5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2.xml"/><Relationship Id="rId6" Type="http://schemas.openxmlformats.org/officeDocument/2006/relationships/image" Target="../media/image68.jpeg"/><Relationship Id="rId5" Type="http://schemas.openxmlformats.org/officeDocument/2006/relationships/image" Target="../media/image67.jpeg"/><Relationship Id="rId4" Type="http://schemas.openxmlformats.org/officeDocument/2006/relationships/image" Target="../media/image66.jpeg"/></Relationships>
</file>

<file path=ppt/slides/_rels/slide5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hyperlink" Target="http://en.wikipedia.org/wiki/File:Lens_aperture_side.jpg" TargetMode="External"/></Relationships>
</file>

<file path=ppt/slides/_rels/slide59.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2.xml"/><Relationship Id="rId4" Type="http://schemas.openxmlformats.org/officeDocument/2006/relationships/image" Target="../media/image76.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ctrTitle"/>
          </p:nvPr>
        </p:nvSpPr>
        <p:spPr/>
        <p:txBody>
          <a:bodyPr/>
          <a:lstStyle/>
          <a:p>
            <a:r>
              <a:rPr lang="zh-CN" altLang="en-US" b="1" dirty="0" smtClean="0">
                <a:latin typeface="楷体_GB2312" pitchFamily="49" charset="-122"/>
                <a:ea typeface="楷体_GB2312" pitchFamily="49" charset="-122"/>
              </a:rPr>
              <a:t>第二章 视觉的基本知识</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Rectangle 4"/>
          <p:cNvSpPr>
            <a:spLocks noGrp="1" noRot="1" noChangeArrowheads="1"/>
          </p:cNvSpPr>
          <p:nvPr>
            <p:ph type="ctrTitle"/>
          </p:nvPr>
        </p:nvSpPr>
        <p:spPr/>
        <p:txBody>
          <a:bodyPr/>
          <a:lstStyle/>
          <a:p>
            <a:r>
              <a:rPr lang="en-US" altLang="zh-CN" b="1" dirty="0">
                <a:latin typeface="楷体_GB2312" pitchFamily="49" charset="-122"/>
                <a:ea typeface="楷体_GB2312" pitchFamily="49" charset="-122"/>
              </a:rPr>
              <a:t> </a:t>
            </a:r>
            <a:r>
              <a:rPr lang="zh-CN" altLang="en-US" b="1" dirty="0" smtClean="0">
                <a:latin typeface="楷体_GB2312" pitchFamily="49" charset="-122"/>
                <a:ea typeface="楷体_GB2312" pitchFamily="49" charset="-122"/>
              </a:rPr>
              <a:t>第二节 </a:t>
            </a:r>
            <a:r>
              <a:rPr lang="zh-CN" altLang="en-US" b="1" dirty="0">
                <a:latin typeface="楷体_GB2312" pitchFamily="49" charset="-122"/>
                <a:ea typeface="楷体_GB2312" pitchFamily="49" charset="-122"/>
              </a:rPr>
              <a:t>视觉物理学特性</a:t>
            </a:r>
          </a:p>
        </p:txBody>
      </p:sp>
      <p:sp>
        <p:nvSpPr>
          <p:cNvPr id="251909" name="Rectangle 5"/>
          <p:cNvSpPr>
            <a:spLocks noGrp="1" noRot="1" noChangeArrowheads="1"/>
          </p:cNvSpPr>
          <p:nvPr>
            <p:ph type="subTitle" idx="1"/>
          </p:nvPr>
        </p:nvSpPr>
        <p:spPr/>
        <p:txBody>
          <a:bodyPr/>
          <a:lstStyle/>
          <a:p>
            <a:endParaRPr lang="zh-CN"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Rot="1" noChangeArrowheads="1"/>
          </p:cNvSpPr>
          <p:nvPr>
            <p:ph type="title"/>
          </p:nvPr>
        </p:nvSpPr>
        <p:spPr/>
        <p:txBody>
          <a:bodyPr/>
          <a:lstStyle/>
          <a:p>
            <a:r>
              <a:rPr lang="zh-CN" altLang="en-US" b="1" dirty="0">
                <a:ea typeface="楷体_GB2312" pitchFamily="49" charset="-122"/>
              </a:rPr>
              <a:t>物理学与计算机视觉</a:t>
            </a:r>
          </a:p>
        </p:txBody>
      </p:sp>
      <p:sp>
        <p:nvSpPr>
          <p:cNvPr id="254979" name="Rectangle 3"/>
          <p:cNvSpPr>
            <a:spLocks noGrp="1" noRot="1" noChangeArrowheads="1"/>
          </p:cNvSpPr>
          <p:nvPr>
            <p:ph type="body" idx="1"/>
          </p:nvPr>
        </p:nvSpPr>
        <p:spPr>
          <a:xfrm>
            <a:off x="609600" y="1600200"/>
            <a:ext cx="8534400" cy="4498975"/>
          </a:xfrm>
        </p:spPr>
        <p:txBody>
          <a:bodyPr/>
          <a:lstStyle/>
          <a:p>
            <a:pPr>
              <a:lnSpc>
                <a:spcPct val="90000"/>
              </a:lnSpc>
            </a:pPr>
            <a:r>
              <a:rPr lang="zh-CN" altLang="en-US" sz="2800" b="1">
                <a:ea typeface="楷体_GB2312" pitchFamily="49" charset="-122"/>
              </a:rPr>
              <a:t>光学特性是物体的一种固有的属性，它的物理本质是物体表面的能谱的辐射。</a:t>
            </a:r>
          </a:p>
          <a:p>
            <a:pPr>
              <a:lnSpc>
                <a:spcPct val="90000"/>
              </a:lnSpc>
            </a:pPr>
            <a:r>
              <a:rPr lang="zh-CN" altLang="en-US" sz="2800" b="1">
                <a:ea typeface="楷体_GB2312" pitchFamily="49" charset="-122"/>
              </a:rPr>
              <a:t>亮度是人的主观心理的感觉，这种感觉是由物体能谱的辐射引起的</a:t>
            </a:r>
            <a:r>
              <a:rPr lang="en-US" altLang="zh-CN" sz="2800" b="1">
                <a:ea typeface="楷体_GB2312" pitchFamily="49" charset="-122"/>
              </a:rPr>
              <a:t>,</a:t>
            </a:r>
            <a:r>
              <a:rPr lang="zh-CN" altLang="en-US" sz="2800" b="1">
                <a:ea typeface="楷体_GB2312" pitchFamily="49" charset="-122"/>
              </a:rPr>
              <a:t>可以由物理量来度量</a:t>
            </a:r>
            <a:r>
              <a:rPr lang="en-US" altLang="zh-CN" sz="2800" b="1">
                <a:ea typeface="楷体_GB2312" pitchFamily="49" charset="-122"/>
              </a:rPr>
              <a:t>.</a:t>
            </a:r>
          </a:p>
          <a:p>
            <a:pPr>
              <a:lnSpc>
                <a:spcPct val="90000"/>
              </a:lnSpc>
            </a:pPr>
            <a:r>
              <a:rPr lang="zh-CN" altLang="en-US" sz="2800" b="1">
                <a:ea typeface="楷体_GB2312" pitchFamily="49" charset="-122"/>
              </a:rPr>
              <a:t>研究这种辐射与亮度之间关系的物理学分支就是光度学</a:t>
            </a:r>
          </a:p>
          <a:p>
            <a:pPr>
              <a:lnSpc>
                <a:spcPct val="90000"/>
              </a:lnSpc>
            </a:pPr>
            <a:r>
              <a:rPr lang="zh-CN" altLang="en-US" sz="2800" b="1">
                <a:ea typeface="楷体_GB2312" pitchFamily="49" charset="-122"/>
              </a:rPr>
              <a:t>色彩是物体表面不同频谱的能量辐射引起的主观心理上的感觉</a:t>
            </a:r>
          </a:p>
          <a:p>
            <a:pPr>
              <a:lnSpc>
                <a:spcPct val="90000"/>
              </a:lnSpc>
            </a:pPr>
            <a:r>
              <a:rPr lang="zh-CN" altLang="en-US" sz="2800" b="1">
                <a:ea typeface="楷体_GB2312" pitchFamily="49" charset="-122"/>
              </a:rPr>
              <a:t>度量客观的辐射与主观色彩感觉的学科是色度学</a:t>
            </a:r>
            <a:r>
              <a:rPr lang="en-US" altLang="zh-CN" sz="2800" b="1">
                <a:ea typeface="楷体_GB2312" pitchFamily="49" charset="-122"/>
              </a:rPr>
              <a:t>.</a:t>
            </a:r>
          </a:p>
          <a:p>
            <a:pPr>
              <a:lnSpc>
                <a:spcPct val="90000"/>
              </a:lnSpc>
            </a:pPr>
            <a:r>
              <a:rPr lang="zh-CN" altLang="en-US" sz="2800" b="1">
                <a:ea typeface="楷体_GB2312" pitchFamily="49" charset="-122"/>
              </a:rPr>
              <a:t>光度学和色度学是分析图像特性的重要依据</a:t>
            </a:r>
            <a:r>
              <a:rPr lang="en-US" altLang="zh-CN" sz="2800" b="1">
                <a:ea typeface="楷体_GB2312" pitchFamily="49" charset="-122"/>
              </a:rPr>
              <a:t>.</a:t>
            </a:r>
          </a:p>
          <a:p>
            <a:pPr>
              <a:lnSpc>
                <a:spcPct val="90000"/>
              </a:lnSpc>
            </a:pPr>
            <a:endParaRPr lang="en-US" altLang="zh-CN" sz="2800" b="1">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9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9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9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49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49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49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Examples:</a:t>
            </a:r>
            <a:endParaRPr lang="zh-CN" altLang="en-US" dirty="0"/>
          </a:p>
        </p:txBody>
      </p:sp>
      <p:pic>
        <p:nvPicPr>
          <p:cNvPr id="123906" name="Picture 2"/>
          <p:cNvPicPr>
            <a:picLocks noChangeAspect="1" noChangeArrowheads="1"/>
          </p:cNvPicPr>
          <p:nvPr/>
        </p:nvPicPr>
        <p:blipFill>
          <a:blip r:embed="rId2" cstate="print"/>
          <a:srcRect/>
          <a:stretch>
            <a:fillRect/>
          </a:stretch>
        </p:blipFill>
        <p:spPr bwMode="auto">
          <a:xfrm>
            <a:off x="539552" y="1628800"/>
            <a:ext cx="8077200" cy="3409950"/>
          </a:xfrm>
          <a:prstGeom prst="rect">
            <a:avLst/>
          </a:prstGeom>
          <a:noFill/>
          <a:ln w="9525">
            <a:noFill/>
            <a:miter lim="800000"/>
            <a:headEnd/>
            <a:tailEnd/>
          </a:ln>
        </p:spPr>
      </p:pic>
      <p:pic>
        <p:nvPicPr>
          <p:cNvPr id="5"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23528" y="3284984"/>
            <a:ext cx="9014949" cy="2450284"/>
          </a:xfrm>
          <a:prstGeom prst="rect">
            <a:avLst/>
          </a:prstGeom>
          <a:noFill/>
          <a:ln w="9525">
            <a:noFill/>
            <a:miter lim="800000"/>
            <a:headEnd/>
            <a:tailEnd/>
          </a:ln>
        </p:spPr>
      </p:pic>
      <p:sp>
        <p:nvSpPr>
          <p:cNvPr id="6" name="矩形 5"/>
          <p:cNvSpPr/>
          <p:nvPr/>
        </p:nvSpPr>
        <p:spPr>
          <a:xfrm>
            <a:off x="1259632" y="5877272"/>
            <a:ext cx="6624736" cy="646331"/>
          </a:xfrm>
          <a:prstGeom prst="rect">
            <a:avLst/>
          </a:prstGeom>
        </p:spPr>
        <p:txBody>
          <a:bodyPr wrap="square">
            <a:spAutoFit/>
          </a:bodyPr>
          <a:lstStyle/>
          <a:p>
            <a:r>
              <a:rPr lang="en-US" altLang="zh-CN" b="1" dirty="0" smtClean="0">
                <a:latin typeface="Arial Unicode MS" pitchFamily="34" charset="-122"/>
                <a:ea typeface="Arial Unicode MS" pitchFamily="34" charset="-122"/>
                <a:cs typeface="Arial Unicode MS" pitchFamily="34" charset="-122"/>
              </a:rPr>
              <a:t>Marshall F </a:t>
            </a:r>
            <a:r>
              <a:rPr lang="en-US" altLang="zh-CN" b="1" dirty="0" err="1" smtClean="0">
                <a:latin typeface="Arial Unicode MS" pitchFamily="34" charset="-122"/>
                <a:ea typeface="Arial Unicode MS" pitchFamily="34" charset="-122"/>
                <a:cs typeface="Arial Unicode MS" pitchFamily="34" charset="-122"/>
              </a:rPr>
              <a:t>Tappen</a:t>
            </a:r>
            <a:r>
              <a:rPr lang="en-US" altLang="zh-CN" b="1" dirty="0" smtClean="0">
                <a:latin typeface="Arial Unicode MS" pitchFamily="34" charset="-122"/>
                <a:ea typeface="Arial Unicode MS" pitchFamily="34" charset="-122"/>
                <a:cs typeface="Arial Unicode MS" pitchFamily="34" charset="-122"/>
              </a:rPr>
              <a:t> ,William T Freeman, Edward H </a:t>
            </a:r>
            <a:r>
              <a:rPr lang="en-US" altLang="zh-CN" b="1" dirty="0" err="1" smtClean="0">
                <a:latin typeface="Arial Unicode MS" pitchFamily="34" charset="-122"/>
                <a:ea typeface="Arial Unicode MS" pitchFamily="34" charset="-122"/>
                <a:cs typeface="Arial Unicode MS" pitchFamily="34" charset="-122"/>
              </a:rPr>
              <a:t>Adelson</a:t>
            </a:r>
            <a:r>
              <a:rPr lang="en-US" altLang="zh-CN" b="1" dirty="0" smtClean="0">
                <a:latin typeface="Arial Unicode MS" pitchFamily="34" charset="-122"/>
                <a:ea typeface="Arial Unicode MS" pitchFamily="34" charset="-122"/>
                <a:cs typeface="Arial Unicode MS" pitchFamily="34" charset="-122"/>
              </a:rPr>
              <a:t>,</a:t>
            </a:r>
          </a:p>
          <a:p>
            <a:r>
              <a:rPr lang="en-US" altLang="zh-CN" b="1" dirty="0" smtClean="0">
                <a:latin typeface="Arial Unicode MS" pitchFamily="34" charset="-122"/>
                <a:ea typeface="Arial Unicode MS" pitchFamily="34" charset="-122"/>
                <a:cs typeface="Arial Unicode MS" pitchFamily="34" charset="-122"/>
              </a:rPr>
              <a:t>Recovering Intrinsic Images from a Single Image, NIPS’02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Examples:</a:t>
            </a:r>
            <a:endParaRPr lang="zh-CN" altLang="en-US" dirty="0"/>
          </a:p>
        </p:txBody>
      </p:sp>
      <p:pic>
        <p:nvPicPr>
          <p:cNvPr id="124930" name="Picture 2"/>
          <p:cNvPicPr>
            <a:picLocks noChangeAspect="1" noChangeArrowheads="1"/>
          </p:cNvPicPr>
          <p:nvPr/>
        </p:nvPicPr>
        <p:blipFill>
          <a:blip r:embed="rId2" cstate="print"/>
          <a:srcRect/>
          <a:stretch>
            <a:fillRect/>
          </a:stretch>
        </p:blipFill>
        <p:spPr bwMode="auto">
          <a:xfrm>
            <a:off x="467544" y="1772816"/>
            <a:ext cx="8318248" cy="3168352"/>
          </a:xfrm>
          <a:prstGeom prst="rect">
            <a:avLst/>
          </a:prstGeom>
          <a:noFill/>
          <a:ln w="9525">
            <a:noFill/>
            <a:miter lim="800000"/>
            <a:headEnd/>
            <a:tailEnd/>
          </a:ln>
        </p:spPr>
      </p:pic>
      <p:sp>
        <p:nvSpPr>
          <p:cNvPr id="5" name="矩形 4"/>
          <p:cNvSpPr/>
          <p:nvPr/>
        </p:nvSpPr>
        <p:spPr>
          <a:xfrm>
            <a:off x="467544" y="5301208"/>
            <a:ext cx="6227987" cy="1569660"/>
          </a:xfrm>
          <a:prstGeom prst="rect">
            <a:avLst/>
          </a:prstGeom>
        </p:spPr>
        <p:txBody>
          <a:bodyPr wrap="none">
            <a:spAutoFit/>
          </a:bodyPr>
          <a:lstStyle/>
          <a:p>
            <a:r>
              <a:rPr lang="en-US" altLang="zh-CN" sz="2000" dirty="0" err="1" smtClean="0">
                <a:latin typeface="Arial Unicode MS" pitchFamily="34" charset="-122"/>
                <a:ea typeface="Arial Unicode MS" pitchFamily="34" charset="-122"/>
                <a:cs typeface="Arial Unicode MS" pitchFamily="34" charset="-122"/>
              </a:rPr>
              <a:t>Ayan</a:t>
            </a:r>
            <a:r>
              <a:rPr lang="en-US" altLang="zh-CN" sz="2000" dirty="0" smtClean="0">
                <a:latin typeface="Arial Unicode MS" pitchFamily="34" charset="-122"/>
                <a:ea typeface="Arial Unicode MS" pitchFamily="34" charset="-122"/>
                <a:cs typeface="Arial Unicode MS" pitchFamily="34" charset="-122"/>
              </a:rPr>
              <a:t> </a:t>
            </a:r>
            <a:r>
              <a:rPr lang="en-US" altLang="zh-CN" sz="2000" dirty="0" err="1" smtClean="0">
                <a:latin typeface="Arial Unicode MS" pitchFamily="34" charset="-122"/>
                <a:ea typeface="Arial Unicode MS" pitchFamily="34" charset="-122"/>
                <a:cs typeface="Arial Unicode MS" pitchFamily="34" charset="-122"/>
              </a:rPr>
              <a:t>Chakrabarti</a:t>
            </a:r>
            <a:r>
              <a:rPr lang="en-US" altLang="zh-CN" sz="2000" dirty="0" smtClean="0">
                <a:latin typeface="Arial Unicode MS" pitchFamily="34" charset="-122"/>
                <a:ea typeface="Arial Unicode MS" pitchFamily="34" charset="-122"/>
                <a:cs typeface="Arial Unicode MS" pitchFamily="34" charset="-122"/>
              </a:rPr>
              <a:t>, </a:t>
            </a:r>
            <a:r>
              <a:rPr lang="en-US" altLang="zh-CN" sz="2000" dirty="0" err="1" smtClean="0">
                <a:latin typeface="Arial Unicode MS" pitchFamily="34" charset="-122"/>
                <a:ea typeface="Arial Unicode MS" pitchFamily="34" charset="-122"/>
                <a:cs typeface="Arial Unicode MS" pitchFamily="34" charset="-122"/>
              </a:rPr>
              <a:t>Keigo</a:t>
            </a:r>
            <a:r>
              <a:rPr lang="en-US" altLang="zh-CN" sz="2000" dirty="0" smtClean="0">
                <a:latin typeface="Arial Unicode MS" pitchFamily="34" charset="-122"/>
                <a:ea typeface="Arial Unicode MS" pitchFamily="34" charset="-122"/>
                <a:cs typeface="Arial Unicode MS" pitchFamily="34" charset="-122"/>
              </a:rPr>
              <a:t> </a:t>
            </a:r>
            <a:r>
              <a:rPr lang="en-US" altLang="zh-CN" sz="2000" dirty="0" err="1" smtClean="0">
                <a:latin typeface="Arial Unicode MS" pitchFamily="34" charset="-122"/>
                <a:ea typeface="Arial Unicode MS" pitchFamily="34" charset="-122"/>
                <a:cs typeface="Arial Unicode MS" pitchFamily="34" charset="-122"/>
              </a:rPr>
              <a:t>Hirakawa</a:t>
            </a:r>
            <a:r>
              <a:rPr lang="en-US" altLang="zh-CN" sz="2000" dirty="0" smtClean="0">
                <a:latin typeface="Arial Unicode MS" pitchFamily="34" charset="-122"/>
                <a:ea typeface="Arial Unicode MS" pitchFamily="34" charset="-122"/>
                <a:cs typeface="Arial Unicode MS" pitchFamily="34" charset="-122"/>
              </a:rPr>
              <a:t>, and Todd </a:t>
            </a:r>
            <a:r>
              <a:rPr lang="en-US" altLang="zh-CN" sz="2000" dirty="0" err="1" smtClean="0">
                <a:latin typeface="Arial Unicode MS" pitchFamily="34" charset="-122"/>
                <a:ea typeface="Arial Unicode MS" pitchFamily="34" charset="-122"/>
                <a:cs typeface="Arial Unicode MS" pitchFamily="34" charset="-122"/>
              </a:rPr>
              <a:t>Zickler</a:t>
            </a:r>
            <a:r>
              <a:rPr lang="en-US" altLang="zh-CN" sz="2000" dirty="0" smtClean="0">
                <a:latin typeface="Arial Unicode MS" pitchFamily="34" charset="-122"/>
                <a:ea typeface="Arial Unicode MS" pitchFamily="34" charset="-122"/>
                <a:cs typeface="Arial Unicode MS" pitchFamily="34" charset="-122"/>
              </a:rPr>
              <a:t>.</a:t>
            </a:r>
          </a:p>
          <a:p>
            <a:r>
              <a:rPr lang="en-US" altLang="zh-CN" sz="2000" dirty="0" smtClean="0">
                <a:latin typeface="Arial Unicode MS" pitchFamily="34" charset="-122"/>
                <a:ea typeface="Arial Unicode MS" pitchFamily="34" charset="-122"/>
                <a:cs typeface="Arial Unicode MS" pitchFamily="34" charset="-122"/>
              </a:rPr>
              <a:t>Color Constancy with </a:t>
            </a:r>
            <a:r>
              <a:rPr lang="en-US" altLang="zh-CN" sz="2000" dirty="0" err="1" smtClean="0">
                <a:latin typeface="Arial Unicode MS" pitchFamily="34" charset="-122"/>
                <a:ea typeface="Arial Unicode MS" pitchFamily="34" charset="-122"/>
                <a:cs typeface="Arial Unicode MS" pitchFamily="34" charset="-122"/>
              </a:rPr>
              <a:t>Spatio</a:t>
            </a:r>
            <a:r>
              <a:rPr lang="en-US" altLang="zh-CN" sz="2000" dirty="0" smtClean="0">
                <a:latin typeface="Arial Unicode MS" pitchFamily="34" charset="-122"/>
                <a:ea typeface="Arial Unicode MS" pitchFamily="34" charset="-122"/>
                <a:cs typeface="Arial Unicode MS" pitchFamily="34" charset="-122"/>
              </a:rPr>
              <a:t>-Spectral Statistics,</a:t>
            </a:r>
          </a:p>
          <a:p>
            <a:r>
              <a:rPr lang="en-US" altLang="zh-CN" sz="2000" dirty="0" smtClean="0">
                <a:latin typeface="Arial Unicode MS" pitchFamily="34" charset="-122"/>
                <a:ea typeface="Arial Unicode MS" pitchFamily="34" charset="-122"/>
                <a:cs typeface="Arial Unicode MS" pitchFamily="34" charset="-122"/>
              </a:rPr>
              <a:t>TPAMI,2011</a:t>
            </a:r>
          </a:p>
          <a:p>
            <a:endParaRPr lang="en-US" altLang="zh-CN" dirty="0" smtClean="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Rot="1" noChangeArrowheads="1"/>
          </p:cNvSpPr>
          <p:nvPr>
            <p:ph type="title"/>
          </p:nvPr>
        </p:nvSpPr>
        <p:spPr/>
        <p:txBody>
          <a:bodyPr/>
          <a:lstStyle/>
          <a:p>
            <a:r>
              <a:rPr lang="en-US" altLang="zh-CN" b="1" dirty="0" smtClean="0">
                <a:latin typeface="楷体_GB2312" pitchFamily="49" charset="-122"/>
                <a:ea typeface="楷体_GB2312" pitchFamily="49" charset="-122"/>
              </a:rPr>
              <a:t>1.1 </a:t>
            </a:r>
            <a:r>
              <a:rPr lang="zh-CN" altLang="en-US" b="1" dirty="0" smtClean="0">
                <a:latin typeface="楷体_GB2312" pitchFamily="49" charset="-122"/>
                <a:ea typeface="楷体_GB2312" pitchFamily="49" charset="-122"/>
              </a:rPr>
              <a:t>光度学</a:t>
            </a:r>
            <a:endParaRPr lang="zh-CN" altLang="en-US" b="1" dirty="0">
              <a:latin typeface="楷体_GB2312" pitchFamily="49" charset="-122"/>
              <a:ea typeface="楷体_GB2312" pitchFamily="49" charset="-122"/>
            </a:endParaRPr>
          </a:p>
        </p:txBody>
      </p:sp>
      <p:sp>
        <p:nvSpPr>
          <p:cNvPr id="253955" name="Rectangle 3"/>
          <p:cNvSpPr>
            <a:spLocks noGrp="1" noRot="1" noChangeArrowheads="1"/>
          </p:cNvSpPr>
          <p:nvPr>
            <p:ph type="body" idx="1"/>
          </p:nvPr>
        </p:nvSpPr>
        <p:spPr/>
        <p:txBody>
          <a:bodyPr/>
          <a:lstStyle/>
          <a:p>
            <a:r>
              <a:rPr lang="zh-CN" altLang="en-US" b="1" dirty="0">
                <a:ea typeface="楷体_GB2312" pitchFamily="49" charset="-122"/>
              </a:rPr>
              <a:t>光度学是研究引起光感的可见段电磁波的能量与人的主观亮度的定量关系的科学。</a:t>
            </a:r>
          </a:p>
          <a:p>
            <a:r>
              <a:rPr lang="zh-CN" altLang="en-US" b="1" dirty="0">
                <a:latin typeface="楷体_GB2312" pitchFamily="49" charset="-122"/>
                <a:ea typeface="楷体_GB2312" pitchFamily="49" charset="-122"/>
              </a:rPr>
              <a:t>物体表面的能量通过辐射进入人的视觉系统，通过视觉系统中的传感细胞刺激大脑皮层产生光的感觉。</a:t>
            </a:r>
          </a:p>
          <a:p>
            <a:r>
              <a:rPr lang="zh-CN" altLang="en-US" b="1" dirty="0">
                <a:latin typeface="楷体_GB2312" pitchFamily="49" charset="-122"/>
                <a:ea typeface="楷体_GB2312" pitchFamily="49" charset="-122"/>
              </a:rPr>
              <a:t>在统计意义上</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这种光的感觉与辐射量之间存在关系</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可以由物理量来度量</a:t>
            </a:r>
            <a:r>
              <a:rPr lang="en-US" altLang="zh-CN" b="1" dirty="0">
                <a:latin typeface="楷体_GB2312" pitchFamily="49" charset="-122"/>
                <a:ea typeface="楷体_GB2312" pitchFamily="49" charset="-122"/>
              </a:rPr>
              <a: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Rot="1" noChangeArrowheads="1"/>
          </p:cNvSpPr>
          <p:nvPr>
            <p:ph type="title"/>
          </p:nvPr>
        </p:nvSpPr>
        <p:spPr/>
        <p:txBody>
          <a:bodyPr/>
          <a:lstStyle/>
          <a:p>
            <a:r>
              <a:rPr lang="zh-CN" altLang="en-US" b="1">
                <a:ea typeface="楷体_GB2312" pitchFamily="49" charset="-122"/>
              </a:rPr>
              <a:t>辐射源强度的度量</a:t>
            </a:r>
          </a:p>
        </p:txBody>
      </p:sp>
      <p:sp>
        <p:nvSpPr>
          <p:cNvPr id="256003" name="Rectangle 3"/>
          <p:cNvSpPr>
            <a:spLocks noGrp="1" noRot="1" noChangeArrowheads="1"/>
          </p:cNvSpPr>
          <p:nvPr>
            <p:ph type="body" sz="half" idx="1"/>
          </p:nvPr>
        </p:nvSpPr>
        <p:spPr>
          <a:xfrm>
            <a:off x="228600" y="1600200"/>
            <a:ext cx="8915400" cy="5257800"/>
          </a:xfrm>
        </p:spPr>
        <p:txBody>
          <a:bodyPr/>
          <a:lstStyle/>
          <a:p>
            <a:r>
              <a:rPr lang="zh-CN" altLang="en-US" sz="2800" b="1">
                <a:latin typeface="楷体_GB2312" pitchFamily="49" charset="-122"/>
                <a:ea typeface="楷体_GB2312" pitchFamily="49" charset="-122"/>
              </a:rPr>
              <a:t>一个物体能够发射或反射一定波长的电磁波，形成了电磁波形式的能量辐射。据物理学定义，它的辐射能力是可以用单位时间内辐射电磁波能量来度量．它与电磁波波长</a:t>
            </a:r>
            <a:r>
              <a:rPr lang="el-GR" altLang="zh-CN" sz="2800" b="1">
                <a:latin typeface="楷体_GB2312" pitchFamily="49" charset="-122"/>
                <a:ea typeface="楷体_GB2312" pitchFamily="49" charset="-122"/>
              </a:rPr>
              <a:t>λ</a:t>
            </a:r>
            <a:r>
              <a:rPr lang="zh-CN" altLang="en-US" sz="2800" b="1">
                <a:latin typeface="楷体_GB2312" pitchFamily="49" charset="-122"/>
                <a:ea typeface="楷体_GB2312" pitchFamily="49" charset="-122"/>
              </a:rPr>
              <a:t>有关，因此可表示为</a:t>
            </a:r>
            <a:r>
              <a:rPr lang="en-US" altLang="zh-CN" sz="2800" b="1">
                <a:latin typeface="楷体_GB2312" pitchFamily="49" charset="-122"/>
                <a:ea typeface="楷体_GB2312" pitchFamily="49" charset="-122"/>
              </a:rPr>
              <a:t>r(</a:t>
            </a:r>
            <a:r>
              <a:rPr lang="el-GR" altLang="zh-CN" sz="2800" b="1">
                <a:latin typeface="楷体_GB2312" pitchFamily="49" charset="-122"/>
                <a:ea typeface="楷体_GB2312" pitchFamily="49" charset="-122"/>
              </a:rPr>
              <a:t>λ</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称为能谱分布函数</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一个辐射源的各段波长电磁波总辐射能可表示为：</a:t>
            </a:r>
          </a:p>
          <a:p>
            <a:endParaRPr lang="zh-CN" altLang="en-US" sz="2800" b="1">
              <a:latin typeface="楷体_GB2312" pitchFamily="49" charset="-122"/>
              <a:ea typeface="楷体_GB2312" pitchFamily="49" charset="-122"/>
            </a:endParaRPr>
          </a:p>
          <a:p>
            <a:r>
              <a:rPr lang="zh-CN" altLang="en-US" sz="2800" b="1">
                <a:ea typeface="楷体_GB2312" pitchFamily="49" charset="-122"/>
              </a:rPr>
              <a:t>有关幅射源强度的两个物理量是辐射率和辐射强度</a:t>
            </a:r>
          </a:p>
          <a:p>
            <a:pPr lvl="1"/>
            <a:r>
              <a:rPr lang="zh-CN" altLang="en-US" sz="2400" b="1">
                <a:ea typeface="楷体_GB2312" pitchFamily="49" charset="-122"/>
              </a:rPr>
              <a:t>辐射率                                    </a:t>
            </a:r>
            <a:r>
              <a:rPr lang="en-US" altLang="zh-CN" sz="2400" b="1">
                <a:ea typeface="楷体_GB2312" pitchFamily="49" charset="-122"/>
              </a:rPr>
              <a:t>S</a:t>
            </a:r>
            <a:r>
              <a:rPr lang="zh-CN" altLang="en-US" sz="2400" b="1">
                <a:ea typeface="楷体_GB2312" pitchFamily="49" charset="-122"/>
              </a:rPr>
              <a:t>为辐射源表面积</a:t>
            </a:r>
          </a:p>
          <a:p>
            <a:pPr lvl="1"/>
            <a:endParaRPr lang="zh-CN" altLang="en-US" sz="2400" b="1">
              <a:ea typeface="楷体_GB2312" pitchFamily="49" charset="-122"/>
            </a:endParaRPr>
          </a:p>
          <a:p>
            <a:pPr lvl="1"/>
            <a:r>
              <a:rPr lang="zh-CN" altLang="en-US" sz="2400" b="1">
                <a:ea typeface="楷体_GB2312" pitchFamily="49" charset="-122"/>
              </a:rPr>
              <a:t>辐射强度                                </a:t>
            </a:r>
            <a:r>
              <a:rPr lang="el-GR" altLang="zh-CN" sz="2400" b="1">
                <a:ea typeface="楷体_GB2312" pitchFamily="49" charset="-122"/>
                <a:cs typeface="Arial" pitchFamily="34" charset="0"/>
              </a:rPr>
              <a:t>Ω</a:t>
            </a:r>
            <a:r>
              <a:rPr lang="zh-CN" altLang="en-US" sz="2400" b="1">
                <a:ea typeface="楷体_GB2312" pitchFamily="49" charset="-122"/>
                <a:cs typeface="Arial" pitchFamily="34" charset="0"/>
              </a:rPr>
              <a:t>为以辐射源为中心的立体角</a:t>
            </a:r>
            <a:r>
              <a:rPr lang="zh-CN" altLang="en-US" sz="2400" b="1">
                <a:ea typeface="楷体_GB2312" pitchFamily="49" charset="-122"/>
              </a:rPr>
              <a:t> </a:t>
            </a:r>
          </a:p>
        </p:txBody>
      </p:sp>
      <p:graphicFrame>
        <p:nvGraphicFramePr>
          <p:cNvPr id="256004" name="Object 4"/>
          <p:cNvGraphicFramePr>
            <a:graphicFrameLocks noGrp="1" noChangeAspect="1"/>
          </p:cNvGraphicFramePr>
          <p:nvPr>
            <p:ph sz="quarter" idx="2"/>
          </p:nvPr>
        </p:nvGraphicFramePr>
        <p:xfrm>
          <a:off x="2667000" y="3779838"/>
          <a:ext cx="2438400" cy="868362"/>
        </p:xfrm>
        <a:graphic>
          <a:graphicData uri="http://schemas.openxmlformats.org/presentationml/2006/ole">
            <mc:AlternateContent xmlns:mc="http://schemas.openxmlformats.org/markup-compatibility/2006">
              <mc:Choice xmlns:v="urn:schemas-microsoft-com:vml" Requires="v">
                <p:oleObj spid="_x0000_s1056" name="Equation" r:id="rId3" imgW="927000" imgH="330120" progId="Equation.DSMT4">
                  <p:embed/>
                </p:oleObj>
              </mc:Choice>
              <mc:Fallback>
                <p:oleObj name="Equation" r:id="rId3" imgW="927000" imgH="33012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779838"/>
                        <a:ext cx="2438400" cy="868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06" name="Object 6"/>
          <p:cNvGraphicFramePr>
            <a:graphicFrameLocks noGrp="1" noChangeAspect="1"/>
          </p:cNvGraphicFramePr>
          <p:nvPr>
            <p:ph sz="quarter" idx="3"/>
          </p:nvPr>
        </p:nvGraphicFramePr>
        <p:xfrm>
          <a:off x="3200400" y="5181600"/>
          <a:ext cx="1066800" cy="769938"/>
        </p:xfrm>
        <a:graphic>
          <a:graphicData uri="http://schemas.openxmlformats.org/presentationml/2006/ole">
            <mc:AlternateContent xmlns:mc="http://schemas.openxmlformats.org/markup-compatibility/2006">
              <mc:Choice xmlns:v="urn:schemas-microsoft-com:vml" Requires="v">
                <p:oleObj spid="_x0000_s1057" name="Equation" r:id="rId5" imgW="545760" imgH="393480" progId="Equation.DSMT4">
                  <p:embed/>
                </p:oleObj>
              </mc:Choice>
              <mc:Fallback>
                <p:oleObj name="Equation" r:id="rId5" imgW="545760" imgH="39348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5181600"/>
                        <a:ext cx="1066800" cy="769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08" name="Object 8"/>
          <p:cNvGraphicFramePr>
            <a:graphicFrameLocks noChangeAspect="1"/>
          </p:cNvGraphicFramePr>
          <p:nvPr/>
        </p:nvGraphicFramePr>
        <p:xfrm>
          <a:off x="3200400" y="6019800"/>
          <a:ext cx="992188" cy="769938"/>
        </p:xfrm>
        <a:graphic>
          <a:graphicData uri="http://schemas.openxmlformats.org/presentationml/2006/ole">
            <mc:AlternateContent xmlns:mc="http://schemas.openxmlformats.org/markup-compatibility/2006">
              <mc:Choice xmlns:v="urn:schemas-microsoft-com:vml" Requires="v">
                <p:oleObj spid="_x0000_s1058" name="Equation" r:id="rId7" imgW="507960" imgH="393480" progId="Equation.DSMT4">
                  <p:embed/>
                </p:oleObj>
              </mc:Choice>
              <mc:Fallback>
                <p:oleObj name="Equation" r:id="rId7" imgW="507960" imgH="39348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6019800"/>
                        <a:ext cx="992188" cy="769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Rot="1" noChangeArrowheads="1"/>
          </p:cNvSpPr>
          <p:nvPr>
            <p:ph type="title"/>
          </p:nvPr>
        </p:nvSpPr>
        <p:spPr/>
        <p:txBody>
          <a:bodyPr/>
          <a:lstStyle/>
          <a:p>
            <a:r>
              <a:rPr lang="zh-CN" altLang="en-US" b="1">
                <a:ea typeface="楷体_GB2312" pitchFamily="49" charset="-122"/>
              </a:rPr>
              <a:t>光感的强度度量</a:t>
            </a:r>
          </a:p>
        </p:txBody>
      </p:sp>
      <p:sp>
        <p:nvSpPr>
          <p:cNvPr id="259075" name="Rectangle 3"/>
          <p:cNvSpPr>
            <a:spLocks noGrp="1" noRot="1" noChangeArrowheads="1"/>
          </p:cNvSpPr>
          <p:nvPr>
            <p:ph type="body" sz="half" idx="1"/>
          </p:nvPr>
        </p:nvSpPr>
        <p:spPr>
          <a:xfrm>
            <a:off x="609600" y="1295400"/>
            <a:ext cx="8077200" cy="5562600"/>
          </a:xfrm>
        </p:spPr>
        <p:txBody>
          <a:bodyPr/>
          <a:lstStyle/>
          <a:p>
            <a:r>
              <a:rPr lang="zh-CN" altLang="en-US" sz="2800" b="1">
                <a:latin typeface="楷体_GB2312" pitchFamily="49" charset="-122"/>
                <a:ea typeface="楷体_GB2312" pitchFamily="49" charset="-122"/>
              </a:rPr>
              <a:t>发射电磁波的能量源可称为光源。光感的强弱度量与辐射源有关，它不仅与波长</a:t>
            </a:r>
            <a:r>
              <a:rPr lang="el-GR" altLang="zh-CN" sz="2800" b="1">
                <a:latin typeface="楷体_GB2312" pitchFamily="49" charset="-122"/>
                <a:ea typeface="楷体_GB2312" pitchFamily="49" charset="-122"/>
              </a:rPr>
              <a:t>λ</a:t>
            </a:r>
            <a:r>
              <a:rPr lang="zh-CN" altLang="en-US" sz="2800" b="1">
                <a:latin typeface="楷体_GB2312" pitchFamily="49" charset="-122"/>
                <a:ea typeface="楷体_GB2312" pitchFamily="49" charset="-122"/>
              </a:rPr>
              <a:t>有关，而且与光源物体上不同的位置</a:t>
            </a:r>
            <a:r>
              <a:rPr lang="en-US" altLang="zh-CN" sz="2800" b="1">
                <a:latin typeface="楷体_GB2312" pitchFamily="49" charset="-122"/>
                <a:ea typeface="楷体_GB2312" pitchFamily="49" charset="-122"/>
              </a:rPr>
              <a:t>(x,y)</a:t>
            </a:r>
            <a:r>
              <a:rPr lang="zh-CN" altLang="en-US" sz="2800" b="1">
                <a:latin typeface="楷体_GB2312" pitchFamily="49" charset="-122"/>
                <a:ea typeface="楷体_GB2312" pitchFamily="49" charset="-122"/>
              </a:rPr>
              <a:t>和感受的时间</a:t>
            </a:r>
            <a:r>
              <a:rPr lang="en-US" altLang="zh-CN" sz="2800" b="1">
                <a:latin typeface="楷体_GB2312" pitchFamily="49" charset="-122"/>
                <a:ea typeface="楷体_GB2312" pitchFamily="49" charset="-122"/>
              </a:rPr>
              <a:t>t</a:t>
            </a:r>
            <a:r>
              <a:rPr lang="zh-CN" altLang="en-US" sz="2800" b="1">
                <a:latin typeface="楷体_GB2312" pitchFamily="49" charset="-122"/>
                <a:ea typeface="楷体_GB2312" pitchFamily="49" charset="-122"/>
              </a:rPr>
              <a:t>有关、可用</a:t>
            </a:r>
            <a:r>
              <a:rPr lang="en-US" altLang="zh-CN" sz="2800" b="1">
                <a:latin typeface="楷体_GB2312" pitchFamily="49" charset="-122"/>
                <a:ea typeface="楷体_GB2312" pitchFamily="49" charset="-122"/>
              </a:rPr>
              <a:t>c(x,y,t,</a:t>
            </a:r>
            <a:r>
              <a:rPr lang="el-GR" altLang="zh-CN" sz="2800" b="1">
                <a:latin typeface="楷体_GB2312" pitchFamily="49" charset="-122"/>
                <a:ea typeface="楷体_GB2312" pitchFamily="49" charset="-122"/>
              </a:rPr>
              <a:t>λ</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来表示。</a:t>
            </a:r>
          </a:p>
          <a:p>
            <a:r>
              <a:rPr lang="zh-CN" altLang="en-US" sz="2800" b="1">
                <a:latin typeface="楷体_GB2312" pitchFamily="49" charset="-122"/>
                <a:ea typeface="楷体_GB2312" pitchFamily="49" charset="-122"/>
              </a:rPr>
              <a:t>人们对于光源的接受程度可用一个与光波有关的称为视见函数</a:t>
            </a:r>
            <a:r>
              <a:rPr lang="el-GR" altLang="zh-CN" sz="2800" b="1">
                <a:latin typeface="楷体_GB2312" pitchFamily="49" charset="-122"/>
                <a:ea typeface="楷体_GB2312" pitchFamily="49" charset="-122"/>
              </a:rPr>
              <a:t>Φ</a:t>
            </a:r>
            <a:r>
              <a:rPr lang="en-US" altLang="zh-CN" sz="2800" b="1">
                <a:latin typeface="楷体_GB2312" pitchFamily="49" charset="-122"/>
                <a:ea typeface="楷体_GB2312" pitchFamily="49" charset="-122"/>
              </a:rPr>
              <a:t>(</a:t>
            </a:r>
            <a:r>
              <a:rPr lang="el-GR" altLang="zh-CN" sz="2800" b="1">
                <a:latin typeface="楷体_GB2312" pitchFamily="49" charset="-122"/>
                <a:ea typeface="楷体_GB2312" pitchFamily="49" charset="-122"/>
              </a:rPr>
              <a:t>λ</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来表示。</a:t>
            </a:r>
          </a:p>
          <a:p>
            <a:r>
              <a:rPr lang="zh-CN" altLang="en-US" sz="2800" b="1">
                <a:latin typeface="楷体_GB2312" pitchFamily="49" charset="-122"/>
                <a:ea typeface="楷体_GB2312" pitchFamily="49" charset="-122"/>
              </a:rPr>
              <a:t>因此视觉器官所接受到的光源的明暗感觉可用</a:t>
            </a:r>
            <a:r>
              <a:rPr lang="en-US" altLang="zh-CN" sz="2800" b="1">
                <a:latin typeface="楷体_GB2312" pitchFamily="49" charset="-122"/>
                <a:ea typeface="楷体_GB2312" pitchFamily="49" charset="-122"/>
              </a:rPr>
              <a:t>F(x,y,t)</a:t>
            </a:r>
            <a:r>
              <a:rPr lang="zh-CN" altLang="en-US" sz="2800" b="1">
                <a:latin typeface="楷体_GB2312" pitchFamily="49" charset="-122"/>
                <a:ea typeface="楷体_GB2312" pitchFamily="49" charset="-122"/>
              </a:rPr>
              <a:t>表示</a:t>
            </a:r>
          </a:p>
          <a:p>
            <a:endParaRPr lang="zh-CN" altLang="en-US" sz="2800" b="1">
              <a:latin typeface="楷体_GB2312" pitchFamily="49" charset="-122"/>
              <a:ea typeface="楷体_GB2312" pitchFamily="49" charset="-122"/>
            </a:endParaRPr>
          </a:p>
          <a:p>
            <a:r>
              <a:rPr lang="zh-CN" altLang="en-US" sz="2800"/>
              <a:t> </a:t>
            </a:r>
            <a:r>
              <a:rPr lang="zh-CN" altLang="en-US" sz="2800" b="1">
                <a:latin typeface="楷体_GB2312" pitchFamily="49" charset="-122"/>
                <a:ea typeface="楷体_GB2312" pitchFamily="49" charset="-122"/>
              </a:rPr>
              <a:t>一般</a:t>
            </a:r>
            <a:r>
              <a:rPr lang="en-US" altLang="zh-CN" sz="2800" b="1">
                <a:latin typeface="楷体_GB2312" pitchFamily="49" charset="-122"/>
                <a:ea typeface="楷体_GB2312" pitchFamily="49" charset="-122"/>
              </a:rPr>
              <a:t>F</a:t>
            </a:r>
            <a:r>
              <a:rPr lang="zh-CN" altLang="en-US" sz="2800" b="1">
                <a:latin typeface="楷体_GB2312" pitchFamily="49" charset="-122"/>
                <a:ea typeface="楷体_GB2312" pitchFamily="49" charset="-122"/>
              </a:rPr>
              <a:t>称为光通量，它是光源引起的光感强弱的度量．单位为流明。</a:t>
            </a:r>
          </a:p>
        </p:txBody>
      </p:sp>
      <p:graphicFrame>
        <p:nvGraphicFramePr>
          <p:cNvPr id="259078" name="Object 6"/>
          <p:cNvGraphicFramePr>
            <a:graphicFrameLocks noGrp="1" noChangeAspect="1"/>
          </p:cNvGraphicFramePr>
          <p:nvPr>
            <p:ph sz="half" idx="2"/>
          </p:nvPr>
        </p:nvGraphicFramePr>
        <p:xfrm>
          <a:off x="2209800" y="4748213"/>
          <a:ext cx="5334000" cy="835025"/>
        </p:xfrm>
        <a:graphic>
          <a:graphicData uri="http://schemas.openxmlformats.org/presentationml/2006/ole">
            <mc:AlternateContent xmlns:mc="http://schemas.openxmlformats.org/markup-compatibility/2006">
              <mc:Choice xmlns:v="urn:schemas-microsoft-com:vml" Requires="v">
                <p:oleObj spid="_x0000_s2060" name="Equation" r:id="rId3" imgW="2108160" imgH="330120" progId="Equation.DSMT4">
                  <p:embed/>
                </p:oleObj>
              </mc:Choice>
              <mc:Fallback>
                <p:oleObj name="Equation" r:id="rId3" imgW="2108160" imgH="33012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748213"/>
                        <a:ext cx="533400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Rot="1" noChangeArrowheads="1"/>
          </p:cNvSpPr>
          <p:nvPr>
            <p:ph type="title"/>
          </p:nvPr>
        </p:nvSpPr>
        <p:spPr/>
        <p:txBody>
          <a:bodyPr/>
          <a:lstStyle/>
          <a:p>
            <a:r>
              <a:rPr lang="zh-CN" altLang="en-US" b="1">
                <a:ea typeface="楷体_GB2312" pitchFamily="49" charset="-122"/>
              </a:rPr>
              <a:t>视觉中的常用度量</a:t>
            </a:r>
          </a:p>
        </p:txBody>
      </p:sp>
      <p:sp>
        <p:nvSpPr>
          <p:cNvPr id="262147" name="Rectangle 3"/>
          <p:cNvSpPr>
            <a:spLocks noGrp="1" noRot="1" noChangeArrowheads="1"/>
          </p:cNvSpPr>
          <p:nvPr>
            <p:ph type="body" sz="half" idx="1"/>
          </p:nvPr>
        </p:nvSpPr>
        <p:spPr>
          <a:xfrm>
            <a:off x="609600" y="1600200"/>
            <a:ext cx="8153400" cy="4498975"/>
          </a:xfrm>
        </p:spPr>
        <p:txBody>
          <a:bodyPr/>
          <a:lstStyle/>
          <a:p>
            <a:r>
              <a:rPr lang="zh-CN" altLang="en-US" sz="2800" b="1">
                <a:latin typeface="楷体_GB2312" pitchFamily="49" charset="-122"/>
                <a:ea typeface="楷体_GB2312" pitchFamily="49" charset="-122"/>
              </a:rPr>
              <a:t>发光率</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定义为光源的单位面积光通量</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单位勒克斯</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流明</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米</a:t>
            </a:r>
            <a:r>
              <a:rPr lang="en-US" altLang="zh-CN" sz="2800" b="1" baseline="30000">
                <a:latin typeface="楷体_GB2312" pitchFamily="49" charset="-122"/>
                <a:ea typeface="楷体_GB2312" pitchFamily="49" charset="-122"/>
              </a:rPr>
              <a:t>2</a:t>
            </a:r>
            <a:r>
              <a:rPr lang="en-US" altLang="zh-CN" sz="2800" b="1">
                <a:latin typeface="楷体_GB2312" pitchFamily="49" charset="-122"/>
                <a:ea typeface="楷体_GB2312" pitchFamily="49" charset="-122"/>
              </a:rPr>
              <a:t>)</a:t>
            </a:r>
          </a:p>
          <a:p>
            <a:endParaRPr lang="en-US" altLang="zh-CN" sz="2800" b="1">
              <a:latin typeface="楷体_GB2312" pitchFamily="49" charset="-122"/>
              <a:ea typeface="楷体_GB2312" pitchFamily="49" charset="-122"/>
            </a:endParaRPr>
          </a:p>
          <a:p>
            <a:r>
              <a:rPr lang="zh-CN" altLang="en-US" sz="2800" b="1">
                <a:latin typeface="楷体_GB2312" pitchFamily="49" charset="-122"/>
                <a:ea typeface="楷体_GB2312" pitchFamily="49" charset="-122"/>
              </a:rPr>
              <a:t>发光强度</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定义为单位弧度角发射的光通量</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单位为流明</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立体弧度</a:t>
            </a:r>
          </a:p>
          <a:p>
            <a:endParaRPr lang="zh-CN" altLang="en-US" sz="2800" b="1">
              <a:latin typeface="楷体_GB2312" pitchFamily="49" charset="-122"/>
              <a:ea typeface="楷体_GB2312" pitchFamily="49" charset="-122"/>
            </a:endParaRPr>
          </a:p>
          <a:p>
            <a:r>
              <a:rPr lang="zh-CN" altLang="en-US" sz="2800" b="1">
                <a:latin typeface="楷体_GB2312" pitchFamily="49" charset="-122"/>
                <a:ea typeface="楷体_GB2312" pitchFamily="49" charset="-122"/>
              </a:rPr>
              <a:t>照度</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定义为</a:t>
            </a:r>
            <a:r>
              <a:rPr lang="zh-CN" altLang="en-US" sz="2800" b="1">
                <a:ea typeface="楷体_GB2312" pitchFamily="49" charset="-122"/>
              </a:rPr>
              <a:t>照射到某一物体表面的单位面积光通量</a:t>
            </a:r>
            <a:r>
              <a:rPr lang="en-US" altLang="zh-CN" sz="2800" b="1">
                <a:ea typeface="楷体_GB2312" pitchFamily="49" charset="-122"/>
              </a:rPr>
              <a:t>,</a:t>
            </a:r>
            <a:r>
              <a:rPr lang="zh-CN" altLang="en-US" sz="2800" b="1">
                <a:ea typeface="楷体_GB2312" pitchFamily="49" charset="-122"/>
              </a:rPr>
              <a:t>单位</a:t>
            </a:r>
            <a:r>
              <a:rPr lang="zh-CN" altLang="en-US" sz="2800" b="1">
                <a:latin typeface="楷体_GB2312" pitchFamily="49" charset="-122"/>
                <a:ea typeface="楷体_GB2312" pitchFamily="49" charset="-122"/>
              </a:rPr>
              <a:t>勒克斯</a:t>
            </a:r>
            <a:r>
              <a:rPr lang="en-US" altLang="zh-CN" sz="2800" b="1">
                <a:latin typeface="楷体_GB2312" pitchFamily="49" charset="-122"/>
                <a:ea typeface="楷体_GB2312" pitchFamily="49" charset="-122"/>
              </a:rPr>
              <a:t>(Lux)</a:t>
            </a:r>
          </a:p>
        </p:txBody>
      </p:sp>
      <p:graphicFrame>
        <p:nvGraphicFramePr>
          <p:cNvPr id="262148" name="Object 4"/>
          <p:cNvGraphicFramePr>
            <a:graphicFrameLocks noGrp="1" noChangeAspect="1"/>
          </p:cNvGraphicFramePr>
          <p:nvPr>
            <p:ph sz="quarter" idx="2"/>
          </p:nvPr>
        </p:nvGraphicFramePr>
        <p:xfrm>
          <a:off x="4267200" y="2162175"/>
          <a:ext cx="1143000" cy="804863"/>
        </p:xfrm>
        <a:graphic>
          <a:graphicData uri="http://schemas.openxmlformats.org/presentationml/2006/ole">
            <mc:AlternateContent xmlns:mc="http://schemas.openxmlformats.org/markup-compatibility/2006">
              <mc:Choice xmlns:v="urn:schemas-microsoft-com:vml" Requires="v">
                <p:oleObj spid="_x0000_s3104" name="Equation" r:id="rId3" imgW="558720" imgH="393480" progId="Equation.DSMT4">
                  <p:embed/>
                </p:oleObj>
              </mc:Choice>
              <mc:Fallback>
                <p:oleObj name="Equation" r:id="rId3" imgW="558720" imgH="39348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2162175"/>
                        <a:ext cx="1143000" cy="804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2154" name="Object 10"/>
          <p:cNvGraphicFramePr>
            <a:graphicFrameLocks noGrp="1" noChangeAspect="1"/>
          </p:cNvGraphicFramePr>
          <p:nvPr>
            <p:ph sz="quarter" idx="3"/>
          </p:nvPr>
        </p:nvGraphicFramePr>
        <p:xfrm>
          <a:off x="4198938" y="3657600"/>
          <a:ext cx="1135062" cy="879475"/>
        </p:xfrm>
        <a:graphic>
          <a:graphicData uri="http://schemas.openxmlformats.org/presentationml/2006/ole">
            <mc:AlternateContent xmlns:mc="http://schemas.openxmlformats.org/markup-compatibility/2006">
              <mc:Choice xmlns:v="urn:schemas-microsoft-com:vml" Requires="v">
                <p:oleObj spid="_x0000_s3105" name="Equation" r:id="rId5" imgW="507960" imgH="393480" progId="Equation.DSMT4">
                  <p:embed/>
                </p:oleObj>
              </mc:Choice>
              <mc:Fallback>
                <p:oleObj name="Equation" r:id="rId5" imgW="507960" imgH="39348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8938" y="3657600"/>
                        <a:ext cx="1135062"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2156" name="Object 12"/>
          <p:cNvGraphicFramePr>
            <a:graphicFrameLocks noChangeAspect="1"/>
          </p:cNvGraphicFramePr>
          <p:nvPr/>
        </p:nvGraphicFramePr>
        <p:xfrm>
          <a:off x="4191000" y="5486400"/>
          <a:ext cx="1065213" cy="804863"/>
        </p:xfrm>
        <a:graphic>
          <a:graphicData uri="http://schemas.openxmlformats.org/presentationml/2006/ole">
            <mc:AlternateContent xmlns:mc="http://schemas.openxmlformats.org/markup-compatibility/2006">
              <mc:Choice xmlns:v="urn:schemas-microsoft-com:vml" Requires="v">
                <p:oleObj spid="_x0000_s3106" name="Equation" r:id="rId7" imgW="520560" imgH="393480" progId="Equation.DSMT4">
                  <p:embed/>
                </p:oleObj>
              </mc:Choice>
              <mc:Fallback>
                <p:oleObj name="Equation" r:id="rId7" imgW="520560" imgH="39348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5486400"/>
                        <a:ext cx="1065213" cy="804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Rot="1" noChangeArrowheads="1"/>
          </p:cNvSpPr>
          <p:nvPr>
            <p:ph type="title"/>
          </p:nvPr>
        </p:nvSpPr>
        <p:spPr/>
        <p:txBody>
          <a:bodyPr/>
          <a:lstStyle/>
          <a:p>
            <a:r>
              <a:rPr lang="zh-CN" altLang="en-US" b="1">
                <a:ea typeface="楷体_GB2312" pitchFamily="49" charset="-122"/>
              </a:rPr>
              <a:t>视觉中的常用度量</a:t>
            </a:r>
          </a:p>
        </p:txBody>
      </p:sp>
      <p:sp>
        <p:nvSpPr>
          <p:cNvPr id="267267" name="Rectangle 3"/>
          <p:cNvSpPr>
            <a:spLocks noGrp="1" noRot="1" noChangeArrowheads="1"/>
          </p:cNvSpPr>
          <p:nvPr>
            <p:ph type="body" sz="half" idx="1"/>
          </p:nvPr>
        </p:nvSpPr>
        <p:spPr>
          <a:xfrm>
            <a:off x="609600" y="1600200"/>
            <a:ext cx="8153400" cy="4498975"/>
          </a:xfrm>
        </p:spPr>
        <p:txBody>
          <a:bodyPr/>
          <a:lstStyle/>
          <a:p>
            <a:r>
              <a:rPr lang="zh-CN" altLang="en-US" sz="2800" b="1">
                <a:latin typeface="楷体_GB2312" pitchFamily="49" charset="-122"/>
                <a:ea typeface="楷体_GB2312" pitchFamily="49" charset="-122"/>
              </a:rPr>
              <a:t>亮度是用来描述所看到物体表面的明亮程度，若物体的表面称为发光面，亮度</a:t>
            </a:r>
            <a:r>
              <a:rPr lang="en-US" altLang="zh-CN" sz="2800" b="1">
                <a:latin typeface="楷体_GB2312" pitchFamily="49" charset="-122"/>
                <a:ea typeface="楷体_GB2312" pitchFamily="49" charset="-122"/>
              </a:rPr>
              <a:t>D</a:t>
            </a:r>
            <a:r>
              <a:rPr lang="zh-CN" altLang="en-US" sz="2800" b="1">
                <a:latin typeface="楷体_GB2312" pitchFamily="49" charset="-122"/>
                <a:ea typeface="楷体_GB2312" pitchFamily="49" charset="-122"/>
              </a:rPr>
              <a:t>是单位发光面在观察者方向上看到的发光强度。设观察方向角为</a:t>
            </a:r>
            <a:r>
              <a:rPr lang="el-GR" altLang="zh-CN" sz="2800" b="1">
                <a:latin typeface="楷体_GB2312" pitchFamily="49" charset="-122"/>
                <a:ea typeface="楷体_GB2312" pitchFamily="49" charset="-122"/>
              </a:rPr>
              <a:t>α</a:t>
            </a:r>
            <a:r>
              <a:rPr lang="en-US" altLang="zh-CN" sz="2800" b="1">
                <a:latin typeface="楷体_GB2312" pitchFamily="49" charset="-122"/>
                <a:ea typeface="楷体_GB2312" pitchFamily="49" charset="-122"/>
              </a:rPr>
              <a:t>,</a:t>
            </a:r>
            <a:endParaRPr lang="el-GR" altLang="zh-CN" sz="2800" b="1">
              <a:latin typeface="楷体_GB2312" pitchFamily="49" charset="-122"/>
              <a:ea typeface="楷体_GB2312" pitchFamily="49" charset="-122"/>
            </a:endParaRPr>
          </a:p>
        </p:txBody>
      </p:sp>
      <p:graphicFrame>
        <p:nvGraphicFramePr>
          <p:cNvPr id="267268" name="Object 4"/>
          <p:cNvGraphicFramePr>
            <a:graphicFrameLocks noGrp="1" noChangeAspect="1"/>
          </p:cNvGraphicFramePr>
          <p:nvPr>
            <p:ph sz="half" idx="2"/>
          </p:nvPr>
        </p:nvGraphicFramePr>
        <p:xfrm>
          <a:off x="3276600" y="3167063"/>
          <a:ext cx="1828800" cy="858837"/>
        </p:xfrm>
        <a:graphic>
          <a:graphicData uri="http://schemas.openxmlformats.org/presentationml/2006/ole">
            <mc:AlternateContent xmlns:mc="http://schemas.openxmlformats.org/markup-compatibility/2006">
              <mc:Choice xmlns:v="urn:schemas-microsoft-com:vml" Requires="v">
                <p:oleObj spid="_x0000_s4108" name="Equation" r:id="rId3" imgW="838080" imgH="393480" progId="Equation.DSMT4">
                  <p:embed/>
                </p:oleObj>
              </mc:Choice>
              <mc:Fallback>
                <p:oleObj name="Equation" r:id="rId3" imgW="838080" imgH="39348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167063"/>
                        <a:ext cx="1828800" cy="858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7270" name="Picture 6"/>
          <p:cNvPicPr>
            <a:picLocks noChangeAspect="1" noChangeArrowheads="1"/>
          </p:cNvPicPr>
          <p:nvPr/>
        </p:nvPicPr>
        <p:blipFill>
          <a:blip r:embed="rId5" cstate="print"/>
          <a:srcRect/>
          <a:stretch>
            <a:fillRect/>
          </a:stretch>
        </p:blipFill>
        <p:spPr bwMode="auto">
          <a:xfrm>
            <a:off x="2971800" y="4191000"/>
            <a:ext cx="2895600" cy="2262188"/>
          </a:xfrm>
          <a:prstGeom prst="rect">
            <a:avLst/>
          </a:prstGeom>
          <a:noFill/>
          <a:ln w="9525" algn="ctr">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a:xfrm>
            <a:off x="827088" y="404813"/>
            <a:ext cx="7772400" cy="760412"/>
          </a:xfrm>
        </p:spPr>
        <p:txBody>
          <a:bodyPr/>
          <a:lstStyle/>
          <a:p>
            <a:r>
              <a:rPr lang="en-US" altLang="zh-CN" b="1" dirty="0" smtClean="0">
                <a:latin typeface="楷体_GB2312" pitchFamily="49" charset="-122"/>
                <a:ea typeface="楷体_GB2312" pitchFamily="49" charset="-122"/>
              </a:rPr>
              <a:t>1.2 </a:t>
            </a:r>
            <a:r>
              <a:rPr lang="zh-CN" altLang="en-US" b="1" dirty="0">
                <a:latin typeface="楷体_GB2312" pitchFamily="49" charset="-122"/>
                <a:ea typeface="楷体_GB2312" pitchFamily="49" charset="-122"/>
              </a:rPr>
              <a:t>成像物理学</a:t>
            </a:r>
          </a:p>
        </p:txBody>
      </p:sp>
      <p:sp>
        <p:nvSpPr>
          <p:cNvPr id="12291" name="Rectangle 3"/>
          <p:cNvSpPr>
            <a:spLocks noGrp="1" noRot="1" noChangeArrowheads="1"/>
          </p:cNvSpPr>
          <p:nvPr>
            <p:ph type="body" idx="1"/>
          </p:nvPr>
        </p:nvSpPr>
        <p:spPr>
          <a:xfrm>
            <a:off x="827088" y="1341438"/>
            <a:ext cx="7921625" cy="4679950"/>
          </a:xfrm>
        </p:spPr>
        <p:txBody>
          <a:bodyPr/>
          <a:lstStyle/>
          <a:p>
            <a:r>
              <a:rPr lang="zh-CN" altLang="en-US" b="1" dirty="0">
                <a:solidFill>
                  <a:srgbClr val="000066"/>
                </a:solidFill>
                <a:latin typeface="楷体_GB2312" pitchFamily="49" charset="-122"/>
                <a:ea typeface="楷体_GB2312" pitchFamily="49" charset="-122"/>
              </a:rPr>
              <a:t>描述光在物体表面的反射物理特性，即光从光源到达物体表面，再从物体表面反射</a:t>
            </a:r>
            <a:r>
              <a:rPr lang="zh-CN" altLang="en-US" b="1" dirty="0" smtClean="0">
                <a:solidFill>
                  <a:srgbClr val="000066"/>
                </a:solidFill>
                <a:latin typeface="楷体_GB2312" pitchFamily="49" charset="-122"/>
                <a:ea typeface="楷体_GB2312" pitchFamily="49" charset="-122"/>
              </a:rPr>
              <a:t>到图像平面</a:t>
            </a:r>
            <a:r>
              <a:rPr lang="zh-CN" altLang="en-US" b="1" dirty="0">
                <a:solidFill>
                  <a:srgbClr val="000066"/>
                </a:solidFill>
                <a:latin typeface="楷体_GB2312" pitchFamily="49" charset="-122"/>
                <a:ea typeface="楷体_GB2312" pitchFamily="49" charset="-122"/>
              </a:rPr>
              <a:t>，形成图像的过程和行为</a:t>
            </a:r>
            <a:r>
              <a:rPr lang="en-US" altLang="zh-CN" b="1" dirty="0">
                <a:solidFill>
                  <a:srgbClr val="000066"/>
                </a:solidFill>
                <a:latin typeface="楷体_GB2312" pitchFamily="49" charset="-122"/>
                <a:ea typeface="楷体_GB2312" pitchFamily="49" charset="-122"/>
              </a:rPr>
              <a:t>.</a:t>
            </a:r>
          </a:p>
          <a:p>
            <a:r>
              <a:rPr lang="zh-CN" altLang="en-US" b="1" dirty="0">
                <a:solidFill>
                  <a:srgbClr val="000066"/>
                </a:solidFill>
                <a:latin typeface="楷体_GB2312" pitchFamily="49" charset="-122"/>
                <a:ea typeface="楷体_GB2312" pitchFamily="49" charset="-122"/>
              </a:rPr>
              <a:t>成像几何确定场景点在图像平面上的位置，成像物理学确定场景点</a:t>
            </a:r>
            <a:r>
              <a:rPr lang="zh-CN" altLang="en-US" b="1" dirty="0" smtClean="0">
                <a:solidFill>
                  <a:srgbClr val="000066"/>
                </a:solidFill>
                <a:latin typeface="楷体_GB2312" pitchFamily="49" charset="-122"/>
                <a:ea typeface="楷体_GB2312" pitchFamily="49" charset="-122"/>
              </a:rPr>
              <a:t>在图像平面</a:t>
            </a:r>
            <a:r>
              <a:rPr lang="zh-CN" altLang="en-US" b="1" dirty="0">
                <a:solidFill>
                  <a:srgbClr val="000066"/>
                </a:solidFill>
                <a:latin typeface="楷体_GB2312" pitchFamily="49" charset="-122"/>
                <a:ea typeface="楷体_GB2312" pitchFamily="49" charset="-122"/>
              </a:rPr>
              <a:t>上的亮度</a:t>
            </a:r>
            <a:r>
              <a:rPr lang="en-US" altLang="zh-CN" b="1" dirty="0">
                <a:solidFill>
                  <a:srgbClr val="000066"/>
                </a:solidFill>
                <a:latin typeface="楷体_GB2312" pitchFamily="49" charset="-122"/>
                <a:ea typeface="楷体_GB2312" pitchFamily="49" charset="-122"/>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p:txBody>
          <a:bodyPr/>
          <a:lstStyle/>
          <a:p>
            <a:r>
              <a:rPr lang="zh-CN" altLang="en-US" b="1">
                <a:latin typeface="楷体_GB2312" pitchFamily="49" charset="-122"/>
                <a:ea typeface="楷体_GB2312" pitchFamily="49" charset="-122"/>
              </a:rPr>
              <a:t>成像物理学</a:t>
            </a:r>
          </a:p>
        </p:txBody>
      </p:sp>
      <p:sp>
        <p:nvSpPr>
          <p:cNvPr id="13315" name="Rectangle 3"/>
          <p:cNvSpPr>
            <a:spLocks noGrp="1" noRot="1" noChangeArrowheads="1"/>
          </p:cNvSpPr>
          <p:nvPr>
            <p:ph type="body" idx="1"/>
          </p:nvPr>
        </p:nvSpPr>
        <p:spPr>
          <a:xfrm>
            <a:off x="900113" y="1268413"/>
            <a:ext cx="4176712" cy="4824412"/>
          </a:xfrm>
        </p:spPr>
        <p:txBody>
          <a:bodyPr/>
          <a:lstStyle/>
          <a:p>
            <a:r>
              <a:rPr lang="zh-CN" altLang="en-US" sz="3200" b="1" dirty="0">
                <a:solidFill>
                  <a:srgbClr val="000066"/>
                </a:solidFill>
                <a:latin typeface="楷体_GB2312" pitchFamily="49" charset="-122"/>
                <a:ea typeface="楷体_GB2312" pitchFamily="49" charset="-122"/>
              </a:rPr>
              <a:t>成像三要素：</a:t>
            </a:r>
          </a:p>
          <a:p>
            <a:pPr>
              <a:buFont typeface="Wingdings" pitchFamily="2" charset="2"/>
              <a:buNone/>
            </a:pPr>
            <a:r>
              <a:rPr lang="zh-CN" altLang="en-US" b="1" dirty="0">
                <a:solidFill>
                  <a:srgbClr val="000066"/>
                </a:solidFill>
                <a:latin typeface="楷体_GB2312" pitchFamily="49" charset="-122"/>
                <a:ea typeface="楷体_GB2312" pitchFamily="49" charset="-122"/>
              </a:rPr>
              <a:t>    光源、物体、图像平面</a:t>
            </a:r>
          </a:p>
          <a:p>
            <a:r>
              <a:rPr lang="zh-CN" altLang="en-US" sz="3200" b="1" dirty="0">
                <a:solidFill>
                  <a:srgbClr val="000066"/>
                </a:solidFill>
                <a:latin typeface="楷体_GB2312" pitchFamily="49" charset="-122"/>
                <a:ea typeface="楷体_GB2312" pitchFamily="49" charset="-122"/>
              </a:rPr>
              <a:t>两个过程：</a:t>
            </a:r>
          </a:p>
          <a:p>
            <a:pPr>
              <a:buFont typeface="Wingdings" pitchFamily="2" charset="2"/>
              <a:buNone/>
            </a:pPr>
            <a:r>
              <a:rPr lang="zh-CN" altLang="en-US" b="1" dirty="0">
                <a:solidFill>
                  <a:srgbClr val="000066"/>
                </a:solidFill>
                <a:latin typeface="楷体_GB2312" pitchFamily="49" charset="-122"/>
                <a:ea typeface="楷体_GB2312" pitchFamily="49" charset="-122"/>
              </a:rPr>
              <a:t>    照明</a:t>
            </a:r>
            <a:r>
              <a:rPr lang="en-US" altLang="zh-CN" b="1" dirty="0">
                <a:solidFill>
                  <a:srgbClr val="000066"/>
                </a:solidFill>
                <a:latin typeface="楷体_GB2312" pitchFamily="49" charset="-122"/>
                <a:ea typeface="楷体_GB2312" pitchFamily="49" charset="-122"/>
              </a:rPr>
              <a:t>--</a:t>
            </a:r>
            <a:r>
              <a:rPr lang="zh-CN" altLang="en-US" b="1" dirty="0">
                <a:solidFill>
                  <a:srgbClr val="000099"/>
                </a:solidFill>
                <a:latin typeface="楷体_GB2312" pitchFamily="49" charset="-122"/>
                <a:ea typeface="楷体_GB2312" pitchFamily="49" charset="-122"/>
              </a:rPr>
              <a:t>光源发射光到物体表面</a:t>
            </a:r>
          </a:p>
          <a:p>
            <a:pPr>
              <a:buFont typeface="Wingdings" pitchFamily="2" charset="2"/>
              <a:buNone/>
            </a:pPr>
            <a:r>
              <a:rPr lang="zh-CN" altLang="en-US" b="1" dirty="0">
                <a:solidFill>
                  <a:srgbClr val="000066"/>
                </a:solidFill>
                <a:latin typeface="楷体_GB2312" pitchFamily="49" charset="-122"/>
                <a:ea typeface="楷体_GB2312" pitchFamily="49" charset="-122"/>
              </a:rPr>
              <a:t>    反射</a:t>
            </a:r>
            <a:r>
              <a:rPr lang="en-US" altLang="zh-CN" b="1" dirty="0">
                <a:solidFill>
                  <a:srgbClr val="000066"/>
                </a:solidFill>
                <a:latin typeface="楷体_GB2312" pitchFamily="49" charset="-122"/>
                <a:ea typeface="楷体_GB2312" pitchFamily="49" charset="-122"/>
              </a:rPr>
              <a:t>--</a:t>
            </a:r>
            <a:r>
              <a:rPr lang="zh-CN" altLang="en-US" b="1" dirty="0">
                <a:solidFill>
                  <a:srgbClr val="000099"/>
                </a:solidFill>
                <a:latin typeface="楷体_GB2312" pitchFamily="49" charset="-122"/>
                <a:ea typeface="楷体_GB2312" pitchFamily="49" charset="-122"/>
              </a:rPr>
              <a:t>物体表面反射光</a:t>
            </a:r>
            <a:r>
              <a:rPr lang="zh-CN" altLang="en-US" b="1" dirty="0" smtClean="0">
                <a:solidFill>
                  <a:srgbClr val="000099"/>
                </a:solidFill>
                <a:latin typeface="楷体_GB2312" pitchFamily="49" charset="-122"/>
                <a:ea typeface="楷体_GB2312" pitchFamily="49" charset="-122"/>
              </a:rPr>
              <a:t>到图像平面</a:t>
            </a:r>
            <a:endParaRPr lang="zh-CN" altLang="en-US" b="1" dirty="0">
              <a:solidFill>
                <a:srgbClr val="000099"/>
              </a:solidFill>
              <a:latin typeface="楷体_GB2312" pitchFamily="49" charset="-122"/>
              <a:ea typeface="楷体_GB2312" pitchFamily="49" charset="-122"/>
            </a:endParaRPr>
          </a:p>
          <a:p>
            <a:pPr>
              <a:buClr>
                <a:srgbClr val="0033CC"/>
              </a:buClr>
              <a:buFont typeface="Wingdings" pitchFamily="2" charset="2"/>
              <a:buNone/>
            </a:pPr>
            <a:r>
              <a:rPr lang="zh-CN" altLang="en-US" b="1" dirty="0">
                <a:latin typeface="楷体_GB2312" pitchFamily="49" charset="-122"/>
                <a:ea typeface="楷体_GB2312" pitchFamily="49" charset="-122"/>
              </a:rPr>
              <a:t>    </a:t>
            </a:r>
          </a:p>
        </p:txBody>
      </p:sp>
      <p:pic>
        <p:nvPicPr>
          <p:cNvPr id="13316" name="Picture 4" descr="9"/>
          <p:cNvPicPr>
            <a:picLocks noChangeAspect="1" noChangeArrowheads="1"/>
          </p:cNvPicPr>
          <p:nvPr/>
        </p:nvPicPr>
        <p:blipFill>
          <a:blip r:embed="rId2" cstate="print"/>
          <a:srcRect/>
          <a:stretch>
            <a:fillRect/>
          </a:stretch>
        </p:blipFill>
        <p:spPr bwMode="auto">
          <a:xfrm>
            <a:off x="5291138" y="1412875"/>
            <a:ext cx="3529012" cy="35290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7" dur="500"/>
                                        <p:tgtEl>
                                          <p:spTgt spid="1331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12" dur="500"/>
                                        <p:tgtEl>
                                          <p:spTgt spid="13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9"/>
          <p:cNvPicPr>
            <a:picLocks noChangeAspect="1" noChangeArrowheads="1"/>
          </p:cNvPicPr>
          <p:nvPr/>
        </p:nvPicPr>
        <p:blipFill>
          <a:blip r:embed="rId3" cstate="print"/>
          <a:srcRect/>
          <a:stretch>
            <a:fillRect/>
          </a:stretch>
        </p:blipFill>
        <p:spPr bwMode="auto">
          <a:xfrm>
            <a:off x="4572000" y="2636838"/>
            <a:ext cx="4032250" cy="3667125"/>
          </a:xfrm>
          <a:prstGeom prst="rect">
            <a:avLst/>
          </a:prstGeom>
          <a:noFill/>
          <a:ln w="9525">
            <a:noFill/>
            <a:miter lim="800000"/>
            <a:headEnd/>
            <a:tailEnd/>
          </a:ln>
        </p:spPr>
      </p:pic>
      <p:sp>
        <p:nvSpPr>
          <p:cNvPr id="14339" name="Rectangle 3"/>
          <p:cNvSpPr>
            <a:spLocks noGrp="1" noRot="1" noChangeArrowheads="1"/>
          </p:cNvSpPr>
          <p:nvPr>
            <p:ph type="title"/>
          </p:nvPr>
        </p:nvSpPr>
        <p:spPr>
          <a:xfrm>
            <a:off x="215329" y="764704"/>
            <a:ext cx="8893175" cy="575593"/>
          </a:xfrm>
        </p:spPr>
        <p:txBody>
          <a:bodyPr>
            <a:normAutofit fontScale="90000"/>
          </a:bodyPr>
          <a:lstStyle/>
          <a:p>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1</a:t>
            </a:r>
            <a:r>
              <a:rPr lang="zh-CN" altLang="en-US" sz="3200" b="1" dirty="0">
                <a:latin typeface="楷体_GB2312" pitchFamily="49" charset="-122"/>
                <a:ea typeface="楷体_GB2312" pitchFamily="49" charset="-122"/>
              </a:rPr>
              <a:t>）表面方向半球</a:t>
            </a:r>
            <a:r>
              <a:rPr lang="en-US" altLang="zh-CN" sz="3200" b="1" dirty="0">
                <a:latin typeface="楷体_GB2312" pitchFamily="49" charset="-122"/>
                <a:ea typeface="楷体_GB2312" pitchFamily="49" charset="-122"/>
              </a:rPr>
              <a:t>(Hemisphere of Directions)</a:t>
            </a:r>
          </a:p>
        </p:txBody>
      </p:sp>
      <p:sp>
        <p:nvSpPr>
          <p:cNvPr id="14340" name="Rectangle 4"/>
          <p:cNvSpPr>
            <a:spLocks noGrp="1" noRot="1" noChangeArrowheads="1"/>
          </p:cNvSpPr>
          <p:nvPr>
            <p:ph type="body" idx="1"/>
          </p:nvPr>
        </p:nvSpPr>
        <p:spPr>
          <a:xfrm>
            <a:off x="547688" y="1628775"/>
            <a:ext cx="8272784" cy="2016125"/>
          </a:xfrm>
        </p:spPr>
        <p:txBody>
          <a:bodyPr>
            <a:normAutofit/>
          </a:bodyPr>
          <a:lstStyle/>
          <a:p>
            <a:r>
              <a:rPr lang="zh-CN" altLang="en-US" sz="2800" b="1" dirty="0">
                <a:solidFill>
                  <a:srgbClr val="000066"/>
                </a:solidFill>
                <a:latin typeface="楷体_GB2312" pitchFamily="49" charset="-122"/>
                <a:ea typeface="楷体_GB2312" pitchFamily="49" charset="-122"/>
              </a:rPr>
              <a:t>物体表面接受</a:t>
            </a:r>
            <a:r>
              <a:rPr lang="en-US" altLang="zh-CN" sz="2800" b="1" dirty="0">
                <a:solidFill>
                  <a:srgbClr val="000066"/>
                </a:solidFill>
                <a:latin typeface="楷体_GB2312" pitchFamily="49" charset="-122"/>
                <a:ea typeface="楷体_GB2312" pitchFamily="49" charset="-122"/>
              </a:rPr>
              <a:t>(</a:t>
            </a:r>
            <a:r>
              <a:rPr lang="zh-CN" altLang="en-US" sz="2800" b="1" dirty="0">
                <a:solidFill>
                  <a:srgbClr val="000066"/>
                </a:solidFill>
                <a:latin typeface="楷体_GB2312" pitchFamily="49" charset="-122"/>
                <a:ea typeface="楷体_GB2312" pitchFamily="49" charset="-122"/>
              </a:rPr>
              <a:t>反射</a:t>
            </a:r>
            <a:r>
              <a:rPr lang="en-US" altLang="zh-CN" sz="2800" b="1" dirty="0">
                <a:solidFill>
                  <a:srgbClr val="000066"/>
                </a:solidFill>
                <a:latin typeface="楷体_GB2312" pitchFamily="49" charset="-122"/>
                <a:ea typeface="楷体_GB2312" pitchFamily="49" charset="-122"/>
              </a:rPr>
              <a:t>)</a:t>
            </a:r>
            <a:r>
              <a:rPr lang="zh-CN" altLang="en-US" sz="2800" b="1" dirty="0">
                <a:solidFill>
                  <a:srgbClr val="000066"/>
                </a:solidFill>
                <a:latin typeface="楷体_GB2312" pitchFamily="49" charset="-122"/>
                <a:ea typeface="楷体_GB2312" pitchFamily="49" charset="-122"/>
              </a:rPr>
              <a:t>光线的全部方向</a:t>
            </a:r>
            <a:r>
              <a:rPr lang="en-US" altLang="zh-CN" sz="2800" b="1" dirty="0">
                <a:solidFill>
                  <a:srgbClr val="000066"/>
                </a:solidFill>
                <a:latin typeface="楷体_GB2312" pitchFamily="49" charset="-122"/>
                <a:ea typeface="楷体_GB2312" pitchFamily="49" charset="-122"/>
              </a:rPr>
              <a:t>. </a:t>
            </a:r>
            <a:r>
              <a:rPr lang="zh-CN" altLang="en-US" sz="2800" b="1" dirty="0">
                <a:solidFill>
                  <a:srgbClr val="000066"/>
                </a:solidFill>
                <a:latin typeface="楷体_GB2312" pitchFamily="49" charset="-122"/>
                <a:ea typeface="楷体_GB2312" pitchFamily="49" charset="-122"/>
              </a:rPr>
              <a:t>其接受</a:t>
            </a:r>
            <a:r>
              <a:rPr lang="en-US" altLang="zh-CN" sz="2800" b="1" dirty="0">
                <a:solidFill>
                  <a:srgbClr val="000066"/>
                </a:solidFill>
                <a:latin typeface="楷体_GB2312" pitchFamily="49" charset="-122"/>
                <a:ea typeface="楷体_GB2312" pitchFamily="49" charset="-122"/>
              </a:rPr>
              <a:t>(</a:t>
            </a:r>
            <a:r>
              <a:rPr lang="zh-CN" altLang="en-US" sz="2800" b="1" dirty="0">
                <a:solidFill>
                  <a:srgbClr val="000066"/>
                </a:solidFill>
                <a:latin typeface="楷体_GB2312" pitchFamily="49" charset="-122"/>
                <a:ea typeface="楷体_GB2312" pitchFamily="49" charset="-122"/>
              </a:rPr>
              <a:t>反射</a:t>
            </a:r>
            <a:r>
              <a:rPr lang="en-US" altLang="zh-CN" sz="2800" b="1" dirty="0">
                <a:solidFill>
                  <a:srgbClr val="000066"/>
                </a:solidFill>
                <a:latin typeface="楷体_GB2312" pitchFamily="49" charset="-122"/>
                <a:ea typeface="楷体_GB2312" pitchFamily="49" charset="-122"/>
              </a:rPr>
              <a:t>)</a:t>
            </a:r>
            <a:r>
              <a:rPr lang="zh-CN" altLang="en-US" sz="2800" b="1" dirty="0">
                <a:solidFill>
                  <a:srgbClr val="000066"/>
                </a:solidFill>
                <a:latin typeface="楷体_GB2312" pitchFamily="49" charset="-122"/>
                <a:ea typeface="楷体_GB2312" pitchFamily="49" charset="-122"/>
              </a:rPr>
              <a:t>的总能量等于半球上各个小片的能量之和</a:t>
            </a:r>
            <a:r>
              <a:rPr lang="en-US" altLang="zh-CN" sz="2800" b="1" dirty="0">
                <a:solidFill>
                  <a:srgbClr val="000066"/>
                </a:solidFill>
                <a:latin typeface="楷体_GB2312" pitchFamily="49" charset="-122"/>
                <a:ea typeface="楷体_GB2312" pitchFamily="49" charset="-122"/>
              </a:rPr>
              <a:t>.</a:t>
            </a:r>
          </a:p>
        </p:txBody>
      </p:sp>
      <p:sp>
        <p:nvSpPr>
          <p:cNvPr id="14341" name="Text Box 5"/>
          <p:cNvSpPr txBox="1">
            <a:spLocks noChangeArrowheads="1"/>
          </p:cNvSpPr>
          <p:nvPr/>
        </p:nvSpPr>
        <p:spPr bwMode="auto">
          <a:xfrm>
            <a:off x="684213" y="3213100"/>
            <a:ext cx="3959225" cy="2283702"/>
          </a:xfrm>
          <a:prstGeom prst="rect">
            <a:avLst/>
          </a:prstGeom>
          <a:noFill/>
          <a:ln w="9525">
            <a:noFill/>
            <a:miter lim="800000"/>
            <a:headEnd/>
            <a:tailEnd/>
          </a:ln>
          <a:effectLst/>
        </p:spPr>
        <p:txBody>
          <a:bodyPr>
            <a:spAutoFit/>
          </a:bodyPr>
          <a:lstStyle/>
          <a:p>
            <a:pPr>
              <a:lnSpc>
                <a:spcPct val="90000"/>
              </a:lnSpc>
              <a:spcBef>
                <a:spcPct val="20000"/>
              </a:spcBef>
              <a:buFontTx/>
              <a:buChar char="•"/>
            </a:pPr>
            <a:r>
              <a:rPr kumimoji="1" lang="zh-CN" altLang="en-US" sz="2800" dirty="0" smtClean="0">
                <a:solidFill>
                  <a:srgbClr val="000066"/>
                </a:solidFill>
                <a:latin typeface="楷体_GB2312" pitchFamily="49" charset="-122"/>
                <a:ea typeface="楷体_GB2312" pitchFamily="49" charset="-122"/>
              </a:rPr>
              <a:t>立体角 </a:t>
            </a:r>
            <a:r>
              <a:rPr kumimoji="1" lang="en-US" altLang="zh-CN" sz="2800" dirty="0">
                <a:solidFill>
                  <a:srgbClr val="000066"/>
                </a:solidFill>
                <a:latin typeface="楷体_GB2312" pitchFamily="49" charset="-122"/>
                <a:ea typeface="楷体_GB2312" pitchFamily="49" charset="-122"/>
              </a:rPr>
              <a:t>(solid angle)</a:t>
            </a:r>
          </a:p>
          <a:p>
            <a:pPr>
              <a:lnSpc>
                <a:spcPct val="90000"/>
              </a:lnSpc>
              <a:spcBef>
                <a:spcPct val="20000"/>
              </a:spcBef>
            </a:pPr>
            <a:r>
              <a:rPr kumimoji="1" lang="en-US" altLang="zh-CN" sz="2800" dirty="0" smtClean="0">
                <a:solidFill>
                  <a:srgbClr val="000066"/>
                </a:solidFill>
                <a:latin typeface="楷体_GB2312" pitchFamily="49" charset="-122"/>
                <a:ea typeface="楷体_GB2312" pitchFamily="49" charset="-122"/>
              </a:rPr>
              <a:t>-</a:t>
            </a:r>
            <a:r>
              <a:rPr kumimoji="1" lang="zh-CN" altLang="en-US" sz="2800" dirty="0" smtClean="0">
                <a:solidFill>
                  <a:srgbClr val="000066"/>
                </a:solidFill>
                <a:latin typeface="楷体_GB2312" pitchFamily="49" charset="-122"/>
                <a:ea typeface="楷体_GB2312" pitchFamily="49" charset="-122"/>
              </a:rPr>
              <a:t>单位</a:t>
            </a:r>
            <a:r>
              <a:rPr kumimoji="1" lang="zh-CN" altLang="en-US" sz="2800" dirty="0">
                <a:solidFill>
                  <a:srgbClr val="000066"/>
                </a:solidFill>
                <a:latin typeface="楷体_GB2312" pitchFamily="49" charset="-122"/>
                <a:ea typeface="楷体_GB2312" pitchFamily="49" charset="-122"/>
              </a:rPr>
              <a:t>半球上小片</a:t>
            </a:r>
            <a:r>
              <a:rPr kumimoji="1" lang="zh-CN" altLang="en-US" sz="2800" dirty="0" smtClean="0">
                <a:solidFill>
                  <a:srgbClr val="000066"/>
                </a:solidFill>
                <a:latin typeface="楷体_GB2312" pitchFamily="49" charset="-122"/>
                <a:ea typeface="楷体_GB2312" pitchFamily="49" charset="-122"/>
              </a:rPr>
              <a:t>的面积</a:t>
            </a:r>
            <a:r>
              <a:rPr kumimoji="1" lang="zh-CN" altLang="en-US" sz="2800" dirty="0">
                <a:solidFill>
                  <a:srgbClr val="000066"/>
                </a:solidFill>
                <a:latin typeface="楷体_GB2312" pitchFamily="49" charset="-122"/>
                <a:ea typeface="楷体_GB2312" pitchFamily="49" charset="-122"/>
              </a:rPr>
              <a:t>，也表示</a:t>
            </a:r>
            <a:r>
              <a:rPr kumimoji="1" lang="zh-CN" altLang="en-US" sz="2800" dirty="0" smtClean="0">
                <a:solidFill>
                  <a:srgbClr val="000066"/>
                </a:solidFill>
                <a:latin typeface="楷体_GB2312" pitchFamily="49" charset="-122"/>
                <a:ea typeface="楷体_GB2312" pitchFamily="49" charset="-122"/>
              </a:rPr>
              <a:t>接受反射</a:t>
            </a:r>
            <a:r>
              <a:rPr kumimoji="1" lang="en-US" altLang="zh-CN" sz="2800" dirty="0">
                <a:solidFill>
                  <a:srgbClr val="000066"/>
                </a:solidFill>
                <a:latin typeface="楷体_GB2312" pitchFamily="49" charset="-122"/>
                <a:ea typeface="楷体_GB2312" pitchFamily="49" charset="-122"/>
              </a:rPr>
              <a:t>)</a:t>
            </a:r>
            <a:r>
              <a:rPr kumimoji="1" lang="zh-CN" altLang="en-US" sz="2800" dirty="0">
                <a:solidFill>
                  <a:srgbClr val="000066"/>
                </a:solidFill>
                <a:latin typeface="楷体_GB2312" pitchFamily="49" charset="-122"/>
                <a:ea typeface="楷体_GB2312" pitchFamily="49" charset="-122"/>
              </a:rPr>
              <a:t>能量的方向</a:t>
            </a:r>
            <a:r>
              <a:rPr kumimoji="1" lang="en-US" altLang="zh-CN" sz="2800" dirty="0">
                <a:solidFill>
                  <a:srgbClr val="000066"/>
                </a:solidFill>
                <a:latin typeface="楷体_GB2312" pitchFamily="49" charset="-122"/>
                <a:ea typeface="楷体_GB2312" pitchFamily="49" charset="-122"/>
              </a:rPr>
              <a:t>.</a:t>
            </a:r>
          </a:p>
          <a:p>
            <a:pPr>
              <a:spcBef>
                <a:spcPct val="50000"/>
              </a:spcBef>
            </a:pPr>
            <a:endParaRPr kumimoji="1" lang="en-US" altLang="zh-CN" sz="2400" u="sng" dirty="0">
              <a:latin typeface="楷体_GB2312" pitchFamily="49" charset="-122"/>
              <a:ea typeface="楷体_GB2312" pitchFamily="49" charset="-122"/>
            </a:endParaRPr>
          </a:p>
        </p:txBody>
      </p:sp>
      <p:graphicFrame>
        <p:nvGraphicFramePr>
          <p:cNvPr id="14342" name="Object 6"/>
          <p:cNvGraphicFramePr>
            <a:graphicFrameLocks noChangeAspect="1"/>
          </p:cNvGraphicFramePr>
          <p:nvPr/>
        </p:nvGraphicFramePr>
        <p:xfrm>
          <a:off x="1259632" y="5013176"/>
          <a:ext cx="2663825" cy="555625"/>
        </p:xfrm>
        <a:graphic>
          <a:graphicData uri="http://schemas.openxmlformats.org/presentationml/2006/ole">
            <mc:AlternateContent xmlns:mc="http://schemas.openxmlformats.org/markup-compatibility/2006">
              <mc:Choice xmlns:v="urn:schemas-microsoft-com:vml" Requires="v">
                <p:oleObj spid="_x0000_s81932" name="公式" r:id="rId4" imgW="1079280" imgH="228600" progId="Equation.3">
                  <p:embed/>
                </p:oleObj>
              </mc:Choice>
              <mc:Fallback>
                <p:oleObj name="公式" r:id="rId4" imgW="1079280" imgH="22860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5013176"/>
                        <a:ext cx="2663825"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a:xfrm>
            <a:off x="471488" y="220663"/>
            <a:ext cx="7772400" cy="760412"/>
          </a:xfrm>
        </p:spPr>
        <p:txBody>
          <a:bodyPr>
            <a:normAutofit/>
          </a:bodyPr>
          <a:lstStyle/>
          <a:p>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2</a:t>
            </a:r>
            <a:r>
              <a:rPr lang="zh-CN" altLang="en-US" sz="3200" b="1" dirty="0">
                <a:latin typeface="楷体_GB2312" pitchFamily="49" charset="-122"/>
                <a:ea typeface="楷体_GB2312" pitchFamily="49" charset="-122"/>
              </a:rPr>
              <a:t>）透视缩小效应</a:t>
            </a:r>
            <a:r>
              <a:rPr lang="en-US" altLang="zh-CN" sz="3200" b="1" dirty="0">
                <a:latin typeface="楷体_GB2312" pitchFamily="49" charset="-122"/>
                <a:ea typeface="楷体_GB2312" pitchFamily="49" charset="-122"/>
              </a:rPr>
              <a:t>(foreshortening)</a:t>
            </a:r>
          </a:p>
        </p:txBody>
      </p:sp>
      <p:sp>
        <p:nvSpPr>
          <p:cNvPr id="15363" name="Rectangle 3"/>
          <p:cNvSpPr>
            <a:spLocks noGrp="1" noRot="1" noChangeArrowheads="1"/>
          </p:cNvSpPr>
          <p:nvPr>
            <p:ph type="body" idx="1"/>
          </p:nvPr>
        </p:nvSpPr>
        <p:spPr>
          <a:xfrm>
            <a:off x="755650" y="1052513"/>
            <a:ext cx="7777163" cy="4751387"/>
          </a:xfrm>
        </p:spPr>
        <p:txBody>
          <a:bodyPr>
            <a:normAutofit/>
          </a:bodyPr>
          <a:lstStyle/>
          <a:p>
            <a:r>
              <a:rPr lang="zh-CN" altLang="en-US" sz="2800" b="1" dirty="0">
                <a:solidFill>
                  <a:srgbClr val="000066"/>
                </a:solidFill>
                <a:latin typeface="楷体_GB2312" pitchFamily="49" charset="-122"/>
                <a:ea typeface="楷体_GB2312" pitchFamily="49" charset="-122"/>
              </a:rPr>
              <a:t>表面片接受（反射）光能的有效面积与该表面片和光源</a:t>
            </a:r>
            <a:r>
              <a:rPr lang="zh-CN" altLang="en-US" sz="2800" b="1" dirty="0" smtClean="0">
                <a:solidFill>
                  <a:srgbClr val="000066"/>
                </a:solidFill>
                <a:latin typeface="楷体_GB2312" pitchFamily="49" charset="-122"/>
                <a:ea typeface="楷体_GB2312" pitchFamily="49" charset="-122"/>
              </a:rPr>
              <a:t>（图像平面</a:t>
            </a:r>
            <a:r>
              <a:rPr lang="zh-CN" altLang="en-US" sz="2800" b="1" dirty="0">
                <a:solidFill>
                  <a:srgbClr val="000066"/>
                </a:solidFill>
                <a:latin typeface="楷体_GB2312" pitchFamily="49" charset="-122"/>
                <a:ea typeface="楷体_GB2312" pitchFamily="49" charset="-122"/>
              </a:rPr>
              <a:t>）的角度有关</a:t>
            </a:r>
            <a:r>
              <a:rPr lang="en-US" altLang="zh-CN" sz="2800" b="1" dirty="0">
                <a:solidFill>
                  <a:srgbClr val="000066"/>
                </a:solidFill>
                <a:latin typeface="楷体_GB2312" pitchFamily="49" charset="-122"/>
                <a:ea typeface="楷体_GB2312" pitchFamily="49" charset="-122"/>
              </a:rPr>
              <a:t>. </a:t>
            </a:r>
            <a:r>
              <a:rPr lang="zh-CN" altLang="en-US" sz="2800" b="1" dirty="0">
                <a:solidFill>
                  <a:srgbClr val="000066"/>
                </a:solidFill>
                <a:latin typeface="楷体_GB2312" pitchFamily="49" charset="-122"/>
                <a:ea typeface="楷体_GB2312" pitchFamily="49" charset="-122"/>
              </a:rPr>
              <a:t>倾斜于光线传播方向的表面片</a:t>
            </a:r>
            <a:r>
              <a:rPr lang="zh-CN" altLang="en-US" sz="2800" b="1" dirty="0">
                <a:solidFill>
                  <a:srgbClr val="000066"/>
                </a:solidFill>
                <a:latin typeface="Arial"/>
                <a:ea typeface="楷体_GB2312" pitchFamily="49" charset="-122"/>
              </a:rPr>
              <a:t>“</a:t>
            </a:r>
            <a:r>
              <a:rPr lang="zh-CN" altLang="en-US" sz="2800" b="1" dirty="0">
                <a:solidFill>
                  <a:srgbClr val="000066"/>
                </a:solidFill>
                <a:latin typeface="楷体_GB2312" pitchFamily="49" charset="-122"/>
                <a:ea typeface="楷体_GB2312" pitchFamily="49" charset="-122"/>
              </a:rPr>
              <a:t>看起来</a:t>
            </a:r>
            <a:r>
              <a:rPr lang="zh-CN" altLang="en-US" sz="2800" b="1" dirty="0">
                <a:solidFill>
                  <a:srgbClr val="000066"/>
                </a:solidFill>
                <a:latin typeface="Arial"/>
                <a:ea typeface="楷体_GB2312" pitchFamily="49" charset="-122"/>
              </a:rPr>
              <a:t>”</a:t>
            </a:r>
            <a:r>
              <a:rPr lang="zh-CN" altLang="en-US" sz="2800" b="1" dirty="0">
                <a:solidFill>
                  <a:srgbClr val="000066"/>
                </a:solidFill>
                <a:latin typeface="楷体_GB2312" pitchFamily="49" charset="-122"/>
                <a:ea typeface="楷体_GB2312" pitchFamily="49" charset="-122"/>
              </a:rPr>
              <a:t> 比实际小</a:t>
            </a:r>
            <a:r>
              <a:rPr lang="en-US" altLang="zh-CN" sz="2800" b="1" dirty="0">
                <a:solidFill>
                  <a:srgbClr val="000066"/>
                </a:solidFill>
                <a:latin typeface="楷体_GB2312" pitchFamily="49" charset="-122"/>
                <a:ea typeface="楷体_GB2312" pitchFamily="49" charset="-122"/>
              </a:rPr>
              <a:t>. </a:t>
            </a:r>
          </a:p>
          <a:p>
            <a:r>
              <a:rPr lang="zh-CN" altLang="en-US" sz="2800" b="1" dirty="0">
                <a:solidFill>
                  <a:srgbClr val="000066"/>
                </a:solidFill>
                <a:latin typeface="楷体_GB2312" pitchFamily="49" charset="-122"/>
                <a:ea typeface="楷体_GB2312" pitchFamily="49" charset="-122"/>
              </a:rPr>
              <a:t>发生透视缩小效应的大表面片与小表面片接受的光能是相同的</a:t>
            </a:r>
            <a:r>
              <a:rPr lang="en-US" altLang="zh-CN" sz="2800" b="1" dirty="0">
                <a:solidFill>
                  <a:srgbClr val="000066"/>
                </a:solidFill>
                <a:latin typeface="楷体_GB2312" pitchFamily="49" charset="-122"/>
                <a:ea typeface="楷体_GB2312" pitchFamily="49" charset="-122"/>
              </a:rPr>
              <a:t>.</a:t>
            </a:r>
          </a:p>
        </p:txBody>
      </p:sp>
      <p:sp>
        <p:nvSpPr>
          <p:cNvPr id="15364" name="Rectangle 4"/>
          <p:cNvSpPr>
            <a:spLocks noChangeArrowheads="1"/>
          </p:cNvSpPr>
          <p:nvPr/>
        </p:nvSpPr>
        <p:spPr bwMode="auto">
          <a:xfrm>
            <a:off x="0" y="3338513"/>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5365" name="Text Box 5"/>
          <p:cNvSpPr txBox="1">
            <a:spLocks noChangeArrowheads="1"/>
          </p:cNvSpPr>
          <p:nvPr/>
        </p:nvSpPr>
        <p:spPr bwMode="auto">
          <a:xfrm>
            <a:off x="2484438" y="4508178"/>
            <a:ext cx="2449512" cy="519112"/>
          </a:xfrm>
          <a:prstGeom prst="rect">
            <a:avLst/>
          </a:prstGeom>
          <a:noFill/>
          <a:ln w="9525">
            <a:noFill/>
            <a:miter lim="800000"/>
            <a:headEnd/>
            <a:tailEnd/>
          </a:ln>
          <a:effectLst/>
        </p:spPr>
        <p:txBody>
          <a:bodyPr>
            <a:spAutoFit/>
          </a:bodyPr>
          <a:lstStyle/>
          <a:p>
            <a:pPr>
              <a:spcBef>
                <a:spcPct val="50000"/>
              </a:spcBef>
            </a:pPr>
            <a:r>
              <a:rPr kumimoji="1" lang="zh-CN" altLang="en-US" sz="2800">
                <a:solidFill>
                  <a:srgbClr val="000066"/>
                </a:solidFill>
                <a:latin typeface="楷体_GB2312" pitchFamily="49" charset="-122"/>
                <a:ea typeface="楷体_GB2312" pitchFamily="49" charset="-122"/>
              </a:rPr>
              <a:t>透视缩小因子</a:t>
            </a:r>
          </a:p>
        </p:txBody>
      </p:sp>
      <p:sp>
        <p:nvSpPr>
          <p:cNvPr id="15366" name="Line 6"/>
          <p:cNvSpPr>
            <a:spLocks noChangeShapeType="1"/>
          </p:cNvSpPr>
          <p:nvPr/>
        </p:nvSpPr>
        <p:spPr bwMode="auto">
          <a:xfrm flipV="1">
            <a:off x="3708400" y="4149403"/>
            <a:ext cx="0" cy="360362"/>
          </a:xfrm>
          <a:prstGeom prst="line">
            <a:avLst/>
          </a:prstGeom>
          <a:noFill/>
          <a:ln w="9525">
            <a:solidFill>
              <a:schemeClr val="tx1"/>
            </a:solidFill>
            <a:miter lim="800000"/>
            <a:headEnd/>
            <a:tailEnd type="triangle" w="med" len="med"/>
          </a:ln>
          <a:effectLst/>
        </p:spPr>
        <p:txBody>
          <a:bodyPr wrap="none"/>
          <a:lstStyle/>
          <a:p>
            <a:endParaRPr lang="zh-CN" altLang="en-US"/>
          </a:p>
        </p:txBody>
      </p:sp>
      <p:graphicFrame>
        <p:nvGraphicFramePr>
          <p:cNvPr id="15367" name="Object 7"/>
          <p:cNvGraphicFramePr>
            <a:graphicFrameLocks noChangeAspect="1"/>
          </p:cNvGraphicFramePr>
          <p:nvPr/>
        </p:nvGraphicFramePr>
        <p:xfrm>
          <a:off x="2268538" y="3789040"/>
          <a:ext cx="5040312" cy="527050"/>
        </p:xfrm>
        <a:graphic>
          <a:graphicData uri="http://schemas.openxmlformats.org/presentationml/2006/ole">
            <mc:AlternateContent xmlns:mc="http://schemas.openxmlformats.org/markup-compatibility/2006">
              <mc:Choice xmlns:v="urn:schemas-microsoft-com:vml" Requires="v">
                <p:oleObj spid="_x0000_s82956" name="公式" r:id="rId3" imgW="1942920" imgH="203040" progId="Equation.3">
                  <p:embed/>
                </p:oleObj>
              </mc:Choice>
              <mc:Fallback>
                <p:oleObj name="公式" r:id="rId3" imgW="1942920" imgH="203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3789040"/>
                        <a:ext cx="5040312"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a:xfrm>
            <a:off x="611188" y="220663"/>
            <a:ext cx="7772400" cy="760412"/>
          </a:xfrm>
        </p:spPr>
        <p:txBody>
          <a:bodyPr>
            <a:normAutofit/>
          </a:bodyPr>
          <a:lstStyle/>
          <a:p>
            <a:r>
              <a:rPr lang="zh-CN" altLang="en-US" sz="3600" b="1" dirty="0">
                <a:latin typeface="楷体_GB2312" pitchFamily="49" charset="-122"/>
                <a:ea typeface="楷体_GB2312" pitchFamily="49" charset="-122"/>
              </a:rPr>
              <a:t>（</a:t>
            </a:r>
            <a:r>
              <a:rPr lang="en-US" altLang="zh-CN" sz="3600" b="1" dirty="0">
                <a:latin typeface="楷体_GB2312" pitchFamily="49" charset="-122"/>
                <a:ea typeface="楷体_GB2312" pitchFamily="49" charset="-122"/>
              </a:rPr>
              <a:t>3</a:t>
            </a:r>
            <a:r>
              <a:rPr lang="zh-CN" altLang="en-US" sz="3600" b="1" dirty="0">
                <a:latin typeface="楷体_GB2312" pitchFamily="49" charset="-122"/>
                <a:ea typeface="楷体_GB2312" pitchFamily="49" charset="-122"/>
              </a:rPr>
              <a:t>）辐照度与辐射度</a:t>
            </a:r>
          </a:p>
        </p:txBody>
      </p:sp>
      <p:sp>
        <p:nvSpPr>
          <p:cNvPr id="16387" name="Rectangle 3"/>
          <p:cNvSpPr>
            <a:spLocks noGrp="1" noRot="1" noChangeArrowheads="1"/>
          </p:cNvSpPr>
          <p:nvPr>
            <p:ph type="body" idx="1"/>
          </p:nvPr>
        </p:nvSpPr>
        <p:spPr>
          <a:xfrm>
            <a:off x="684213" y="1116013"/>
            <a:ext cx="7769225" cy="4113212"/>
          </a:xfrm>
        </p:spPr>
        <p:txBody>
          <a:bodyPr/>
          <a:lstStyle/>
          <a:p>
            <a:pPr>
              <a:buClr>
                <a:srgbClr val="0033CC"/>
              </a:buClr>
            </a:pPr>
            <a:r>
              <a:rPr lang="zh-CN" altLang="en-US" sz="3200" b="1" dirty="0">
                <a:solidFill>
                  <a:srgbClr val="000066"/>
                </a:solidFill>
                <a:latin typeface="楷体_GB2312" pitchFamily="49" charset="-122"/>
                <a:ea typeface="楷体_GB2312" pitchFamily="49" charset="-122"/>
              </a:rPr>
              <a:t>辐射度</a:t>
            </a:r>
            <a:r>
              <a:rPr lang="en-US" altLang="zh-CN" sz="3200" b="1" dirty="0">
                <a:solidFill>
                  <a:srgbClr val="000066"/>
                </a:solidFill>
                <a:latin typeface="楷体_GB2312" pitchFamily="49" charset="-122"/>
                <a:ea typeface="楷体_GB2312" pitchFamily="49" charset="-122"/>
              </a:rPr>
              <a:t>(radiance)</a:t>
            </a:r>
            <a:r>
              <a:rPr lang="zh-CN" altLang="en-US" sz="3200" b="1" dirty="0">
                <a:solidFill>
                  <a:srgbClr val="000066"/>
                </a:solidFill>
                <a:latin typeface="楷体_GB2312" pitchFamily="49" charset="-122"/>
                <a:ea typeface="楷体_GB2312" pitchFamily="49" charset="-122"/>
              </a:rPr>
              <a:t>：</a:t>
            </a:r>
          </a:p>
          <a:p>
            <a:pPr>
              <a:buClr>
                <a:srgbClr val="0033CC"/>
              </a:buClr>
              <a:buFont typeface="Wingdings" pitchFamily="2" charset="2"/>
              <a:buNone/>
            </a:pPr>
            <a:r>
              <a:rPr lang="zh-CN" altLang="en-US" b="1" dirty="0">
                <a:solidFill>
                  <a:srgbClr val="000066"/>
                </a:solidFill>
                <a:latin typeface="楷体_GB2312" pitchFamily="49" charset="-122"/>
                <a:ea typeface="楷体_GB2312" pitchFamily="49" charset="-122"/>
              </a:rPr>
              <a:t>    单位面积辐射表面在单位时间内向某一方向辐射的能量</a:t>
            </a:r>
          </a:p>
          <a:p>
            <a:pPr>
              <a:buClr>
                <a:srgbClr val="0033CC"/>
              </a:buClr>
            </a:pPr>
            <a:r>
              <a:rPr lang="zh-CN" altLang="en-US" sz="3200" b="1" dirty="0">
                <a:solidFill>
                  <a:srgbClr val="000066"/>
                </a:solidFill>
                <a:latin typeface="楷体_GB2312" pitchFamily="49" charset="-122"/>
                <a:ea typeface="楷体_GB2312" pitchFamily="49" charset="-122"/>
              </a:rPr>
              <a:t>辐照度</a:t>
            </a:r>
            <a:r>
              <a:rPr lang="en-US" altLang="zh-CN" sz="3200" b="1" dirty="0">
                <a:solidFill>
                  <a:srgbClr val="000066"/>
                </a:solidFill>
                <a:latin typeface="楷体_GB2312" pitchFamily="49" charset="-122"/>
                <a:ea typeface="楷体_GB2312" pitchFamily="49" charset="-122"/>
              </a:rPr>
              <a:t>(irradiance)</a:t>
            </a:r>
            <a:r>
              <a:rPr lang="zh-CN" altLang="en-US" sz="3200" b="1" dirty="0">
                <a:solidFill>
                  <a:srgbClr val="000066"/>
                </a:solidFill>
                <a:latin typeface="楷体_GB2312" pitchFamily="49" charset="-122"/>
                <a:ea typeface="楷体_GB2312" pitchFamily="49" charset="-122"/>
              </a:rPr>
              <a:t>：</a:t>
            </a:r>
          </a:p>
          <a:p>
            <a:pPr>
              <a:buClr>
                <a:srgbClr val="0033CC"/>
              </a:buClr>
              <a:buFont typeface="Wingdings" pitchFamily="2" charset="2"/>
              <a:buNone/>
            </a:pPr>
            <a:r>
              <a:rPr lang="zh-CN" altLang="en-US" b="1" dirty="0">
                <a:solidFill>
                  <a:srgbClr val="000066"/>
                </a:solidFill>
                <a:latin typeface="楷体_GB2312" pitchFamily="49" charset="-122"/>
                <a:ea typeface="楷体_GB2312" pitchFamily="49" charset="-122"/>
              </a:rPr>
              <a:t>    到达单位面积表面的辐射能量</a:t>
            </a:r>
          </a:p>
          <a:p>
            <a:pPr>
              <a:buClr>
                <a:srgbClr val="0033CC"/>
              </a:buClr>
            </a:pPr>
            <a:r>
              <a:rPr lang="zh-CN" altLang="en-US" sz="3200" b="1" dirty="0">
                <a:solidFill>
                  <a:srgbClr val="000066"/>
                </a:solidFill>
                <a:latin typeface="楷体_GB2312" pitchFamily="49" charset="-122"/>
                <a:ea typeface="楷体_GB2312" pitchFamily="49" charset="-122"/>
              </a:rPr>
              <a:t>光源只有辐射，图像平面只有辐照，物体既有辐照，也有辐射</a:t>
            </a:r>
            <a:r>
              <a:rPr lang="en-US" altLang="zh-CN" sz="3200" b="1" dirty="0">
                <a:solidFill>
                  <a:srgbClr val="000066"/>
                </a:solidFill>
                <a:latin typeface="楷体_GB2312" pitchFamily="49" charset="-122"/>
                <a:ea typeface="楷体_GB2312" pitchFamily="49" charset="-122"/>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468313" y="260350"/>
            <a:ext cx="7772400" cy="760413"/>
          </a:xfrm>
        </p:spPr>
        <p:txBody>
          <a:bodyPr>
            <a:normAutofit/>
          </a:bodyPr>
          <a:lstStyle/>
          <a:p>
            <a:r>
              <a:rPr lang="zh-CN" altLang="en-US" sz="3600" b="1" dirty="0">
                <a:latin typeface="楷体_GB2312" pitchFamily="49" charset="-122"/>
                <a:ea typeface="楷体_GB2312" pitchFamily="49" charset="-122"/>
              </a:rPr>
              <a:t>（</a:t>
            </a:r>
            <a:r>
              <a:rPr lang="en-US" altLang="zh-CN" sz="3600" b="1" dirty="0">
                <a:latin typeface="楷体_GB2312" pitchFamily="49" charset="-122"/>
                <a:ea typeface="楷体_GB2312" pitchFamily="49" charset="-122"/>
              </a:rPr>
              <a:t>4</a:t>
            </a:r>
            <a:r>
              <a:rPr lang="zh-CN" altLang="en-US" sz="3600" b="1" dirty="0">
                <a:latin typeface="楷体_GB2312" pitchFamily="49" charset="-122"/>
                <a:ea typeface="楷体_GB2312" pitchFamily="49" charset="-122"/>
              </a:rPr>
              <a:t>）双向反射分布函数</a:t>
            </a:r>
          </a:p>
        </p:txBody>
      </p:sp>
      <p:sp>
        <p:nvSpPr>
          <p:cNvPr id="17411" name="Rectangle 3"/>
          <p:cNvSpPr>
            <a:spLocks noGrp="1" noRot="1" noChangeArrowheads="1"/>
          </p:cNvSpPr>
          <p:nvPr>
            <p:ph type="body" idx="1"/>
          </p:nvPr>
        </p:nvSpPr>
        <p:spPr>
          <a:xfrm>
            <a:off x="827088" y="1187450"/>
            <a:ext cx="7769225" cy="4113213"/>
          </a:xfrm>
        </p:spPr>
        <p:txBody>
          <a:bodyPr/>
          <a:lstStyle/>
          <a:p>
            <a:r>
              <a:rPr lang="zh-CN" altLang="en-US" sz="3200" b="1" dirty="0">
                <a:solidFill>
                  <a:srgbClr val="000066"/>
                </a:solidFill>
                <a:latin typeface="楷体_GB2312" pitchFamily="49" charset="-122"/>
                <a:ea typeface="楷体_GB2312" pitchFamily="49" charset="-122"/>
              </a:rPr>
              <a:t>中心问题</a:t>
            </a:r>
          </a:p>
          <a:p>
            <a:pPr>
              <a:buFont typeface="Wingdings" pitchFamily="2" charset="2"/>
              <a:buNone/>
            </a:pPr>
            <a:r>
              <a:rPr lang="zh-CN" altLang="en-US" b="1" dirty="0">
                <a:solidFill>
                  <a:srgbClr val="000066"/>
                </a:solidFill>
                <a:latin typeface="楷体_GB2312" pitchFamily="49" charset="-122"/>
                <a:ea typeface="楷体_GB2312" pitchFamily="49" charset="-122"/>
              </a:rPr>
              <a:t> </a:t>
            </a:r>
            <a:r>
              <a:rPr lang="zh-CN" altLang="en-US" b="1" dirty="0" smtClean="0">
                <a:solidFill>
                  <a:srgbClr val="000066"/>
                </a:solidFill>
                <a:latin typeface="楷体_GB2312" pitchFamily="49" charset="-122"/>
                <a:ea typeface="楷体_GB2312" pitchFamily="49" charset="-122"/>
              </a:rPr>
              <a:t>物体</a:t>
            </a:r>
            <a:r>
              <a:rPr lang="zh-CN" altLang="en-US" b="1" dirty="0">
                <a:solidFill>
                  <a:srgbClr val="000066"/>
                </a:solidFill>
                <a:latin typeface="楷体_GB2312" pitchFamily="49" charset="-122"/>
                <a:ea typeface="楷体_GB2312" pitchFamily="49" charset="-122"/>
              </a:rPr>
              <a:t>表面接受光能（辐照度）和反射光能（辐射度）的关系</a:t>
            </a:r>
            <a:r>
              <a:rPr lang="en-US" altLang="zh-CN" b="1" dirty="0">
                <a:solidFill>
                  <a:srgbClr val="000066"/>
                </a:solidFill>
                <a:latin typeface="楷体_GB2312" pitchFamily="49" charset="-122"/>
                <a:ea typeface="楷体_GB2312" pitchFamily="49" charset="-122"/>
              </a:rPr>
              <a:t>. </a:t>
            </a:r>
          </a:p>
          <a:p>
            <a:pPr>
              <a:buClr>
                <a:srgbClr val="0033CC"/>
              </a:buClr>
            </a:pPr>
            <a:r>
              <a:rPr lang="zh-CN" altLang="en-US" sz="3200" b="1" dirty="0">
                <a:solidFill>
                  <a:srgbClr val="000066"/>
                </a:solidFill>
                <a:latin typeface="楷体_GB2312" pitchFamily="49" charset="-122"/>
                <a:ea typeface="楷体_GB2312" pitchFamily="49" charset="-122"/>
              </a:rPr>
              <a:t>与接受和反射光能的角度，以及表面材料有关</a:t>
            </a:r>
            <a:r>
              <a:rPr lang="en-US" altLang="zh-CN" sz="3200" b="1" dirty="0">
                <a:solidFill>
                  <a:srgbClr val="000066"/>
                </a:solidFill>
                <a:latin typeface="楷体_GB2312" pitchFamily="49" charset="-122"/>
                <a:ea typeface="楷体_GB2312" pitchFamily="49" charset="-122"/>
              </a:rPr>
              <a:t>. </a:t>
            </a:r>
          </a:p>
          <a:p>
            <a:pPr algn="just">
              <a:buClr>
                <a:srgbClr val="0033CC"/>
              </a:buClr>
              <a:buFont typeface="Wingdings" pitchFamily="2" charset="2"/>
              <a:buNone/>
            </a:pPr>
            <a:r>
              <a:rPr lang="en-US" altLang="zh-CN" b="1" dirty="0">
                <a:solidFill>
                  <a:srgbClr val="000066"/>
                </a:solidFill>
                <a:latin typeface="楷体_GB2312" pitchFamily="49" charset="-122"/>
                <a:ea typeface="楷体_GB2312" pitchFamily="49" charset="-122"/>
              </a:rPr>
              <a:t> </a:t>
            </a:r>
            <a:r>
              <a:rPr lang="zh-CN" altLang="en-US" b="1" dirty="0" smtClean="0">
                <a:solidFill>
                  <a:srgbClr val="000066"/>
                </a:solidFill>
                <a:latin typeface="楷体_GB2312" pitchFamily="49" charset="-122"/>
                <a:ea typeface="楷体_GB2312" pitchFamily="49" charset="-122"/>
              </a:rPr>
              <a:t>用</a:t>
            </a:r>
            <a:r>
              <a:rPr lang="zh-CN" altLang="en-US" b="1" dirty="0">
                <a:solidFill>
                  <a:srgbClr val="000066"/>
                </a:solidFill>
                <a:latin typeface="楷体_GB2312" pitchFamily="49" charset="-122"/>
                <a:ea typeface="楷体_GB2312" pitchFamily="49" charset="-122"/>
              </a:rPr>
              <a:t>双向反射分布函数</a:t>
            </a:r>
            <a:r>
              <a:rPr lang="en-US" altLang="zh-CN" b="1" dirty="0">
                <a:solidFill>
                  <a:srgbClr val="000066"/>
                </a:solidFill>
                <a:latin typeface="楷体_GB2312" pitchFamily="49" charset="-122"/>
                <a:ea typeface="楷体_GB2312" pitchFamily="49" charset="-122"/>
              </a:rPr>
              <a:t>(bidirectional reflectance distribution function, BRDF) </a:t>
            </a:r>
            <a:r>
              <a:rPr lang="zh-CN" altLang="en-US" b="1" dirty="0">
                <a:solidFill>
                  <a:srgbClr val="000066"/>
                </a:solidFill>
                <a:latin typeface="楷体_GB2312" pitchFamily="49" charset="-122"/>
                <a:ea typeface="楷体_GB2312" pitchFamily="49" charset="-122"/>
              </a:rPr>
              <a:t>建模</a:t>
            </a:r>
            <a:r>
              <a:rPr lang="en-US" altLang="zh-CN" b="1" dirty="0">
                <a:solidFill>
                  <a:srgbClr val="000066"/>
                </a:solidFill>
                <a:latin typeface="楷体_GB2312" pitchFamily="49" charset="-122"/>
                <a:ea typeface="楷体_GB2312" pitchFamily="49" charset="-122"/>
              </a:rPr>
              <a:t>.</a:t>
            </a:r>
          </a:p>
        </p:txBody>
      </p:sp>
      <p:sp>
        <p:nvSpPr>
          <p:cNvPr id="17412" name="Rectangle 4"/>
          <p:cNvSpPr>
            <a:spLocks noChangeArrowheads="1"/>
          </p:cNvSpPr>
          <p:nvPr/>
        </p:nvSpPr>
        <p:spPr bwMode="auto">
          <a:xfrm>
            <a:off x="0" y="3328988"/>
            <a:ext cx="9144000"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a:xfrm>
            <a:off x="539750" y="333375"/>
            <a:ext cx="7772400" cy="760413"/>
          </a:xfrm>
        </p:spPr>
        <p:txBody>
          <a:bodyPr/>
          <a:lstStyle/>
          <a:p>
            <a:r>
              <a:rPr lang="zh-CN" altLang="en-US" b="1">
                <a:latin typeface="楷体_GB2312" pitchFamily="49" charset="-122"/>
                <a:ea typeface="楷体_GB2312" pitchFamily="49" charset="-122"/>
              </a:rPr>
              <a:t>双向反射分布函数</a:t>
            </a:r>
          </a:p>
        </p:txBody>
      </p:sp>
      <p:sp>
        <p:nvSpPr>
          <p:cNvPr id="18435" name="Rectangle 3"/>
          <p:cNvSpPr>
            <a:spLocks noGrp="1" noRot="1" noChangeArrowheads="1"/>
          </p:cNvSpPr>
          <p:nvPr>
            <p:ph type="body" idx="1"/>
          </p:nvPr>
        </p:nvSpPr>
        <p:spPr>
          <a:xfrm>
            <a:off x="539750" y="1341438"/>
            <a:ext cx="8353425" cy="863600"/>
          </a:xfrm>
        </p:spPr>
        <p:txBody>
          <a:bodyPr>
            <a:normAutofit fontScale="85000" lnSpcReduction="10000"/>
          </a:bodyPr>
          <a:lstStyle/>
          <a:p>
            <a:r>
              <a:rPr lang="zh-CN" altLang="en-US" sz="3600" b="1">
                <a:solidFill>
                  <a:srgbClr val="000066"/>
                </a:solidFill>
                <a:latin typeface="楷体_GB2312" pitchFamily="49" charset="-122"/>
                <a:ea typeface="楷体_GB2312" pitchFamily="49" charset="-122"/>
              </a:rPr>
              <a:t>到达表面的辐照度与所引起的辐射度的比例</a:t>
            </a:r>
          </a:p>
        </p:txBody>
      </p:sp>
      <p:sp>
        <p:nvSpPr>
          <p:cNvPr id="18436" name="Rectangle 4"/>
          <p:cNvSpPr>
            <a:spLocks noChangeArrowheads="1"/>
          </p:cNvSpPr>
          <p:nvPr/>
        </p:nvSpPr>
        <p:spPr bwMode="auto">
          <a:xfrm>
            <a:off x="1042988" y="4365625"/>
            <a:ext cx="1728787" cy="503238"/>
          </a:xfrm>
          <a:prstGeom prst="rect">
            <a:avLst/>
          </a:prstGeom>
          <a:noFill/>
          <a:ln w="9525">
            <a:noFill/>
            <a:miter lim="800000"/>
            <a:headEnd/>
            <a:tailEnd/>
          </a:ln>
          <a:effectLst/>
        </p:spPr>
        <p:txBody>
          <a:bodyPr wrap="none" anchor="ctr"/>
          <a:lstStyle/>
          <a:p>
            <a:pPr algn="ctr">
              <a:spcBef>
                <a:spcPct val="20000"/>
              </a:spcBef>
            </a:pPr>
            <a:r>
              <a:rPr kumimoji="1" lang="zh-CN" altLang="en-US" sz="2800">
                <a:solidFill>
                  <a:srgbClr val="0033CC"/>
                </a:solidFill>
                <a:latin typeface="楷体_GB2312" pitchFamily="49" charset="-122"/>
                <a:ea typeface="楷体_GB2312" pitchFamily="49" charset="-122"/>
              </a:rPr>
              <a:t>辐射度</a:t>
            </a:r>
          </a:p>
        </p:txBody>
      </p:sp>
      <p:sp>
        <p:nvSpPr>
          <p:cNvPr id="18437" name="Line 5"/>
          <p:cNvSpPr>
            <a:spLocks noChangeShapeType="1"/>
          </p:cNvSpPr>
          <p:nvPr/>
        </p:nvSpPr>
        <p:spPr bwMode="auto">
          <a:xfrm flipV="1">
            <a:off x="1908175" y="3357563"/>
            <a:ext cx="0" cy="100806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8438" name="Rectangle 6"/>
          <p:cNvSpPr>
            <a:spLocks noChangeArrowheads="1"/>
          </p:cNvSpPr>
          <p:nvPr/>
        </p:nvSpPr>
        <p:spPr bwMode="auto">
          <a:xfrm>
            <a:off x="2916238" y="4365625"/>
            <a:ext cx="2232025" cy="576263"/>
          </a:xfrm>
          <a:prstGeom prst="rect">
            <a:avLst/>
          </a:prstGeom>
          <a:noFill/>
          <a:ln w="9525">
            <a:noFill/>
            <a:miter lim="800000"/>
            <a:headEnd/>
            <a:tailEnd/>
          </a:ln>
          <a:effectLst/>
        </p:spPr>
        <p:txBody>
          <a:bodyPr wrap="none" anchor="ctr"/>
          <a:lstStyle/>
          <a:p>
            <a:pPr algn="ctr">
              <a:spcBef>
                <a:spcPct val="20000"/>
              </a:spcBef>
            </a:pPr>
            <a:r>
              <a:rPr kumimoji="1" lang="en-US" altLang="zh-CN" sz="2800">
                <a:solidFill>
                  <a:srgbClr val="0033CC"/>
                </a:solidFill>
                <a:latin typeface="楷体_GB2312" pitchFamily="49" charset="-122"/>
                <a:ea typeface="楷体_GB2312" pitchFamily="49" charset="-122"/>
              </a:rPr>
              <a:t>BRDF</a:t>
            </a:r>
          </a:p>
        </p:txBody>
      </p:sp>
      <p:sp>
        <p:nvSpPr>
          <p:cNvPr id="18439" name="Line 7"/>
          <p:cNvSpPr>
            <a:spLocks noChangeShapeType="1"/>
          </p:cNvSpPr>
          <p:nvPr/>
        </p:nvSpPr>
        <p:spPr bwMode="auto">
          <a:xfrm flipV="1">
            <a:off x="4067175" y="3790950"/>
            <a:ext cx="0" cy="64770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8440" name="Rectangle 8"/>
          <p:cNvSpPr>
            <a:spLocks noChangeArrowheads="1"/>
          </p:cNvSpPr>
          <p:nvPr/>
        </p:nvSpPr>
        <p:spPr bwMode="auto">
          <a:xfrm>
            <a:off x="5867400" y="4292600"/>
            <a:ext cx="1441450" cy="649288"/>
          </a:xfrm>
          <a:prstGeom prst="rect">
            <a:avLst/>
          </a:prstGeom>
          <a:noFill/>
          <a:ln w="9525">
            <a:noFill/>
            <a:miter lim="800000"/>
            <a:headEnd/>
            <a:tailEnd/>
          </a:ln>
          <a:effectLst/>
        </p:spPr>
        <p:txBody>
          <a:bodyPr wrap="none" anchor="ctr"/>
          <a:lstStyle/>
          <a:p>
            <a:pPr algn="ctr">
              <a:spcBef>
                <a:spcPct val="20000"/>
              </a:spcBef>
            </a:pPr>
            <a:r>
              <a:rPr kumimoji="1" lang="zh-CN" altLang="en-US" sz="2800">
                <a:solidFill>
                  <a:srgbClr val="0033CC"/>
                </a:solidFill>
                <a:latin typeface="楷体_GB2312" pitchFamily="49" charset="-122"/>
                <a:ea typeface="楷体_GB2312" pitchFamily="49" charset="-122"/>
              </a:rPr>
              <a:t>辐照度</a:t>
            </a:r>
          </a:p>
        </p:txBody>
      </p:sp>
      <p:sp>
        <p:nvSpPr>
          <p:cNvPr id="18441" name="Line 9"/>
          <p:cNvSpPr>
            <a:spLocks noChangeShapeType="1"/>
          </p:cNvSpPr>
          <p:nvPr/>
        </p:nvSpPr>
        <p:spPr bwMode="auto">
          <a:xfrm flipV="1">
            <a:off x="6588125" y="3862388"/>
            <a:ext cx="0" cy="503237"/>
          </a:xfrm>
          <a:prstGeom prst="line">
            <a:avLst/>
          </a:prstGeom>
          <a:noFill/>
          <a:ln w="9525">
            <a:solidFill>
              <a:schemeClr val="tx1"/>
            </a:solidFill>
            <a:miter lim="800000"/>
            <a:headEnd/>
            <a:tailEnd type="triangle" w="med" len="med"/>
          </a:ln>
          <a:effectLst/>
        </p:spPr>
        <p:txBody>
          <a:bodyPr wrap="none"/>
          <a:lstStyle/>
          <a:p>
            <a:endParaRPr lang="zh-CN" altLang="en-US"/>
          </a:p>
        </p:txBody>
      </p:sp>
      <p:graphicFrame>
        <p:nvGraphicFramePr>
          <p:cNvPr id="18442" name="Object 10"/>
          <p:cNvGraphicFramePr>
            <a:graphicFrameLocks noChangeAspect="1"/>
          </p:cNvGraphicFramePr>
          <p:nvPr/>
        </p:nvGraphicFramePr>
        <p:xfrm>
          <a:off x="1314450" y="2781300"/>
          <a:ext cx="6515100" cy="985838"/>
        </p:xfrm>
        <a:graphic>
          <a:graphicData uri="http://schemas.openxmlformats.org/presentationml/2006/ole">
            <mc:AlternateContent xmlns:mc="http://schemas.openxmlformats.org/markup-compatibility/2006">
              <mc:Choice xmlns:v="urn:schemas-microsoft-com:vml" Requires="v">
                <p:oleObj spid="_x0000_s83980" name="公式" r:id="rId3" imgW="3022560" imgH="457200" progId="Equation.3">
                  <p:embed/>
                </p:oleObj>
              </mc:Choice>
              <mc:Fallback>
                <p:oleObj name="公式" r:id="rId3" imgW="3022560" imgH="4572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4450" y="2781300"/>
                        <a:ext cx="6515100"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3" name="Line 11"/>
          <p:cNvSpPr>
            <a:spLocks noChangeShapeType="1"/>
          </p:cNvSpPr>
          <p:nvPr/>
        </p:nvSpPr>
        <p:spPr bwMode="auto">
          <a:xfrm>
            <a:off x="4932363" y="3862388"/>
            <a:ext cx="2879725" cy="0"/>
          </a:xfrm>
          <a:prstGeom prst="line">
            <a:avLst/>
          </a:prstGeom>
          <a:noFill/>
          <a:ln w="9525">
            <a:solidFill>
              <a:schemeClr val="tx1"/>
            </a:solidFill>
            <a:miter lim="800000"/>
            <a:headEnd/>
            <a:tailEnd/>
          </a:ln>
          <a:effectLst/>
        </p:spPr>
        <p:txBody>
          <a:bodyPr wrap="none"/>
          <a:lstStyle/>
          <a:p>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a:xfrm>
            <a:off x="382588" y="333375"/>
            <a:ext cx="8077200" cy="615950"/>
          </a:xfrm>
        </p:spPr>
        <p:txBody>
          <a:bodyPr>
            <a:normAutofit fontScale="90000"/>
          </a:bodyPr>
          <a:lstStyle/>
          <a:p>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5</a:t>
            </a:r>
            <a:r>
              <a:rPr lang="zh-CN" altLang="en-US" b="1" dirty="0">
                <a:latin typeface="楷体_GB2312" pitchFamily="49" charset="-122"/>
                <a:ea typeface="楷体_GB2312" pitchFamily="49" charset="-122"/>
              </a:rPr>
              <a:t>）表面的辐射度与辐照度</a:t>
            </a:r>
          </a:p>
        </p:txBody>
      </p:sp>
      <p:sp>
        <p:nvSpPr>
          <p:cNvPr id="19459" name="Rectangle 3"/>
          <p:cNvSpPr>
            <a:spLocks noGrp="1" noRot="1" noChangeArrowheads="1"/>
          </p:cNvSpPr>
          <p:nvPr>
            <p:ph type="body" idx="1"/>
          </p:nvPr>
        </p:nvSpPr>
        <p:spPr>
          <a:xfrm>
            <a:off x="755650" y="1125538"/>
            <a:ext cx="7993063" cy="4113212"/>
          </a:xfrm>
        </p:spPr>
        <p:txBody>
          <a:bodyPr/>
          <a:lstStyle/>
          <a:p>
            <a:r>
              <a:rPr lang="zh-CN" altLang="en-US" sz="3200" b="1" dirty="0">
                <a:solidFill>
                  <a:srgbClr val="000066"/>
                </a:solidFill>
                <a:latin typeface="楷体_GB2312" pitchFamily="49" charset="-122"/>
                <a:ea typeface="楷体_GB2312" pitchFamily="49" charset="-122"/>
              </a:rPr>
              <a:t>表面片接受的总辐照度：</a:t>
            </a:r>
          </a:p>
          <a:p>
            <a:endParaRPr lang="zh-CN" altLang="en-US" b="1" dirty="0">
              <a:latin typeface="楷体_GB2312" pitchFamily="49" charset="-122"/>
              <a:ea typeface="楷体_GB2312" pitchFamily="49" charset="-122"/>
            </a:endParaRPr>
          </a:p>
          <a:p>
            <a:endParaRPr lang="zh-CN" altLang="en-US" b="1" dirty="0">
              <a:latin typeface="楷体_GB2312" pitchFamily="49" charset="-122"/>
              <a:ea typeface="楷体_GB2312" pitchFamily="49" charset="-122"/>
            </a:endParaRPr>
          </a:p>
          <a:p>
            <a:r>
              <a:rPr lang="zh-CN" altLang="en-US" sz="3200" b="1" dirty="0">
                <a:solidFill>
                  <a:srgbClr val="000066"/>
                </a:solidFill>
                <a:latin typeface="楷体_GB2312" pitchFamily="49" charset="-122"/>
                <a:ea typeface="楷体_GB2312" pitchFamily="49" charset="-122"/>
              </a:rPr>
              <a:t>表面片的辐射度：</a:t>
            </a:r>
          </a:p>
          <a:p>
            <a:pPr>
              <a:buFont typeface="Wingdings" pitchFamily="2" charset="2"/>
              <a:buNone/>
            </a:pPr>
            <a:r>
              <a:rPr lang="zh-CN" altLang="en-US" b="1" dirty="0">
                <a:solidFill>
                  <a:srgbClr val="000066"/>
                </a:solidFill>
                <a:latin typeface="楷体_GB2312" pitchFamily="49" charset="-122"/>
                <a:ea typeface="楷体_GB2312" pitchFamily="49" charset="-122"/>
              </a:rPr>
              <a:t>所有辐照在相应方向上形成的辐射度之和</a:t>
            </a:r>
          </a:p>
          <a:p>
            <a:endParaRPr lang="en-US" altLang="zh-CN" b="1" dirty="0">
              <a:solidFill>
                <a:srgbClr val="000066"/>
              </a:solidFill>
              <a:latin typeface="楷体_GB2312" pitchFamily="49" charset="-122"/>
              <a:ea typeface="楷体_GB2312" pitchFamily="49" charset="-122"/>
            </a:endParaRPr>
          </a:p>
        </p:txBody>
      </p:sp>
      <p:sp>
        <p:nvSpPr>
          <p:cNvPr id="19460"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9461" name="Rectangle 5"/>
          <p:cNvSpPr>
            <a:spLocks noChangeArrowheads="1"/>
          </p:cNvSpPr>
          <p:nvPr/>
        </p:nvSpPr>
        <p:spPr bwMode="auto">
          <a:xfrm>
            <a:off x="0" y="3262313"/>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9462" name="Object 6"/>
          <p:cNvGraphicFramePr>
            <a:graphicFrameLocks noChangeAspect="1"/>
          </p:cNvGraphicFramePr>
          <p:nvPr/>
        </p:nvGraphicFramePr>
        <p:xfrm>
          <a:off x="1123950" y="1773238"/>
          <a:ext cx="6904038" cy="801687"/>
        </p:xfrm>
        <a:graphic>
          <a:graphicData uri="http://schemas.openxmlformats.org/presentationml/2006/ole">
            <mc:AlternateContent xmlns:mc="http://schemas.openxmlformats.org/markup-compatibility/2006">
              <mc:Choice xmlns:v="urn:schemas-microsoft-com:vml" Requires="v">
                <p:oleObj spid="_x0000_s85014" name="公式" r:id="rId3" imgW="2844720" imgH="330120" progId="Equation.3">
                  <p:embed/>
                </p:oleObj>
              </mc:Choice>
              <mc:Fallback>
                <p:oleObj name="公式" r:id="rId3" imgW="2844720" imgH="3301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3950" y="1773238"/>
                        <a:ext cx="6904038" cy="801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3" name="Object 7"/>
          <p:cNvGraphicFramePr>
            <a:graphicFrameLocks noChangeAspect="1"/>
          </p:cNvGraphicFramePr>
          <p:nvPr/>
        </p:nvGraphicFramePr>
        <p:xfrm>
          <a:off x="663575" y="3861048"/>
          <a:ext cx="8342313" cy="1373187"/>
        </p:xfrm>
        <a:graphic>
          <a:graphicData uri="http://schemas.openxmlformats.org/presentationml/2006/ole">
            <mc:AlternateContent xmlns:mc="http://schemas.openxmlformats.org/markup-compatibility/2006">
              <mc:Choice xmlns:v="urn:schemas-microsoft-com:vml" Requires="v">
                <p:oleObj spid="_x0000_s85015" name="公式" r:id="rId5" imgW="3327120" imgH="558720" progId="Equation.3">
                  <p:embed/>
                </p:oleObj>
              </mc:Choice>
              <mc:Fallback>
                <p:oleObj name="公式" r:id="rId5" imgW="3327120" imgH="55872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575" y="3861048"/>
                        <a:ext cx="8342313" cy="1373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a:xfrm>
            <a:off x="250825" y="188913"/>
            <a:ext cx="7772400" cy="760412"/>
          </a:xfrm>
        </p:spPr>
        <p:txBody>
          <a:bodyPr>
            <a:normAutofit/>
          </a:bodyPr>
          <a:lstStyle/>
          <a:p>
            <a:r>
              <a:rPr lang="zh-CN" altLang="en-US" sz="3600" b="1" dirty="0">
                <a:latin typeface="楷体_GB2312" pitchFamily="49" charset="-122"/>
                <a:ea typeface="楷体_GB2312" pitchFamily="49" charset="-122"/>
              </a:rPr>
              <a:t>（</a:t>
            </a:r>
            <a:r>
              <a:rPr lang="en-US" altLang="zh-CN" sz="3600" b="1" dirty="0">
                <a:latin typeface="楷体_GB2312" pitchFamily="49" charset="-122"/>
                <a:ea typeface="楷体_GB2312" pitchFamily="49" charset="-122"/>
              </a:rPr>
              <a:t>6</a:t>
            </a:r>
            <a:r>
              <a:rPr lang="zh-CN" altLang="en-US" sz="3600" b="1" dirty="0">
                <a:latin typeface="楷体_GB2312" pitchFamily="49" charset="-122"/>
                <a:ea typeface="楷体_GB2312" pitchFamily="49" charset="-122"/>
              </a:rPr>
              <a:t>）反射率</a:t>
            </a:r>
            <a:r>
              <a:rPr lang="en-US" altLang="zh-CN" sz="3600" b="1" dirty="0">
                <a:latin typeface="楷体_GB2312" pitchFamily="49" charset="-122"/>
                <a:ea typeface="楷体_GB2312" pitchFamily="49" charset="-122"/>
              </a:rPr>
              <a:t>(reflectance)</a:t>
            </a:r>
          </a:p>
        </p:txBody>
      </p:sp>
      <p:sp>
        <p:nvSpPr>
          <p:cNvPr id="20483" name="Rectangle 3"/>
          <p:cNvSpPr>
            <a:spLocks noGrp="1" noRot="1" noChangeArrowheads="1"/>
          </p:cNvSpPr>
          <p:nvPr>
            <p:ph type="body" idx="1"/>
          </p:nvPr>
        </p:nvSpPr>
        <p:spPr>
          <a:xfrm>
            <a:off x="755650" y="1044575"/>
            <a:ext cx="7769225" cy="4113213"/>
          </a:xfrm>
        </p:spPr>
        <p:txBody>
          <a:bodyPr>
            <a:normAutofit/>
          </a:bodyPr>
          <a:lstStyle/>
          <a:p>
            <a:r>
              <a:rPr lang="zh-CN" altLang="en-US" sz="3200" b="1" dirty="0">
                <a:solidFill>
                  <a:srgbClr val="000066"/>
                </a:solidFill>
                <a:latin typeface="楷体_GB2312" pitchFamily="49" charset="-122"/>
                <a:ea typeface="楷体_GB2312" pitchFamily="49" charset="-122"/>
              </a:rPr>
              <a:t>从某一方向上接受的辐照度与该辐照度引起的总辐射度的比例，反映了表面的光学特性，包括反射特性和吸光特性</a:t>
            </a:r>
            <a:r>
              <a:rPr lang="en-US" altLang="zh-CN" sz="3200" b="1" dirty="0">
                <a:solidFill>
                  <a:srgbClr val="000066"/>
                </a:solidFill>
                <a:latin typeface="楷体_GB2312" pitchFamily="49" charset="-122"/>
                <a:ea typeface="楷体_GB2312" pitchFamily="49" charset="-122"/>
              </a:rPr>
              <a:t>.</a:t>
            </a:r>
          </a:p>
        </p:txBody>
      </p:sp>
      <p:graphicFrame>
        <p:nvGraphicFramePr>
          <p:cNvPr id="20484" name="Object 4"/>
          <p:cNvGraphicFramePr>
            <a:graphicFrameLocks noChangeAspect="1"/>
          </p:cNvGraphicFramePr>
          <p:nvPr/>
        </p:nvGraphicFramePr>
        <p:xfrm>
          <a:off x="1416050" y="2780928"/>
          <a:ext cx="6511925" cy="2974975"/>
        </p:xfrm>
        <a:graphic>
          <a:graphicData uri="http://schemas.openxmlformats.org/presentationml/2006/ole">
            <mc:AlternateContent xmlns:mc="http://schemas.openxmlformats.org/markup-compatibility/2006">
              <mc:Choice xmlns:v="urn:schemas-microsoft-com:vml" Requires="v">
                <p:oleObj spid="_x0000_s86028" name="公式" r:id="rId3" imgW="2946240" imgH="1346040" progId="Equation.3">
                  <p:embed/>
                </p:oleObj>
              </mc:Choice>
              <mc:Fallback>
                <p:oleObj name="公式" r:id="rId3" imgW="2946240" imgH="1346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6050" y="2780928"/>
                        <a:ext cx="6511925" cy="297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a:xfrm>
            <a:off x="468313" y="333375"/>
            <a:ext cx="7772400" cy="760413"/>
          </a:xfrm>
        </p:spPr>
        <p:txBody>
          <a:bodyPr/>
          <a:lstStyle/>
          <a:p>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7</a:t>
            </a:r>
            <a:r>
              <a:rPr lang="zh-CN" altLang="en-US" b="1" dirty="0" smtClean="0">
                <a:latin typeface="楷体_GB2312" pitchFamily="49" charset="-122"/>
                <a:ea typeface="楷体_GB2312" pitchFamily="49" charset="-122"/>
              </a:rPr>
              <a:t>）图像平面</a:t>
            </a:r>
            <a:r>
              <a:rPr lang="zh-CN" altLang="en-US" b="1" dirty="0">
                <a:latin typeface="楷体_GB2312" pitchFamily="49" charset="-122"/>
                <a:ea typeface="楷体_GB2312" pitchFamily="49" charset="-122"/>
              </a:rPr>
              <a:t>的辐照度</a:t>
            </a:r>
          </a:p>
        </p:txBody>
      </p:sp>
      <p:sp>
        <p:nvSpPr>
          <p:cNvPr id="21507" name="Rectangle 3"/>
          <p:cNvSpPr>
            <a:spLocks noGrp="1" noRot="1" noChangeArrowheads="1"/>
          </p:cNvSpPr>
          <p:nvPr>
            <p:ph type="body" idx="1"/>
          </p:nvPr>
        </p:nvSpPr>
        <p:spPr/>
        <p:txBody>
          <a:bodyPr/>
          <a:lstStyle/>
          <a:p>
            <a:r>
              <a:rPr lang="zh-CN" altLang="en-US" sz="3600" b="1">
                <a:solidFill>
                  <a:srgbClr val="000066"/>
                </a:solidFill>
                <a:latin typeface="楷体_GB2312" pitchFamily="49" charset="-122"/>
                <a:ea typeface="楷体_GB2312" pitchFamily="49" charset="-122"/>
              </a:rPr>
              <a:t>图像平面上一点处的辐照度</a:t>
            </a:r>
            <a:r>
              <a:rPr lang="en-US" altLang="zh-CN" sz="3600" b="1">
                <a:solidFill>
                  <a:srgbClr val="000066"/>
                </a:solidFill>
                <a:latin typeface="楷体_GB2312" pitchFamily="49" charset="-122"/>
                <a:ea typeface="楷体_GB2312" pitchFamily="49" charset="-122"/>
              </a:rPr>
              <a:t>(</a:t>
            </a:r>
            <a:r>
              <a:rPr lang="zh-CN" altLang="en-US" sz="3600" b="1">
                <a:solidFill>
                  <a:srgbClr val="000066"/>
                </a:solidFill>
                <a:latin typeface="楷体_GB2312" pitchFamily="49" charset="-122"/>
                <a:ea typeface="楷体_GB2312" pitchFamily="49" charset="-122"/>
              </a:rPr>
              <a:t>亮度，</a:t>
            </a:r>
            <a:r>
              <a:rPr lang="en-US" altLang="zh-CN" sz="3600" b="1">
                <a:solidFill>
                  <a:srgbClr val="000066"/>
                </a:solidFill>
                <a:latin typeface="楷体_GB2312" pitchFamily="49" charset="-122"/>
                <a:ea typeface="楷体_GB2312" pitchFamily="49" charset="-122"/>
              </a:rPr>
              <a:t>intensity)</a:t>
            </a:r>
            <a:r>
              <a:rPr lang="zh-CN" altLang="en-US" sz="3600" b="1">
                <a:solidFill>
                  <a:srgbClr val="000066"/>
                </a:solidFill>
                <a:latin typeface="楷体_GB2312" pitchFamily="49" charset="-122"/>
                <a:ea typeface="楷体_GB2312" pitchFamily="49" charset="-122"/>
              </a:rPr>
              <a:t>等于场景对应点在相应方向上的辐射度，或与之成比例</a:t>
            </a:r>
            <a:r>
              <a:rPr lang="en-US" altLang="zh-CN" sz="3600" b="1">
                <a:solidFill>
                  <a:srgbClr val="000066"/>
                </a:solidFill>
                <a:latin typeface="楷体_GB2312" pitchFamily="49" charset="-122"/>
                <a:ea typeface="楷体_GB2312" pitchFamily="49" charset="-122"/>
              </a:rPr>
              <a:t>.</a:t>
            </a:r>
          </a:p>
        </p:txBody>
      </p:sp>
      <p:sp>
        <p:nvSpPr>
          <p:cNvPr id="21508" name="Rectangle 4"/>
          <p:cNvSpPr>
            <a:spLocks noChangeArrowheads="1"/>
          </p:cNvSpPr>
          <p:nvPr/>
        </p:nvSpPr>
        <p:spPr bwMode="auto">
          <a:xfrm>
            <a:off x="0" y="3333750"/>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21509" name="Object 5"/>
          <p:cNvGraphicFramePr>
            <a:graphicFrameLocks noChangeAspect="1"/>
          </p:cNvGraphicFramePr>
          <p:nvPr/>
        </p:nvGraphicFramePr>
        <p:xfrm>
          <a:off x="1295400" y="3705225"/>
          <a:ext cx="6805613" cy="515938"/>
        </p:xfrm>
        <a:graphic>
          <a:graphicData uri="http://schemas.openxmlformats.org/presentationml/2006/ole">
            <mc:AlternateContent xmlns:mc="http://schemas.openxmlformats.org/markup-compatibility/2006">
              <mc:Choice xmlns:v="urn:schemas-microsoft-com:vml" Requires="v">
                <p:oleObj spid="_x0000_s87052" name="公式" r:id="rId3" imgW="2844720" imgH="215640" progId="Equation.3">
                  <p:embed/>
                </p:oleObj>
              </mc:Choice>
              <mc:Fallback>
                <p:oleObj name="公式" r:id="rId3" imgW="2844720" imgH="2156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705225"/>
                        <a:ext cx="6805613" cy="51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0" name="Text Box 6"/>
          <p:cNvSpPr txBox="1">
            <a:spLocks noChangeArrowheads="1"/>
          </p:cNvSpPr>
          <p:nvPr/>
        </p:nvSpPr>
        <p:spPr bwMode="auto">
          <a:xfrm>
            <a:off x="827088" y="4827588"/>
            <a:ext cx="7345362" cy="1569660"/>
          </a:xfrm>
          <a:prstGeom prst="rect">
            <a:avLst/>
          </a:prstGeom>
          <a:noFill/>
          <a:ln w="9525">
            <a:noFill/>
            <a:miter lim="800000"/>
            <a:headEnd/>
            <a:tailEnd/>
          </a:ln>
          <a:effectLst/>
        </p:spPr>
        <p:txBody>
          <a:bodyPr>
            <a:spAutoFit/>
          </a:bodyPr>
          <a:lstStyle/>
          <a:p>
            <a:pPr marL="363538" indent="-363538">
              <a:spcBef>
                <a:spcPct val="50000"/>
              </a:spcBef>
              <a:buFontTx/>
              <a:buChar char="•"/>
            </a:pPr>
            <a:r>
              <a:rPr kumimoji="1" lang="zh-CN" altLang="en-US" sz="3200" dirty="0">
                <a:solidFill>
                  <a:srgbClr val="000066"/>
                </a:solidFill>
                <a:latin typeface="楷体_GB2312" pitchFamily="49" charset="-122"/>
                <a:ea typeface="楷体_GB2312" pitchFamily="49" charset="-122"/>
              </a:rPr>
              <a:t>知道了光源、双向反射分布函数以及图像平面点与物体点的对应关系，就可以</a:t>
            </a:r>
            <a:r>
              <a:rPr kumimoji="1" lang="zh-CN" altLang="en-US" sz="3200" dirty="0" smtClean="0">
                <a:solidFill>
                  <a:srgbClr val="000066"/>
                </a:solidFill>
                <a:latin typeface="楷体_GB2312" pitchFamily="49" charset="-122"/>
                <a:ea typeface="楷体_GB2312" pitchFamily="49" charset="-122"/>
              </a:rPr>
              <a:t>确定图像平面</a:t>
            </a:r>
            <a:r>
              <a:rPr kumimoji="1" lang="zh-CN" altLang="en-US" sz="3200" dirty="0">
                <a:solidFill>
                  <a:srgbClr val="000066"/>
                </a:solidFill>
                <a:latin typeface="楷体_GB2312" pitchFamily="49" charset="-122"/>
                <a:ea typeface="楷体_GB2312" pitchFamily="49" charset="-122"/>
              </a:rPr>
              <a:t>上点的亮度</a:t>
            </a:r>
            <a:r>
              <a:rPr kumimoji="1" lang="en-US" altLang="zh-CN" sz="3200" dirty="0">
                <a:solidFill>
                  <a:srgbClr val="000066"/>
                </a:solidFill>
                <a:latin typeface="楷体_GB2312" pitchFamily="49" charset="-122"/>
                <a:ea typeface="楷体_GB2312" pitchFamily="49" charset="-122"/>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Rot="1" noChangeArrowheads="1"/>
          </p:cNvSpPr>
          <p:nvPr>
            <p:ph type="title"/>
          </p:nvPr>
        </p:nvSpPr>
        <p:spPr/>
        <p:txBody>
          <a:bodyPr/>
          <a:lstStyle/>
          <a:p>
            <a:r>
              <a:rPr lang="en-US" altLang="zh-CN" b="1" dirty="0" smtClean="0">
                <a:latin typeface="楷体_GB2312" pitchFamily="49" charset="-122"/>
                <a:ea typeface="楷体_GB2312" pitchFamily="49" charset="-122"/>
              </a:rPr>
              <a:t>2.</a:t>
            </a:r>
            <a:r>
              <a:rPr lang="zh-CN" altLang="en-US" b="1" dirty="0">
                <a:latin typeface="楷体_GB2312" pitchFamily="49" charset="-122"/>
                <a:ea typeface="楷体_GB2312" pitchFamily="49" charset="-122"/>
              </a:rPr>
              <a:t>色度学</a:t>
            </a:r>
          </a:p>
        </p:txBody>
      </p:sp>
      <p:sp>
        <p:nvSpPr>
          <p:cNvPr id="271363" name="Rectangle 3"/>
          <p:cNvSpPr>
            <a:spLocks noGrp="1" noRot="1" noChangeArrowheads="1"/>
          </p:cNvSpPr>
          <p:nvPr>
            <p:ph type="body" idx="1"/>
          </p:nvPr>
        </p:nvSpPr>
        <p:spPr>
          <a:xfrm>
            <a:off x="381000" y="1600200"/>
            <a:ext cx="8534400" cy="4498975"/>
          </a:xfrm>
        </p:spPr>
        <p:txBody>
          <a:bodyPr/>
          <a:lstStyle/>
          <a:p>
            <a:r>
              <a:rPr lang="zh-CN" altLang="en-US" b="1">
                <a:latin typeface="楷体_GB2312" pitchFamily="49" charset="-122"/>
                <a:ea typeface="楷体_GB2312" pitchFamily="49" charset="-122"/>
              </a:rPr>
              <a:t>颜色通常认为是由于不同波长的光作用于视觉系统，并引起不同刺激的结果</a:t>
            </a:r>
            <a:r>
              <a:rPr lang="en-US" altLang="zh-CN" b="1">
                <a:latin typeface="楷体_GB2312" pitchFamily="49" charset="-122"/>
                <a:ea typeface="楷体_GB2312" pitchFamily="49" charset="-122"/>
              </a:rPr>
              <a:t>.</a:t>
            </a:r>
          </a:p>
          <a:p>
            <a:r>
              <a:rPr lang="zh-CN" altLang="en-US" b="1">
                <a:latin typeface="楷体_GB2312" pitchFamily="49" charset="-122"/>
                <a:ea typeface="楷体_GB2312" pitchFamily="49" charset="-122"/>
              </a:rPr>
              <a:t>光是由不同波段的光谱组成的，每个波段称为一个通道，各种波长的光的不同比例，形成不同的颜色，如短波光能量较大时呈现蓝色，相反呈现红色</a:t>
            </a:r>
            <a:r>
              <a:rPr lang="en-US" altLang="zh-CN" b="1">
                <a:latin typeface="楷体_GB2312" pitchFamily="49" charset="-122"/>
                <a:ea typeface="楷体_GB2312" pitchFamily="49" charset="-122"/>
              </a:rPr>
              <a:t>.</a:t>
            </a:r>
          </a:p>
          <a:p>
            <a:r>
              <a:rPr lang="zh-CN" altLang="en-US" b="1">
                <a:latin typeface="楷体_GB2312" pitchFamily="49" charset="-122"/>
                <a:ea typeface="楷体_GB2312" pitchFamily="49" charset="-122"/>
              </a:rPr>
              <a:t>场景或物体的颜色是由照射光源的光谱成分、光线在物体上反射和吸收的情况决定的．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Rot="1" noChangeArrowheads="1"/>
          </p:cNvSpPr>
          <p:nvPr>
            <p:ph type="title"/>
          </p:nvPr>
        </p:nvSpPr>
        <p:spPr>
          <a:xfrm>
            <a:off x="827088" y="333375"/>
            <a:ext cx="7993062" cy="760413"/>
          </a:xfrm>
        </p:spPr>
        <p:txBody>
          <a:bodyPr/>
          <a:lstStyle/>
          <a:p>
            <a:r>
              <a:rPr lang="en-US" altLang="zh-CN" b="1" dirty="0" smtClean="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p>
        </p:txBody>
      </p:sp>
      <p:sp>
        <p:nvSpPr>
          <p:cNvPr id="273411" name="Rectangle 3"/>
          <p:cNvSpPr>
            <a:spLocks noGrp="1" noRot="1" noChangeArrowheads="1"/>
          </p:cNvSpPr>
          <p:nvPr>
            <p:ph type="body" idx="1"/>
          </p:nvPr>
        </p:nvSpPr>
        <p:spPr/>
        <p:txBody>
          <a:bodyPr>
            <a:normAutofit/>
          </a:bodyPr>
          <a:lstStyle/>
          <a:p>
            <a:r>
              <a:rPr lang="zh-CN" altLang="en-US" sz="3200" b="1" dirty="0">
                <a:latin typeface="楷体_GB2312" pitchFamily="49" charset="-122"/>
                <a:ea typeface="楷体_GB2312" pitchFamily="49" charset="-122"/>
              </a:rPr>
              <a:t>可见光的波长分布在</a:t>
            </a:r>
            <a:r>
              <a:rPr lang="en-US" altLang="zh-CN" sz="3200" b="1" dirty="0">
                <a:latin typeface="楷体_GB2312" pitchFamily="49" charset="-122"/>
                <a:ea typeface="楷体_GB2312" pitchFamily="49" charset="-122"/>
              </a:rPr>
              <a:t>380nm</a:t>
            </a:r>
            <a:r>
              <a:rPr lang="zh-CN" altLang="en-US" sz="3200" b="1" dirty="0">
                <a:latin typeface="楷体_GB2312" pitchFamily="49" charset="-122"/>
                <a:ea typeface="楷体_GB2312" pitchFamily="49" charset="-122"/>
              </a:rPr>
              <a:t>到</a:t>
            </a:r>
            <a:r>
              <a:rPr lang="en-US" altLang="zh-CN" sz="3200" b="1" dirty="0">
                <a:latin typeface="楷体_GB2312" pitchFamily="49" charset="-122"/>
                <a:ea typeface="楷体_GB2312" pitchFamily="49" charset="-122"/>
              </a:rPr>
              <a:t>780nm</a:t>
            </a:r>
            <a:r>
              <a:rPr lang="zh-CN" altLang="en-US" sz="3200" b="1" dirty="0">
                <a:latin typeface="楷体_GB2312" pitchFamily="49" charset="-122"/>
                <a:ea typeface="楷体_GB2312" pitchFamily="49" charset="-122"/>
              </a:rPr>
              <a:t>之间，人的颜色感觉是不同波长的可见光刺激人的视觉器官的结果</a:t>
            </a:r>
            <a:r>
              <a:rPr lang="en-US" altLang="zh-CN" sz="3200" b="1" dirty="0">
                <a:latin typeface="楷体_GB2312" pitchFamily="49" charset="-122"/>
                <a:ea typeface="楷体_GB2312" pitchFamily="49" charset="-122"/>
              </a:rPr>
              <a:t>.</a:t>
            </a:r>
          </a:p>
          <a:p>
            <a:r>
              <a:rPr lang="zh-CN" altLang="en-US" sz="3200" b="1" dirty="0">
                <a:latin typeface="楷体_GB2312" pitchFamily="49" charset="-122"/>
                <a:ea typeface="楷体_GB2312" pitchFamily="49" charset="-122"/>
              </a:rPr>
              <a:t>人类视网膜上有两类细胞：杆体细胞和锥体细胞</a:t>
            </a: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对颜色的区分主要由锥体细胞完成</a:t>
            </a:r>
            <a:r>
              <a:rPr lang="en-US" altLang="zh-CN" sz="3200" b="1" dirty="0">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34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endParaRPr lang="zh-CN" altLang="en-US" sz="3600" b="1" dirty="0">
              <a:solidFill>
                <a:schemeClr val="tx1">
                  <a:lumMod val="75000"/>
                </a:schemeClr>
              </a:solidFill>
            </a:endParaRPr>
          </a:p>
        </p:txBody>
      </p:sp>
      <p:sp>
        <p:nvSpPr>
          <p:cNvPr id="5" name="Text Box 57"/>
          <p:cNvSpPr txBox="1">
            <a:spLocks noChangeArrowheads="1"/>
          </p:cNvSpPr>
          <p:nvPr/>
        </p:nvSpPr>
        <p:spPr bwMode="auto">
          <a:xfrm>
            <a:off x="1364977" y="2276624"/>
            <a:ext cx="5829300" cy="579437"/>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en-US" altLang="zh-CN" sz="3200" b="1" dirty="0">
                <a:latin typeface="仿宋_GB2312" pitchFamily="49" charset="-122"/>
              </a:rPr>
              <a:t>Young-Helmholtz</a:t>
            </a:r>
            <a:r>
              <a:rPr lang="zh-CN" altLang="en-US" sz="3200" b="1" dirty="0">
                <a:latin typeface="仿宋_GB2312" pitchFamily="49" charset="-122"/>
              </a:rPr>
              <a:t>三色学说</a:t>
            </a:r>
          </a:p>
        </p:txBody>
      </p:sp>
      <p:sp>
        <p:nvSpPr>
          <p:cNvPr id="6" name="Text Box 59"/>
          <p:cNvSpPr txBox="1">
            <a:spLocks noChangeArrowheads="1"/>
          </p:cNvSpPr>
          <p:nvPr/>
        </p:nvSpPr>
        <p:spPr bwMode="auto">
          <a:xfrm>
            <a:off x="1331640" y="3032274"/>
            <a:ext cx="7223125" cy="946150"/>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en-US" altLang="zh-CN" sz="2800" b="1" dirty="0">
                <a:solidFill>
                  <a:schemeClr val="tx1"/>
                </a:solidFill>
                <a:latin typeface="仿宋_GB2312" pitchFamily="49" charset="-122"/>
              </a:rPr>
              <a:t>Young</a:t>
            </a:r>
            <a:r>
              <a:rPr lang="zh-CN" altLang="en-US" sz="2800" b="1" dirty="0">
                <a:solidFill>
                  <a:schemeClr val="tx1"/>
                </a:solidFill>
                <a:latin typeface="仿宋_GB2312" pitchFamily="49" charset="-122"/>
              </a:rPr>
              <a:t>的假说</a:t>
            </a:r>
            <a:r>
              <a:rPr lang="zh-CN" altLang="en-US" sz="2800" b="1" dirty="0">
                <a:latin typeface="仿宋_GB2312" pitchFamily="49" charset="-122"/>
              </a:rPr>
              <a:t>  视网膜上有三种神经纤维，每一种纤维的兴奋引起一种原色的感觉。</a:t>
            </a:r>
          </a:p>
        </p:txBody>
      </p:sp>
      <p:sp>
        <p:nvSpPr>
          <p:cNvPr id="7" name="Text Box 60"/>
          <p:cNvSpPr txBox="1">
            <a:spLocks noChangeArrowheads="1"/>
          </p:cNvSpPr>
          <p:nvPr/>
        </p:nvSpPr>
        <p:spPr bwMode="auto">
          <a:xfrm>
            <a:off x="1331640" y="4048274"/>
            <a:ext cx="7223125" cy="1373187"/>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en-US" altLang="zh-CN" sz="2800" b="1">
                <a:solidFill>
                  <a:schemeClr val="tx2"/>
                </a:solidFill>
                <a:latin typeface="仿宋_GB2312" pitchFamily="49" charset="-122"/>
              </a:rPr>
              <a:t>Helmholtz</a:t>
            </a:r>
            <a:r>
              <a:rPr lang="zh-CN" altLang="en-US" sz="2800" b="1">
                <a:solidFill>
                  <a:schemeClr val="tx2"/>
                </a:solidFill>
                <a:latin typeface="仿宋_GB2312" pitchFamily="49" charset="-122"/>
              </a:rPr>
              <a:t>的补充</a:t>
            </a:r>
            <a:r>
              <a:rPr lang="zh-CN" altLang="en-US" sz="2800" b="1">
                <a:latin typeface="仿宋_GB2312" pitchFamily="49" charset="-122"/>
              </a:rPr>
              <a:t>  光谱的不同成分引起三种纤维不同比例的兴奋，它们有不同的兴奋曲线。</a:t>
            </a:r>
          </a:p>
        </p:txBody>
      </p:sp>
      <p:sp>
        <p:nvSpPr>
          <p:cNvPr id="8" name="Text Box 61"/>
          <p:cNvSpPr txBox="1">
            <a:spLocks noChangeArrowheads="1"/>
          </p:cNvSpPr>
          <p:nvPr/>
        </p:nvSpPr>
        <p:spPr bwMode="auto">
          <a:xfrm>
            <a:off x="1331640" y="5507186"/>
            <a:ext cx="7223125" cy="946150"/>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zh-CN" altLang="en-US" sz="2800" b="1">
                <a:latin typeface="仿宋_GB2312" pitchFamily="49" charset="-122"/>
              </a:rPr>
              <a:t>该学说能够很好地解释颜色混合现象，并为以后对人的视觉器官的研究所证实。</a:t>
            </a:r>
          </a:p>
        </p:txBody>
      </p:sp>
    </p:spTree>
    <p:extLst>
      <p:ext uri="{BB962C8B-B14F-4D97-AF65-F5344CB8AC3E}">
        <p14:creationId xmlns:p14="http://schemas.microsoft.com/office/powerpoint/2010/main" val="350711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in)">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ox(in)">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ox(in)">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endParaRPr lang="zh-CN" altLang="en-US" sz="3600" b="1" dirty="0">
              <a:solidFill>
                <a:schemeClr val="tx1">
                  <a:lumMod val="75000"/>
                </a:schemeClr>
              </a:solidFill>
            </a:endParaRPr>
          </a:p>
        </p:txBody>
      </p:sp>
      <p:sp>
        <p:nvSpPr>
          <p:cNvPr id="9" name="Text Box 56"/>
          <p:cNvSpPr txBox="1">
            <a:spLocks noChangeArrowheads="1"/>
          </p:cNvSpPr>
          <p:nvPr/>
        </p:nvSpPr>
        <p:spPr bwMode="auto">
          <a:xfrm>
            <a:off x="1484313" y="2956644"/>
            <a:ext cx="7223125" cy="822325"/>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zh-CN" altLang="en-US" sz="2400" b="1">
                <a:latin typeface="仿宋_GB2312" pitchFamily="49" charset="-122"/>
              </a:rPr>
              <a:t>研究发现，在人的视网膜上存在两种分别称为柱状细胞和锥状细胞的感光细胞。</a:t>
            </a:r>
          </a:p>
        </p:txBody>
      </p:sp>
      <p:sp>
        <p:nvSpPr>
          <p:cNvPr id="10" name="Text Box 57"/>
          <p:cNvSpPr txBox="1">
            <a:spLocks noChangeArrowheads="1"/>
          </p:cNvSpPr>
          <p:nvPr/>
        </p:nvSpPr>
        <p:spPr bwMode="auto">
          <a:xfrm>
            <a:off x="1528763" y="4671144"/>
            <a:ext cx="7223125" cy="457200"/>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zh-CN" altLang="en-US" sz="2400" b="1">
                <a:solidFill>
                  <a:srgbClr val="F20C00"/>
                </a:solidFill>
                <a:latin typeface="仿宋_GB2312" pitchFamily="49" charset="-122"/>
              </a:rPr>
              <a:t>锥状细胞</a:t>
            </a:r>
            <a:r>
              <a:rPr lang="zh-CN" altLang="en-US" sz="2400" b="1">
                <a:latin typeface="仿宋_GB2312" pitchFamily="49" charset="-122"/>
              </a:rPr>
              <a:t>  灵敏度低，但能够很好地区分颜色。</a:t>
            </a:r>
          </a:p>
        </p:txBody>
      </p:sp>
      <p:sp>
        <p:nvSpPr>
          <p:cNvPr id="11" name="Text Box 58"/>
          <p:cNvSpPr txBox="1">
            <a:spLocks noChangeArrowheads="1"/>
          </p:cNvSpPr>
          <p:nvPr/>
        </p:nvSpPr>
        <p:spPr bwMode="auto">
          <a:xfrm>
            <a:off x="1528763" y="5337894"/>
            <a:ext cx="7223125" cy="1187450"/>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zh-CN" altLang="en-US" sz="2400" b="1">
                <a:latin typeface="仿宋_GB2312" pitchFamily="49" charset="-122"/>
              </a:rPr>
              <a:t>锥状细胞又由三种不同的细胞组成。这三种细胞分别对红、绿、蓝三色敏感（相应的吸收峰在</a:t>
            </a:r>
            <a:r>
              <a:rPr lang="en-US" altLang="zh-CN" sz="2400" b="1">
                <a:latin typeface="仿宋_GB2312" pitchFamily="49" charset="-122"/>
              </a:rPr>
              <a:t>445nm,537nm570nm</a:t>
            </a:r>
            <a:r>
              <a:rPr lang="zh-CN" altLang="en-US" sz="2400" b="1">
                <a:latin typeface="仿宋_GB2312" pitchFamily="49" charset="-122"/>
              </a:rPr>
              <a:t>处）。  </a:t>
            </a:r>
          </a:p>
        </p:txBody>
      </p:sp>
      <p:sp>
        <p:nvSpPr>
          <p:cNvPr id="12" name="Text Box 59"/>
          <p:cNvSpPr txBox="1">
            <a:spLocks noChangeArrowheads="1"/>
          </p:cNvSpPr>
          <p:nvPr/>
        </p:nvSpPr>
        <p:spPr bwMode="auto">
          <a:xfrm>
            <a:off x="1528763" y="3969469"/>
            <a:ext cx="7223125" cy="457200"/>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zh-CN" altLang="en-US" sz="2400" b="1" dirty="0">
                <a:solidFill>
                  <a:srgbClr val="000000"/>
                </a:solidFill>
                <a:latin typeface="仿宋_GB2312" pitchFamily="49" charset="-122"/>
              </a:rPr>
              <a:t>柱状细胞</a:t>
            </a:r>
            <a:r>
              <a:rPr lang="zh-CN" altLang="en-US" sz="2400" b="1" dirty="0">
                <a:latin typeface="仿宋_GB2312" pitchFamily="49" charset="-122"/>
              </a:rPr>
              <a:t>  灵敏度高，能够感受很微弱的光。</a:t>
            </a:r>
          </a:p>
        </p:txBody>
      </p:sp>
      <p:sp>
        <p:nvSpPr>
          <p:cNvPr id="13" name="Text Box 57"/>
          <p:cNvSpPr txBox="1">
            <a:spLocks noChangeArrowheads="1"/>
          </p:cNvSpPr>
          <p:nvPr/>
        </p:nvSpPr>
        <p:spPr bwMode="auto">
          <a:xfrm>
            <a:off x="1364977" y="2276624"/>
            <a:ext cx="5829300" cy="579437"/>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en-US" altLang="zh-CN" sz="3200" b="1" dirty="0">
                <a:latin typeface="仿宋_GB2312" pitchFamily="49" charset="-122"/>
              </a:rPr>
              <a:t>Young-Helmholtz</a:t>
            </a:r>
            <a:r>
              <a:rPr lang="zh-CN" altLang="en-US" sz="3200" b="1" dirty="0">
                <a:latin typeface="仿宋_GB2312" pitchFamily="49" charset="-122"/>
              </a:rPr>
              <a:t>三色学说</a:t>
            </a:r>
          </a:p>
        </p:txBody>
      </p:sp>
    </p:spTree>
    <p:extLst>
      <p:ext uri="{BB962C8B-B14F-4D97-AF65-F5344CB8AC3E}">
        <p14:creationId xmlns:p14="http://schemas.microsoft.com/office/powerpoint/2010/main" val="311402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ox(in)">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ox(in)">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ox(in)">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58" name="Picture 2" descr="cone"/>
          <p:cNvPicPr>
            <a:picLocks noChangeAspect="1" noChangeArrowheads="1"/>
          </p:cNvPicPr>
          <p:nvPr/>
        </p:nvPicPr>
        <p:blipFill>
          <a:blip r:embed="rId2" cstate="print"/>
          <a:srcRect/>
          <a:stretch>
            <a:fillRect/>
          </a:stretch>
        </p:blipFill>
        <p:spPr bwMode="auto">
          <a:xfrm>
            <a:off x="2123728" y="260350"/>
            <a:ext cx="4752950" cy="3794138"/>
          </a:xfrm>
          <a:prstGeom prst="rect">
            <a:avLst/>
          </a:prstGeom>
          <a:noFill/>
        </p:spPr>
      </p:pic>
      <p:sp>
        <p:nvSpPr>
          <p:cNvPr id="275459" name="Text Box 3"/>
          <p:cNvSpPr txBox="1">
            <a:spLocks noChangeArrowheads="1"/>
          </p:cNvSpPr>
          <p:nvPr/>
        </p:nvSpPr>
        <p:spPr bwMode="auto">
          <a:xfrm>
            <a:off x="1403648" y="4077072"/>
            <a:ext cx="5184105" cy="461665"/>
          </a:xfrm>
          <a:prstGeom prst="rect">
            <a:avLst/>
          </a:prstGeom>
          <a:noFill/>
          <a:ln w="9525">
            <a:noFill/>
            <a:miter lim="800000"/>
            <a:headEnd/>
            <a:tailEnd/>
          </a:ln>
          <a:effectLst/>
        </p:spPr>
        <p:txBody>
          <a:bodyPr wrap="square">
            <a:spAutoFit/>
          </a:bodyPr>
          <a:lstStyle/>
          <a:p>
            <a:pPr>
              <a:spcBef>
                <a:spcPct val="50000"/>
              </a:spcBef>
              <a:buClrTx/>
              <a:buFontTx/>
              <a:buNone/>
            </a:pPr>
            <a:r>
              <a:rPr kumimoji="1" lang="zh-CN" altLang="en-US" sz="2400" b="1" dirty="0">
                <a:solidFill>
                  <a:srgbClr val="000066"/>
                </a:solidFill>
                <a:latin typeface="Times New Roman" pitchFamily="18" charset="0"/>
                <a:ea typeface="宋体" pitchFamily="2" charset="-122"/>
              </a:rPr>
              <a:t>三种锥体感受器的光谱敏感示意图</a:t>
            </a:r>
          </a:p>
        </p:txBody>
      </p:sp>
      <p:sp>
        <p:nvSpPr>
          <p:cNvPr id="275460" name="Text Box 4"/>
          <p:cNvSpPr txBox="1">
            <a:spLocks noChangeArrowheads="1"/>
          </p:cNvSpPr>
          <p:nvPr/>
        </p:nvSpPr>
        <p:spPr bwMode="auto">
          <a:xfrm>
            <a:off x="6156176" y="4139788"/>
            <a:ext cx="2160587" cy="369332"/>
          </a:xfrm>
          <a:prstGeom prst="rect">
            <a:avLst/>
          </a:prstGeom>
          <a:noFill/>
          <a:ln w="9525">
            <a:noFill/>
            <a:miter lim="800000"/>
            <a:headEnd/>
            <a:tailEnd/>
          </a:ln>
          <a:effectLst/>
        </p:spPr>
        <p:txBody>
          <a:bodyPr>
            <a:spAutoFit/>
          </a:bodyPr>
          <a:lstStyle/>
          <a:p>
            <a:pPr>
              <a:spcBef>
                <a:spcPct val="50000"/>
              </a:spcBef>
              <a:buClrTx/>
              <a:buFontTx/>
              <a:buNone/>
            </a:pPr>
            <a:r>
              <a:rPr kumimoji="1" lang="en-US" altLang="zh-CN" b="1" dirty="0">
                <a:solidFill>
                  <a:srgbClr val="0033CC"/>
                </a:solidFill>
                <a:latin typeface="Times New Roman" pitchFamily="18" charset="0"/>
                <a:ea typeface="宋体" pitchFamily="2" charset="-122"/>
              </a:rPr>
              <a:t>(Wald, 1964)</a:t>
            </a:r>
          </a:p>
        </p:txBody>
      </p:sp>
      <p:sp>
        <p:nvSpPr>
          <p:cNvPr id="6" name="Text Box 5"/>
          <p:cNvSpPr txBox="1">
            <a:spLocks noChangeArrowheads="1"/>
          </p:cNvSpPr>
          <p:nvPr/>
        </p:nvSpPr>
        <p:spPr bwMode="auto">
          <a:xfrm>
            <a:off x="827088" y="4750112"/>
            <a:ext cx="7345362" cy="1631216"/>
          </a:xfrm>
          <a:prstGeom prst="rect">
            <a:avLst/>
          </a:prstGeom>
          <a:noFill/>
          <a:ln w="9525">
            <a:noFill/>
            <a:miter lim="800000"/>
            <a:headEnd/>
            <a:tailEnd/>
          </a:ln>
          <a:effectLst/>
        </p:spPr>
        <p:txBody>
          <a:bodyPr>
            <a:spAutoFit/>
          </a:bodyPr>
          <a:lstStyle/>
          <a:p>
            <a:pPr marL="261938" indent="-261938">
              <a:spcBef>
                <a:spcPct val="50000"/>
              </a:spcBef>
              <a:buClrTx/>
              <a:buFontTx/>
              <a:buChar char="•"/>
            </a:pPr>
            <a:r>
              <a:rPr kumimoji="1" lang="zh-CN" altLang="en-US" sz="3200" b="1" dirty="0">
                <a:latin typeface="楷体_GB2312" pitchFamily="49" charset="-122"/>
              </a:rPr>
              <a:t>三色假说得到了现代技术发展的证明</a:t>
            </a:r>
            <a:r>
              <a:rPr kumimoji="1" lang="en-US" altLang="zh-CN" sz="3200" b="1" dirty="0">
                <a:latin typeface="楷体_GB2312" pitchFamily="49" charset="-122"/>
              </a:rPr>
              <a:t>:</a:t>
            </a:r>
          </a:p>
          <a:p>
            <a:pPr marL="261938" indent="-261938">
              <a:buClrTx/>
              <a:buFontTx/>
              <a:buNone/>
            </a:pPr>
            <a:r>
              <a:rPr kumimoji="1" lang="en-US" altLang="zh-CN" sz="2000" b="1" dirty="0">
                <a:latin typeface="楷体_GB2312" pitchFamily="49" charset="-122"/>
              </a:rPr>
              <a:t>   </a:t>
            </a:r>
            <a:endParaRPr kumimoji="1" lang="en-US" altLang="zh-CN" sz="2000" b="1" dirty="0" smtClean="0">
              <a:latin typeface="楷体_GB2312" pitchFamily="49" charset="-122"/>
            </a:endParaRPr>
          </a:p>
          <a:p>
            <a:pPr marL="261938" indent="-261938">
              <a:buClrTx/>
              <a:buFontTx/>
              <a:buNone/>
            </a:pPr>
            <a:r>
              <a:rPr kumimoji="1" lang="en-US" altLang="zh-CN" sz="2400" b="1" dirty="0" smtClean="0">
                <a:latin typeface="楷体_GB2312" pitchFamily="49" charset="-122"/>
              </a:rPr>
              <a:t>  </a:t>
            </a:r>
            <a:r>
              <a:rPr kumimoji="1" lang="zh-CN" altLang="en-US" sz="2400" b="1" dirty="0" smtClean="0">
                <a:latin typeface="楷体_GB2312" pitchFamily="49" charset="-122"/>
              </a:rPr>
              <a:t>在</a:t>
            </a:r>
            <a:r>
              <a:rPr kumimoji="1" lang="zh-CN" altLang="en-US" sz="2400" b="1" dirty="0">
                <a:latin typeface="楷体_GB2312" pitchFamily="49" charset="-122"/>
              </a:rPr>
              <a:t>人类视网膜中确实含有三种不同的光敏感性视色素，它们对光谱</a:t>
            </a:r>
            <a:r>
              <a:rPr kumimoji="1" lang="zh-CN" altLang="en-US" sz="2400" b="1" dirty="0" smtClean="0">
                <a:latin typeface="楷体_GB2312" pitchFamily="49" charset="-122"/>
              </a:rPr>
              <a:t>不同成分的</a:t>
            </a:r>
            <a:r>
              <a:rPr kumimoji="1" lang="zh-CN" altLang="en-US" sz="2400" b="1" dirty="0">
                <a:latin typeface="楷体_GB2312" pitchFamily="49" charset="-122"/>
              </a:rPr>
              <a:t>敏感性是不同的</a:t>
            </a:r>
            <a:r>
              <a:rPr kumimoji="1" lang="en-US" altLang="zh-CN" sz="2400" b="1" dirty="0">
                <a:latin typeface="楷体_GB2312" pitchFamily="49" charset="-122"/>
              </a:rPr>
              <a:t>.</a:t>
            </a:r>
          </a:p>
        </p:txBody>
      </p:sp>
    </p:spTree>
    <p:extLst>
      <p:ext uri="{BB962C8B-B14F-4D97-AF65-F5344CB8AC3E}">
        <p14:creationId xmlns:p14="http://schemas.microsoft.com/office/powerpoint/2010/main" val="2066394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r>
              <a:rPr lang="en-US" altLang="zh-CN" sz="3600" b="1" dirty="0" smtClean="0">
                <a:solidFill>
                  <a:schemeClr val="tx1">
                    <a:lumMod val="75000"/>
                  </a:schemeClr>
                </a:solidFill>
              </a:rPr>
              <a:t>-</a:t>
            </a:r>
            <a:r>
              <a:rPr lang="zh-CN" altLang="en-US" sz="3600" b="1" dirty="0" smtClean="0">
                <a:solidFill>
                  <a:schemeClr val="tx1">
                    <a:lumMod val="75000"/>
                  </a:schemeClr>
                </a:solidFill>
              </a:rPr>
              <a:t>视网膜</a:t>
            </a:r>
            <a:endParaRPr lang="zh-CN" altLang="en-US" sz="3600" b="1" dirty="0">
              <a:solidFill>
                <a:schemeClr val="tx1">
                  <a:lumMod val="75000"/>
                </a:schemeClr>
              </a:solidFill>
            </a:endParaRPr>
          </a:p>
        </p:txBody>
      </p:sp>
      <p:pic>
        <p:nvPicPr>
          <p:cNvPr id="12"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9777" t="17289"/>
          <a:stretch/>
        </p:blipFill>
        <p:spPr bwMode="auto">
          <a:xfrm>
            <a:off x="1475656" y="2420888"/>
            <a:ext cx="6552728" cy="4081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682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1200329"/>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r>
              <a:rPr lang="en-US" altLang="zh-CN" sz="3600" b="1" dirty="0">
                <a:solidFill>
                  <a:schemeClr val="tx1">
                    <a:lumMod val="75000"/>
                  </a:schemeClr>
                </a:solidFill>
              </a:rPr>
              <a:t>-</a:t>
            </a:r>
            <a:r>
              <a:rPr lang="zh-CN" altLang="en-US" sz="3600" b="1" dirty="0">
                <a:solidFill>
                  <a:schemeClr val="tx1">
                    <a:lumMod val="75000"/>
                  </a:schemeClr>
                </a:solidFill>
              </a:rPr>
              <a:t>视网膜</a:t>
            </a:r>
          </a:p>
          <a:p>
            <a:pPr indent="457200">
              <a:defRPr/>
            </a:pPr>
            <a:endParaRPr lang="zh-CN" altLang="en-US" sz="3600" b="1" dirty="0">
              <a:solidFill>
                <a:schemeClr val="tx1">
                  <a:lumMod val="75000"/>
                </a:schemeClr>
              </a:solidFill>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5586"/>
          <a:stretch/>
        </p:blipFill>
        <p:spPr bwMode="auto">
          <a:xfrm>
            <a:off x="1852613" y="2420888"/>
            <a:ext cx="5438775" cy="401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19485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r>
              <a:rPr lang="en-US" altLang="zh-CN" sz="3600" b="1" dirty="0" smtClean="0">
                <a:solidFill>
                  <a:schemeClr val="tx1">
                    <a:lumMod val="75000"/>
                  </a:schemeClr>
                </a:solidFill>
              </a:rPr>
              <a:t>-</a:t>
            </a:r>
            <a:r>
              <a:rPr lang="zh-CN" altLang="en-US" sz="3600" b="1" dirty="0" smtClean="0">
                <a:solidFill>
                  <a:schemeClr val="tx1">
                    <a:lumMod val="75000"/>
                  </a:schemeClr>
                </a:solidFill>
              </a:rPr>
              <a:t>视觉通路</a:t>
            </a:r>
            <a:endParaRPr lang="zh-CN" altLang="en-US" sz="3600" b="1" dirty="0">
              <a:solidFill>
                <a:schemeClr val="tx1">
                  <a:lumMod val="75000"/>
                </a:schemeClr>
              </a:solidFill>
            </a:endParaRPr>
          </a:p>
        </p:txBody>
      </p:sp>
      <p:grpSp>
        <p:nvGrpSpPr>
          <p:cNvPr id="5" name="Group 60"/>
          <p:cNvGrpSpPr>
            <a:grpSpLocks/>
          </p:cNvGrpSpPr>
          <p:nvPr/>
        </p:nvGrpSpPr>
        <p:grpSpPr bwMode="auto">
          <a:xfrm>
            <a:off x="1763688" y="2978150"/>
            <a:ext cx="709612" cy="1577975"/>
            <a:chOff x="987" y="1964"/>
            <a:chExt cx="447" cy="994"/>
          </a:xfrm>
        </p:grpSpPr>
        <p:sp>
          <p:nvSpPr>
            <p:cNvPr id="6" name="Freeform 61"/>
            <p:cNvSpPr>
              <a:spLocks/>
            </p:cNvSpPr>
            <p:nvPr/>
          </p:nvSpPr>
          <p:spPr bwMode="auto">
            <a:xfrm>
              <a:off x="987" y="1964"/>
              <a:ext cx="447" cy="212"/>
            </a:xfrm>
            <a:custGeom>
              <a:avLst/>
              <a:gdLst>
                <a:gd name="T0" fmla="*/ 0 w 447"/>
                <a:gd name="T1" fmla="*/ 106 h 212"/>
                <a:gd name="T2" fmla="*/ 149 w 447"/>
                <a:gd name="T3" fmla="*/ 212 h 212"/>
                <a:gd name="T4" fmla="*/ 447 w 447"/>
                <a:gd name="T5" fmla="*/ 212 h 212"/>
                <a:gd name="T6" fmla="*/ 447 w 447"/>
                <a:gd name="T7" fmla="*/ 0 h 212"/>
                <a:gd name="T8" fmla="*/ 149 w 447"/>
                <a:gd name="T9" fmla="*/ 0 h 212"/>
                <a:gd name="T10" fmla="*/ 0 w 447"/>
                <a:gd name="T11" fmla="*/ 106 h 212"/>
                <a:gd name="T12" fmla="*/ 0 60000 65536"/>
                <a:gd name="T13" fmla="*/ 0 60000 65536"/>
                <a:gd name="T14" fmla="*/ 0 60000 65536"/>
                <a:gd name="T15" fmla="*/ 0 60000 65536"/>
                <a:gd name="T16" fmla="*/ 0 60000 65536"/>
                <a:gd name="T17" fmla="*/ 0 60000 65536"/>
                <a:gd name="T18" fmla="*/ 0 w 447"/>
                <a:gd name="T19" fmla="*/ 0 h 212"/>
                <a:gd name="T20" fmla="*/ 447 w 447"/>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447" h="212">
                  <a:moveTo>
                    <a:pt x="0" y="106"/>
                  </a:moveTo>
                  <a:lnTo>
                    <a:pt x="149" y="212"/>
                  </a:lnTo>
                  <a:lnTo>
                    <a:pt x="447" y="212"/>
                  </a:lnTo>
                  <a:lnTo>
                    <a:pt x="447" y="0"/>
                  </a:lnTo>
                  <a:lnTo>
                    <a:pt x="149" y="0"/>
                  </a:lnTo>
                  <a:lnTo>
                    <a:pt x="0" y="106"/>
                  </a:lnTo>
                  <a:close/>
                </a:path>
              </a:pathLst>
            </a:custGeom>
            <a:solidFill>
              <a:schemeClr val="folHlink"/>
            </a:solidFill>
            <a:ln w="23813">
              <a:solidFill>
                <a:srgbClr val="000000"/>
              </a:solidFill>
              <a:round/>
              <a:headEnd/>
              <a:tailEnd/>
            </a:ln>
          </p:spPr>
          <p:txBody>
            <a:bodyPr/>
            <a:lstStyle/>
            <a:p>
              <a:endParaRPr lang="zh-CN" altLang="en-US"/>
            </a:p>
          </p:txBody>
        </p:sp>
        <p:sp>
          <p:nvSpPr>
            <p:cNvPr id="7" name="Freeform 62"/>
            <p:cNvSpPr>
              <a:spLocks/>
            </p:cNvSpPr>
            <p:nvPr/>
          </p:nvSpPr>
          <p:spPr bwMode="auto">
            <a:xfrm>
              <a:off x="987" y="2355"/>
              <a:ext cx="447" cy="212"/>
            </a:xfrm>
            <a:custGeom>
              <a:avLst/>
              <a:gdLst>
                <a:gd name="T0" fmla="*/ 0 w 447"/>
                <a:gd name="T1" fmla="*/ 106 h 212"/>
                <a:gd name="T2" fmla="*/ 149 w 447"/>
                <a:gd name="T3" fmla="*/ 212 h 212"/>
                <a:gd name="T4" fmla="*/ 447 w 447"/>
                <a:gd name="T5" fmla="*/ 212 h 212"/>
                <a:gd name="T6" fmla="*/ 447 w 447"/>
                <a:gd name="T7" fmla="*/ 0 h 212"/>
                <a:gd name="T8" fmla="*/ 149 w 447"/>
                <a:gd name="T9" fmla="*/ 0 h 212"/>
                <a:gd name="T10" fmla="*/ 0 w 447"/>
                <a:gd name="T11" fmla="*/ 106 h 212"/>
                <a:gd name="T12" fmla="*/ 0 60000 65536"/>
                <a:gd name="T13" fmla="*/ 0 60000 65536"/>
                <a:gd name="T14" fmla="*/ 0 60000 65536"/>
                <a:gd name="T15" fmla="*/ 0 60000 65536"/>
                <a:gd name="T16" fmla="*/ 0 60000 65536"/>
                <a:gd name="T17" fmla="*/ 0 60000 65536"/>
                <a:gd name="T18" fmla="*/ 0 w 447"/>
                <a:gd name="T19" fmla="*/ 0 h 212"/>
                <a:gd name="T20" fmla="*/ 447 w 447"/>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447" h="212">
                  <a:moveTo>
                    <a:pt x="0" y="106"/>
                  </a:moveTo>
                  <a:lnTo>
                    <a:pt x="149" y="212"/>
                  </a:lnTo>
                  <a:lnTo>
                    <a:pt x="447" y="212"/>
                  </a:lnTo>
                  <a:lnTo>
                    <a:pt x="447" y="0"/>
                  </a:lnTo>
                  <a:lnTo>
                    <a:pt x="149" y="0"/>
                  </a:lnTo>
                  <a:lnTo>
                    <a:pt x="0" y="106"/>
                  </a:lnTo>
                  <a:close/>
                </a:path>
              </a:pathLst>
            </a:custGeom>
            <a:solidFill>
              <a:schemeClr val="folHlink"/>
            </a:solidFill>
            <a:ln w="23813">
              <a:solidFill>
                <a:srgbClr val="000000"/>
              </a:solidFill>
              <a:round/>
              <a:headEnd/>
              <a:tailEnd/>
            </a:ln>
          </p:spPr>
          <p:txBody>
            <a:bodyPr/>
            <a:lstStyle/>
            <a:p>
              <a:endParaRPr lang="zh-CN" altLang="en-US"/>
            </a:p>
          </p:txBody>
        </p:sp>
        <p:sp>
          <p:nvSpPr>
            <p:cNvPr id="8" name="Freeform 63"/>
            <p:cNvSpPr>
              <a:spLocks/>
            </p:cNvSpPr>
            <p:nvPr/>
          </p:nvSpPr>
          <p:spPr bwMode="auto">
            <a:xfrm>
              <a:off x="987" y="2745"/>
              <a:ext cx="447" cy="213"/>
            </a:xfrm>
            <a:custGeom>
              <a:avLst/>
              <a:gdLst>
                <a:gd name="T0" fmla="*/ 0 w 447"/>
                <a:gd name="T1" fmla="*/ 106 h 213"/>
                <a:gd name="T2" fmla="*/ 149 w 447"/>
                <a:gd name="T3" fmla="*/ 213 h 213"/>
                <a:gd name="T4" fmla="*/ 447 w 447"/>
                <a:gd name="T5" fmla="*/ 213 h 213"/>
                <a:gd name="T6" fmla="*/ 447 w 447"/>
                <a:gd name="T7" fmla="*/ 0 h 213"/>
                <a:gd name="T8" fmla="*/ 149 w 447"/>
                <a:gd name="T9" fmla="*/ 0 h 213"/>
                <a:gd name="T10" fmla="*/ 0 w 447"/>
                <a:gd name="T11" fmla="*/ 106 h 213"/>
                <a:gd name="T12" fmla="*/ 0 60000 65536"/>
                <a:gd name="T13" fmla="*/ 0 60000 65536"/>
                <a:gd name="T14" fmla="*/ 0 60000 65536"/>
                <a:gd name="T15" fmla="*/ 0 60000 65536"/>
                <a:gd name="T16" fmla="*/ 0 60000 65536"/>
                <a:gd name="T17" fmla="*/ 0 60000 65536"/>
                <a:gd name="T18" fmla="*/ 0 w 447"/>
                <a:gd name="T19" fmla="*/ 0 h 213"/>
                <a:gd name="T20" fmla="*/ 447 w 447"/>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447" h="213">
                  <a:moveTo>
                    <a:pt x="0" y="106"/>
                  </a:moveTo>
                  <a:lnTo>
                    <a:pt x="149" y="213"/>
                  </a:lnTo>
                  <a:lnTo>
                    <a:pt x="447" y="213"/>
                  </a:lnTo>
                  <a:lnTo>
                    <a:pt x="447" y="0"/>
                  </a:lnTo>
                  <a:lnTo>
                    <a:pt x="149" y="0"/>
                  </a:lnTo>
                  <a:lnTo>
                    <a:pt x="0" y="106"/>
                  </a:lnTo>
                  <a:close/>
                </a:path>
              </a:pathLst>
            </a:custGeom>
            <a:solidFill>
              <a:schemeClr val="folHlink"/>
            </a:solidFill>
            <a:ln w="23813">
              <a:solidFill>
                <a:srgbClr val="000000"/>
              </a:solidFill>
              <a:round/>
              <a:headEnd/>
              <a:tailEnd/>
            </a:ln>
          </p:spPr>
          <p:txBody>
            <a:bodyPr/>
            <a:lstStyle/>
            <a:p>
              <a:endParaRPr lang="zh-CN" altLang="en-US"/>
            </a:p>
          </p:txBody>
        </p:sp>
      </p:grpSp>
      <p:sp>
        <p:nvSpPr>
          <p:cNvPr id="9" name="Line 64"/>
          <p:cNvSpPr>
            <a:spLocks noChangeShapeType="1"/>
          </p:cNvSpPr>
          <p:nvPr/>
        </p:nvSpPr>
        <p:spPr bwMode="auto">
          <a:xfrm>
            <a:off x="2473300" y="3154363"/>
            <a:ext cx="892175" cy="1587"/>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65"/>
          <p:cNvSpPr>
            <a:spLocks noChangeShapeType="1"/>
          </p:cNvSpPr>
          <p:nvPr/>
        </p:nvSpPr>
        <p:spPr bwMode="auto">
          <a:xfrm>
            <a:off x="2473300" y="4395788"/>
            <a:ext cx="892175" cy="1587"/>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66"/>
          <p:cNvSpPr>
            <a:spLocks noChangeShapeType="1"/>
          </p:cNvSpPr>
          <p:nvPr/>
        </p:nvSpPr>
        <p:spPr bwMode="auto">
          <a:xfrm>
            <a:off x="2473300" y="3775075"/>
            <a:ext cx="892175" cy="1588"/>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Oval 67"/>
          <p:cNvSpPr>
            <a:spLocks noChangeArrowheads="1"/>
          </p:cNvSpPr>
          <p:nvPr/>
        </p:nvSpPr>
        <p:spPr bwMode="auto">
          <a:xfrm>
            <a:off x="3940150" y="3140075"/>
            <a:ext cx="355600" cy="373063"/>
          </a:xfrm>
          <a:prstGeom prst="ellipse">
            <a:avLst/>
          </a:prstGeom>
          <a:solidFill>
            <a:srgbClr val="FFFFFF"/>
          </a:solidFill>
          <a:ln w="23813">
            <a:solidFill>
              <a:srgbClr val="000000"/>
            </a:solidFill>
            <a:round/>
            <a:headEnd/>
            <a:tailEnd/>
          </a:ln>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14" name="Oval 68"/>
          <p:cNvSpPr>
            <a:spLocks noChangeArrowheads="1"/>
          </p:cNvSpPr>
          <p:nvPr/>
        </p:nvSpPr>
        <p:spPr bwMode="auto">
          <a:xfrm>
            <a:off x="4716438" y="3573463"/>
            <a:ext cx="357187" cy="374650"/>
          </a:xfrm>
          <a:prstGeom prst="ellipse">
            <a:avLst/>
          </a:prstGeom>
          <a:solidFill>
            <a:srgbClr val="FFFFFF"/>
          </a:solidFill>
          <a:ln w="23813">
            <a:solidFill>
              <a:srgbClr val="000000"/>
            </a:solidFill>
            <a:round/>
            <a:headEnd/>
            <a:tailEnd/>
          </a:ln>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15" name="Oval 69"/>
          <p:cNvSpPr>
            <a:spLocks noChangeArrowheads="1"/>
          </p:cNvSpPr>
          <p:nvPr/>
        </p:nvSpPr>
        <p:spPr bwMode="auto">
          <a:xfrm>
            <a:off x="3940150" y="4052888"/>
            <a:ext cx="355600" cy="373062"/>
          </a:xfrm>
          <a:prstGeom prst="ellipse">
            <a:avLst/>
          </a:prstGeom>
          <a:solidFill>
            <a:srgbClr val="FFFFFF"/>
          </a:solidFill>
          <a:ln w="23813">
            <a:solidFill>
              <a:srgbClr val="000000"/>
            </a:solidFill>
            <a:round/>
            <a:headEnd/>
            <a:tailEnd/>
          </a:ln>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grpSp>
        <p:nvGrpSpPr>
          <p:cNvPr id="16" name="Group 70"/>
          <p:cNvGrpSpPr>
            <a:grpSpLocks/>
          </p:cNvGrpSpPr>
          <p:nvPr/>
        </p:nvGrpSpPr>
        <p:grpSpPr bwMode="auto">
          <a:xfrm>
            <a:off x="2954313" y="2765425"/>
            <a:ext cx="44450" cy="1938338"/>
            <a:chOff x="1737" y="1830"/>
            <a:chExt cx="28" cy="1221"/>
          </a:xfrm>
        </p:grpSpPr>
        <p:sp>
          <p:nvSpPr>
            <p:cNvPr id="17" name="Rectangle 71"/>
            <p:cNvSpPr>
              <a:spLocks noChangeArrowheads="1"/>
            </p:cNvSpPr>
            <p:nvPr/>
          </p:nvSpPr>
          <p:spPr bwMode="auto">
            <a:xfrm>
              <a:off x="1737" y="1830"/>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18" name="Rectangle 72"/>
            <p:cNvSpPr>
              <a:spLocks noChangeArrowheads="1"/>
            </p:cNvSpPr>
            <p:nvPr/>
          </p:nvSpPr>
          <p:spPr bwMode="auto">
            <a:xfrm>
              <a:off x="1737" y="1949"/>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19" name="Rectangle 73"/>
            <p:cNvSpPr>
              <a:spLocks noChangeArrowheads="1"/>
            </p:cNvSpPr>
            <p:nvPr/>
          </p:nvSpPr>
          <p:spPr bwMode="auto">
            <a:xfrm>
              <a:off x="1737" y="2068"/>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0" name="Rectangle 74"/>
            <p:cNvSpPr>
              <a:spLocks noChangeArrowheads="1"/>
            </p:cNvSpPr>
            <p:nvPr/>
          </p:nvSpPr>
          <p:spPr bwMode="auto">
            <a:xfrm>
              <a:off x="1737" y="2187"/>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1" name="Rectangle 75"/>
            <p:cNvSpPr>
              <a:spLocks noChangeArrowheads="1"/>
            </p:cNvSpPr>
            <p:nvPr/>
          </p:nvSpPr>
          <p:spPr bwMode="auto">
            <a:xfrm>
              <a:off x="1737" y="2306"/>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2" name="Rectangle 76"/>
            <p:cNvSpPr>
              <a:spLocks noChangeArrowheads="1"/>
            </p:cNvSpPr>
            <p:nvPr/>
          </p:nvSpPr>
          <p:spPr bwMode="auto">
            <a:xfrm>
              <a:off x="1737" y="2425"/>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3" name="Rectangle 77"/>
            <p:cNvSpPr>
              <a:spLocks noChangeArrowheads="1"/>
            </p:cNvSpPr>
            <p:nvPr/>
          </p:nvSpPr>
          <p:spPr bwMode="auto">
            <a:xfrm>
              <a:off x="1737" y="2544"/>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4" name="Rectangle 78"/>
            <p:cNvSpPr>
              <a:spLocks noChangeArrowheads="1"/>
            </p:cNvSpPr>
            <p:nvPr/>
          </p:nvSpPr>
          <p:spPr bwMode="auto">
            <a:xfrm>
              <a:off x="1737" y="2663"/>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5" name="Rectangle 79"/>
            <p:cNvSpPr>
              <a:spLocks noChangeArrowheads="1"/>
            </p:cNvSpPr>
            <p:nvPr/>
          </p:nvSpPr>
          <p:spPr bwMode="auto">
            <a:xfrm>
              <a:off x="1737" y="2783"/>
              <a:ext cx="28" cy="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7" name="Rectangle 80"/>
            <p:cNvSpPr>
              <a:spLocks noChangeArrowheads="1"/>
            </p:cNvSpPr>
            <p:nvPr/>
          </p:nvSpPr>
          <p:spPr bwMode="auto">
            <a:xfrm>
              <a:off x="1737" y="2902"/>
              <a:ext cx="28" cy="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8" name="Rectangle 81"/>
            <p:cNvSpPr>
              <a:spLocks noChangeArrowheads="1"/>
            </p:cNvSpPr>
            <p:nvPr/>
          </p:nvSpPr>
          <p:spPr bwMode="auto">
            <a:xfrm>
              <a:off x="1737" y="3021"/>
              <a:ext cx="28"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grpSp>
      <p:grpSp>
        <p:nvGrpSpPr>
          <p:cNvPr id="29" name="Group 82"/>
          <p:cNvGrpSpPr>
            <a:grpSpLocks/>
          </p:cNvGrpSpPr>
          <p:nvPr/>
        </p:nvGrpSpPr>
        <p:grpSpPr bwMode="auto">
          <a:xfrm>
            <a:off x="5338738" y="2765425"/>
            <a:ext cx="42862" cy="1938338"/>
            <a:chOff x="3239" y="1830"/>
            <a:chExt cx="27" cy="1221"/>
          </a:xfrm>
        </p:grpSpPr>
        <p:sp>
          <p:nvSpPr>
            <p:cNvPr id="30" name="Rectangle 83"/>
            <p:cNvSpPr>
              <a:spLocks noChangeArrowheads="1"/>
            </p:cNvSpPr>
            <p:nvPr/>
          </p:nvSpPr>
          <p:spPr bwMode="auto">
            <a:xfrm>
              <a:off x="3239" y="1830"/>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1" name="Rectangle 84"/>
            <p:cNvSpPr>
              <a:spLocks noChangeArrowheads="1"/>
            </p:cNvSpPr>
            <p:nvPr/>
          </p:nvSpPr>
          <p:spPr bwMode="auto">
            <a:xfrm>
              <a:off x="3239" y="1949"/>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2" name="Rectangle 85"/>
            <p:cNvSpPr>
              <a:spLocks noChangeArrowheads="1"/>
            </p:cNvSpPr>
            <p:nvPr/>
          </p:nvSpPr>
          <p:spPr bwMode="auto">
            <a:xfrm>
              <a:off x="3239" y="2068"/>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3" name="Rectangle 86"/>
            <p:cNvSpPr>
              <a:spLocks noChangeArrowheads="1"/>
            </p:cNvSpPr>
            <p:nvPr/>
          </p:nvSpPr>
          <p:spPr bwMode="auto">
            <a:xfrm>
              <a:off x="3239" y="2187"/>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4" name="Rectangle 87"/>
            <p:cNvSpPr>
              <a:spLocks noChangeArrowheads="1"/>
            </p:cNvSpPr>
            <p:nvPr/>
          </p:nvSpPr>
          <p:spPr bwMode="auto">
            <a:xfrm>
              <a:off x="3239" y="2306"/>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5" name="Rectangle 88"/>
            <p:cNvSpPr>
              <a:spLocks noChangeArrowheads="1"/>
            </p:cNvSpPr>
            <p:nvPr/>
          </p:nvSpPr>
          <p:spPr bwMode="auto">
            <a:xfrm>
              <a:off x="3239" y="2425"/>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6" name="Rectangle 89"/>
            <p:cNvSpPr>
              <a:spLocks noChangeArrowheads="1"/>
            </p:cNvSpPr>
            <p:nvPr/>
          </p:nvSpPr>
          <p:spPr bwMode="auto">
            <a:xfrm>
              <a:off x="3239" y="2544"/>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7" name="Rectangle 90"/>
            <p:cNvSpPr>
              <a:spLocks noChangeArrowheads="1"/>
            </p:cNvSpPr>
            <p:nvPr/>
          </p:nvSpPr>
          <p:spPr bwMode="auto">
            <a:xfrm>
              <a:off x="3239" y="2663"/>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8" name="Rectangle 91"/>
            <p:cNvSpPr>
              <a:spLocks noChangeArrowheads="1"/>
            </p:cNvSpPr>
            <p:nvPr/>
          </p:nvSpPr>
          <p:spPr bwMode="auto">
            <a:xfrm>
              <a:off x="3239" y="2783"/>
              <a:ext cx="27" cy="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9" name="Rectangle 92"/>
            <p:cNvSpPr>
              <a:spLocks noChangeArrowheads="1"/>
            </p:cNvSpPr>
            <p:nvPr/>
          </p:nvSpPr>
          <p:spPr bwMode="auto">
            <a:xfrm>
              <a:off x="3239" y="2902"/>
              <a:ext cx="27" cy="2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40" name="Rectangle 93"/>
            <p:cNvSpPr>
              <a:spLocks noChangeArrowheads="1"/>
            </p:cNvSpPr>
            <p:nvPr/>
          </p:nvSpPr>
          <p:spPr bwMode="auto">
            <a:xfrm>
              <a:off x="3239" y="3021"/>
              <a:ext cx="27" cy="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grpSp>
      <p:grpSp>
        <p:nvGrpSpPr>
          <p:cNvPr id="41" name="Group 94"/>
          <p:cNvGrpSpPr>
            <a:grpSpLocks/>
          </p:cNvGrpSpPr>
          <p:nvPr/>
        </p:nvGrpSpPr>
        <p:grpSpPr bwMode="auto">
          <a:xfrm>
            <a:off x="3332138" y="3098800"/>
            <a:ext cx="611187" cy="206375"/>
            <a:chOff x="1975" y="2040"/>
            <a:chExt cx="385" cy="130"/>
          </a:xfrm>
        </p:grpSpPr>
        <p:sp>
          <p:nvSpPr>
            <p:cNvPr id="42" name="Line 95"/>
            <p:cNvSpPr>
              <a:spLocks noChangeShapeType="1"/>
            </p:cNvSpPr>
            <p:nvPr/>
          </p:nvSpPr>
          <p:spPr bwMode="auto">
            <a:xfrm>
              <a:off x="1975" y="2080"/>
              <a:ext cx="274" cy="39"/>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Freeform 96"/>
            <p:cNvSpPr>
              <a:spLocks/>
            </p:cNvSpPr>
            <p:nvPr/>
          </p:nvSpPr>
          <p:spPr bwMode="auto">
            <a:xfrm>
              <a:off x="2132" y="2040"/>
              <a:ext cx="228" cy="130"/>
            </a:xfrm>
            <a:custGeom>
              <a:avLst/>
              <a:gdLst>
                <a:gd name="T0" fmla="*/ 228 w 228"/>
                <a:gd name="T1" fmla="*/ 97 h 130"/>
                <a:gd name="T2" fmla="*/ 18 w 228"/>
                <a:gd name="T3" fmla="*/ 0 h 130"/>
                <a:gd name="T4" fmla="*/ 0 w 228"/>
                <a:gd name="T5" fmla="*/ 130 h 130"/>
                <a:gd name="T6" fmla="*/ 228 w 228"/>
                <a:gd name="T7" fmla="*/ 97 h 130"/>
                <a:gd name="T8" fmla="*/ 0 60000 65536"/>
                <a:gd name="T9" fmla="*/ 0 60000 65536"/>
                <a:gd name="T10" fmla="*/ 0 60000 65536"/>
                <a:gd name="T11" fmla="*/ 0 60000 65536"/>
                <a:gd name="T12" fmla="*/ 0 w 228"/>
                <a:gd name="T13" fmla="*/ 0 h 130"/>
                <a:gd name="T14" fmla="*/ 228 w 228"/>
                <a:gd name="T15" fmla="*/ 130 h 130"/>
              </a:gdLst>
              <a:ahLst/>
              <a:cxnLst>
                <a:cxn ang="T8">
                  <a:pos x="T0" y="T1"/>
                </a:cxn>
                <a:cxn ang="T9">
                  <a:pos x="T2" y="T3"/>
                </a:cxn>
                <a:cxn ang="T10">
                  <a:pos x="T4" y="T5"/>
                </a:cxn>
                <a:cxn ang="T11">
                  <a:pos x="T6" y="T7"/>
                </a:cxn>
              </a:cxnLst>
              <a:rect l="T12" t="T13" r="T14" b="T15"/>
              <a:pathLst>
                <a:path w="228" h="130">
                  <a:moveTo>
                    <a:pt x="228" y="97"/>
                  </a:moveTo>
                  <a:lnTo>
                    <a:pt x="18" y="0"/>
                  </a:lnTo>
                  <a:lnTo>
                    <a:pt x="0" y="130"/>
                  </a:lnTo>
                  <a:lnTo>
                    <a:pt x="228"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4" name="Group 97"/>
          <p:cNvGrpSpPr>
            <a:grpSpLocks/>
          </p:cNvGrpSpPr>
          <p:nvPr/>
        </p:nvGrpSpPr>
        <p:grpSpPr bwMode="auto">
          <a:xfrm>
            <a:off x="3341663" y="3382963"/>
            <a:ext cx="593725" cy="393700"/>
            <a:chOff x="1981" y="2219"/>
            <a:chExt cx="374" cy="248"/>
          </a:xfrm>
        </p:grpSpPr>
        <p:sp>
          <p:nvSpPr>
            <p:cNvPr id="45" name="Line 98"/>
            <p:cNvSpPr>
              <a:spLocks noChangeShapeType="1"/>
            </p:cNvSpPr>
            <p:nvPr/>
          </p:nvSpPr>
          <p:spPr bwMode="auto">
            <a:xfrm flipV="1">
              <a:off x="1981" y="2295"/>
              <a:ext cx="262" cy="172"/>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Freeform 99"/>
            <p:cNvSpPr>
              <a:spLocks/>
            </p:cNvSpPr>
            <p:nvPr/>
          </p:nvSpPr>
          <p:spPr bwMode="auto">
            <a:xfrm>
              <a:off x="2133" y="2219"/>
              <a:ext cx="222" cy="177"/>
            </a:xfrm>
            <a:custGeom>
              <a:avLst/>
              <a:gdLst>
                <a:gd name="T0" fmla="*/ 222 w 222"/>
                <a:gd name="T1" fmla="*/ 0 h 177"/>
                <a:gd name="T2" fmla="*/ 0 w 222"/>
                <a:gd name="T3" fmla="*/ 69 h 177"/>
                <a:gd name="T4" fmla="*/ 71 w 222"/>
                <a:gd name="T5" fmla="*/ 177 h 177"/>
                <a:gd name="T6" fmla="*/ 222 w 222"/>
                <a:gd name="T7" fmla="*/ 0 h 177"/>
                <a:gd name="T8" fmla="*/ 0 60000 65536"/>
                <a:gd name="T9" fmla="*/ 0 60000 65536"/>
                <a:gd name="T10" fmla="*/ 0 60000 65536"/>
                <a:gd name="T11" fmla="*/ 0 60000 65536"/>
                <a:gd name="T12" fmla="*/ 0 w 222"/>
                <a:gd name="T13" fmla="*/ 0 h 177"/>
                <a:gd name="T14" fmla="*/ 222 w 222"/>
                <a:gd name="T15" fmla="*/ 177 h 177"/>
              </a:gdLst>
              <a:ahLst/>
              <a:cxnLst>
                <a:cxn ang="T8">
                  <a:pos x="T0" y="T1"/>
                </a:cxn>
                <a:cxn ang="T9">
                  <a:pos x="T2" y="T3"/>
                </a:cxn>
                <a:cxn ang="T10">
                  <a:pos x="T4" y="T5"/>
                </a:cxn>
                <a:cxn ang="T11">
                  <a:pos x="T6" y="T7"/>
                </a:cxn>
              </a:cxnLst>
              <a:rect l="T12" t="T13" r="T14" b="T15"/>
              <a:pathLst>
                <a:path w="222" h="177">
                  <a:moveTo>
                    <a:pt x="222" y="0"/>
                  </a:moveTo>
                  <a:lnTo>
                    <a:pt x="0" y="69"/>
                  </a:lnTo>
                  <a:lnTo>
                    <a:pt x="71" y="177"/>
                  </a:lnTo>
                  <a:lnTo>
                    <a:pt x="2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7" name="Group 100"/>
          <p:cNvGrpSpPr>
            <a:grpSpLocks/>
          </p:cNvGrpSpPr>
          <p:nvPr/>
        </p:nvGrpSpPr>
        <p:grpSpPr bwMode="auto">
          <a:xfrm>
            <a:off x="4003650" y="3509963"/>
            <a:ext cx="206375" cy="542925"/>
            <a:chOff x="2398" y="2299"/>
            <a:chExt cx="130" cy="342"/>
          </a:xfrm>
        </p:grpSpPr>
        <p:sp>
          <p:nvSpPr>
            <p:cNvPr id="48" name="Line 101"/>
            <p:cNvSpPr>
              <a:spLocks noChangeShapeType="1"/>
            </p:cNvSpPr>
            <p:nvPr/>
          </p:nvSpPr>
          <p:spPr bwMode="auto">
            <a:xfrm>
              <a:off x="2460" y="2299"/>
              <a:ext cx="3" cy="229"/>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Freeform 102"/>
            <p:cNvSpPr>
              <a:spLocks/>
            </p:cNvSpPr>
            <p:nvPr/>
          </p:nvSpPr>
          <p:spPr bwMode="auto">
            <a:xfrm>
              <a:off x="2398" y="2418"/>
              <a:ext cx="130" cy="223"/>
            </a:xfrm>
            <a:custGeom>
              <a:avLst/>
              <a:gdLst>
                <a:gd name="T0" fmla="*/ 68 w 130"/>
                <a:gd name="T1" fmla="*/ 223 h 223"/>
                <a:gd name="T2" fmla="*/ 130 w 130"/>
                <a:gd name="T3" fmla="*/ 0 h 223"/>
                <a:gd name="T4" fmla="*/ 0 w 130"/>
                <a:gd name="T5" fmla="*/ 4 h 223"/>
                <a:gd name="T6" fmla="*/ 68 w 130"/>
                <a:gd name="T7" fmla="*/ 223 h 223"/>
                <a:gd name="T8" fmla="*/ 0 60000 65536"/>
                <a:gd name="T9" fmla="*/ 0 60000 65536"/>
                <a:gd name="T10" fmla="*/ 0 60000 65536"/>
                <a:gd name="T11" fmla="*/ 0 60000 65536"/>
                <a:gd name="T12" fmla="*/ 0 w 130"/>
                <a:gd name="T13" fmla="*/ 0 h 223"/>
                <a:gd name="T14" fmla="*/ 130 w 130"/>
                <a:gd name="T15" fmla="*/ 223 h 223"/>
              </a:gdLst>
              <a:ahLst/>
              <a:cxnLst>
                <a:cxn ang="T8">
                  <a:pos x="T0" y="T1"/>
                </a:cxn>
                <a:cxn ang="T9">
                  <a:pos x="T2" y="T3"/>
                </a:cxn>
                <a:cxn ang="T10">
                  <a:pos x="T4" y="T5"/>
                </a:cxn>
                <a:cxn ang="T11">
                  <a:pos x="T6" y="T7"/>
                </a:cxn>
              </a:cxnLst>
              <a:rect l="T12" t="T13" r="T14" b="T15"/>
              <a:pathLst>
                <a:path w="130" h="223">
                  <a:moveTo>
                    <a:pt x="68" y="223"/>
                  </a:moveTo>
                  <a:lnTo>
                    <a:pt x="130" y="0"/>
                  </a:lnTo>
                  <a:lnTo>
                    <a:pt x="0" y="4"/>
                  </a:lnTo>
                  <a:lnTo>
                    <a:pt x="68" y="2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0" name="Group 103"/>
          <p:cNvGrpSpPr>
            <a:grpSpLocks/>
          </p:cNvGrpSpPr>
          <p:nvPr/>
        </p:nvGrpSpPr>
        <p:grpSpPr bwMode="auto">
          <a:xfrm>
            <a:off x="3341663" y="4230688"/>
            <a:ext cx="601662" cy="200025"/>
            <a:chOff x="1981" y="2753"/>
            <a:chExt cx="379" cy="126"/>
          </a:xfrm>
        </p:grpSpPr>
        <p:sp>
          <p:nvSpPr>
            <p:cNvPr id="51" name="Line 104"/>
            <p:cNvSpPr>
              <a:spLocks noChangeShapeType="1"/>
            </p:cNvSpPr>
            <p:nvPr/>
          </p:nvSpPr>
          <p:spPr bwMode="auto">
            <a:xfrm flipV="1">
              <a:off x="1981" y="2790"/>
              <a:ext cx="268" cy="67"/>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Freeform 105"/>
            <p:cNvSpPr>
              <a:spLocks/>
            </p:cNvSpPr>
            <p:nvPr/>
          </p:nvSpPr>
          <p:spPr bwMode="auto">
            <a:xfrm>
              <a:off x="2130" y="2753"/>
              <a:ext cx="230" cy="126"/>
            </a:xfrm>
            <a:custGeom>
              <a:avLst/>
              <a:gdLst>
                <a:gd name="T0" fmla="*/ 230 w 230"/>
                <a:gd name="T1" fmla="*/ 9 h 126"/>
                <a:gd name="T2" fmla="*/ 0 w 230"/>
                <a:gd name="T3" fmla="*/ 0 h 126"/>
                <a:gd name="T4" fmla="*/ 30 w 230"/>
                <a:gd name="T5" fmla="*/ 126 h 126"/>
                <a:gd name="T6" fmla="*/ 230 w 230"/>
                <a:gd name="T7" fmla="*/ 9 h 126"/>
                <a:gd name="T8" fmla="*/ 0 60000 65536"/>
                <a:gd name="T9" fmla="*/ 0 60000 65536"/>
                <a:gd name="T10" fmla="*/ 0 60000 65536"/>
                <a:gd name="T11" fmla="*/ 0 60000 65536"/>
                <a:gd name="T12" fmla="*/ 0 w 230"/>
                <a:gd name="T13" fmla="*/ 0 h 126"/>
                <a:gd name="T14" fmla="*/ 230 w 230"/>
                <a:gd name="T15" fmla="*/ 126 h 126"/>
              </a:gdLst>
              <a:ahLst/>
              <a:cxnLst>
                <a:cxn ang="T8">
                  <a:pos x="T0" y="T1"/>
                </a:cxn>
                <a:cxn ang="T9">
                  <a:pos x="T2" y="T3"/>
                </a:cxn>
                <a:cxn ang="T10">
                  <a:pos x="T4" y="T5"/>
                </a:cxn>
                <a:cxn ang="T11">
                  <a:pos x="T6" y="T7"/>
                </a:cxn>
              </a:cxnLst>
              <a:rect l="T12" t="T13" r="T14" b="T15"/>
              <a:pathLst>
                <a:path w="230" h="126">
                  <a:moveTo>
                    <a:pt x="230" y="9"/>
                  </a:moveTo>
                  <a:lnTo>
                    <a:pt x="0" y="0"/>
                  </a:lnTo>
                  <a:lnTo>
                    <a:pt x="30" y="126"/>
                  </a:lnTo>
                  <a:lnTo>
                    <a:pt x="23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3" name="Group 106"/>
          <p:cNvGrpSpPr>
            <a:grpSpLocks/>
          </p:cNvGrpSpPr>
          <p:nvPr/>
        </p:nvGrpSpPr>
        <p:grpSpPr bwMode="auto">
          <a:xfrm>
            <a:off x="4271938" y="3349625"/>
            <a:ext cx="452437" cy="331788"/>
            <a:chOff x="2567" y="2198"/>
            <a:chExt cx="285" cy="209"/>
          </a:xfrm>
        </p:grpSpPr>
        <p:sp>
          <p:nvSpPr>
            <p:cNvPr id="54" name="Line 107"/>
            <p:cNvSpPr>
              <a:spLocks noChangeShapeType="1"/>
            </p:cNvSpPr>
            <p:nvPr/>
          </p:nvSpPr>
          <p:spPr bwMode="auto">
            <a:xfrm>
              <a:off x="2567" y="2198"/>
              <a:ext cx="173" cy="12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Freeform 108"/>
            <p:cNvSpPr>
              <a:spLocks/>
            </p:cNvSpPr>
            <p:nvPr/>
          </p:nvSpPr>
          <p:spPr bwMode="auto">
            <a:xfrm>
              <a:off x="2632" y="2222"/>
              <a:ext cx="220" cy="185"/>
            </a:xfrm>
            <a:custGeom>
              <a:avLst/>
              <a:gdLst>
                <a:gd name="T0" fmla="*/ 220 w 220"/>
                <a:gd name="T1" fmla="*/ 185 h 185"/>
                <a:gd name="T2" fmla="*/ 78 w 220"/>
                <a:gd name="T3" fmla="*/ 0 h 185"/>
                <a:gd name="T4" fmla="*/ 0 w 220"/>
                <a:gd name="T5" fmla="*/ 105 h 185"/>
                <a:gd name="T6" fmla="*/ 220 w 220"/>
                <a:gd name="T7" fmla="*/ 185 h 185"/>
                <a:gd name="T8" fmla="*/ 0 60000 65536"/>
                <a:gd name="T9" fmla="*/ 0 60000 65536"/>
                <a:gd name="T10" fmla="*/ 0 60000 65536"/>
                <a:gd name="T11" fmla="*/ 0 60000 65536"/>
                <a:gd name="T12" fmla="*/ 0 w 220"/>
                <a:gd name="T13" fmla="*/ 0 h 185"/>
                <a:gd name="T14" fmla="*/ 220 w 220"/>
                <a:gd name="T15" fmla="*/ 185 h 185"/>
              </a:gdLst>
              <a:ahLst/>
              <a:cxnLst>
                <a:cxn ang="T8">
                  <a:pos x="T0" y="T1"/>
                </a:cxn>
                <a:cxn ang="T9">
                  <a:pos x="T2" y="T3"/>
                </a:cxn>
                <a:cxn ang="T10">
                  <a:pos x="T4" y="T5"/>
                </a:cxn>
                <a:cxn ang="T11">
                  <a:pos x="T6" y="T7"/>
                </a:cxn>
              </a:cxnLst>
              <a:rect l="T12" t="T13" r="T14" b="T15"/>
              <a:pathLst>
                <a:path w="220" h="185">
                  <a:moveTo>
                    <a:pt x="220" y="185"/>
                  </a:moveTo>
                  <a:lnTo>
                    <a:pt x="78" y="0"/>
                  </a:lnTo>
                  <a:lnTo>
                    <a:pt x="0" y="105"/>
                  </a:lnTo>
                  <a:lnTo>
                    <a:pt x="220" y="1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6" name="Group 109"/>
          <p:cNvGrpSpPr>
            <a:grpSpLocks/>
          </p:cNvGrpSpPr>
          <p:nvPr/>
        </p:nvGrpSpPr>
        <p:grpSpPr bwMode="auto">
          <a:xfrm>
            <a:off x="4262413" y="3798888"/>
            <a:ext cx="469900" cy="349250"/>
            <a:chOff x="2561" y="2481"/>
            <a:chExt cx="296" cy="220"/>
          </a:xfrm>
        </p:grpSpPr>
        <p:sp>
          <p:nvSpPr>
            <p:cNvPr id="57" name="Line 110"/>
            <p:cNvSpPr>
              <a:spLocks noChangeShapeType="1"/>
            </p:cNvSpPr>
            <p:nvPr/>
          </p:nvSpPr>
          <p:spPr bwMode="auto">
            <a:xfrm flipV="1">
              <a:off x="2561" y="2565"/>
              <a:ext cx="185" cy="13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Freeform 111"/>
            <p:cNvSpPr>
              <a:spLocks/>
            </p:cNvSpPr>
            <p:nvPr/>
          </p:nvSpPr>
          <p:spPr bwMode="auto">
            <a:xfrm>
              <a:off x="2640" y="2481"/>
              <a:ext cx="217" cy="184"/>
            </a:xfrm>
            <a:custGeom>
              <a:avLst/>
              <a:gdLst>
                <a:gd name="T0" fmla="*/ 217 w 217"/>
                <a:gd name="T1" fmla="*/ 0 h 184"/>
                <a:gd name="T2" fmla="*/ 0 w 217"/>
                <a:gd name="T3" fmla="*/ 80 h 184"/>
                <a:gd name="T4" fmla="*/ 78 w 217"/>
                <a:gd name="T5" fmla="*/ 184 h 184"/>
                <a:gd name="T6" fmla="*/ 217 w 217"/>
                <a:gd name="T7" fmla="*/ 0 h 184"/>
                <a:gd name="T8" fmla="*/ 0 60000 65536"/>
                <a:gd name="T9" fmla="*/ 0 60000 65536"/>
                <a:gd name="T10" fmla="*/ 0 60000 65536"/>
                <a:gd name="T11" fmla="*/ 0 60000 65536"/>
                <a:gd name="T12" fmla="*/ 0 w 217"/>
                <a:gd name="T13" fmla="*/ 0 h 184"/>
                <a:gd name="T14" fmla="*/ 217 w 217"/>
                <a:gd name="T15" fmla="*/ 184 h 184"/>
              </a:gdLst>
              <a:ahLst/>
              <a:cxnLst>
                <a:cxn ang="T8">
                  <a:pos x="T0" y="T1"/>
                </a:cxn>
                <a:cxn ang="T9">
                  <a:pos x="T2" y="T3"/>
                </a:cxn>
                <a:cxn ang="T10">
                  <a:pos x="T4" y="T5"/>
                </a:cxn>
                <a:cxn ang="T11">
                  <a:pos x="T6" y="T7"/>
                </a:cxn>
              </a:cxnLst>
              <a:rect l="T12" t="T13" r="T14" b="T15"/>
              <a:pathLst>
                <a:path w="217" h="184">
                  <a:moveTo>
                    <a:pt x="217" y="0"/>
                  </a:moveTo>
                  <a:lnTo>
                    <a:pt x="0" y="80"/>
                  </a:lnTo>
                  <a:lnTo>
                    <a:pt x="78" y="184"/>
                  </a:lnTo>
                  <a:lnTo>
                    <a:pt x="2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9" name="Group 112"/>
          <p:cNvGrpSpPr>
            <a:grpSpLocks/>
          </p:cNvGrpSpPr>
          <p:nvPr/>
        </p:nvGrpSpPr>
        <p:grpSpPr bwMode="auto">
          <a:xfrm>
            <a:off x="5789588" y="2979738"/>
            <a:ext cx="719137" cy="1562100"/>
            <a:chOff x="3523" y="1965"/>
            <a:chExt cx="453" cy="984"/>
          </a:xfrm>
        </p:grpSpPr>
        <p:sp>
          <p:nvSpPr>
            <p:cNvPr id="60" name="Rectangle 113"/>
            <p:cNvSpPr>
              <a:spLocks noChangeArrowheads="1"/>
            </p:cNvSpPr>
            <p:nvPr/>
          </p:nvSpPr>
          <p:spPr bwMode="auto">
            <a:xfrm>
              <a:off x="3523" y="1965"/>
              <a:ext cx="453" cy="202"/>
            </a:xfrm>
            <a:prstGeom prst="rect">
              <a:avLst/>
            </a:prstGeom>
            <a:solidFill>
              <a:srgbClr val="1E14EC"/>
            </a:solidFill>
            <a:ln w="23813">
              <a:solidFill>
                <a:srgbClr val="000000"/>
              </a:solidFill>
              <a:miter lim="800000"/>
              <a:headEnd/>
              <a:tailEnd/>
            </a:ln>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61" name="Rectangle 114"/>
            <p:cNvSpPr>
              <a:spLocks noChangeArrowheads="1"/>
            </p:cNvSpPr>
            <p:nvPr/>
          </p:nvSpPr>
          <p:spPr bwMode="auto">
            <a:xfrm>
              <a:off x="3523" y="2356"/>
              <a:ext cx="453" cy="202"/>
            </a:xfrm>
            <a:prstGeom prst="rect">
              <a:avLst/>
            </a:prstGeom>
            <a:solidFill>
              <a:srgbClr val="1E14EC"/>
            </a:solidFill>
            <a:ln w="23813">
              <a:solidFill>
                <a:srgbClr val="000000"/>
              </a:solidFill>
              <a:miter lim="800000"/>
              <a:headEnd/>
              <a:tailEnd/>
            </a:ln>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62" name="Rectangle 115"/>
            <p:cNvSpPr>
              <a:spLocks noChangeArrowheads="1"/>
            </p:cNvSpPr>
            <p:nvPr/>
          </p:nvSpPr>
          <p:spPr bwMode="auto">
            <a:xfrm>
              <a:off x="3523" y="2747"/>
              <a:ext cx="453" cy="202"/>
            </a:xfrm>
            <a:prstGeom prst="rect">
              <a:avLst/>
            </a:prstGeom>
            <a:solidFill>
              <a:srgbClr val="1E14EC"/>
            </a:solidFill>
            <a:ln w="23813">
              <a:solidFill>
                <a:srgbClr val="000000"/>
              </a:solidFill>
              <a:miter lim="800000"/>
              <a:headEnd/>
              <a:tailEnd/>
            </a:ln>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grpSp>
      <p:grpSp>
        <p:nvGrpSpPr>
          <p:cNvPr id="63" name="Group 116"/>
          <p:cNvGrpSpPr>
            <a:grpSpLocks/>
          </p:cNvGrpSpPr>
          <p:nvPr/>
        </p:nvGrpSpPr>
        <p:grpSpPr bwMode="auto">
          <a:xfrm>
            <a:off x="5051400" y="3633788"/>
            <a:ext cx="727075" cy="209550"/>
            <a:chOff x="3058" y="2377"/>
            <a:chExt cx="458" cy="132"/>
          </a:xfrm>
        </p:grpSpPr>
        <p:sp>
          <p:nvSpPr>
            <p:cNvPr id="64" name="Line 117"/>
            <p:cNvSpPr>
              <a:spLocks noChangeShapeType="1"/>
            </p:cNvSpPr>
            <p:nvPr/>
          </p:nvSpPr>
          <p:spPr bwMode="auto">
            <a:xfrm>
              <a:off x="3058" y="2444"/>
              <a:ext cx="346"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Freeform 118"/>
            <p:cNvSpPr>
              <a:spLocks/>
            </p:cNvSpPr>
            <p:nvPr/>
          </p:nvSpPr>
          <p:spPr bwMode="auto">
            <a:xfrm>
              <a:off x="3294" y="2377"/>
              <a:ext cx="222" cy="132"/>
            </a:xfrm>
            <a:custGeom>
              <a:avLst/>
              <a:gdLst>
                <a:gd name="T0" fmla="*/ 222 w 222"/>
                <a:gd name="T1" fmla="*/ 67 h 132"/>
                <a:gd name="T2" fmla="*/ 0 w 222"/>
                <a:gd name="T3" fmla="*/ 0 h 132"/>
                <a:gd name="T4" fmla="*/ 0 w 222"/>
                <a:gd name="T5" fmla="*/ 132 h 132"/>
                <a:gd name="T6" fmla="*/ 222 w 222"/>
                <a:gd name="T7" fmla="*/ 67 h 132"/>
                <a:gd name="T8" fmla="*/ 0 60000 65536"/>
                <a:gd name="T9" fmla="*/ 0 60000 65536"/>
                <a:gd name="T10" fmla="*/ 0 60000 65536"/>
                <a:gd name="T11" fmla="*/ 0 60000 65536"/>
                <a:gd name="T12" fmla="*/ 0 w 222"/>
                <a:gd name="T13" fmla="*/ 0 h 132"/>
                <a:gd name="T14" fmla="*/ 222 w 222"/>
                <a:gd name="T15" fmla="*/ 132 h 132"/>
              </a:gdLst>
              <a:ahLst/>
              <a:cxnLst>
                <a:cxn ang="T8">
                  <a:pos x="T0" y="T1"/>
                </a:cxn>
                <a:cxn ang="T9">
                  <a:pos x="T2" y="T3"/>
                </a:cxn>
                <a:cxn ang="T10">
                  <a:pos x="T4" y="T5"/>
                </a:cxn>
                <a:cxn ang="T11">
                  <a:pos x="T6" y="T7"/>
                </a:cxn>
              </a:cxnLst>
              <a:rect l="T12" t="T13" r="T14" b="T15"/>
              <a:pathLst>
                <a:path w="222" h="132">
                  <a:moveTo>
                    <a:pt x="222" y="67"/>
                  </a:moveTo>
                  <a:lnTo>
                    <a:pt x="0" y="0"/>
                  </a:lnTo>
                  <a:lnTo>
                    <a:pt x="0" y="132"/>
                  </a:lnTo>
                  <a:lnTo>
                    <a:pt x="222"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6" name="Group 119"/>
          <p:cNvGrpSpPr>
            <a:grpSpLocks/>
          </p:cNvGrpSpPr>
          <p:nvPr/>
        </p:nvGrpSpPr>
        <p:grpSpPr bwMode="auto">
          <a:xfrm>
            <a:off x="4262413" y="3022600"/>
            <a:ext cx="1524000" cy="238125"/>
            <a:chOff x="2561" y="1992"/>
            <a:chExt cx="960" cy="150"/>
          </a:xfrm>
        </p:grpSpPr>
        <p:sp>
          <p:nvSpPr>
            <p:cNvPr id="67" name="Freeform 120"/>
            <p:cNvSpPr>
              <a:spLocks/>
            </p:cNvSpPr>
            <p:nvPr/>
          </p:nvSpPr>
          <p:spPr bwMode="auto">
            <a:xfrm>
              <a:off x="2561" y="2059"/>
              <a:ext cx="752" cy="83"/>
            </a:xfrm>
            <a:custGeom>
              <a:avLst/>
              <a:gdLst>
                <a:gd name="T0" fmla="*/ 0 w 752"/>
                <a:gd name="T1" fmla="*/ 83 h 83"/>
                <a:gd name="T2" fmla="*/ 268 w 752"/>
                <a:gd name="T3" fmla="*/ 0 h 83"/>
                <a:gd name="T4" fmla="*/ 752 w 752"/>
                <a:gd name="T5" fmla="*/ 0 h 83"/>
                <a:gd name="T6" fmla="*/ 0 60000 65536"/>
                <a:gd name="T7" fmla="*/ 0 60000 65536"/>
                <a:gd name="T8" fmla="*/ 0 60000 65536"/>
                <a:gd name="T9" fmla="*/ 0 w 752"/>
                <a:gd name="T10" fmla="*/ 0 h 83"/>
                <a:gd name="T11" fmla="*/ 752 w 752"/>
                <a:gd name="T12" fmla="*/ 83 h 83"/>
              </a:gdLst>
              <a:ahLst/>
              <a:cxnLst>
                <a:cxn ang="T6">
                  <a:pos x="T0" y="T1"/>
                </a:cxn>
                <a:cxn ang="T7">
                  <a:pos x="T2" y="T3"/>
                </a:cxn>
                <a:cxn ang="T8">
                  <a:pos x="T4" y="T5"/>
                </a:cxn>
              </a:cxnLst>
              <a:rect l="T9" t="T10" r="T11" b="T12"/>
              <a:pathLst>
                <a:path w="752" h="83">
                  <a:moveTo>
                    <a:pt x="0" y="83"/>
                  </a:moveTo>
                  <a:lnTo>
                    <a:pt x="268" y="0"/>
                  </a:lnTo>
                  <a:lnTo>
                    <a:pt x="752" y="0"/>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 name="Freeform 121"/>
            <p:cNvSpPr>
              <a:spLocks/>
            </p:cNvSpPr>
            <p:nvPr/>
          </p:nvSpPr>
          <p:spPr bwMode="auto">
            <a:xfrm>
              <a:off x="3300" y="1992"/>
              <a:ext cx="221" cy="132"/>
            </a:xfrm>
            <a:custGeom>
              <a:avLst/>
              <a:gdLst>
                <a:gd name="T0" fmla="*/ 221 w 221"/>
                <a:gd name="T1" fmla="*/ 67 h 132"/>
                <a:gd name="T2" fmla="*/ 0 w 221"/>
                <a:gd name="T3" fmla="*/ 0 h 132"/>
                <a:gd name="T4" fmla="*/ 0 w 221"/>
                <a:gd name="T5" fmla="*/ 132 h 132"/>
                <a:gd name="T6" fmla="*/ 221 w 221"/>
                <a:gd name="T7" fmla="*/ 67 h 132"/>
                <a:gd name="T8" fmla="*/ 0 60000 65536"/>
                <a:gd name="T9" fmla="*/ 0 60000 65536"/>
                <a:gd name="T10" fmla="*/ 0 60000 65536"/>
                <a:gd name="T11" fmla="*/ 0 60000 65536"/>
                <a:gd name="T12" fmla="*/ 0 w 221"/>
                <a:gd name="T13" fmla="*/ 0 h 132"/>
                <a:gd name="T14" fmla="*/ 221 w 221"/>
                <a:gd name="T15" fmla="*/ 132 h 132"/>
              </a:gdLst>
              <a:ahLst/>
              <a:cxnLst>
                <a:cxn ang="T8">
                  <a:pos x="T0" y="T1"/>
                </a:cxn>
                <a:cxn ang="T9">
                  <a:pos x="T2" y="T3"/>
                </a:cxn>
                <a:cxn ang="T10">
                  <a:pos x="T4" y="T5"/>
                </a:cxn>
                <a:cxn ang="T11">
                  <a:pos x="T6" y="T7"/>
                </a:cxn>
              </a:cxnLst>
              <a:rect l="T12" t="T13" r="T14" b="T15"/>
              <a:pathLst>
                <a:path w="221" h="132">
                  <a:moveTo>
                    <a:pt x="221" y="67"/>
                  </a:moveTo>
                  <a:lnTo>
                    <a:pt x="0" y="0"/>
                  </a:lnTo>
                  <a:lnTo>
                    <a:pt x="0" y="132"/>
                  </a:lnTo>
                  <a:lnTo>
                    <a:pt x="22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9" name="Group 122"/>
          <p:cNvGrpSpPr>
            <a:grpSpLocks/>
          </p:cNvGrpSpPr>
          <p:nvPr/>
        </p:nvGrpSpPr>
        <p:grpSpPr bwMode="auto">
          <a:xfrm>
            <a:off x="4271938" y="4241800"/>
            <a:ext cx="1524000" cy="236538"/>
            <a:chOff x="2567" y="2760"/>
            <a:chExt cx="960" cy="149"/>
          </a:xfrm>
        </p:grpSpPr>
        <p:sp>
          <p:nvSpPr>
            <p:cNvPr id="70" name="Freeform 123"/>
            <p:cNvSpPr>
              <a:spLocks/>
            </p:cNvSpPr>
            <p:nvPr/>
          </p:nvSpPr>
          <p:spPr bwMode="auto">
            <a:xfrm>
              <a:off x="2567" y="2760"/>
              <a:ext cx="752" cy="84"/>
            </a:xfrm>
            <a:custGeom>
              <a:avLst/>
              <a:gdLst>
                <a:gd name="T0" fmla="*/ 0 w 752"/>
                <a:gd name="T1" fmla="*/ 0 h 84"/>
                <a:gd name="T2" fmla="*/ 268 w 752"/>
                <a:gd name="T3" fmla="*/ 84 h 84"/>
                <a:gd name="T4" fmla="*/ 752 w 752"/>
                <a:gd name="T5" fmla="*/ 84 h 84"/>
                <a:gd name="T6" fmla="*/ 0 60000 65536"/>
                <a:gd name="T7" fmla="*/ 0 60000 65536"/>
                <a:gd name="T8" fmla="*/ 0 60000 65536"/>
                <a:gd name="T9" fmla="*/ 0 w 752"/>
                <a:gd name="T10" fmla="*/ 0 h 84"/>
                <a:gd name="T11" fmla="*/ 752 w 752"/>
                <a:gd name="T12" fmla="*/ 84 h 84"/>
              </a:gdLst>
              <a:ahLst/>
              <a:cxnLst>
                <a:cxn ang="T6">
                  <a:pos x="T0" y="T1"/>
                </a:cxn>
                <a:cxn ang="T7">
                  <a:pos x="T2" y="T3"/>
                </a:cxn>
                <a:cxn ang="T8">
                  <a:pos x="T4" y="T5"/>
                </a:cxn>
              </a:cxnLst>
              <a:rect l="T9" t="T10" r="T11" b="T12"/>
              <a:pathLst>
                <a:path w="752" h="84">
                  <a:moveTo>
                    <a:pt x="0" y="0"/>
                  </a:moveTo>
                  <a:lnTo>
                    <a:pt x="268" y="84"/>
                  </a:lnTo>
                  <a:lnTo>
                    <a:pt x="752" y="84"/>
                  </a:lnTo>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 name="Freeform 124"/>
            <p:cNvSpPr>
              <a:spLocks/>
            </p:cNvSpPr>
            <p:nvPr/>
          </p:nvSpPr>
          <p:spPr bwMode="auto">
            <a:xfrm>
              <a:off x="3306" y="2777"/>
              <a:ext cx="221" cy="132"/>
            </a:xfrm>
            <a:custGeom>
              <a:avLst/>
              <a:gdLst>
                <a:gd name="T0" fmla="*/ 221 w 221"/>
                <a:gd name="T1" fmla="*/ 67 h 132"/>
                <a:gd name="T2" fmla="*/ 0 w 221"/>
                <a:gd name="T3" fmla="*/ 0 h 132"/>
                <a:gd name="T4" fmla="*/ 0 w 221"/>
                <a:gd name="T5" fmla="*/ 132 h 132"/>
                <a:gd name="T6" fmla="*/ 221 w 221"/>
                <a:gd name="T7" fmla="*/ 67 h 132"/>
                <a:gd name="T8" fmla="*/ 0 60000 65536"/>
                <a:gd name="T9" fmla="*/ 0 60000 65536"/>
                <a:gd name="T10" fmla="*/ 0 60000 65536"/>
                <a:gd name="T11" fmla="*/ 0 60000 65536"/>
                <a:gd name="T12" fmla="*/ 0 w 221"/>
                <a:gd name="T13" fmla="*/ 0 h 132"/>
                <a:gd name="T14" fmla="*/ 221 w 221"/>
                <a:gd name="T15" fmla="*/ 132 h 132"/>
              </a:gdLst>
              <a:ahLst/>
              <a:cxnLst>
                <a:cxn ang="T8">
                  <a:pos x="T0" y="T1"/>
                </a:cxn>
                <a:cxn ang="T9">
                  <a:pos x="T2" y="T3"/>
                </a:cxn>
                <a:cxn ang="T10">
                  <a:pos x="T4" y="T5"/>
                </a:cxn>
                <a:cxn ang="T11">
                  <a:pos x="T6" y="T7"/>
                </a:cxn>
              </a:cxnLst>
              <a:rect l="T12" t="T13" r="T14" b="T15"/>
              <a:pathLst>
                <a:path w="221" h="132">
                  <a:moveTo>
                    <a:pt x="221" y="67"/>
                  </a:moveTo>
                  <a:lnTo>
                    <a:pt x="0" y="0"/>
                  </a:lnTo>
                  <a:lnTo>
                    <a:pt x="0" y="132"/>
                  </a:lnTo>
                  <a:lnTo>
                    <a:pt x="22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2" name="Rectangle 125"/>
          <p:cNvSpPr>
            <a:spLocks noChangeArrowheads="1"/>
          </p:cNvSpPr>
          <p:nvPr/>
        </p:nvSpPr>
        <p:spPr bwMode="auto">
          <a:xfrm>
            <a:off x="3775050" y="2668588"/>
            <a:ext cx="971550" cy="288925"/>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900" b="1">
                <a:latin typeface="仿宋_GB2312" pitchFamily="49" charset="-122"/>
              </a:rPr>
              <a:t>信息加工</a:t>
            </a:r>
            <a:endParaRPr lang="zh-CN" altLang="en-US" sz="2000" b="1">
              <a:latin typeface="仿宋_GB2312" pitchFamily="49" charset="-122"/>
            </a:endParaRPr>
          </a:p>
        </p:txBody>
      </p:sp>
      <p:sp>
        <p:nvSpPr>
          <p:cNvPr id="73" name="Rectangle 126"/>
          <p:cNvSpPr>
            <a:spLocks noChangeArrowheads="1"/>
          </p:cNvSpPr>
          <p:nvPr/>
        </p:nvSpPr>
        <p:spPr bwMode="auto">
          <a:xfrm>
            <a:off x="1782738" y="2668588"/>
            <a:ext cx="728662" cy="288925"/>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900" b="1">
                <a:latin typeface="仿宋_GB2312" pitchFamily="49" charset="-122"/>
              </a:rPr>
              <a:t>感受器</a:t>
            </a:r>
            <a:endParaRPr lang="zh-CN" altLang="en-US" sz="2000" b="1">
              <a:latin typeface="仿宋_GB2312" pitchFamily="49" charset="-122"/>
            </a:endParaRPr>
          </a:p>
        </p:txBody>
      </p:sp>
      <p:sp>
        <p:nvSpPr>
          <p:cNvPr id="74" name="Rectangle 127"/>
          <p:cNvSpPr>
            <a:spLocks noChangeArrowheads="1"/>
          </p:cNvSpPr>
          <p:nvPr/>
        </p:nvSpPr>
        <p:spPr bwMode="auto">
          <a:xfrm>
            <a:off x="2544738" y="2882900"/>
            <a:ext cx="165100" cy="274638"/>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en-US" altLang="zh-CN" sz="1800" b="1">
                <a:solidFill>
                  <a:srgbClr val="F20C00"/>
                </a:solidFill>
                <a:ea typeface="华文中宋" pitchFamily="2" charset="-122"/>
              </a:rPr>
              <a:t>R</a:t>
            </a:r>
            <a:endParaRPr lang="en-US" altLang="zh-CN" sz="2000" b="1">
              <a:solidFill>
                <a:srgbClr val="F20C00"/>
              </a:solidFill>
              <a:ea typeface="华文中宋" pitchFamily="2" charset="-122"/>
            </a:endParaRPr>
          </a:p>
        </p:txBody>
      </p:sp>
      <p:sp>
        <p:nvSpPr>
          <p:cNvPr id="75" name="Rectangle 128"/>
          <p:cNvSpPr>
            <a:spLocks noChangeArrowheads="1"/>
          </p:cNvSpPr>
          <p:nvPr/>
        </p:nvSpPr>
        <p:spPr bwMode="auto">
          <a:xfrm>
            <a:off x="2544738" y="3503613"/>
            <a:ext cx="177800" cy="274637"/>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en-US" altLang="zh-CN" sz="1800" b="1">
                <a:solidFill>
                  <a:srgbClr val="00CC00"/>
                </a:solidFill>
                <a:ea typeface="华文中宋" pitchFamily="2" charset="-122"/>
              </a:rPr>
              <a:t>G</a:t>
            </a:r>
            <a:endParaRPr lang="en-US" altLang="zh-CN" sz="2000" b="1">
              <a:solidFill>
                <a:srgbClr val="00CC00"/>
              </a:solidFill>
              <a:ea typeface="华文中宋" pitchFamily="2" charset="-122"/>
            </a:endParaRPr>
          </a:p>
        </p:txBody>
      </p:sp>
      <p:sp>
        <p:nvSpPr>
          <p:cNvPr id="76" name="Rectangle 129"/>
          <p:cNvSpPr>
            <a:spLocks noChangeArrowheads="1"/>
          </p:cNvSpPr>
          <p:nvPr/>
        </p:nvSpPr>
        <p:spPr bwMode="auto">
          <a:xfrm>
            <a:off x="2544738" y="4141788"/>
            <a:ext cx="152400" cy="274637"/>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en-US" altLang="zh-CN" sz="1800" b="1">
                <a:solidFill>
                  <a:srgbClr val="0000FF"/>
                </a:solidFill>
                <a:ea typeface="华文中宋" pitchFamily="2" charset="-122"/>
              </a:rPr>
              <a:t>B</a:t>
            </a:r>
            <a:endParaRPr lang="en-US" altLang="zh-CN" sz="2000" b="1">
              <a:solidFill>
                <a:srgbClr val="0000FF"/>
              </a:solidFill>
              <a:ea typeface="华文中宋" pitchFamily="2" charset="-122"/>
            </a:endParaRPr>
          </a:p>
        </p:txBody>
      </p:sp>
      <p:sp>
        <p:nvSpPr>
          <p:cNvPr id="77" name="Rectangle 130"/>
          <p:cNvSpPr>
            <a:spLocks noChangeArrowheads="1"/>
          </p:cNvSpPr>
          <p:nvPr/>
        </p:nvSpPr>
        <p:spPr bwMode="auto">
          <a:xfrm>
            <a:off x="5964213" y="3016250"/>
            <a:ext cx="393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r>
              <a:rPr lang="en-US" altLang="zh-CN" sz="1800">
                <a:ea typeface="华文中宋" pitchFamily="2" charset="-122"/>
              </a:rPr>
              <a:t>R-G</a:t>
            </a:r>
            <a:endParaRPr lang="en-US" altLang="zh-CN" sz="2000">
              <a:ea typeface="华文中宋" pitchFamily="2" charset="-122"/>
            </a:endParaRPr>
          </a:p>
        </p:txBody>
      </p:sp>
      <p:sp>
        <p:nvSpPr>
          <p:cNvPr id="78" name="Rectangle 131"/>
          <p:cNvSpPr>
            <a:spLocks noChangeArrowheads="1"/>
          </p:cNvSpPr>
          <p:nvPr/>
        </p:nvSpPr>
        <p:spPr bwMode="auto">
          <a:xfrm>
            <a:off x="5867375" y="3627438"/>
            <a:ext cx="558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r>
              <a:rPr lang="en-US" altLang="zh-CN" sz="1800">
                <a:ea typeface="华文中宋" pitchFamily="2" charset="-122"/>
              </a:rPr>
              <a:t>W-Bk</a:t>
            </a:r>
            <a:endParaRPr lang="en-US" altLang="zh-CN" sz="2000">
              <a:ea typeface="华文中宋" pitchFamily="2" charset="-122"/>
            </a:endParaRPr>
          </a:p>
        </p:txBody>
      </p:sp>
      <p:sp>
        <p:nvSpPr>
          <p:cNvPr id="79" name="Rectangle 132"/>
          <p:cNvSpPr>
            <a:spLocks noChangeArrowheads="1"/>
          </p:cNvSpPr>
          <p:nvPr/>
        </p:nvSpPr>
        <p:spPr bwMode="auto">
          <a:xfrm>
            <a:off x="5964213" y="4248150"/>
            <a:ext cx="393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r>
              <a:rPr lang="en-US" altLang="zh-CN" sz="1800">
                <a:ea typeface="华文中宋" pitchFamily="2" charset="-122"/>
              </a:rPr>
              <a:t>Y-B</a:t>
            </a:r>
            <a:endParaRPr lang="en-US" altLang="zh-CN" sz="2000">
              <a:ea typeface="华文中宋" pitchFamily="2" charset="-122"/>
            </a:endParaRPr>
          </a:p>
        </p:txBody>
      </p:sp>
      <p:grpSp>
        <p:nvGrpSpPr>
          <p:cNvPr id="80" name="Group 133"/>
          <p:cNvGrpSpPr>
            <a:grpSpLocks/>
          </p:cNvGrpSpPr>
          <p:nvPr/>
        </p:nvGrpSpPr>
        <p:grpSpPr bwMode="auto">
          <a:xfrm>
            <a:off x="6486500" y="3022600"/>
            <a:ext cx="1179513" cy="1449388"/>
            <a:chOff x="3962" y="1992"/>
            <a:chExt cx="743" cy="913"/>
          </a:xfrm>
        </p:grpSpPr>
        <p:grpSp>
          <p:nvGrpSpPr>
            <p:cNvPr id="81" name="Group 134"/>
            <p:cNvGrpSpPr>
              <a:grpSpLocks/>
            </p:cNvGrpSpPr>
            <p:nvPr/>
          </p:nvGrpSpPr>
          <p:grpSpPr bwMode="auto">
            <a:xfrm>
              <a:off x="3962" y="1992"/>
              <a:ext cx="743" cy="132"/>
              <a:chOff x="3962" y="1992"/>
              <a:chExt cx="743" cy="132"/>
            </a:xfrm>
          </p:grpSpPr>
          <p:sp>
            <p:nvSpPr>
              <p:cNvPr id="88" name="Line 135"/>
              <p:cNvSpPr>
                <a:spLocks noChangeShapeType="1"/>
              </p:cNvSpPr>
              <p:nvPr/>
            </p:nvSpPr>
            <p:spPr bwMode="auto">
              <a:xfrm>
                <a:off x="3962" y="2059"/>
                <a:ext cx="63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Freeform 136"/>
              <p:cNvSpPr>
                <a:spLocks/>
              </p:cNvSpPr>
              <p:nvPr/>
            </p:nvSpPr>
            <p:spPr bwMode="auto">
              <a:xfrm>
                <a:off x="4485" y="1992"/>
                <a:ext cx="220" cy="132"/>
              </a:xfrm>
              <a:custGeom>
                <a:avLst/>
                <a:gdLst>
                  <a:gd name="T0" fmla="*/ 220 w 220"/>
                  <a:gd name="T1" fmla="*/ 67 h 132"/>
                  <a:gd name="T2" fmla="*/ 0 w 220"/>
                  <a:gd name="T3" fmla="*/ 0 h 132"/>
                  <a:gd name="T4" fmla="*/ 0 w 220"/>
                  <a:gd name="T5" fmla="*/ 132 h 132"/>
                  <a:gd name="T6" fmla="*/ 220 w 220"/>
                  <a:gd name="T7" fmla="*/ 67 h 132"/>
                  <a:gd name="T8" fmla="*/ 0 60000 65536"/>
                  <a:gd name="T9" fmla="*/ 0 60000 65536"/>
                  <a:gd name="T10" fmla="*/ 0 60000 65536"/>
                  <a:gd name="T11" fmla="*/ 0 60000 65536"/>
                  <a:gd name="T12" fmla="*/ 0 w 220"/>
                  <a:gd name="T13" fmla="*/ 0 h 132"/>
                  <a:gd name="T14" fmla="*/ 220 w 220"/>
                  <a:gd name="T15" fmla="*/ 132 h 132"/>
                </a:gdLst>
                <a:ahLst/>
                <a:cxnLst>
                  <a:cxn ang="T8">
                    <a:pos x="T0" y="T1"/>
                  </a:cxn>
                  <a:cxn ang="T9">
                    <a:pos x="T2" y="T3"/>
                  </a:cxn>
                  <a:cxn ang="T10">
                    <a:pos x="T4" y="T5"/>
                  </a:cxn>
                  <a:cxn ang="T11">
                    <a:pos x="T6" y="T7"/>
                  </a:cxn>
                </a:cxnLst>
                <a:rect l="T12" t="T13" r="T14" b="T15"/>
                <a:pathLst>
                  <a:path w="220" h="132">
                    <a:moveTo>
                      <a:pt x="220" y="67"/>
                    </a:moveTo>
                    <a:lnTo>
                      <a:pt x="0" y="0"/>
                    </a:lnTo>
                    <a:lnTo>
                      <a:pt x="0" y="132"/>
                    </a:lnTo>
                    <a:lnTo>
                      <a:pt x="22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2" name="Group 137"/>
            <p:cNvGrpSpPr>
              <a:grpSpLocks/>
            </p:cNvGrpSpPr>
            <p:nvPr/>
          </p:nvGrpSpPr>
          <p:grpSpPr bwMode="auto">
            <a:xfrm>
              <a:off x="3962" y="2383"/>
              <a:ext cx="743" cy="132"/>
              <a:chOff x="3962" y="2383"/>
              <a:chExt cx="743" cy="132"/>
            </a:xfrm>
          </p:grpSpPr>
          <p:sp>
            <p:nvSpPr>
              <p:cNvPr id="86" name="Line 138"/>
              <p:cNvSpPr>
                <a:spLocks noChangeShapeType="1"/>
              </p:cNvSpPr>
              <p:nvPr/>
            </p:nvSpPr>
            <p:spPr bwMode="auto">
              <a:xfrm>
                <a:off x="3962" y="2449"/>
                <a:ext cx="63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Freeform 139"/>
              <p:cNvSpPr>
                <a:spLocks/>
              </p:cNvSpPr>
              <p:nvPr/>
            </p:nvSpPr>
            <p:spPr bwMode="auto">
              <a:xfrm>
                <a:off x="4485" y="2383"/>
                <a:ext cx="220" cy="132"/>
              </a:xfrm>
              <a:custGeom>
                <a:avLst/>
                <a:gdLst>
                  <a:gd name="T0" fmla="*/ 220 w 220"/>
                  <a:gd name="T1" fmla="*/ 66 h 132"/>
                  <a:gd name="T2" fmla="*/ 0 w 220"/>
                  <a:gd name="T3" fmla="*/ 0 h 132"/>
                  <a:gd name="T4" fmla="*/ 0 w 220"/>
                  <a:gd name="T5" fmla="*/ 132 h 132"/>
                  <a:gd name="T6" fmla="*/ 220 w 220"/>
                  <a:gd name="T7" fmla="*/ 66 h 132"/>
                  <a:gd name="T8" fmla="*/ 0 60000 65536"/>
                  <a:gd name="T9" fmla="*/ 0 60000 65536"/>
                  <a:gd name="T10" fmla="*/ 0 60000 65536"/>
                  <a:gd name="T11" fmla="*/ 0 60000 65536"/>
                  <a:gd name="T12" fmla="*/ 0 w 220"/>
                  <a:gd name="T13" fmla="*/ 0 h 132"/>
                  <a:gd name="T14" fmla="*/ 220 w 220"/>
                  <a:gd name="T15" fmla="*/ 132 h 132"/>
                </a:gdLst>
                <a:ahLst/>
                <a:cxnLst>
                  <a:cxn ang="T8">
                    <a:pos x="T0" y="T1"/>
                  </a:cxn>
                  <a:cxn ang="T9">
                    <a:pos x="T2" y="T3"/>
                  </a:cxn>
                  <a:cxn ang="T10">
                    <a:pos x="T4" y="T5"/>
                  </a:cxn>
                  <a:cxn ang="T11">
                    <a:pos x="T6" y="T7"/>
                  </a:cxn>
                </a:cxnLst>
                <a:rect l="T12" t="T13" r="T14" b="T15"/>
                <a:pathLst>
                  <a:path w="220" h="132">
                    <a:moveTo>
                      <a:pt x="220" y="66"/>
                    </a:moveTo>
                    <a:lnTo>
                      <a:pt x="0" y="0"/>
                    </a:lnTo>
                    <a:lnTo>
                      <a:pt x="0" y="132"/>
                    </a:lnTo>
                    <a:lnTo>
                      <a:pt x="22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3" name="Group 140"/>
            <p:cNvGrpSpPr>
              <a:grpSpLocks/>
            </p:cNvGrpSpPr>
            <p:nvPr/>
          </p:nvGrpSpPr>
          <p:grpSpPr bwMode="auto">
            <a:xfrm>
              <a:off x="3962" y="2773"/>
              <a:ext cx="743" cy="132"/>
              <a:chOff x="3962" y="2773"/>
              <a:chExt cx="743" cy="132"/>
            </a:xfrm>
          </p:grpSpPr>
          <p:sp>
            <p:nvSpPr>
              <p:cNvPr id="84" name="Line 141"/>
              <p:cNvSpPr>
                <a:spLocks noChangeShapeType="1"/>
              </p:cNvSpPr>
              <p:nvPr/>
            </p:nvSpPr>
            <p:spPr bwMode="auto">
              <a:xfrm>
                <a:off x="3962" y="2840"/>
                <a:ext cx="63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Freeform 142"/>
              <p:cNvSpPr>
                <a:spLocks/>
              </p:cNvSpPr>
              <p:nvPr/>
            </p:nvSpPr>
            <p:spPr bwMode="auto">
              <a:xfrm>
                <a:off x="4485" y="2773"/>
                <a:ext cx="220" cy="132"/>
              </a:xfrm>
              <a:custGeom>
                <a:avLst/>
                <a:gdLst>
                  <a:gd name="T0" fmla="*/ 220 w 220"/>
                  <a:gd name="T1" fmla="*/ 67 h 132"/>
                  <a:gd name="T2" fmla="*/ 0 w 220"/>
                  <a:gd name="T3" fmla="*/ 0 h 132"/>
                  <a:gd name="T4" fmla="*/ 0 w 220"/>
                  <a:gd name="T5" fmla="*/ 132 h 132"/>
                  <a:gd name="T6" fmla="*/ 220 w 220"/>
                  <a:gd name="T7" fmla="*/ 67 h 132"/>
                  <a:gd name="T8" fmla="*/ 0 60000 65536"/>
                  <a:gd name="T9" fmla="*/ 0 60000 65536"/>
                  <a:gd name="T10" fmla="*/ 0 60000 65536"/>
                  <a:gd name="T11" fmla="*/ 0 60000 65536"/>
                  <a:gd name="T12" fmla="*/ 0 w 220"/>
                  <a:gd name="T13" fmla="*/ 0 h 132"/>
                  <a:gd name="T14" fmla="*/ 220 w 220"/>
                  <a:gd name="T15" fmla="*/ 132 h 132"/>
                </a:gdLst>
                <a:ahLst/>
                <a:cxnLst>
                  <a:cxn ang="T8">
                    <a:pos x="T0" y="T1"/>
                  </a:cxn>
                  <a:cxn ang="T9">
                    <a:pos x="T2" y="T3"/>
                  </a:cxn>
                  <a:cxn ang="T10">
                    <a:pos x="T4" y="T5"/>
                  </a:cxn>
                  <a:cxn ang="T11">
                    <a:pos x="T6" y="T7"/>
                  </a:cxn>
                </a:cxnLst>
                <a:rect l="T12" t="T13" r="T14" b="T15"/>
                <a:pathLst>
                  <a:path w="220" h="132">
                    <a:moveTo>
                      <a:pt x="220" y="67"/>
                    </a:moveTo>
                    <a:lnTo>
                      <a:pt x="0" y="0"/>
                    </a:lnTo>
                    <a:lnTo>
                      <a:pt x="0" y="132"/>
                    </a:lnTo>
                    <a:lnTo>
                      <a:pt x="22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90" name="Rectangle 143"/>
          <p:cNvSpPr>
            <a:spLocks noChangeArrowheads="1"/>
          </p:cNvSpPr>
          <p:nvPr/>
        </p:nvSpPr>
        <p:spPr bwMode="auto">
          <a:xfrm>
            <a:off x="6389663" y="2433638"/>
            <a:ext cx="1214437" cy="288925"/>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900" b="1">
                <a:latin typeface="仿宋_GB2312" pitchFamily="49" charset="-122"/>
              </a:rPr>
              <a:t>去大脑中枢</a:t>
            </a:r>
            <a:endParaRPr lang="zh-CN" altLang="en-US" sz="2000" b="1">
              <a:latin typeface="仿宋_GB2312" pitchFamily="49" charset="-122"/>
            </a:endParaRPr>
          </a:p>
        </p:txBody>
      </p:sp>
      <p:sp>
        <p:nvSpPr>
          <p:cNvPr id="91" name="Text Box 144"/>
          <p:cNvSpPr txBox="1">
            <a:spLocks noChangeArrowheads="1"/>
          </p:cNvSpPr>
          <p:nvPr/>
        </p:nvSpPr>
        <p:spPr bwMode="auto">
          <a:xfrm>
            <a:off x="2610767" y="5003800"/>
            <a:ext cx="4481513" cy="523220"/>
          </a:xfrm>
          <a:prstGeom prst="rect">
            <a:avLst/>
          </a:prstGeom>
          <a:noFill/>
          <a:ln w="9525">
            <a:noFill/>
            <a:miter lim="800000"/>
            <a:headEnd/>
            <a:tailEnd/>
          </a:ln>
          <a:effectLst>
            <a:outerShdw dist="17961" dir="2700000" algn="ctr" rotWithShape="0">
              <a:schemeClr val="bg2"/>
            </a:outerShdw>
          </a:effectLst>
        </p:spPr>
        <p:txBody>
          <a:bodyPr wrap="square">
            <a:spAutoFit/>
          </a:bodyPr>
          <a:lstStyle/>
          <a:p>
            <a:pPr>
              <a:spcBef>
                <a:spcPct val="50000"/>
              </a:spcBef>
              <a:defRPr/>
            </a:pPr>
            <a:r>
              <a:rPr lang="zh-CN" altLang="en-US" sz="2800" b="1" dirty="0">
                <a:latin typeface="仿宋_GB2312" pitchFamily="49" charset="-122"/>
              </a:rPr>
              <a:t>颜色视觉</a:t>
            </a:r>
            <a:r>
              <a:rPr lang="zh-CN" altLang="en-US" sz="2800" b="1" dirty="0" smtClean="0">
                <a:latin typeface="仿宋_GB2312" pitchFamily="49" charset="-122"/>
              </a:rPr>
              <a:t>机制传输模型 </a:t>
            </a:r>
            <a:endParaRPr lang="zh-CN" altLang="en-US" sz="2800" b="1" dirty="0">
              <a:latin typeface="仿宋_GB2312" pitchFamily="49" charset="-122"/>
            </a:endParaRPr>
          </a:p>
        </p:txBody>
      </p:sp>
    </p:spTree>
    <p:extLst>
      <p:ext uri="{BB962C8B-B14F-4D97-AF65-F5344CB8AC3E}">
        <p14:creationId xmlns:p14="http://schemas.microsoft.com/office/powerpoint/2010/main" val="5228068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r>
              <a:rPr lang="en-US" altLang="zh-CN" sz="3600" b="1" dirty="0" smtClean="0">
                <a:solidFill>
                  <a:schemeClr val="tx1">
                    <a:lumMod val="75000"/>
                  </a:schemeClr>
                </a:solidFill>
              </a:rPr>
              <a:t>-</a:t>
            </a:r>
            <a:r>
              <a:rPr lang="zh-CN" altLang="en-US" sz="3600" b="1" dirty="0" smtClean="0">
                <a:solidFill>
                  <a:schemeClr val="tx1">
                    <a:lumMod val="75000"/>
                  </a:schemeClr>
                </a:solidFill>
              </a:rPr>
              <a:t>大脑皮层</a:t>
            </a:r>
            <a:endParaRPr lang="zh-CN" altLang="en-US" sz="3600" b="1" dirty="0">
              <a:solidFill>
                <a:schemeClr val="tx1">
                  <a:lumMod val="75000"/>
                </a:schemeClr>
              </a:solidFill>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438" y="2354163"/>
            <a:ext cx="7477125" cy="3667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4245036" y="5085184"/>
            <a:ext cx="4572000" cy="646331"/>
          </a:xfrm>
          <a:prstGeom prst="rect">
            <a:avLst/>
          </a:prstGeom>
        </p:spPr>
        <p:txBody>
          <a:bodyPr>
            <a:spAutoFit/>
          </a:bodyPr>
          <a:lstStyle/>
          <a:p>
            <a:r>
              <a:rPr lang="zh-CN" altLang="en-US" b="1" dirty="0">
                <a:latin typeface="仿宋_GB2312" pitchFamily="49" charset="-122"/>
              </a:rPr>
              <a:t>一般而言</a:t>
            </a:r>
            <a:r>
              <a:rPr lang="zh-CN" altLang="en-US" b="1" dirty="0" smtClean="0">
                <a:latin typeface="仿宋_GB2312" pitchFamily="49" charset="-122"/>
              </a:rPr>
              <a:t>，大脑会将颜色转化为</a:t>
            </a:r>
            <a:r>
              <a:rPr lang="zh-CN" altLang="en-US" b="1" dirty="0" smtClean="0">
                <a:solidFill>
                  <a:srgbClr val="F20C00"/>
                </a:solidFill>
                <a:latin typeface="仿宋_GB2312" pitchFamily="49" charset="-122"/>
              </a:rPr>
              <a:t>明度、色调和色饱和度</a:t>
            </a:r>
            <a:r>
              <a:rPr lang="zh-CN" altLang="en-US" b="1" dirty="0" smtClean="0">
                <a:latin typeface="仿宋_GB2312" pitchFamily="49" charset="-122"/>
              </a:rPr>
              <a:t>三</a:t>
            </a:r>
            <a:r>
              <a:rPr lang="zh-CN" altLang="en-US" b="1" dirty="0">
                <a:latin typeface="仿宋_GB2312" pitchFamily="49" charset="-122"/>
              </a:rPr>
              <a:t>个基本属性。</a:t>
            </a:r>
            <a:endParaRPr lang="zh-CN" altLang="en-US" dirty="0"/>
          </a:p>
        </p:txBody>
      </p:sp>
    </p:spTree>
    <p:extLst>
      <p:ext uri="{BB962C8B-B14F-4D97-AF65-F5344CB8AC3E}">
        <p14:creationId xmlns:p14="http://schemas.microsoft.com/office/powerpoint/2010/main" val="17732044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r>
              <a:rPr lang="en-US" altLang="zh-CN" sz="3600" b="1" dirty="0" smtClean="0">
                <a:solidFill>
                  <a:schemeClr val="tx1">
                    <a:lumMod val="75000"/>
                  </a:schemeClr>
                </a:solidFill>
              </a:rPr>
              <a:t>-</a:t>
            </a:r>
            <a:r>
              <a:rPr lang="zh-CN" altLang="en-US" sz="3600" b="1" dirty="0" smtClean="0">
                <a:solidFill>
                  <a:schemeClr val="tx1">
                    <a:lumMod val="75000"/>
                  </a:schemeClr>
                </a:solidFill>
              </a:rPr>
              <a:t>大脑皮层</a:t>
            </a:r>
            <a:endParaRPr lang="zh-CN" altLang="en-US" sz="3600" b="1" dirty="0">
              <a:solidFill>
                <a:schemeClr val="tx1">
                  <a:lumMod val="75000"/>
                </a:schemeClr>
              </a:solidFill>
            </a:endParaRPr>
          </a:p>
        </p:txBody>
      </p:sp>
      <p:sp>
        <p:nvSpPr>
          <p:cNvPr id="6" name="Text Box 54"/>
          <p:cNvSpPr txBox="1">
            <a:spLocks noChangeArrowheads="1"/>
          </p:cNvSpPr>
          <p:nvPr/>
        </p:nvSpPr>
        <p:spPr bwMode="auto">
          <a:xfrm>
            <a:off x="1331640" y="2449513"/>
            <a:ext cx="6965950" cy="2723823"/>
          </a:xfrm>
          <a:prstGeom prst="rect">
            <a:avLst/>
          </a:prstGeom>
          <a:noFill/>
          <a:ln w="9525">
            <a:noFill/>
            <a:miter lim="800000"/>
            <a:headEnd/>
            <a:tailEnd/>
          </a:ln>
          <a:effectLst>
            <a:outerShdw dist="12700" algn="ctr" rotWithShape="0">
              <a:schemeClr val="bg2"/>
            </a:outerShdw>
          </a:effectLst>
        </p:spPr>
        <p:txBody>
          <a:bodyPr>
            <a:spAutoFit/>
          </a:bodyPr>
          <a:lstStyle/>
          <a:p>
            <a:pPr algn="just">
              <a:spcBef>
                <a:spcPct val="50000"/>
              </a:spcBef>
              <a:defRPr/>
            </a:pPr>
            <a:r>
              <a:rPr lang="zh-CN" altLang="en-US" sz="2800" b="1" dirty="0">
                <a:solidFill>
                  <a:srgbClr val="FF0000"/>
                </a:solidFill>
                <a:latin typeface="仿宋_GB2312" pitchFamily="49" charset="-122"/>
              </a:rPr>
              <a:t>色调（</a:t>
            </a:r>
            <a:r>
              <a:rPr lang="en-US" altLang="zh-CN" sz="2800" b="1" dirty="0">
                <a:solidFill>
                  <a:srgbClr val="FF0000"/>
                </a:solidFill>
                <a:latin typeface="仿宋_GB2312" pitchFamily="49" charset="-122"/>
              </a:rPr>
              <a:t>Hue</a:t>
            </a:r>
            <a:r>
              <a:rPr lang="zh-CN" altLang="en-US" sz="2800" b="1" dirty="0">
                <a:solidFill>
                  <a:srgbClr val="FF0000"/>
                </a:solidFill>
                <a:latin typeface="仿宋_GB2312" pitchFamily="49" charset="-122"/>
              </a:rPr>
              <a:t>）</a:t>
            </a:r>
            <a:r>
              <a:rPr lang="zh-CN" altLang="en-US" sz="2200" b="1" dirty="0">
                <a:solidFill>
                  <a:srgbClr val="4A2500"/>
                </a:solidFill>
                <a:latin typeface="仿宋_GB2312" pitchFamily="49" charset="-122"/>
              </a:rPr>
              <a:t>  </a:t>
            </a:r>
          </a:p>
          <a:p>
            <a:pPr algn="just">
              <a:spcBef>
                <a:spcPct val="50000"/>
              </a:spcBef>
              <a:defRPr/>
            </a:pPr>
            <a:r>
              <a:rPr lang="zh-CN" altLang="en-US" sz="2200" b="1" dirty="0">
                <a:solidFill>
                  <a:schemeClr val="tx1">
                    <a:lumMod val="75000"/>
                  </a:schemeClr>
                </a:solidFill>
                <a:latin typeface="仿宋_GB2312" pitchFamily="49" charset="-122"/>
              </a:rPr>
              <a:t>也称色</a:t>
            </a:r>
            <a:r>
              <a:rPr lang="en-US" altLang="zh-CN" sz="2200" b="1" dirty="0">
                <a:solidFill>
                  <a:schemeClr val="tx1">
                    <a:lumMod val="75000"/>
                  </a:schemeClr>
                </a:solidFill>
                <a:latin typeface="仿宋_GB2312" pitchFamily="49" charset="-122"/>
              </a:rPr>
              <a:t>(</a:t>
            </a:r>
            <a:r>
              <a:rPr lang="zh-CN" altLang="en-US" sz="2200" b="1" dirty="0">
                <a:solidFill>
                  <a:schemeClr val="tx1">
                    <a:lumMod val="75000"/>
                  </a:schemeClr>
                </a:solidFill>
                <a:latin typeface="仿宋_GB2312" pitchFamily="49" charset="-122"/>
              </a:rPr>
              <a:t>彩</a:t>
            </a:r>
            <a:r>
              <a:rPr lang="en-US" altLang="zh-CN" sz="2200" b="1" dirty="0">
                <a:solidFill>
                  <a:schemeClr val="tx1">
                    <a:lumMod val="75000"/>
                  </a:schemeClr>
                </a:solidFill>
                <a:latin typeface="仿宋_GB2312" pitchFamily="49" charset="-122"/>
              </a:rPr>
              <a:t>)</a:t>
            </a:r>
            <a:r>
              <a:rPr lang="zh-CN" altLang="en-US" sz="2200" b="1" dirty="0">
                <a:solidFill>
                  <a:schemeClr val="tx1">
                    <a:lumMod val="75000"/>
                  </a:schemeClr>
                </a:solidFill>
                <a:latin typeface="仿宋_GB2312" pitchFamily="49" charset="-122"/>
              </a:rPr>
              <a:t>相，是彩色彼此之间相互区分的一种特性，是颜色的心理属性的代表之一。光源的色调取决于所辐射的光谱组成对人眼所产生的感觉，由物理上到达视网膜的光的</a:t>
            </a:r>
            <a:r>
              <a:rPr lang="zh-CN" altLang="en-US" sz="2200" b="1" dirty="0">
                <a:solidFill>
                  <a:srgbClr val="FF0000"/>
                </a:solidFill>
                <a:latin typeface="仿宋_GB2312" pitchFamily="49" charset="-122"/>
              </a:rPr>
              <a:t>主波长</a:t>
            </a:r>
            <a:r>
              <a:rPr lang="zh-CN" altLang="en-US" sz="2200" b="1" dirty="0">
                <a:solidFill>
                  <a:schemeClr val="tx1">
                    <a:lumMod val="75000"/>
                  </a:schemeClr>
                </a:solidFill>
                <a:latin typeface="仿宋_GB2312" pitchFamily="49" charset="-122"/>
              </a:rPr>
              <a:t>所确定。而物体的色调则取决于光源的光谱组成和物体表面所反射（或透射）的各波长辐射的比例对人眼所产生的感觉。</a:t>
            </a:r>
          </a:p>
        </p:txBody>
      </p:sp>
      <p:sp>
        <p:nvSpPr>
          <p:cNvPr id="7" name="Text Box 55"/>
          <p:cNvSpPr txBox="1">
            <a:spLocks noChangeArrowheads="1"/>
          </p:cNvSpPr>
          <p:nvPr/>
        </p:nvSpPr>
        <p:spPr bwMode="auto">
          <a:xfrm>
            <a:off x="1376090" y="5183188"/>
            <a:ext cx="6965950" cy="762000"/>
          </a:xfrm>
          <a:prstGeom prst="rect">
            <a:avLst/>
          </a:prstGeom>
          <a:noFill/>
          <a:ln w="9525">
            <a:noFill/>
            <a:miter lim="800000"/>
            <a:headEnd/>
            <a:tailEnd/>
          </a:ln>
          <a:effectLst>
            <a:outerShdw dist="12700" algn="ctr" rotWithShape="0">
              <a:schemeClr val="bg2"/>
            </a:outerShdw>
          </a:effectLst>
        </p:spPr>
        <p:txBody>
          <a:bodyPr>
            <a:spAutoFit/>
          </a:bodyPr>
          <a:lstStyle/>
          <a:p>
            <a:pPr algn="just">
              <a:spcBef>
                <a:spcPct val="50000"/>
              </a:spcBef>
              <a:defRPr/>
            </a:pPr>
            <a:r>
              <a:rPr lang="zh-CN" altLang="en-US" sz="2200" b="1" dirty="0">
                <a:solidFill>
                  <a:schemeClr val="tx1">
                    <a:lumMod val="75000"/>
                  </a:schemeClr>
                </a:solidFill>
                <a:latin typeface="仿宋_GB2312" pitchFamily="49" charset="-122"/>
              </a:rPr>
              <a:t>例  在日光下，一个物体反射</a:t>
            </a:r>
            <a:r>
              <a:rPr lang="en-US" altLang="zh-CN" sz="2200" b="1" dirty="0">
                <a:solidFill>
                  <a:schemeClr val="tx1">
                    <a:lumMod val="75000"/>
                  </a:schemeClr>
                </a:solidFill>
                <a:latin typeface="仿宋_GB2312" pitchFamily="49" charset="-122"/>
              </a:rPr>
              <a:t>480</a:t>
            </a:r>
            <a:r>
              <a:rPr lang="zh-CN" altLang="en-US" sz="2200" b="1" dirty="0">
                <a:solidFill>
                  <a:schemeClr val="tx1">
                    <a:lumMod val="75000"/>
                  </a:schemeClr>
                </a:solidFill>
                <a:latin typeface="仿宋_GB2312" pitchFamily="49" charset="-122"/>
              </a:rPr>
              <a:t>～</a:t>
            </a:r>
            <a:r>
              <a:rPr lang="en-US" altLang="zh-CN" sz="2200" b="1" dirty="0">
                <a:solidFill>
                  <a:schemeClr val="tx1">
                    <a:lumMod val="75000"/>
                  </a:schemeClr>
                </a:solidFill>
                <a:latin typeface="仿宋_GB2312" pitchFamily="49" charset="-122"/>
              </a:rPr>
              <a:t>560nm</a:t>
            </a:r>
            <a:r>
              <a:rPr lang="zh-CN" altLang="en-US" sz="2200" b="1" dirty="0">
                <a:solidFill>
                  <a:schemeClr val="tx1">
                    <a:lumMod val="75000"/>
                  </a:schemeClr>
                </a:solidFill>
                <a:latin typeface="仿宋_GB2312" pitchFamily="49" charset="-122"/>
              </a:rPr>
              <a:t>波段的辐射，而相对吸收其它波长的辐射，则该物体将呈现绿色。</a:t>
            </a:r>
            <a:endParaRPr lang="zh-CN" altLang="en-US" sz="2000" b="1" dirty="0">
              <a:solidFill>
                <a:schemeClr val="tx1">
                  <a:lumMod val="75000"/>
                </a:schemeClr>
              </a:solidFill>
              <a:latin typeface="仿宋_GB2312" pitchFamily="49" charset="-122"/>
            </a:endParaRPr>
          </a:p>
        </p:txBody>
      </p:sp>
    </p:spTree>
    <p:extLst>
      <p:ext uri="{BB962C8B-B14F-4D97-AF65-F5344CB8AC3E}">
        <p14:creationId xmlns:p14="http://schemas.microsoft.com/office/powerpoint/2010/main" val="191139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r>
              <a:rPr lang="en-US" altLang="zh-CN" sz="3600" b="1" dirty="0" smtClean="0">
                <a:solidFill>
                  <a:schemeClr val="tx1">
                    <a:lumMod val="75000"/>
                  </a:schemeClr>
                </a:solidFill>
              </a:rPr>
              <a:t>-</a:t>
            </a:r>
            <a:r>
              <a:rPr lang="zh-CN" altLang="en-US" sz="3600" b="1" dirty="0" smtClean="0">
                <a:solidFill>
                  <a:schemeClr val="tx1">
                    <a:lumMod val="75000"/>
                  </a:schemeClr>
                </a:solidFill>
              </a:rPr>
              <a:t>大脑皮层</a:t>
            </a:r>
            <a:endParaRPr lang="zh-CN" altLang="en-US" sz="3600" b="1" dirty="0">
              <a:solidFill>
                <a:schemeClr val="tx1">
                  <a:lumMod val="75000"/>
                </a:schemeClr>
              </a:solidFill>
            </a:endParaRPr>
          </a:p>
        </p:txBody>
      </p:sp>
      <p:sp>
        <p:nvSpPr>
          <p:cNvPr id="8" name="Text Box 55"/>
          <p:cNvSpPr txBox="1">
            <a:spLocks noChangeArrowheads="1"/>
          </p:cNvSpPr>
          <p:nvPr/>
        </p:nvSpPr>
        <p:spPr bwMode="auto">
          <a:xfrm>
            <a:off x="1226070" y="2348880"/>
            <a:ext cx="7018338" cy="4031873"/>
          </a:xfrm>
          <a:prstGeom prst="rect">
            <a:avLst/>
          </a:prstGeom>
          <a:noFill/>
          <a:ln w="9525">
            <a:noFill/>
            <a:miter lim="800000"/>
            <a:headEnd/>
            <a:tailEnd/>
          </a:ln>
          <a:effectLst>
            <a:outerShdw dist="35921" dir="2700000" algn="ctr" rotWithShape="0">
              <a:schemeClr val="bg2"/>
            </a:outerShdw>
          </a:effectLst>
        </p:spPr>
        <p:txBody>
          <a:bodyPr>
            <a:spAutoFit/>
          </a:bodyPr>
          <a:lstStyle/>
          <a:p>
            <a:pPr algn="just">
              <a:spcBef>
                <a:spcPct val="50000"/>
              </a:spcBef>
              <a:defRPr/>
            </a:pPr>
            <a:r>
              <a:rPr lang="zh-CN" altLang="en-US" sz="2800" b="1" dirty="0">
                <a:solidFill>
                  <a:srgbClr val="F20C00"/>
                </a:solidFill>
                <a:latin typeface="仿宋_GB2312" pitchFamily="49" charset="-122"/>
              </a:rPr>
              <a:t>色饱和度（</a:t>
            </a:r>
            <a:r>
              <a:rPr lang="en-US" altLang="zh-CN" sz="2800" b="1" dirty="0">
                <a:solidFill>
                  <a:srgbClr val="F20C00"/>
                </a:solidFill>
                <a:latin typeface="仿宋_GB2312" pitchFamily="49" charset="-122"/>
              </a:rPr>
              <a:t>Saturation</a:t>
            </a:r>
            <a:r>
              <a:rPr lang="zh-CN" altLang="en-US" sz="2800" b="1" dirty="0">
                <a:solidFill>
                  <a:srgbClr val="F20C00"/>
                </a:solidFill>
                <a:latin typeface="仿宋_GB2312" pitchFamily="49" charset="-122"/>
              </a:rPr>
              <a:t>）</a:t>
            </a:r>
            <a:r>
              <a:rPr lang="zh-CN" altLang="en-US" sz="2400" b="1" dirty="0">
                <a:latin typeface="仿宋_GB2312" pitchFamily="49" charset="-122"/>
              </a:rPr>
              <a:t>  </a:t>
            </a:r>
          </a:p>
          <a:p>
            <a:pPr algn="just">
              <a:spcBef>
                <a:spcPct val="50000"/>
              </a:spcBef>
              <a:defRPr/>
            </a:pPr>
            <a:r>
              <a:rPr lang="zh-CN" altLang="en-US" sz="2400" b="1" dirty="0">
                <a:solidFill>
                  <a:schemeClr val="tx1">
                    <a:lumMod val="75000"/>
                  </a:schemeClr>
                </a:solidFill>
                <a:latin typeface="仿宋_GB2312" pitchFamily="49" charset="-122"/>
              </a:rPr>
              <a:t>也称彩度（</a:t>
            </a:r>
            <a:r>
              <a:rPr lang="en-US" altLang="zh-CN" sz="2400" b="1" dirty="0" err="1">
                <a:solidFill>
                  <a:schemeClr val="tx1">
                    <a:lumMod val="75000"/>
                  </a:schemeClr>
                </a:solidFill>
                <a:latin typeface="仿宋_GB2312" pitchFamily="49" charset="-122"/>
              </a:rPr>
              <a:t>chroma</a:t>
            </a:r>
            <a:r>
              <a:rPr lang="zh-CN" altLang="en-US" sz="2400" b="1" dirty="0">
                <a:solidFill>
                  <a:schemeClr val="tx1">
                    <a:lumMod val="75000"/>
                  </a:schemeClr>
                </a:solidFill>
                <a:latin typeface="仿宋_GB2312" pitchFamily="49" charset="-122"/>
              </a:rPr>
              <a:t>），是彩色的纯洁性，也即白色光缺少程度的度量。 可见光谱中的各种单色光是最饱和的彩色。光谱组成中掺入的白光成分越多，则越不饱和。当掺入的白色光的成分达到很大比例时，其饱和度很低而成为白光了。物体的色饱和度取决于该物体表面反射光谱辐射的选择性程度。当物体对光谱某一较窄波段的反射率很高，而对其它波长的反射率很低或没有反射时，表明它有很高的选择性，对应的颜色的饱和度就高。 </a:t>
            </a:r>
          </a:p>
        </p:txBody>
      </p:sp>
    </p:spTree>
    <p:extLst>
      <p:ext uri="{BB962C8B-B14F-4D97-AF65-F5344CB8AC3E}">
        <p14:creationId xmlns:p14="http://schemas.microsoft.com/office/powerpoint/2010/main" val="15708032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楷体_GB2312" pitchFamily="49" charset="-122"/>
                <a:ea typeface="楷体_GB2312" pitchFamily="49" charset="-122"/>
              </a:rPr>
              <a:t>2.1 </a:t>
            </a:r>
            <a:r>
              <a:rPr lang="zh-CN" altLang="en-US" b="1" dirty="0">
                <a:latin typeface="楷体_GB2312" pitchFamily="49" charset="-122"/>
                <a:ea typeface="楷体_GB2312" pitchFamily="49" charset="-122"/>
              </a:rPr>
              <a:t>人类颜色感知</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人的色觉</a:t>
            </a:r>
            <a:r>
              <a:rPr lang="en-US" altLang="zh-CN" sz="3600" b="1" dirty="0" smtClean="0">
                <a:solidFill>
                  <a:schemeClr val="tx1">
                    <a:lumMod val="75000"/>
                  </a:schemeClr>
                </a:solidFill>
              </a:rPr>
              <a:t>-</a:t>
            </a:r>
            <a:r>
              <a:rPr lang="zh-CN" altLang="en-US" sz="3600" b="1" dirty="0" smtClean="0">
                <a:solidFill>
                  <a:schemeClr val="tx1">
                    <a:lumMod val="75000"/>
                  </a:schemeClr>
                </a:solidFill>
              </a:rPr>
              <a:t>大脑皮层</a:t>
            </a:r>
            <a:endParaRPr lang="zh-CN" altLang="en-US" sz="3600" b="1" dirty="0">
              <a:solidFill>
                <a:schemeClr val="tx1">
                  <a:lumMod val="75000"/>
                </a:schemeClr>
              </a:solidFill>
            </a:endParaRPr>
          </a:p>
        </p:txBody>
      </p:sp>
      <p:sp>
        <p:nvSpPr>
          <p:cNvPr id="5" name="Text Box 54"/>
          <p:cNvSpPr txBox="1">
            <a:spLocks noChangeArrowheads="1"/>
          </p:cNvSpPr>
          <p:nvPr/>
        </p:nvSpPr>
        <p:spPr bwMode="auto">
          <a:xfrm>
            <a:off x="1259632" y="2360067"/>
            <a:ext cx="7018338" cy="3847207"/>
          </a:xfrm>
          <a:prstGeom prst="rect">
            <a:avLst/>
          </a:prstGeom>
          <a:noFill/>
          <a:ln w="9525">
            <a:noFill/>
            <a:miter lim="800000"/>
            <a:headEnd/>
            <a:tailEnd/>
          </a:ln>
          <a:effectLst>
            <a:outerShdw dist="28398" dir="1593903" algn="ctr" rotWithShape="0">
              <a:schemeClr val="bg2"/>
            </a:outerShdw>
          </a:effectLst>
        </p:spPr>
        <p:txBody>
          <a:bodyPr>
            <a:spAutoFit/>
          </a:bodyPr>
          <a:lstStyle/>
          <a:p>
            <a:pPr algn="just">
              <a:spcBef>
                <a:spcPct val="50000"/>
              </a:spcBef>
              <a:defRPr/>
            </a:pPr>
            <a:r>
              <a:rPr lang="zh-CN" altLang="en-US" sz="2800" b="1" dirty="0">
                <a:solidFill>
                  <a:srgbClr val="FF0000"/>
                </a:solidFill>
                <a:latin typeface="仿宋_GB2312" pitchFamily="49" charset="-122"/>
              </a:rPr>
              <a:t>明度（</a:t>
            </a:r>
            <a:r>
              <a:rPr lang="en-US" altLang="zh-CN" sz="2800" b="1" dirty="0">
                <a:solidFill>
                  <a:srgbClr val="FF0000"/>
                </a:solidFill>
                <a:latin typeface="仿宋_GB2312" pitchFamily="49" charset="-122"/>
              </a:rPr>
              <a:t>brightness</a:t>
            </a:r>
            <a:r>
              <a:rPr lang="zh-CN" altLang="en-US" sz="2800" b="1" dirty="0">
                <a:solidFill>
                  <a:srgbClr val="FF0000"/>
                </a:solidFill>
                <a:latin typeface="仿宋_GB2312" pitchFamily="49" charset="-122"/>
              </a:rPr>
              <a:t>）</a:t>
            </a:r>
            <a:r>
              <a:rPr lang="zh-CN" altLang="en-US" sz="2400" b="1" dirty="0">
                <a:solidFill>
                  <a:srgbClr val="4A2500"/>
                </a:solidFill>
                <a:latin typeface="仿宋_GB2312" pitchFamily="49" charset="-122"/>
              </a:rPr>
              <a:t>  </a:t>
            </a:r>
          </a:p>
          <a:p>
            <a:pPr algn="just">
              <a:spcBef>
                <a:spcPct val="50000"/>
              </a:spcBef>
              <a:defRPr/>
            </a:pPr>
            <a:r>
              <a:rPr lang="zh-CN" altLang="en-US" sz="2400" b="1" dirty="0">
                <a:solidFill>
                  <a:schemeClr val="tx1">
                    <a:lumMod val="75000"/>
                  </a:schemeClr>
                </a:solidFill>
                <a:latin typeface="仿宋_GB2312" pitchFamily="49" charset="-122"/>
              </a:rPr>
              <a:t>明度有时也称强度（</a:t>
            </a:r>
            <a:r>
              <a:rPr lang="en-US" altLang="zh-CN" sz="2400" b="1" dirty="0">
                <a:solidFill>
                  <a:schemeClr val="tx1">
                    <a:lumMod val="75000"/>
                  </a:schemeClr>
                </a:solidFill>
                <a:latin typeface="仿宋_GB2312" pitchFamily="49" charset="-122"/>
              </a:rPr>
              <a:t>Intensity</a:t>
            </a:r>
            <a:r>
              <a:rPr lang="zh-CN" altLang="en-US" sz="2400" b="1" dirty="0">
                <a:solidFill>
                  <a:schemeClr val="tx1">
                    <a:lumMod val="75000"/>
                  </a:schemeClr>
                </a:solidFill>
                <a:latin typeface="仿宋_GB2312" pitchFamily="49" charset="-122"/>
              </a:rPr>
              <a:t>），是彩色光明暗程度的度量。彩色光的亮度越高，看起来就愈觉明亮；此时，我们说它有较高的明度。物体表面的光谱反射率越高，其明度也越高。例如，黄褐色物体表面在光谱所有波段上都比红色物体表面反射更多的光辐射，故使人眼产生更高的亮度感觉，因而它比红色物体具有更高的明度。</a:t>
            </a:r>
          </a:p>
          <a:p>
            <a:pPr algn="just">
              <a:spcBef>
                <a:spcPct val="50000"/>
              </a:spcBef>
              <a:defRPr/>
            </a:pPr>
            <a:endParaRPr lang="en-US" altLang="zh-CN" sz="2400" b="1" dirty="0">
              <a:latin typeface="仿宋_GB2312" pitchFamily="49" charset="-122"/>
            </a:endParaRPr>
          </a:p>
        </p:txBody>
      </p:sp>
    </p:spTree>
    <p:extLst>
      <p:ext uri="{BB962C8B-B14F-4D97-AF65-F5344CB8AC3E}">
        <p14:creationId xmlns:p14="http://schemas.microsoft.com/office/powerpoint/2010/main" val="3983467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2.2 </a:t>
            </a:r>
            <a:r>
              <a:rPr lang="zh-CN" altLang="en-US" b="1" dirty="0" smtClean="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RGB&amp;CMY</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pic>
        <p:nvPicPr>
          <p:cNvPr id="92" name="Picture 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151" y="4186956"/>
            <a:ext cx="2338387"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2711" y="4149080"/>
            <a:ext cx="2333625" cy="23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Text Box 55"/>
          <p:cNvSpPr txBox="1">
            <a:spLocks noChangeArrowheads="1"/>
          </p:cNvSpPr>
          <p:nvPr/>
        </p:nvSpPr>
        <p:spPr bwMode="auto">
          <a:xfrm>
            <a:off x="1187624" y="2310185"/>
            <a:ext cx="6888162" cy="1446550"/>
          </a:xfrm>
          <a:prstGeom prst="rect">
            <a:avLst/>
          </a:prstGeom>
          <a:noFill/>
          <a:ln w="9525">
            <a:noFill/>
            <a:miter lim="800000"/>
            <a:headEnd/>
            <a:tailEnd/>
          </a:ln>
          <a:effectLst>
            <a:outerShdw dist="35921" dir="2700000" algn="ctr" rotWithShape="0">
              <a:srgbClr val="000000"/>
            </a:outerShdw>
          </a:effectLst>
        </p:spPr>
        <p:txBody>
          <a:bodyPr>
            <a:spAutoFit/>
          </a:bodyPr>
          <a:lstStyle/>
          <a:p>
            <a:pPr algn="just">
              <a:spcBef>
                <a:spcPct val="10000"/>
              </a:spcBef>
              <a:defRPr/>
            </a:pPr>
            <a:r>
              <a:rPr lang="zh-CN" altLang="en-US" sz="2200" b="1" dirty="0" smtClean="0">
                <a:latin typeface="仿宋_GB2312" pitchFamily="49" charset="-122"/>
              </a:rPr>
              <a:t>一</a:t>
            </a:r>
            <a:r>
              <a:rPr lang="zh-CN" altLang="en-US" sz="2200" b="1" dirty="0">
                <a:latin typeface="仿宋_GB2312" pitchFamily="49" charset="-122"/>
              </a:rPr>
              <a:t>个能发出光波的物体称为有源物体，它的颜色由该物体发出的光波决定，使用（</a:t>
            </a:r>
            <a:r>
              <a:rPr lang="en-US" altLang="zh-CN" sz="2200" b="1" dirty="0">
                <a:latin typeface="仿宋_GB2312" pitchFamily="49" charset="-122"/>
              </a:rPr>
              <a:t>RGB</a:t>
            </a:r>
            <a:r>
              <a:rPr lang="zh-CN" altLang="en-US" sz="2200" b="1" dirty="0">
                <a:latin typeface="仿宋_GB2312" pitchFamily="49" charset="-122"/>
              </a:rPr>
              <a:t>）相加混色模型；一个不发光波的物体称为无源物体，它的颜色由该物体吸收或者反射哪些光波决定，用（</a:t>
            </a:r>
            <a:r>
              <a:rPr lang="en-US" altLang="zh-CN" sz="2200" b="1" dirty="0">
                <a:latin typeface="仿宋_GB2312" pitchFamily="49" charset="-122"/>
              </a:rPr>
              <a:t>CMY</a:t>
            </a:r>
            <a:r>
              <a:rPr lang="zh-CN" altLang="en-US" sz="2200" b="1" dirty="0">
                <a:latin typeface="仿宋_GB2312" pitchFamily="49" charset="-122"/>
              </a:rPr>
              <a:t>）相减混色模型。</a:t>
            </a:r>
          </a:p>
        </p:txBody>
      </p:sp>
    </p:spTree>
    <p:extLst>
      <p:ext uri="{BB962C8B-B14F-4D97-AF65-F5344CB8AC3E}">
        <p14:creationId xmlns:p14="http://schemas.microsoft.com/office/powerpoint/2010/main" val="36180484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RGB&amp;CMY</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sp>
        <p:nvSpPr>
          <p:cNvPr id="7" name="Rectangle 52"/>
          <p:cNvSpPr>
            <a:spLocks noChangeArrowheads="1"/>
          </p:cNvSpPr>
          <p:nvPr/>
        </p:nvSpPr>
        <p:spPr bwMode="auto">
          <a:xfrm>
            <a:off x="683568" y="2329135"/>
            <a:ext cx="4895850" cy="579437"/>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zh-CN" altLang="zh-CN" sz="3200" b="1"/>
              <a:t>颜色的三维表示 </a:t>
            </a:r>
            <a:r>
              <a:rPr lang="zh-CN" altLang="en-US" sz="3200" b="1"/>
              <a:t> </a:t>
            </a:r>
          </a:p>
        </p:txBody>
      </p:sp>
      <p:sp>
        <p:nvSpPr>
          <p:cNvPr id="62" name="Text Box 334"/>
          <p:cNvSpPr txBox="1">
            <a:spLocks noChangeArrowheads="1"/>
          </p:cNvSpPr>
          <p:nvPr/>
        </p:nvSpPr>
        <p:spPr bwMode="auto">
          <a:xfrm>
            <a:off x="4714230" y="3102247"/>
            <a:ext cx="3787775" cy="2647950"/>
          </a:xfrm>
          <a:prstGeom prst="rect">
            <a:avLst/>
          </a:prstGeom>
          <a:noFill/>
          <a:ln w="9525">
            <a:noFill/>
            <a:miter lim="800000"/>
            <a:headEnd/>
            <a:tailEnd/>
          </a:ln>
          <a:effectLst>
            <a:outerShdw dist="35921" dir="2700000" algn="ctr" rotWithShape="0">
              <a:schemeClr val="bg2"/>
            </a:outerShdw>
          </a:effectLst>
        </p:spPr>
        <p:txBody>
          <a:bodyPr>
            <a:spAutoFit/>
          </a:bodyPr>
          <a:lstStyle/>
          <a:p>
            <a:pPr algn="just">
              <a:spcBef>
                <a:spcPct val="50000"/>
              </a:spcBef>
              <a:defRPr/>
            </a:pPr>
            <a:r>
              <a:rPr lang="zh-CN" altLang="en-US" sz="2400" b="1">
                <a:latin typeface="仿宋_GB2312" pitchFamily="49" charset="-122"/>
              </a:rPr>
              <a:t>颜色空间是三维的线性空间，任何一种具有一定亮度的色光均可表示为该空间中的一个点（或过原点的一个向量），它由适当选择的三种基色光经加权混合而成。</a:t>
            </a:r>
          </a:p>
        </p:txBody>
      </p:sp>
      <p:sp>
        <p:nvSpPr>
          <p:cNvPr id="63" name="Text Box 336"/>
          <p:cNvSpPr txBox="1">
            <a:spLocks noChangeArrowheads="1"/>
          </p:cNvSpPr>
          <p:nvPr/>
        </p:nvSpPr>
        <p:spPr bwMode="auto">
          <a:xfrm>
            <a:off x="4714230" y="5847035"/>
            <a:ext cx="3787775" cy="822325"/>
          </a:xfrm>
          <a:prstGeom prst="rect">
            <a:avLst/>
          </a:prstGeom>
          <a:noFill/>
          <a:ln w="9525">
            <a:noFill/>
            <a:miter lim="800000"/>
            <a:headEnd/>
            <a:tailEnd/>
          </a:ln>
          <a:effectLst>
            <a:outerShdw dist="35921" dir="2700000" algn="ctr" rotWithShape="0">
              <a:schemeClr val="bg2"/>
            </a:outerShdw>
          </a:effectLst>
        </p:spPr>
        <p:txBody>
          <a:bodyPr>
            <a:spAutoFit/>
          </a:bodyPr>
          <a:lstStyle/>
          <a:p>
            <a:pPr algn="just">
              <a:spcBef>
                <a:spcPct val="50000"/>
              </a:spcBef>
              <a:defRPr/>
            </a:pPr>
            <a:r>
              <a:rPr lang="zh-CN" altLang="en-US" sz="2400" b="1">
                <a:latin typeface="仿宋_GB2312" pitchFamily="49" charset="-122"/>
              </a:rPr>
              <a:t>选择不同的基色，可以得到不同的表色系统。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355270"/>
            <a:ext cx="3228975" cy="283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8907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2" grpId="0"/>
      <p:bldP spid="6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RGB&amp;CMY</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355270"/>
            <a:ext cx="3228975" cy="283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52"/>
          <p:cNvSpPr>
            <a:spLocks noChangeArrowheads="1"/>
          </p:cNvSpPr>
          <p:nvPr/>
        </p:nvSpPr>
        <p:spPr bwMode="auto">
          <a:xfrm>
            <a:off x="899592" y="2477840"/>
            <a:ext cx="4895850" cy="519112"/>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dirty="0"/>
              <a:t>RGB</a:t>
            </a:r>
            <a:r>
              <a:rPr lang="zh-CN" altLang="en-US" sz="2800" b="1" dirty="0"/>
              <a:t>表色系统 </a:t>
            </a:r>
          </a:p>
        </p:txBody>
      </p:sp>
      <p:graphicFrame>
        <p:nvGraphicFramePr>
          <p:cNvPr id="59" name="Object 103"/>
          <p:cNvGraphicFramePr>
            <a:graphicFrameLocks noChangeAspect="1"/>
          </p:cNvGraphicFramePr>
          <p:nvPr/>
        </p:nvGraphicFramePr>
        <p:xfrm>
          <a:off x="5410200" y="3273425"/>
          <a:ext cx="2827338" cy="2676525"/>
        </p:xfrm>
        <a:graphic>
          <a:graphicData uri="http://schemas.openxmlformats.org/presentationml/2006/ole">
            <mc:AlternateContent xmlns:mc="http://schemas.openxmlformats.org/markup-compatibility/2006">
              <mc:Choice xmlns:v="urn:schemas-microsoft-com:vml" Requires="v">
                <p:oleObj spid="_x0000_s88071" name="Image" r:id="rId4" imgW="3796825" imgH="3593651" progId="Photoshop.Image.6">
                  <p:embed/>
                </p:oleObj>
              </mc:Choice>
              <mc:Fallback>
                <p:oleObj name="Image" r:id="rId4" imgW="3796825" imgH="3593651" progId="Photoshop.Image.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200" y="3273425"/>
                        <a:ext cx="2827338" cy="26765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56706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RGB&amp;CMY</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sp>
        <p:nvSpPr>
          <p:cNvPr id="8" name="Rectangle 52"/>
          <p:cNvSpPr>
            <a:spLocks noChangeArrowheads="1"/>
          </p:cNvSpPr>
          <p:nvPr/>
        </p:nvSpPr>
        <p:spPr bwMode="auto">
          <a:xfrm>
            <a:off x="899592" y="2477840"/>
            <a:ext cx="4895850" cy="519112"/>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dirty="0"/>
              <a:t>RGB</a:t>
            </a:r>
            <a:r>
              <a:rPr lang="zh-CN" altLang="en-US" sz="2800" b="1" dirty="0"/>
              <a:t>表色系统 </a:t>
            </a:r>
          </a:p>
        </p:txBody>
      </p:sp>
      <p:sp>
        <p:nvSpPr>
          <p:cNvPr id="7" name="Text Box 153"/>
          <p:cNvSpPr txBox="1">
            <a:spLocks noChangeArrowheads="1"/>
          </p:cNvSpPr>
          <p:nvPr/>
        </p:nvSpPr>
        <p:spPr bwMode="auto">
          <a:xfrm>
            <a:off x="4976813" y="2581275"/>
            <a:ext cx="3817937" cy="1096963"/>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200" b="1" dirty="0">
                <a:latin typeface="仿宋_GB2312" pitchFamily="49" charset="-122"/>
              </a:rPr>
              <a:t>颜色空间中过原点的一个向量对应于实际中具有一定亮度的某种色光。</a:t>
            </a:r>
          </a:p>
        </p:txBody>
      </p:sp>
      <p:sp>
        <p:nvSpPr>
          <p:cNvPr id="9" name="Text Box 154"/>
          <p:cNvSpPr txBox="1">
            <a:spLocks noChangeArrowheads="1"/>
          </p:cNvSpPr>
          <p:nvPr/>
        </p:nvSpPr>
        <p:spPr bwMode="auto">
          <a:xfrm>
            <a:off x="4976813" y="3792538"/>
            <a:ext cx="3817937" cy="1096962"/>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200" b="1">
                <a:latin typeface="仿宋_GB2312" pitchFamily="49" charset="-122"/>
              </a:rPr>
              <a:t>颜色向量可用于表示光的颜色：方向不同的颜色向量所表示的光的颜色不同。</a:t>
            </a:r>
          </a:p>
        </p:txBody>
      </p:sp>
      <p:sp>
        <p:nvSpPr>
          <p:cNvPr id="10" name="Text Box 156"/>
          <p:cNvSpPr txBox="1">
            <a:spLocks noChangeArrowheads="1"/>
          </p:cNvSpPr>
          <p:nvPr/>
        </p:nvSpPr>
        <p:spPr bwMode="auto">
          <a:xfrm>
            <a:off x="4976813" y="5003800"/>
            <a:ext cx="3817937" cy="1431925"/>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200" b="1">
                <a:latin typeface="仿宋_GB2312" pitchFamily="49" charset="-122"/>
              </a:rPr>
              <a:t>颜色向量也可用于描述光的亮度变化：方向相同但长度不同的颜色向量所表示的光的亮度不同。</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869" y="3458430"/>
            <a:ext cx="3152775" cy="2562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14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RGB&amp;CMY</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sp>
        <p:nvSpPr>
          <p:cNvPr id="8" name="Rectangle 52"/>
          <p:cNvSpPr>
            <a:spLocks noChangeArrowheads="1"/>
          </p:cNvSpPr>
          <p:nvPr/>
        </p:nvSpPr>
        <p:spPr bwMode="auto">
          <a:xfrm>
            <a:off x="899592" y="2477840"/>
            <a:ext cx="4895850" cy="519112"/>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dirty="0"/>
              <a:t>RGB</a:t>
            </a:r>
            <a:r>
              <a:rPr lang="zh-CN" altLang="en-US" sz="2800" b="1" dirty="0"/>
              <a:t>表色系统 </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869" y="3458430"/>
            <a:ext cx="3152775" cy="2562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108"/>
          <p:cNvSpPr txBox="1">
            <a:spLocks noChangeArrowheads="1"/>
          </p:cNvSpPr>
          <p:nvPr/>
        </p:nvSpPr>
        <p:spPr bwMode="auto">
          <a:xfrm>
            <a:off x="4699000" y="2682875"/>
            <a:ext cx="4233863" cy="1768475"/>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200" b="1">
                <a:latin typeface="仿宋_GB2312" pitchFamily="49" charset="-122"/>
              </a:rPr>
              <a:t>考虑方向相同而长度不同的两个颜色向量</a:t>
            </a:r>
          </a:p>
          <a:p>
            <a:pPr algn="just">
              <a:spcBef>
                <a:spcPct val="50000"/>
              </a:spcBef>
              <a:defRPr/>
            </a:pPr>
            <a:endParaRPr lang="zh-CN" altLang="en-US" sz="2200" b="1">
              <a:latin typeface="仿宋_GB2312" pitchFamily="49" charset="-122"/>
            </a:endParaRPr>
          </a:p>
          <a:p>
            <a:pPr algn="just">
              <a:spcBef>
                <a:spcPct val="50000"/>
              </a:spcBef>
              <a:defRPr/>
            </a:pPr>
            <a:endParaRPr lang="en-US" altLang="zh-CN" sz="2200" b="1">
              <a:latin typeface="仿宋_GB2312" pitchFamily="49" charset="-122"/>
            </a:endParaRPr>
          </a:p>
        </p:txBody>
      </p:sp>
      <p:grpSp>
        <p:nvGrpSpPr>
          <p:cNvPr id="12" name="Group 167"/>
          <p:cNvGrpSpPr>
            <a:grpSpLocks/>
          </p:cNvGrpSpPr>
          <p:nvPr/>
        </p:nvGrpSpPr>
        <p:grpSpPr bwMode="auto">
          <a:xfrm>
            <a:off x="4873625" y="3568700"/>
            <a:ext cx="3894138" cy="903288"/>
            <a:chOff x="3077" y="2269"/>
            <a:chExt cx="2381" cy="569"/>
          </a:xfrm>
        </p:grpSpPr>
        <p:sp>
          <p:nvSpPr>
            <p:cNvPr id="13" name="Rectangle 162"/>
            <p:cNvSpPr>
              <a:spLocks noChangeArrowheads="1"/>
            </p:cNvSpPr>
            <p:nvPr/>
          </p:nvSpPr>
          <p:spPr bwMode="auto">
            <a:xfrm>
              <a:off x="3077" y="2269"/>
              <a:ext cx="2381" cy="569"/>
            </a:xfrm>
            <a:prstGeom prst="rect">
              <a:avLst/>
            </a:prstGeom>
            <a:solidFill>
              <a:srgbClr val="FFFF00"/>
            </a:solidFill>
            <a:ln w="9525" algn="ctr">
              <a:noFill/>
              <a:miter lim="800000"/>
              <a:headEnd/>
              <a:tailEnd/>
            </a:ln>
            <a:effectLst>
              <a:outerShdw dist="35921" dir="2700000" algn="ctr" rotWithShape="0">
                <a:schemeClr val="bg2"/>
              </a:outerShdw>
            </a:effectLst>
          </p:spPr>
          <p:txBody>
            <a:bodyPr wrap="none" anchor="ctr">
              <a:spAutoFit/>
            </a:bodyPr>
            <a:lstStyle/>
            <a:p>
              <a:pPr>
                <a:defRPr/>
              </a:pPr>
              <a:endParaRPr lang="zh-CN" altLang="en-US"/>
            </a:p>
          </p:txBody>
        </p:sp>
        <p:graphicFrame>
          <p:nvGraphicFramePr>
            <p:cNvPr id="14" name="Object 163"/>
            <p:cNvGraphicFramePr>
              <a:graphicFrameLocks noChangeAspect="1"/>
            </p:cNvGraphicFramePr>
            <p:nvPr/>
          </p:nvGraphicFramePr>
          <p:xfrm>
            <a:off x="3104" y="2316"/>
            <a:ext cx="1954" cy="256"/>
          </p:xfrm>
          <a:graphic>
            <a:graphicData uri="http://schemas.openxmlformats.org/presentationml/2006/ole">
              <mc:AlternateContent xmlns:mc="http://schemas.openxmlformats.org/markup-compatibility/2006">
                <mc:Choice xmlns:v="urn:schemas-microsoft-com:vml" Requires="v">
                  <p:oleObj spid="_x0000_s89100" r:id="rId4" imgW="1383699" imgH="177723" progId="Equation.2">
                    <p:embed/>
                  </p:oleObj>
                </mc:Choice>
                <mc:Fallback>
                  <p:oleObj r:id="rId4" imgW="1383699" imgH="177723" progId="Equation.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4" y="2316"/>
                          <a:ext cx="1954" cy="256"/>
                        </a:xfrm>
                        <a:prstGeom prst="rect">
                          <a:avLst/>
                        </a:prstGeom>
                        <a:solidFill>
                          <a:srgbClr val="FFFF00"/>
                        </a:solidFill>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64"/>
            <p:cNvGraphicFramePr>
              <a:graphicFrameLocks noChangeAspect="1"/>
            </p:cNvGraphicFramePr>
            <p:nvPr/>
          </p:nvGraphicFramePr>
          <p:xfrm>
            <a:off x="3104" y="2578"/>
            <a:ext cx="2317" cy="256"/>
          </p:xfrm>
          <a:graphic>
            <a:graphicData uri="http://schemas.openxmlformats.org/presentationml/2006/ole">
              <mc:AlternateContent xmlns:mc="http://schemas.openxmlformats.org/markup-compatibility/2006">
                <mc:Choice xmlns:v="urn:schemas-microsoft-com:vml" Requires="v">
                  <p:oleObj spid="_x0000_s89101" r:id="rId6" imgW="1637589" imgH="177723" progId="Equation.2">
                    <p:embed/>
                  </p:oleObj>
                </mc:Choice>
                <mc:Fallback>
                  <p:oleObj r:id="rId6" imgW="1637589" imgH="177723" progId="Equation.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4" y="2578"/>
                          <a:ext cx="2317" cy="256"/>
                        </a:xfrm>
                        <a:prstGeom prst="rect">
                          <a:avLst/>
                        </a:prstGeom>
                        <a:solidFill>
                          <a:srgbClr val="FFFF00"/>
                        </a:solidFill>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 name="Text Box 168"/>
          <p:cNvSpPr txBox="1">
            <a:spLocks noChangeArrowheads="1"/>
          </p:cNvSpPr>
          <p:nvPr/>
        </p:nvSpPr>
        <p:spPr bwMode="auto">
          <a:xfrm>
            <a:off x="4699000" y="4605338"/>
            <a:ext cx="4233863" cy="1107996"/>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200" b="1" dirty="0" smtClean="0">
                <a:latin typeface="仿宋_GB2312" pitchFamily="49" charset="-122"/>
              </a:rPr>
              <a:t>在</a:t>
            </a:r>
            <a:r>
              <a:rPr lang="zh-CN" altLang="en-US" sz="2200" b="1" dirty="0">
                <a:latin typeface="仿宋_GB2312" pitchFamily="49" charset="-122"/>
              </a:rPr>
              <a:t>颜色空间中光的颜色仅由相应的</a:t>
            </a:r>
            <a:r>
              <a:rPr lang="en-US" altLang="zh-CN" sz="2200" b="1" dirty="0">
                <a:latin typeface="仿宋_GB2312" pitchFamily="49" charset="-122"/>
              </a:rPr>
              <a:t>R</a:t>
            </a:r>
            <a:r>
              <a:rPr lang="zh-CN" altLang="en-US" sz="2200" b="1" dirty="0">
                <a:latin typeface="仿宋_GB2312" pitchFamily="49" charset="-122"/>
              </a:rPr>
              <a:t>、</a:t>
            </a:r>
            <a:r>
              <a:rPr lang="en-US" altLang="zh-CN" sz="2200" b="1" dirty="0">
                <a:latin typeface="仿宋_GB2312" pitchFamily="49" charset="-122"/>
              </a:rPr>
              <a:t>G</a:t>
            </a:r>
            <a:r>
              <a:rPr lang="zh-CN" altLang="en-US" sz="2200" b="1" dirty="0">
                <a:latin typeface="仿宋_GB2312" pitchFamily="49" charset="-122"/>
              </a:rPr>
              <a:t>、</a:t>
            </a:r>
            <a:r>
              <a:rPr lang="en-US" altLang="zh-CN" sz="2200" b="1" dirty="0">
                <a:latin typeface="仿宋_GB2312" pitchFamily="49" charset="-122"/>
              </a:rPr>
              <a:t>B</a:t>
            </a:r>
            <a:r>
              <a:rPr lang="zh-CN" altLang="en-US" sz="2200" b="1" dirty="0">
                <a:latin typeface="仿宋_GB2312" pitchFamily="49" charset="-122"/>
              </a:rPr>
              <a:t>三刺激值之间的比例关系所确定。  </a:t>
            </a:r>
          </a:p>
        </p:txBody>
      </p:sp>
      <p:sp>
        <p:nvSpPr>
          <p:cNvPr id="17" name="AutoShape 169"/>
          <p:cNvSpPr>
            <a:spLocks noChangeArrowheads="1"/>
          </p:cNvSpPr>
          <p:nvPr/>
        </p:nvSpPr>
        <p:spPr bwMode="auto">
          <a:xfrm>
            <a:off x="4929188" y="4638675"/>
            <a:ext cx="676275" cy="290513"/>
          </a:xfrm>
          <a:prstGeom prst="rightArrow">
            <a:avLst>
              <a:gd name="adj1" fmla="val 50000"/>
              <a:gd name="adj2" fmla="val 58197"/>
            </a:avLst>
          </a:prstGeom>
          <a:solidFill>
            <a:srgbClr val="FFFF00"/>
          </a:solidFill>
          <a:ln w="9525" algn="ctr">
            <a:noFill/>
            <a:miter lim="800000"/>
            <a:headEnd/>
            <a:tailEnd/>
          </a:ln>
          <a:effectLst>
            <a:outerShdw dist="35921" dir="2700000" algn="ctr" rotWithShape="0">
              <a:schemeClr val="bg2"/>
            </a:outerShdw>
          </a:effectLst>
        </p:spPr>
        <p:txBody>
          <a:bodyPr anchor="ctr">
            <a:spAutoFit/>
          </a:bodyPr>
          <a:lstStyle/>
          <a:p>
            <a:pPr>
              <a:defRPr/>
            </a:pPr>
            <a:endParaRPr lang="zh-CN" altLang="en-US"/>
          </a:p>
        </p:txBody>
      </p:sp>
      <p:sp>
        <p:nvSpPr>
          <p:cNvPr id="18" name="Text Box 108"/>
          <p:cNvSpPr txBox="1">
            <a:spLocks noChangeArrowheads="1"/>
          </p:cNvSpPr>
          <p:nvPr/>
        </p:nvSpPr>
        <p:spPr bwMode="auto">
          <a:xfrm>
            <a:off x="1682824" y="6069867"/>
            <a:ext cx="6705600" cy="830997"/>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400" b="1" dirty="0">
                <a:solidFill>
                  <a:srgbClr val="FF0000"/>
                </a:solidFill>
                <a:latin typeface="仿宋_GB2312" pitchFamily="49" charset="-122"/>
              </a:rPr>
              <a:t>结论：如果只对光的颜色本身感兴趣的话，基于颜色向量的表示方法就未必是很合理的。</a:t>
            </a:r>
          </a:p>
        </p:txBody>
      </p:sp>
    </p:spTree>
    <p:extLst>
      <p:ext uri="{BB962C8B-B14F-4D97-AF65-F5344CB8AC3E}">
        <p14:creationId xmlns:p14="http://schemas.microsoft.com/office/powerpoint/2010/main" val="212068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ox(in)">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7" grpId="0" animBg="1"/>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图像颜色模型（色度图）</a:t>
            </a:r>
            <a:endParaRPr lang="zh-CN" altLang="en-US" sz="3600" b="1" dirty="0">
              <a:solidFill>
                <a:schemeClr val="tx1">
                  <a:lumMod val="75000"/>
                </a:schemeClr>
              </a:solidFill>
            </a:endParaRPr>
          </a:p>
        </p:txBody>
      </p:sp>
      <p:sp>
        <p:nvSpPr>
          <p:cNvPr id="33" name="Text Box 123"/>
          <p:cNvSpPr txBox="1">
            <a:spLocks noChangeArrowheads="1"/>
          </p:cNvSpPr>
          <p:nvPr/>
        </p:nvSpPr>
        <p:spPr bwMode="auto">
          <a:xfrm>
            <a:off x="2165002" y="3615655"/>
            <a:ext cx="4567238" cy="1370012"/>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400" b="1">
                <a:latin typeface="仿宋_GB2312" pitchFamily="49" charset="-122"/>
              </a:rPr>
              <a:t>容易验证：它和实际的</a:t>
            </a:r>
            <a:r>
              <a:rPr lang="en-US" altLang="zh-CN" sz="2400" b="1">
                <a:latin typeface="仿宋_GB2312" pitchFamily="49" charset="-122"/>
              </a:rPr>
              <a:t>R</a:t>
            </a:r>
            <a:r>
              <a:rPr lang="zh-CN" altLang="en-US" sz="2400" b="1">
                <a:latin typeface="仿宋_GB2312" pitchFamily="49" charset="-122"/>
              </a:rPr>
              <a:t>、</a:t>
            </a:r>
            <a:r>
              <a:rPr lang="en-US" altLang="zh-CN" sz="2400" b="1">
                <a:latin typeface="仿宋_GB2312" pitchFamily="49" charset="-122"/>
              </a:rPr>
              <a:t>G</a:t>
            </a:r>
            <a:r>
              <a:rPr lang="zh-CN" altLang="en-US" sz="2400" b="1">
                <a:latin typeface="仿宋_GB2312" pitchFamily="49" charset="-122"/>
              </a:rPr>
              <a:t>、</a:t>
            </a:r>
            <a:r>
              <a:rPr lang="en-US" altLang="zh-CN" sz="2400" b="1">
                <a:latin typeface="仿宋_GB2312" pitchFamily="49" charset="-122"/>
              </a:rPr>
              <a:t>B</a:t>
            </a:r>
            <a:r>
              <a:rPr lang="zh-CN" altLang="en-US" sz="2400" b="1">
                <a:latin typeface="仿宋_GB2312" pitchFamily="49" charset="-122"/>
              </a:rPr>
              <a:t>三刺激值之间满足下列比例关系：</a:t>
            </a:r>
          </a:p>
          <a:p>
            <a:pPr algn="just">
              <a:spcBef>
                <a:spcPct val="50000"/>
              </a:spcBef>
              <a:defRPr/>
            </a:pPr>
            <a:r>
              <a:rPr lang="zh-CN" altLang="en-US" sz="2400" b="1">
                <a:latin typeface="仿宋_GB2312" pitchFamily="49" charset="-122"/>
              </a:rPr>
              <a:t>        </a:t>
            </a:r>
            <a:r>
              <a:rPr lang="en-US" altLang="zh-CN" sz="2400" b="1">
                <a:latin typeface="仿宋_GB2312" pitchFamily="49" charset="-122"/>
              </a:rPr>
              <a:t>R:G:B = r:g:b </a:t>
            </a:r>
          </a:p>
        </p:txBody>
      </p:sp>
      <p:grpSp>
        <p:nvGrpSpPr>
          <p:cNvPr id="34" name="Group 134"/>
          <p:cNvGrpSpPr>
            <a:grpSpLocks/>
          </p:cNvGrpSpPr>
          <p:nvPr/>
        </p:nvGrpSpPr>
        <p:grpSpPr bwMode="auto">
          <a:xfrm>
            <a:off x="2249140" y="2807617"/>
            <a:ext cx="4481512" cy="712788"/>
            <a:chOff x="2747" y="1616"/>
            <a:chExt cx="2823" cy="449"/>
          </a:xfrm>
        </p:grpSpPr>
        <p:sp>
          <p:nvSpPr>
            <p:cNvPr id="35" name="Rectangle 129"/>
            <p:cNvSpPr>
              <a:spLocks noChangeArrowheads="1"/>
            </p:cNvSpPr>
            <p:nvPr/>
          </p:nvSpPr>
          <p:spPr bwMode="auto">
            <a:xfrm>
              <a:off x="2817" y="1616"/>
              <a:ext cx="56" cy="56"/>
            </a:xfrm>
            <a:prstGeom prst="rect">
              <a:avLst/>
            </a:prstGeom>
            <a:noFill/>
            <a:ln w="9525" algn="ctr">
              <a:noFill/>
              <a:miter lim="800000"/>
              <a:headEnd/>
              <a:tailEnd/>
            </a:ln>
            <a:effectLst>
              <a:outerShdw dist="35921" dir="2700000" algn="ctr" rotWithShape="0">
                <a:srgbClr val="808080"/>
              </a:outerShdw>
            </a:effectLst>
          </p:spPr>
          <p:txBody>
            <a:bodyPr wrap="none" anchor="ctr">
              <a:spAutoFit/>
            </a:bodyPr>
            <a:lstStyle/>
            <a:p>
              <a:pPr>
                <a:defRPr/>
              </a:pPr>
              <a:endParaRPr lang="zh-CN" altLang="en-US"/>
            </a:p>
          </p:txBody>
        </p:sp>
        <p:sp>
          <p:nvSpPr>
            <p:cNvPr id="36" name="Rectangle 130"/>
            <p:cNvSpPr>
              <a:spLocks noChangeArrowheads="1"/>
            </p:cNvSpPr>
            <p:nvPr/>
          </p:nvSpPr>
          <p:spPr bwMode="auto">
            <a:xfrm>
              <a:off x="2747" y="1644"/>
              <a:ext cx="2823" cy="421"/>
            </a:xfrm>
            <a:prstGeom prst="rect">
              <a:avLst/>
            </a:prstGeom>
            <a:solidFill>
              <a:srgbClr val="FFFF00"/>
            </a:solidFill>
            <a:ln w="9525" algn="ctr">
              <a:noFill/>
              <a:miter lim="800000"/>
              <a:headEnd/>
              <a:tailEnd/>
            </a:ln>
            <a:effectLst>
              <a:outerShdw dist="35921" dir="2700000" algn="ctr" rotWithShape="0">
                <a:schemeClr val="bg2"/>
              </a:outerShdw>
            </a:effectLst>
          </p:spPr>
          <p:txBody>
            <a:bodyPr anchor="ctr">
              <a:spAutoFit/>
            </a:bodyPr>
            <a:lstStyle/>
            <a:p>
              <a:pPr>
                <a:defRPr/>
              </a:pPr>
              <a:endParaRPr lang="zh-CN" altLang="en-US"/>
            </a:p>
          </p:txBody>
        </p:sp>
        <p:graphicFrame>
          <p:nvGraphicFramePr>
            <p:cNvPr id="37" name="Object 131"/>
            <p:cNvGraphicFramePr>
              <a:graphicFrameLocks noChangeAspect="1"/>
            </p:cNvGraphicFramePr>
            <p:nvPr/>
          </p:nvGraphicFramePr>
          <p:xfrm>
            <a:off x="2822" y="1665"/>
            <a:ext cx="834" cy="369"/>
          </p:xfrm>
          <a:graphic>
            <a:graphicData uri="http://schemas.openxmlformats.org/presentationml/2006/ole">
              <mc:AlternateContent xmlns:mc="http://schemas.openxmlformats.org/markup-compatibility/2006">
                <mc:Choice xmlns:v="urn:schemas-microsoft-com:vml" Requires="v">
                  <p:oleObj spid="_x0000_s90134" name="公式" r:id="rId3" imgW="876240" imgH="393480" progId="Equation.3">
                    <p:embed/>
                  </p:oleObj>
                </mc:Choice>
                <mc:Fallback>
                  <p:oleObj name="公式" r:id="rId3" imgW="87624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2" y="1665"/>
                          <a:ext cx="834" cy="369"/>
                        </a:xfrm>
                        <a:prstGeom prst="rect">
                          <a:avLst/>
                        </a:prstGeom>
                        <a:solidFill>
                          <a:srgbClr val="FFFF00"/>
                        </a:solidFill>
                      </p:spPr>
                    </p:pic>
                  </p:oleObj>
                </mc:Fallback>
              </mc:AlternateContent>
            </a:graphicData>
          </a:graphic>
        </p:graphicFrame>
        <p:graphicFrame>
          <p:nvGraphicFramePr>
            <p:cNvPr id="38" name="Object 132"/>
            <p:cNvGraphicFramePr>
              <a:graphicFrameLocks noChangeAspect="1"/>
            </p:cNvGraphicFramePr>
            <p:nvPr/>
          </p:nvGraphicFramePr>
          <p:xfrm>
            <a:off x="3759" y="1665"/>
            <a:ext cx="826" cy="356"/>
          </p:xfrm>
          <a:graphic>
            <a:graphicData uri="http://schemas.openxmlformats.org/presentationml/2006/ole">
              <mc:AlternateContent xmlns:mc="http://schemas.openxmlformats.org/markup-compatibility/2006">
                <mc:Choice xmlns:v="urn:schemas-microsoft-com:vml" Requires="v">
                  <p:oleObj spid="_x0000_s90135" name="公式" r:id="rId5" imgW="901440" imgH="393480" progId="Equation.3">
                    <p:embed/>
                  </p:oleObj>
                </mc:Choice>
                <mc:Fallback>
                  <p:oleObj name="公式" r:id="rId5" imgW="90144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9" y="1665"/>
                          <a:ext cx="826" cy="356"/>
                        </a:xfrm>
                        <a:prstGeom prst="rect">
                          <a:avLst/>
                        </a:prstGeom>
                        <a:solidFill>
                          <a:srgbClr val="FFFF00"/>
                        </a:solidFill>
                      </p:spPr>
                    </p:pic>
                  </p:oleObj>
                </mc:Fallback>
              </mc:AlternateContent>
            </a:graphicData>
          </a:graphic>
        </p:graphicFrame>
        <p:graphicFrame>
          <p:nvGraphicFramePr>
            <p:cNvPr id="39" name="Object 133"/>
            <p:cNvGraphicFramePr>
              <a:graphicFrameLocks noChangeAspect="1"/>
            </p:cNvGraphicFramePr>
            <p:nvPr/>
          </p:nvGraphicFramePr>
          <p:xfrm>
            <a:off x="4688" y="1665"/>
            <a:ext cx="822" cy="355"/>
          </p:xfrm>
          <a:graphic>
            <a:graphicData uri="http://schemas.openxmlformats.org/presentationml/2006/ole">
              <mc:AlternateContent xmlns:mc="http://schemas.openxmlformats.org/markup-compatibility/2006">
                <mc:Choice xmlns:v="urn:schemas-microsoft-com:vml" Requires="v">
                  <p:oleObj spid="_x0000_s90136" name="公式" r:id="rId7" imgW="901440" imgH="393480" progId="Equation.3">
                    <p:embed/>
                  </p:oleObj>
                </mc:Choice>
                <mc:Fallback>
                  <p:oleObj name="公式" r:id="rId7" imgW="901440" imgH="393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8" y="1665"/>
                          <a:ext cx="822" cy="355"/>
                        </a:xfrm>
                        <a:prstGeom prst="rect">
                          <a:avLst/>
                        </a:prstGeom>
                        <a:solidFill>
                          <a:srgbClr val="FFFF00"/>
                        </a:solidFill>
                      </p:spPr>
                    </p:pic>
                  </p:oleObj>
                </mc:Fallback>
              </mc:AlternateContent>
            </a:graphicData>
          </a:graphic>
        </p:graphicFrame>
      </p:grpSp>
      <p:graphicFrame>
        <p:nvGraphicFramePr>
          <p:cNvPr id="40" name="Object 150"/>
          <p:cNvGraphicFramePr>
            <a:graphicFrameLocks noChangeAspect="1"/>
          </p:cNvGraphicFramePr>
          <p:nvPr>
            <p:extLst>
              <p:ext uri="{D42A27DB-BD31-4B8C-83A1-F6EECF244321}">
                <p14:modId xmlns:p14="http://schemas.microsoft.com/office/powerpoint/2010/main" val="1032618991"/>
              </p:ext>
            </p:extLst>
          </p:nvPr>
        </p:nvGraphicFramePr>
        <p:xfrm>
          <a:off x="1187624" y="6083126"/>
          <a:ext cx="7197725" cy="730250"/>
        </p:xfrm>
        <a:graphic>
          <a:graphicData uri="http://schemas.openxmlformats.org/presentationml/2006/ole">
            <mc:AlternateContent xmlns:mc="http://schemas.openxmlformats.org/markup-compatibility/2006">
              <mc:Choice xmlns:v="urn:schemas-microsoft-com:vml" Requires="v">
                <p:oleObj spid="_x0000_s90137" name="公式" r:id="rId9" imgW="3797280" imgH="393480" progId="Equation.3">
                  <p:embed/>
                </p:oleObj>
              </mc:Choice>
              <mc:Fallback>
                <p:oleObj name="公式" r:id="rId9" imgW="3797280" imgH="393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624" y="6083126"/>
                        <a:ext cx="7197725" cy="730250"/>
                      </a:xfrm>
                      <a:prstGeom prst="rect">
                        <a:avLst/>
                      </a:prstGeom>
                      <a:solidFill>
                        <a:srgbClr val="FFFF00"/>
                      </a:solidFill>
                      <a:effectLst>
                        <a:outerShdw dist="35921" dir="2700000" algn="ctr" rotWithShape="0">
                          <a:schemeClr val="bg2"/>
                        </a:outerShdw>
                      </a:effectLst>
                    </p:spPr>
                  </p:pic>
                </p:oleObj>
              </mc:Fallback>
            </mc:AlternateContent>
          </a:graphicData>
        </a:graphic>
      </p:graphicFrame>
      <p:grpSp>
        <p:nvGrpSpPr>
          <p:cNvPr id="41" name="Group 163"/>
          <p:cNvGrpSpPr>
            <a:grpSpLocks/>
          </p:cNvGrpSpPr>
          <p:nvPr/>
        </p:nvGrpSpPr>
        <p:grpSpPr bwMode="auto">
          <a:xfrm>
            <a:off x="2165002" y="5126955"/>
            <a:ext cx="4567238" cy="822325"/>
            <a:chOff x="2750" y="3021"/>
            <a:chExt cx="2877" cy="518"/>
          </a:xfrm>
        </p:grpSpPr>
        <p:sp>
          <p:nvSpPr>
            <p:cNvPr id="42" name="Text Box 151"/>
            <p:cNvSpPr txBox="1">
              <a:spLocks noChangeArrowheads="1"/>
            </p:cNvSpPr>
            <p:nvPr/>
          </p:nvSpPr>
          <p:spPr bwMode="auto">
            <a:xfrm>
              <a:off x="2750" y="3021"/>
              <a:ext cx="2877" cy="518"/>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400" b="1">
                  <a:latin typeface="仿宋_GB2312" pitchFamily="49" charset="-122"/>
                </a:rPr>
                <a:t>在颜色空间中，</a:t>
              </a:r>
              <a:r>
                <a:rPr lang="en-US" altLang="zh-CN" sz="2400" b="1">
                  <a:latin typeface="仿宋_GB2312" pitchFamily="49" charset="-122"/>
                </a:rPr>
                <a:t>(r,g,b)</a:t>
              </a:r>
              <a:r>
                <a:rPr lang="zh-CN" altLang="en-US" sz="2400" b="1">
                  <a:latin typeface="仿宋_GB2312" pitchFamily="49" charset="-122"/>
                </a:rPr>
                <a:t>对应于单位面         上的点。 </a:t>
              </a:r>
            </a:p>
          </p:txBody>
        </p:sp>
        <p:grpSp>
          <p:nvGrpSpPr>
            <p:cNvPr id="43" name="Group 155"/>
            <p:cNvGrpSpPr>
              <a:grpSpLocks noChangeAspect="1"/>
            </p:cNvGrpSpPr>
            <p:nvPr/>
          </p:nvGrpSpPr>
          <p:grpSpPr bwMode="auto">
            <a:xfrm>
              <a:off x="3109" y="3284"/>
              <a:ext cx="1146" cy="253"/>
              <a:chOff x="3382" y="3284"/>
              <a:chExt cx="1146" cy="253"/>
            </a:xfrm>
          </p:grpSpPr>
          <p:sp>
            <p:nvSpPr>
              <p:cNvPr id="44" name="AutoShape 154"/>
              <p:cNvSpPr>
                <a:spLocks noChangeAspect="1" noChangeArrowheads="1" noTextEdit="1"/>
              </p:cNvSpPr>
              <p:nvPr/>
            </p:nvSpPr>
            <p:spPr bwMode="auto">
              <a:xfrm>
                <a:off x="3382" y="3300"/>
                <a:ext cx="880" cy="237"/>
              </a:xfrm>
              <a:prstGeom prst="rect">
                <a:avLst/>
              </a:prstGeom>
              <a:noFill/>
              <a:ln w="9525">
                <a:noFill/>
                <a:miter lim="800000"/>
                <a:headEnd/>
                <a:tailEnd/>
              </a:ln>
              <a:effectLst>
                <a:outerShdw dist="17961" dir="2700000" algn="ctr" rotWithShape="0">
                  <a:schemeClr val="bg2"/>
                </a:outerShdw>
              </a:effectLst>
            </p:spPr>
            <p:txBody>
              <a:bodyPr/>
              <a:lstStyle/>
              <a:p>
                <a:pPr>
                  <a:defRPr/>
                </a:pPr>
                <a:endParaRPr lang="zh-CN" altLang="en-US"/>
              </a:p>
            </p:txBody>
          </p:sp>
          <p:sp>
            <p:nvSpPr>
              <p:cNvPr id="45" name="Rectangle 156"/>
              <p:cNvSpPr>
                <a:spLocks noChangeArrowheads="1"/>
              </p:cNvSpPr>
              <p:nvPr/>
            </p:nvSpPr>
            <p:spPr bwMode="auto">
              <a:xfrm>
                <a:off x="4152" y="3305"/>
                <a:ext cx="376" cy="211"/>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200" b="1"/>
                  <a:t>1</a:t>
                </a:r>
                <a:endParaRPr lang="en-US" altLang="zh-CN" b="1"/>
              </a:p>
            </p:txBody>
          </p:sp>
          <p:sp>
            <p:nvSpPr>
              <p:cNvPr id="46" name="Rectangle 157"/>
              <p:cNvSpPr>
                <a:spLocks noChangeArrowheads="1"/>
              </p:cNvSpPr>
              <p:nvPr/>
            </p:nvSpPr>
            <p:spPr bwMode="auto">
              <a:xfrm>
                <a:off x="3896" y="3305"/>
                <a:ext cx="386" cy="211"/>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200" b="1"/>
                  <a:t>b</a:t>
                </a:r>
                <a:endParaRPr lang="en-US" altLang="zh-CN" b="1"/>
              </a:p>
            </p:txBody>
          </p:sp>
          <p:sp>
            <p:nvSpPr>
              <p:cNvPr id="47" name="Rectangle 158"/>
              <p:cNvSpPr>
                <a:spLocks noChangeArrowheads="1"/>
              </p:cNvSpPr>
              <p:nvPr/>
            </p:nvSpPr>
            <p:spPr bwMode="auto">
              <a:xfrm>
                <a:off x="3637" y="3305"/>
                <a:ext cx="376" cy="211"/>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200" b="1"/>
                  <a:t>g</a:t>
                </a:r>
                <a:endParaRPr lang="en-US" altLang="zh-CN" b="1"/>
              </a:p>
            </p:txBody>
          </p:sp>
          <p:sp>
            <p:nvSpPr>
              <p:cNvPr id="48" name="Rectangle 159"/>
              <p:cNvSpPr>
                <a:spLocks noChangeArrowheads="1"/>
              </p:cNvSpPr>
              <p:nvPr/>
            </p:nvSpPr>
            <p:spPr bwMode="auto">
              <a:xfrm>
                <a:off x="3410" y="3305"/>
                <a:ext cx="366" cy="211"/>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200" b="1"/>
                  <a:t>r</a:t>
                </a:r>
                <a:endParaRPr lang="en-US" altLang="zh-CN" b="1"/>
              </a:p>
            </p:txBody>
          </p:sp>
          <p:sp>
            <p:nvSpPr>
              <p:cNvPr id="49" name="Rectangle 160"/>
              <p:cNvSpPr>
                <a:spLocks noChangeArrowheads="1"/>
              </p:cNvSpPr>
              <p:nvPr/>
            </p:nvSpPr>
            <p:spPr bwMode="auto">
              <a:xfrm>
                <a:off x="4030" y="3284"/>
                <a:ext cx="385" cy="211"/>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200" b="1">
                    <a:latin typeface="Symbol" pitchFamily="18" charset="2"/>
                  </a:rPr>
                  <a:t>=</a:t>
                </a:r>
                <a:endParaRPr lang="en-US" altLang="zh-CN" b="1"/>
              </a:p>
            </p:txBody>
          </p:sp>
          <p:sp>
            <p:nvSpPr>
              <p:cNvPr id="50" name="Rectangle 161"/>
              <p:cNvSpPr>
                <a:spLocks noChangeArrowheads="1"/>
              </p:cNvSpPr>
              <p:nvPr/>
            </p:nvSpPr>
            <p:spPr bwMode="auto">
              <a:xfrm>
                <a:off x="3762" y="3284"/>
                <a:ext cx="385" cy="211"/>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200" b="1">
                    <a:latin typeface="Symbol" pitchFamily="18" charset="2"/>
                  </a:rPr>
                  <a:t>+</a:t>
                </a:r>
                <a:endParaRPr lang="en-US" altLang="zh-CN" b="1"/>
              </a:p>
            </p:txBody>
          </p:sp>
          <p:sp>
            <p:nvSpPr>
              <p:cNvPr id="51" name="Rectangle 162"/>
              <p:cNvSpPr>
                <a:spLocks noChangeArrowheads="1"/>
              </p:cNvSpPr>
              <p:nvPr/>
            </p:nvSpPr>
            <p:spPr bwMode="auto">
              <a:xfrm>
                <a:off x="3506" y="3284"/>
                <a:ext cx="385" cy="211"/>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200" b="1">
                    <a:latin typeface="Symbol" pitchFamily="18" charset="2"/>
                  </a:rPr>
                  <a:t>+</a:t>
                </a:r>
                <a:endParaRPr lang="en-US" altLang="zh-CN" b="1"/>
              </a:p>
            </p:txBody>
          </p:sp>
        </p:grpSp>
      </p:grpSp>
      <p:sp>
        <p:nvSpPr>
          <p:cNvPr id="52" name="Rectangle 167"/>
          <p:cNvSpPr>
            <a:spLocks noChangeArrowheads="1"/>
          </p:cNvSpPr>
          <p:nvPr/>
        </p:nvSpPr>
        <p:spPr bwMode="auto">
          <a:xfrm>
            <a:off x="3666777" y="2304380"/>
            <a:ext cx="1254125" cy="457200"/>
          </a:xfrm>
          <a:prstGeom prst="rect">
            <a:avLst/>
          </a:prstGeom>
          <a:noFill/>
          <a:ln w="9525" algn="ctr">
            <a:noFill/>
            <a:miter lim="800000"/>
            <a:headEnd/>
            <a:tailEnd/>
          </a:ln>
          <a:effectLst>
            <a:outerShdw dist="17961" dir="2700000" algn="ctr" rotWithShape="0">
              <a:schemeClr val="bg2"/>
            </a:outerShdw>
          </a:effectLst>
        </p:spPr>
        <p:txBody>
          <a:bodyPr wrap="none">
            <a:spAutoFit/>
          </a:bodyPr>
          <a:lstStyle/>
          <a:p>
            <a:pPr indent="457200">
              <a:defRPr/>
            </a:pPr>
            <a:r>
              <a:rPr lang="zh-CN" altLang="en-US" sz="2400" b="1"/>
              <a:t>色度</a:t>
            </a:r>
          </a:p>
        </p:txBody>
      </p:sp>
      <p:sp>
        <p:nvSpPr>
          <p:cNvPr id="53" name="AutoShape 168"/>
          <p:cNvSpPr>
            <a:spLocks noChangeArrowheads="1"/>
          </p:cNvSpPr>
          <p:nvPr/>
        </p:nvSpPr>
        <p:spPr bwMode="auto">
          <a:xfrm>
            <a:off x="3842990" y="2215480"/>
            <a:ext cx="1560512" cy="490537"/>
          </a:xfrm>
          <a:prstGeom prst="curvedDownArrow">
            <a:avLst>
              <a:gd name="adj1" fmla="val 63625"/>
              <a:gd name="adj2" fmla="val 127249"/>
              <a:gd name="adj3" fmla="val 33333"/>
            </a:avLst>
          </a:prstGeom>
          <a:noFill/>
          <a:ln w="9525">
            <a:solidFill>
              <a:srgbClr val="FFCCCC"/>
            </a:solidFill>
            <a:miter lim="800000"/>
            <a:headEnd/>
            <a:tailEnd/>
          </a:ln>
          <a:effectLst>
            <a:outerShdw dist="35921" dir="2700000" algn="ctr" rotWithShape="0">
              <a:srgbClr val="808080"/>
            </a:outerShdw>
          </a:effectLst>
        </p:spPr>
        <p:txBody>
          <a:bodyPr anchor="ctr">
            <a:spAutoFit/>
          </a:bodyPr>
          <a:lstStyle/>
          <a:p>
            <a:pPr>
              <a:defRPr/>
            </a:pPr>
            <a:endParaRPr lang="zh-CN" altLang="en-US"/>
          </a:p>
        </p:txBody>
      </p:sp>
    </p:spTree>
    <p:extLst>
      <p:ext uri="{BB962C8B-B14F-4D97-AF65-F5344CB8AC3E}">
        <p14:creationId xmlns:p14="http://schemas.microsoft.com/office/powerpoint/2010/main" val="312231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ox(in)">
                                      <p:cBhvr>
                                        <p:cTn id="13" dur="5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box(in)">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box(in)">
                                      <p:cBhvr>
                                        <p:cTn id="23" dur="500"/>
                                        <p:tgtEl>
                                          <p:spTgt spid="41"/>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box(in)">
                                      <p:cBhvr>
                                        <p:cTn id="2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52" grpId="0"/>
      <p:bldP spid="5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图像颜色模型（色度图）</a:t>
            </a:r>
            <a:endParaRPr lang="zh-CN" altLang="en-US" sz="3600" b="1" dirty="0">
              <a:solidFill>
                <a:schemeClr val="tx1">
                  <a:lumMod val="75000"/>
                </a:schemeClr>
              </a:solidFill>
            </a:endParaRPr>
          </a:p>
        </p:txBody>
      </p:sp>
      <p:sp>
        <p:nvSpPr>
          <p:cNvPr id="25" name="Rectangle 105"/>
          <p:cNvSpPr>
            <a:spLocks noChangeArrowheads="1"/>
          </p:cNvSpPr>
          <p:nvPr/>
        </p:nvSpPr>
        <p:spPr bwMode="auto">
          <a:xfrm>
            <a:off x="971600" y="2214375"/>
            <a:ext cx="4895850" cy="519113"/>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dirty="0"/>
              <a:t>r-g</a:t>
            </a:r>
            <a:r>
              <a:rPr lang="zh-CN" altLang="en-US" sz="2800" b="1" dirty="0"/>
              <a:t>色度图</a:t>
            </a:r>
          </a:p>
        </p:txBody>
      </p:sp>
      <p:sp>
        <p:nvSpPr>
          <p:cNvPr id="27" name="Text Box 106"/>
          <p:cNvSpPr txBox="1">
            <a:spLocks noChangeArrowheads="1"/>
          </p:cNvSpPr>
          <p:nvPr/>
        </p:nvSpPr>
        <p:spPr bwMode="auto">
          <a:xfrm>
            <a:off x="1419225" y="2756173"/>
            <a:ext cx="3178175" cy="1552575"/>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400" b="1" dirty="0">
                <a:latin typeface="仿宋_GB2312" pitchFamily="49" charset="-122"/>
              </a:rPr>
              <a:t>由于</a:t>
            </a:r>
            <a:r>
              <a:rPr lang="en-US" altLang="zh-CN" sz="2400" b="1" dirty="0">
                <a:latin typeface="仿宋_GB2312" pitchFamily="49" charset="-122"/>
              </a:rPr>
              <a:t>r</a:t>
            </a:r>
            <a:r>
              <a:rPr lang="zh-CN" altLang="en-US" sz="2400" b="1" dirty="0">
                <a:latin typeface="仿宋_GB2312" pitchFamily="49" charset="-122"/>
              </a:rPr>
              <a:t>、</a:t>
            </a:r>
            <a:r>
              <a:rPr lang="en-US" altLang="zh-CN" sz="2400" b="1" dirty="0">
                <a:latin typeface="仿宋_GB2312" pitchFamily="49" charset="-122"/>
              </a:rPr>
              <a:t>g</a:t>
            </a:r>
            <a:r>
              <a:rPr lang="zh-CN" altLang="en-US" sz="2400" b="1" dirty="0">
                <a:latin typeface="仿宋_GB2312" pitchFamily="49" charset="-122"/>
              </a:rPr>
              <a:t>、</a:t>
            </a:r>
            <a:r>
              <a:rPr lang="en-US" altLang="zh-CN" sz="2400" b="1" dirty="0">
                <a:latin typeface="仿宋_GB2312" pitchFamily="49" charset="-122"/>
              </a:rPr>
              <a:t>b</a:t>
            </a:r>
            <a:r>
              <a:rPr lang="zh-CN" altLang="en-US" sz="2400" b="1" dirty="0">
                <a:latin typeface="仿宋_GB2312" pitchFamily="49" charset="-122"/>
              </a:rPr>
              <a:t>三者之间不是独立的，故选择其中的两个来描述颜色即可。</a:t>
            </a:r>
          </a:p>
        </p:txBody>
      </p:sp>
      <p:pic>
        <p:nvPicPr>
          <p:cNvPr id="28" name="Picture 10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4725" y="2846660"/>
            <a:ext cx="4075113" cy="3784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9" name="Text Box 221"/>
          <p:cNvSpPr txBox="1">
            <a:spLocks noChangeArrowheads="1"/>
          </p:cNvSpPr>
          <p:nvPr/>
        </p:nvSpPr>
        <p:spPr bwMode="auto">
          <a:xfrm>
            <a:off x="5187950" y="6112148"/>
            <a:ext cx="3357563" cy="457200"/>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en-US" altLang="zh-CN" sz="2400" b="1">
                <a:solidFill>
                  <a:schemeClr val="bg1"/>
                </a:solidFill>
                <a:latin typeface="仿宋_GB2312" pitchFamily="49" charset="-122"/>
              </a:rPr>
              <a:t>Chromaticity Diagram</a:t>
            </a:r>
          </a:p>
        </p:txBody>
      </p:sp>
      <p:sp>
        <p:nvSpPr>
          <p:cNvPr id="30" name="Text Box 222"/>
          <p:cNvSpPr txBox="1">
            <a:spLocks noChangeArrowheads="1"/>
          </p:cNvSpPr>
          <p:nvPr/>
        </p:nvSpPr>
        <p:spPr bwMode="auto">
          <a:xfrm>
            <a:off x="1441450" y="4751660"/>
            <a:ext cx="3178175" cy="1917700"/>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400" b="1">
                <a:latin typeface="仿宋_GB2312" pitchFamily="49" charset="-122"/>
              </a:rPr>
              <a:t>把依据所选择的两个色度坐标在二维色度平面上描画出的所有颜色的图称为</a:t>
            </a:r>
            <a:r>
              <a:rPr lang="en-US" altLang="zh-CN" sz="2400" b="1">
                <a:latin typeface="仿宋_GB2312" pitchFamily="49" charset="-122"/>
              </a:rPr>
              <a:t>RGB</a:t>
            </a:r>
            <a:r>
              <a:rPr lang="zh-CN" altLang="en-US" sz="2400" b="1">
                <a:latin typeface="仿宋_GB2312" pitchFamily="49" charset="-122"/>
              </a:rPr>
              <a:t>表色系统的色度图。 </a:t>
            </a:r>
          </a:p>
        </p:txBody>
      </p:sp>
      <p:sp>
        <p:nvSpPr>
          <p:cNvPr id="31" name="AutoShape 223"/>
          <p:cNvSpPr>
            <a:spLocks noChangeArrowheads="1"/>
          </p:cNvSpPr>
          <p:nvPr/>
        </p:nvSpPr>
        <p:spPr bwMode="auto">
          <a:xfrm>
            <a:off x="2587625" y="4356373"/>
            <a:ext cx="892175" cy="333375"/>
          </a:xfrm>
          <a:prstGeom prst="downArrow">
            <a:avLst>
              <a:gd name="adj1" fmla="val 50000"/>
              <a:gd name="adj2" fmla="val 25000"/>
            </a:avLst>
          </a:prstGeom>
          <a:solidFill>
            <a:schemeClr val="tx2"/>
          </a:solidFill>
          <a:ln w="9525" algn="ctr">
            <a:noFill/>
            <a:miter lim="800000"/>
            <a:headEnd/>
            <a:tailEnd/>
          </a:ln>
          <a:effectLst>
            <a:outerShdw dist="35921" dir="2700000" algn="ctr" rotWithShape="0">
              <a:schemeClr val="bg2"/>
            </a:outerShdw>
          </a:effectLst>
        </p:spPr>
        <p:txBody>
          <a:bodyPr wrap="none" anchor="ctr">
            <a:spAutoFit/>
          </a:bodyPr>
          <a:lstStyle/>
          <a:p>
            <a:pPr>
              <a:defRPr/>
            </a:pPr>
            <a:endParaRPr lang="zh-CN" altLang="en-US"/>
          </a:p>
        </p:txBody>
      </p:sp>
    </p:spTree>
    <p:extLst>
      <p:ext uri="{BB962C8B-B14F-4D97-AF65-F5344CB8AC3E}">
        <p14:creationId xmlns:p14="http://schemas.microsoft.com/office/powerpoint/2010/main" val="396820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box(in)">
                                      <p:cBhvr>
                                        <p:cTn id="11" dur="500"/>
                                        <p:tgtEl>
                                          <p:spTgt spid="31"/>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ox(in)">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0" grpId="0"/>
      <p:bldP spid="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图像颜色模型（色度图）</a:t>
            </a:r>
            <a:endParaRPr lang="zh-CN" altLang="en-US" sz="3600" b="1" dirty="0">
              <a:solidFill>
                <a:schemeClr val="tx1">
                  <a:lumMod val="75000"/>
                </a:schemeClr>
              </a:solidFill>
            </a:endParaRPr>
          </a:p>
        </p:txBody>
      </p:sp>
      <p:pic>
        <p:nvPicPr>
          <p:cNvPr id="10" name="Picture 5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2924944"/>
            <a:ext cx="4075113" cy="3784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1" name="Text Box 56"/>
          <p:cNvSpPr txBox="1">
            <a:spLocks noChangeArrowheads="1"/>
          </p:cNvSpPr>
          <p:nvPr/>
        </p:nvSpPr>
        <p:spPr bwMode="auto">
          <a:xfrm>
            <a:off x="1573957" y="6190431"/>
            <a:ext cx="3357563" cy="457200"/>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en-US" altLang="zh-CN" sz="2400" b="1">
                <a:solidFill>
                  <a:schemeClr val="bg1"/>
                </a:solidFill>
                <a:latin typeface="仿宋_GB2312" pitchFamily="49" charset="-122"/>
              </a:rPr>
              <a:t>Chromaticity Diagram</a:t>
            </a:r>
          </a:p>
        </p:txBody>
      </p:sp>
      <p:sp>
        <p:nvSpPr>
          <p:cNvPr id="12" name="Text Box 59"/>
          <p:cNvSpPr txBox="1">
            <a:spLocks noChangeArrowheads="1"/>
          </p:cNvSpPr>
          <p:nvPr/>
        </p:nvSpPr>
        <p:spPr bwMode="auto">
          <a:xfrm>
            <a:off x="5517307" y="2932881"/>
            <a:ext cx="3279775"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en-US" altLang="zh-CN" sz="2000" b="1">
                <a:latin typeface="仿宋_GB2312" pitchFamily="49" charset="-122"/>
              </a:rPr>
              <a:t>r-g</a:t>
            </a:r>
            <a:r>
              <a:rPr lang="zh-CN" altLang="en-US" sz="2000" b="1">
                <a:latin typeface="仿宋_GB2312" pitchFamily="49" charset="-122"/>
              </a:rPr>
              <a:t>色度图存在的问题：</a:t>
            </a:r>
            <a:endParaRPr lang="zh-CN" altLang="en-US" sz="1800" b="1">
              <a:latin typeface="仿宋_GB2312" pitchFamily="49" charset="-122"/>
            </a:endParaRPr>
          </a:p>
        </p:txBody>
      </p:sp>
      <p:sp>
        <p:nvSpPr>
          <p:cNvPr id="13" name="Rectangle 60"/>
          <p:cNvSpPr>
            <a:spLocks noChangeArrowheads="1"/>
          </p:cNvSpPr>
          <p:nvPr/>
        </p:nvSpPr>
        <p:spPr bwMode="auto">
          <a:xfrm>
            <a:off x="755576" y="2189807"/>
            <a:ext cx="4895850" cy="519113"/>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a:t>r-g</a:t>
            </a:r>
            <a:r>
              <a:rPr lang="zh-CN" altLang="en-US" sz="2800" b="1"/>
              <a:t>色度图</a:t>
            </a:r>
          </a:p>
        </p:txBody>
      </p:sp>
      <p:sp>
        <p:nvSpPr>
          <p:cNvPr id="14" name="Text Box 61"/>
          <p:cNvSpPr txBox="1">
            <a:spLocks noChangeArrowheads="1"/>
          </p:cNvSpPr>
          <p:nvPr/>
        </p:nvSpPr>
        <p:spPr bwMode="auto">
          <a:xfrm>
            <a:off x="5517307" y="3367856"/>
            <a:ext cx="3279775" cy="1739900"/>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buFont typeface="Wingdings" pitchFamily="2" charset="2"/>
              <a:buChar char="n"/>
              <a:defRPr/>
            </a:pPr>
            <a:r>
              <a:rPr lang="en-US" altLang="zh-CN" sz="1800" b="1">
                <a:latin typeface="仿宋_GB2312" pitchFamily="49" charset="-122"/>
              </a:rPr>
              <a:t>  r</a:t>
            </a:r>
            <a:r>
              <a:rPr lang="zh-CN" altLang="en-US" sz="1800" b="1">
                <a:latin typeface="仿宋_GB2312" pitchFamily="49" charset="-122"/>
              </a:rPr>
              <a:t>取负值的领域非常宽。一方面，这在视觉上显得不是很好看。另一方面，更重要的是为了配色往往要求使用负的色度值。这给实际的测定带来问题。</a:t>
            </a:r>
          </a:p>
        </p:txBody>
      </p:sp>
      <p:sp>
        <p:nvSpPr>
          <p:cNvPr id="15" name="Text Box 62"/>
          <p:cNvSpPr txBox="1">
            <a:spLocks noChangeArrowheads="1"/>
          </p:cNvSpPr>
          <p:nvPr/>
        </p:nvSpPr>
        <p:spPr bwMode="auto">
          <a:xfrm>
            <a:off x="5517307" y="5241106"/>
            <a:ext cx="3279775" cy="1465263"/>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buFont typeface="Wingdings" pitchFamily="2" charset="2"/>
              <a:buChar char="n"/>
              <a:defRPr/>
            </a:pPr>
            <a:r>
              <a:rPr lang="en-US" altLang="zh-CN" sz="1800" b="1">
                <a:latin typeface="仿宋_GB2312" pitchFamily="49" charset="-122"/>
              </a:rPr>
              <a:t>  </a:t>
            </a:r>
            <a:r>
              <a:rPr lang="zh-CN" altLang="en-US" sz="1800" b="1">
                <a:latin typeface="仿宋_GB2312" pitchFamily="49" charset="-122"/>
              </a:rPr>
              <a:t>白色左上方的领域太宽，使得二维的色度空间未被均等地加以利用，从而导致相应的色度图对不同彩色的表现能力上存在差异。 </a:t>
            </a:r>
          </a:p>
        </p:txBody>
      </p:sp>
      <p:sp>
        <p:nvSpPr>
          <p:cNvPr id="16" name="Rectangle 63"/>
          <p:cNvSpPr>
            <a:spLocks noChangeArrowheads="1"/>
          </p:cNvSpPr>
          <p:nvPr/>
        </p:nvSpPr>
        <p:spPr bwMode="auto">
          <a:xfrm>
            <a:off x="3749601" y="2189807"/>
            <a:ext cx="2844800" cy="519113"/>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a:t>x-y</a:t>
            </a:r>
            <a:r>
              <a:rPr lang="zh-CN" altLang="en-US" sz="2800" b="1"/>
              <a:t>色度图</a:t>
            </a:r>
          </a:p>
        </p:txBody>
      </p:sp>
      <p:sp>
        <p:nvSpPr>
          <p:cNvPr id="17" name="AutoShape 64"/>
          <p:cNvSpPr>
            <a:spLocks noChangeArrowheads="1"/>
          </p:cNvSpPr>
          <p:nvPr/>
        </p:nvSpPr>
        <p:spPr bwMode="auto">
          <a:xfrm>
            <a:off x="3270176" y="2280295"/>
            <a:ext cx="669925" cy="388937"/>
          </a:xfrm>
          <a:prstGeom prst="rightArrow">
            <a:avLst>
              <a:gd name="adj1" fmla="val 50000"/>
              <a:gd name="adj2" fmla="val 43061"/>
            </a:avLst>
          </a:prstGeom>
          <a:solidFill>
            <a:srgbClr val="FFFF00"/>
          </a:solidFill>
          <a:ln w="9525" algn="ctr">
            <a:noFill/>
            <a:miter lim="800000"/>
            <a:headEnd/>
            <a:tailEnd/>
          </a:ln>
          <a:effectLst>
            <a:outerShdw dist="35921" dir="2700000" algn="ctr" rotWithShape="0">
              <a:schemeClr val="bg2"/>
            </a:outerShdw>
          </a:effectLst>
        </p:spPr>
        <p:txBody>
          <a:bodyPr wrap="none" anchor="ctr">
            <a:spAutoFit/>
          </a:bodyPr>
          <a:lstStyle/>
          <a:p>
            <a:pPr>
              <a:defRPr/>
            </a:pPr>
            <a:endParaRPr lang="zh-CN" altLang="en-US"/>
          </a:p>
        </p:txBody>
      </p:sp>
    </p:spTree>
    <p:extLst>
      <p:ext uri="{BB962C8B-B14F-4D97-AF65-F5344CB8AC3E}">
        <p14:creationId xmlns:p14="http://schemas.microsoft.com/office/powerpoint/2010/main" val="224491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ox(in)">
                                      <p:cBhvr>
                                        <p:cTn id="11" dur="500"/>
                                        <p:tgtEl>
                                          <p:spTgt spid="10"/>
                                        </p:tgtEl>
                                      </p:cBhvr>
                                    </p:animEffect>
                                  </p:childTnLst>
                                </p:cTn>
                              </p:par>
                              <p:par>
                                <p:cTn id="12" presetID="4"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ox(i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ox(in)">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ox(in)">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1000" fill="hold"/>
                                        <p:tgtEl>
                                          <p:spTgt spid="17"/>
                                        </p:tgtEl>
                                        <p:attrNameLst>
                                          <p:attrName>ppt_w</p:attrName>
                                        </p:attrNameLst>
                                      </p:cBhvr>
                                      <p:tavLst>
                                        <p:tav tm="0">
                                          <p:val>
                                            <p:fltVal val="0"/>
                                          </p:val>
                                        </p:tav>
                                        <p:tav tm="100000">
                                          <p:val>
                                            <p:strVal val="#ppt_w"/>
                                          </p:val>
                                        </p:tav>
                                      </p:tavLst>
                                    </p:anim>
                                    <p:anim calcmode="lin" valueType="num">
                                      <p:cBhvr>
                                        <p:cTn id="34" dur="1000" fill="hold"/>
                                        <p:tgtEl>
                                          <p:spTgt spid="17"/>
                                        </p:tgtEl>
                                        <p:attrNameLst>
                                          <p:attrName>ppt_h</p:attrName>
                                        </p:attrNameLst>
                                      </p:cBhvr>
                                      <p:tavLst>
                                        <p:tav tm="0">
                                          <p:val>
                                            <p:fltVal val="0"/>
                                          </p:val>
                                        </p:tav>
                                        <p:tav tm="100000">
                                          <p:val>
                                            <p:strVal val="#ppt_h"/>
                                          </p:val>
                                        </p:tav>
                                      </p:tavLst>
                                    </p:anim>
                                    <p:anim calcmode="lin" valueType="num">
                                      <p:cBhvr>
                                        <p:cTn id="35"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x-y</a:t>
            </a:r>
            <a:r>
              <a:rPr lang="zh-CN" altLang="en-US" sz="3600" b="1" dirty="0" smtClean="0">
                <a:solidFill>
                  <a:schemeClr val="tx1">
                    <a:lumMod val="75000"/>
                  </a:schemeClr>
                </a:solidFill>
              </a:rPr>
              <a:t>色度图）</a:t>
            </a:r>
            <a:endParaRPr lang="zh-CN" altLang="en-US" sz="3600" b="1" dirty="0">
              <a:solidFill>
                <a:schemeClr val="tx1">
                  <a:lumMod val="75000"/>
                </a:schemeClr>
              </a:solidFill>
            </a:endParaRPr>
          </a:p>
        </p:txBody>
      </p:sp>
      <p:sp>
        <p:nvSpPr>
          <p:cNvPr id="10" name="Rectangle 56"/>
          <p:cNvSpPr>
            <a:spLocks noChangeArrowheads="1"/>
          </p:cNvSpPr>
          <p:nvPr/>
        </p:nvSpPr>
        <p:spPr bwMode="auto">
          <a:xfrm>
            <a:off x="974205" y="2178893"/>
            <a:ext cx="4895850" cy="519113"/>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a:t>XYZ</a:t>
            </a:r>
            <a:r>
              <a:rPr lang="zh-CN" altLang="en-US" sz="2800" b="1"/>
              <a:t>表色系统 </a:t>
            </a:r>
          </a:p>
        </p:txBody>
      </p:sp>
      <p:sp>
        <p:nvSpPr>
          <p:cNvPr id="11" name="Text Box 61"/>
          <p:cNvSpPr txBox="1">
            <a:spLocks noChangeArrowheads="1"/>
          </p:cNvSpPr>
          <p:nvPr/>
        </p:nvSpPr>
        <p:spPr bwMode="auto">
          <a:xfrm>
            <a:off x="932930" y="2774206"/>
            <a:ext cx="7077075" cy="1311275"/>
          </a:xfrm>
          <a:prstGeom prst="rect">
            <a:avLst/>
          </a:prstGeom>
          <a:noFill/>
          <a:ln w="9525">
            <a:noFill/>
            <a:miter lim="800000"/>
            <a:headEnd/>
            <a:tailEnd/>
          </a:ln>
          <a:effectLst>
            <a:outerShdw dist="28398" dir="1593903" algn="ctr" rotWithShape="0">
              <a:schemeClr val="bg2"/>
            </a:outerShdw>
          </a:effectLst>
        </p:spPr>
        <p:txBody>
          <a:bodyPr>
            <a:spAutoFit/>
          </a:bodyPr>
          <a:lstStyle/>
          <a:p>
            <a:pPr algn="just">
              <a:spcBef>
                <a:spcPct val="50000"/>
              </a:spcBef>
              <a:defRPr/>
            </a:pPr>
            <a:r>
              <a:rPr lang="en-US" altLang="zh-CN" sz="2000" b="1">
                <a:latin typeface="仿宋_GB2312" pitchFamily="49" charset="-122"/>
              </a:rPr>
              <a:t>    </a:t>
            </a:r>
            <a:r>
              <a:rPr lang="zh-CN" altLang="en-US" sz="2000" b="1">
                <a:latin typeface="仿宋_GB2312" pitchFamily="49" charset="-122"/>
              </a:rPr>
              <a:t>为克服在使用</a:t>
            </a:r>
            <a:r>
              <a:rPr lang="en-US" altLang="zh-CN" sz="2000" b="1">
                <a:latin typeface="仿宋_GB2312" pitchFamily="49" charset="-122"/>
              </a:rPr>
              <a:t>RGB</a:t>
            </a:r>
            <a:r>
              <a:rPr lang="zh-CN" altLang="en-US" sz="2000" b="1">
                <a:latin typeface="仿宋_GB2312" pitchFamily="49" charset="-122"/>
              </a:rPr>
              <a:t>表色系统进行配色时所遭遇到的困难，国际上又规定了一种称之为</a:t>
            </a:r>
            <a:r>
              <a:rPr lang="en-US" altLang="zh-CN" sz="2000" b="1">
                <a:latin typeface="仿宋_GB2312" pitchFamily="49" charset="-122"/>
              </a:rPr>
              <a:t>XYZ</a:t>
            </a:r>
            <a:r>
              <a:rPr lang="zh-CN" altLang="en-US" sz="2000" b="1">
                <a:latin typeface="仿宋_GB2312" pitchFamily="49" charset="-122"/>
              </a:rPr>
              <a:t>表色系统的新的表色系统。由于这种表色系统具有许多优良的性质，得到广泛的使用，并为</a:t>
            </a:r>
            <a:r>
              <a:rPr lang="en-US" altLang="zh-CN" sz="2000" b="1">
                <a:latin typeface="仿宋_GB2312" pitchFamily="49" charset="-122"/>
              </a:rPr>
              <a:t>CIE</a:t>
            </a:r>
            <a:r>
              <a:rPr lang="zh-CN" altLang="en-US" sz="2000" b="1">
                <a:latin typeface="仿宋_GB2312" pitchFamily="49" charset="-122"/>
              </a:rPr>
              <a:t>所采纳，成为</a:t>
            </a:r>
            <a:r>
              <a:rPr lang="en-US" altLang="zh-CN" sz="2000" b="1">
                <a:solidFill>
                  <a:srgbClr val="F20C00"/>
                </a:solidFill>
                <a:latin typeface="仿宋_GB2312" pitchFamily="49" charset="-122"/>
              </a:rPr>
              <a:t>CIE</a:t>
            </a:r>
            <a:r>
              <a:rPr lang="zh-CN" altLang="en-US" sz="2000" b="1">
                <a:solidFill>
                  <a:srgbClr val="F20C00"/>
                </a:solidFill>
                <a:latin typeface="仿宋_GB2312" pitchFamily="49" charset="-122"/>
              </a:rPr>
              <a:t>标准表色系统</a:t>
            </a:r>
            <a:r>
              <a:rPr lang="zh-CN" altLang="en-US" sz="2000" b="1">
                <a:latin typeface="仿宋_GB2312" pitchFamily="49" charset="-122"/>
              </a:rPr>
              <a:t>。    </a:t>
            </a:r>
          </a:p>
        </p:txBody>
      </p:sp>
      <p:grpSp>
        <p:nvGrpSpPr>
          <p:cNvPr id="12" name="Group 64"/>
          <p:cNvGrpSpPr>
            <a:grpSpLocks noChangeAspect="1"/>
          </p:cNvGrpSpPr>
          <p:nvPr/>
        </p:nvGrpSpPr>
        <p:grpSpPr bwMode="auto">
          <a:xfrm>
            <a:off x="2712517" y="4882406"/>
            <a:ext cx="3148013" cy="385762"/>
            <a:chOff x="2250" y="2841"/>
            <a:chExt cx="1983" cy="243"/>
          </a:xfrm>
        </p:grpSpPr>
        <p:sp>
          <p:nvSpPr>
            <p:cNvPr id="13" name="AutoShape 63"/>
            <p:cNvSpPr>
              <a:spLocks noChangeAspect="1" noChangeArrowheads="1" noTextEdit="1"/>
            </p:cNvSpPr>
            <p:nvPr/>
          </p:nvSpPr>
          <p:spPr bwMode="auto">
            <a:xfrm>
              <a:off x="2250" y="2858"/>
              <a:ext cx="1725" cy="226"/>
            </a:xfrm>
            <a:prstGeom prst="rect">
              <a:avLst/>
            </a:prstGeom>
            <a:noFill/>
            <a:ln w="9525">
              <a:noFill/>
              <a:miter lim="800000"/>
              <a:headEnd/>
              <a:tailEnd/>
            </a:ln>
            <a:effectLst>
              <a:outerShdw dist="17961" dir="2700000" algn="ctr" rotWithShape="0">
                <a:schemeClr val="bg2"/>
              </a:outerShdw>
            </a:effectLst>
          </p:spPr>
          <p:txBody>
            <a:bodyPr/>
            <a:lstStyle/>
            <a:p>
              <a:pPr>
                <a:defRPr/>
              </a:pPr>
              <a:endParaRPr lang="zh-CN" altLang="en-US"/>
            </a:p>
          </p:txBody>
        </p:sp>
        <p:sp>
          <p:nvSpPr>
            <p:cNvPr id="14" name="Rectangle 65"/>
            <p:cNvSpPr>
              <a:spLocks noChangeArrowheads="1"/>
            </p:cNvSpPr>
            <p:nvPr/>
          </p:nvSpPr>
          <p:spPr bwMode="auto">
            <a:xfrm>
              <a:off x="2277" y="2859"/>
              <a:ext cx="404"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C</a:t>
              </a:r>
              <a:endParaRPr lang="en-US" altLang="zh-CN" b="1"/>
            </a:p>
          </p:txBody>
        </p:sp>
        <p:sp>
          <p:nvSpPr>
            <p:cNvPr id="15" name="Rectangle 66"/>
            <p:cNvSpPr>
              <a:spLocks noChangeArrowheads="1"/>
            </p:cNvSpPr>
            <p:nvPr/>
          </p:nvSpPr>
          <p:spPr bwMode="auto">
            <a:xfrm>
              <a:off x="2440" y="2859"/>
              <a:ext cx="359"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c</a:t>
              </a:r>
              <a:endParaRPr lang="en-US" altLang="zh-CN" b="1"/>
            </a:p>
          </p:txBody>
        </p:sp>
        <p:sp>
          <p:nvSpPr>
            <p:cNvPr id="16" name="Rectangle 67"/>
            <p:cNvSpPr>
              <a:spLocks noChangeArrowheads="1"/>
            </p:cNvSpPr>
            <p:nvPr/>
          </p:nvSpPr>
          <p:spPr bwMode="auto">
            <a:xfrm>
              <a:off x="2739" y="2859"/>
              <a:ext cx="404"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X</a:t>
              </a:r>
              <a:endParaRPr lang="en-US" altLang="zh-CN" b="1"/>
            </a:p>
          </p:txBody>
        </p:sp>
        <p:sp>
          <p:nvSpPr>
            <p:cNvPr id="17" name="Rectangle 68"/>
            <p:cNvSpPr>
              <a:spLocks noChangeArrowheads="1"/>
            </p:cNvSpPr>
            <p:nvPr/>
          </p:nvSpPr>
          <p:spPr bwMode="auto">
            <a:xfrm>
              <a:off x="2917" y="2859"/>
              <a:ext cx="368"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x</a:t>
              </a:r>
              <a:endParaRPr lang="en-US" altLang="zh-CN" b="1"/>
            </a:p>
          </p:txBody>
        </p:sp>
        <p:sp>
          <p:nvSpPr>
            <p:cNvPr id="18" name="Rectangle 69"/>
            <p:cNvSpPr>
              <a:spLocks noChangeArrowheads="1"/>
            </p:cNvSpPr>
            <p:nvPr/>
          </p:nvSpPr>
          <p:spPr bwMode="auto">
            <a:xfrm>
              <a:off x="3198" y="2859"/>
              <a:ext cx="404"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Y</a:t>
              </a:r>
              <a:endParaRPr lang="en-US" altLang="zh-CN" b="1"/>
            </a:p>
          </p:txBody>
        </p:sp>
        <p:sp>
          <p:nvSpPr>
            <p:cNvPr id="19" name="Rectangle 70"/>
            <p:cNvSpPr>
              <a:spLocks noChangeArrowheads="1"/>
            </p:cNvSpPr>
            <p:nvPr/>
          </p:nvSpPr>
          <p:spPr bwMode="auto">
            <a:xfrm>
              <a:off x="3376" y="2859"/>
              <a:ext cx="368"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y</a:t>
              </a:r>
              <a:endParaRPr lang="en-US" altLang="zh-CN" b="1"/>
            </a:p>
          </p:txBody>
        </p:sp>
        <p:sp>
          <p:nvSpPr>
            <p:cNvPr id="20" name="Rectangle 71"/>
            <p:cNvSpPr>
              <a:spLocks noChangeArrowheads="1"/>
            </p:cNvSpPr>
            <p:nvPr/>
          </p:nvSpPr>
          <p:spPr bwMode="auto">
            <a:xfrm>
              <a:off x="3662" y="2859"/>
              <a:ext cx="448"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Z(</a:t>
              </a:r>
              <a:endParaRPr lang="en-US" altLang="zh-CN" b="1"/>
            </a:p>
          </p:txBody>
        </p:sp>
        <p:sp>
          <p:nvSpPr>
            <p:cNvPr id="21" name="Rectangle 72"/>
            <p:cNvSpPr>
              <a:spLocks noChangeArrowheads="1"/>
            </p:cNvSpPr>
            <p:nvPr/>
          </p:nvSpPr>
          <p:spPr bwMode="auto">
            <a:xfrm>
              <a:off x="3820" y="2859"/>
              <a:ext cx="359"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z</a:t>
              </a:r>
              <a:endParaRPr lang="en-US" altLang="zh-CN" b="1"/>
            </a:p>
          </p:txBody>
        </p:sp>
        <p:sp>
          <p:nvSpPr>
            <p:cNvPr id="22" name="Rectangle 73"/>
            <p:cNvSpPr>
              <a:spLocks noChangeArrowheads="1"/>
            </p:cNvSpPr>
            <p:nvPr/>
          </p:nvSpPr>
          <p:spPr bwMode="auto">
            <a:xfrm>
              <a:off x="2383" y="2859"/>
              <a:ext cx="341"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a:t>
              </a:r>
              <a:endParaRPr lang="en-US" altLang="zh-CN" b="1"/>
            </a:p>
          </p:txBody>
        </p:sp>
        <p:sp>
          <p:nvSpPr>
            <p:cNvPr id="23" name="Rectangle 74"/>
            <p:cNvSpPr>
              <a:spLocks noChangeArrowheads="1"/>
            </p:cNvSpPr>
            <p:nvPr/>
          </p:nvSpPr>
          <p:spPr bwMode="auto">
            <a:xfrm>
              <a:off x="2512" y="2859"/>
              <a:ext cx="341"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a:t>
              </a:r>
              <a:endParaRPr lang="en-US" altLang="zh-CN" b="1"/>
            </a:p>
          </p:txBody>
        </p:sp>
        <p:sp>
          <p:nvSpPr>
            <p:cNvPr id="24" name="Rectangle 75"/>
            <p:cNvSpPr>
              <a:spLocks noChangeArrowheads="1"/>
            </p:cNvSpPr>
            <p:nvPr/>
          </p:nvSpPr>
          <p:spPr bwMode="auto">
            <a:xfrm>
              <a:off x="2855" y="2859"/>
              <a:ext cx="341"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a:t>
              </a:r>
              <a:endParaRPr lang="en-US" altLang="zh-CN" b="1"/>
            </a:p>
          </p:txBody>
        </p:sp>
        <p:sp>
          <p:nvSpPr>
            <p:cNvPr id="32" name="Rectangle 76"/>
            <p:cNvSpPr>
              <a:spLocks noChangeArrowheads="1"/>
            </p:cNvSpPr>
            <p:nvPr/>
          </p:nvSpPr>
          <p:spPr bwMode="auto">
            <a:xfrm>
              <a:off x="2999" y="2859"/>
              <a:ext cx="341"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a:t>
              </a:r>
              <a:endParaRPr lang="en-US" altLang="zh-CN" b="1"/>
            </a:p>
          </p:txBody>
        </p:sp>
        <p:sp>
          <p:nvSpPr>
            <p:cNvPr id="33" name="Rectangle 77"/>
            <p:cNvSpPr>
              <a:spLocks noChangeArrowheads="1"/>
            </p:cNvSpPr>
            <p:nvPr/>
          </p:nvSpPr>
          <p:spPr bwMode="auto">
            <a:xfrm>
              <a:off x="3314" y="2859"/>
              <a:ext cx="341"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a:t>
              </a:r>
              <a:endParaRPr lang="en-US" altLang="zh-CN" b="1"/>
            </a:p>
          </p:txBody>
        </p:sp>
        <p:sp>
          <p:nvSpPr>
            <p:cNvPr id="34" name="Rectangle 78"/>
            <p:cNvSpPr>
              <a:spLocks noChangeArrowheads="1"/>
            </p:cNvSpPr>
            <p:nvPr/>
          </p:nvSpPr>
          <p:spPr bwMode="auto">
            <a:xfrm>
              <a:off x="3458" y="2859"/>
              <a:ext cx="341"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a:t>
              </a:r>
              <a:endParaRPr lang="en-US" altLang="zh-CN" b="1"/>
            </a:p>
          </p:txBody>
        </p:sp>
        <p:sp>
          <p:nvSpPr>
            <p:cNvPr id="35" name="Rectangle 79"/>
            <p:cNvSpPr>
              <a:spLocks noChangeArrowheads="1"/>
            </p:cNvSpPr>
            <p:nvPr/>
          </p:nvSpPr>
          <p:spPr bwMode="auto">
            <a:xfrm>
              <a:off x="3892" y="2859"/>
              <a:ext cx="341"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t>)</a:t>
              </a:r>
              <a:endParaRPr lang="en-US" altLang="zh-CN" b="1"/>
            </a:p>
          </p:txBody>
        </p:sp>
        <p:sp>
          <p:nvSpPr>
            <p:cNvPr id="36" name="Rectangle 80"/>
            <p:cNvSpPr>
              <a:spLocks noChangeArrowheads="1"/>
            </p:cNvSpPr>
            <p:nvPr/>
          </p:nvSpPr>
          <p:spPr bwMode="auto">
            <a:xfrm>
              <a:off x="2607" y="2841"/>
              <a:ext cx="376"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latin typeface="Symbol" pitchFamily="18" charset="2"/>
                </a:rPr>
                <a:t>º</a:t>
              </a:r>
              <a:endParaRPr lang="en-US" altLang="zh-CN" b="1"/>
            </a:p>
          </p:txBody>
        </p:sp>
        <p:sp>
          <p:nvSpPr>
            <p:cNvPr id="37" name="Rectangle 81"/>
            <p:cNvSpPr>
              <a:spLocks noChangeArrowheads="1"/>
            </p:cNvSpPr>
            <p:nvPr/>
          </p:nvSpPr>
          <p:spPr bwMode="auto">
            <a:xfrm>
              <a:off x="3082" y="2841"/>
              <a:ext cx="376"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latin typeface="Symbol" pitchFamily="18" charset="2"/>
                </a:rPr>
                <a:t>+</a:t>
              </a:r>
              <a:endParaRPr lang="en-US" altLang="zh-CN" b="1"/>
            </a:p>
          </p:txBody>
        </p:sp>
        <p:sp>
          <p:nvSpPr>
            <p:cNvPr id="38" name="Rectangle 82"/>
            <p:cNvSpPr>
              <a:spLocks noChangeArrowheads="1"/>
            </p:cNvSpPr>
            <p:nvPr/>
          </p:nvSpPr>
          <p:spPr bwMode="auto">
            <a:xfrm>
              <a:off x="3541" y="2841"/>
              <a:ext cx="376" cy="192"/>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indent="457200">
                <a:defRPr/>
              </a:pPr>
              <a:r>
                <a:rPr lang="en-US" altLang="zh-CN" sz="2000" b="1">
                  <a:latin typeface="Symbol" pitchFamily="18" charset="2"/>
                </a:rPr>
                <a:t>+</a:t>
              </a:r>
              <a:endParaRPr lang="en-US" altLang="zh-CN" b="1"/>
            </a:p>
          </p:txBody>
        </p:sp>
      </p:grpSp>
      <p:sp>
        <p:nvSpPr>
          <p:cNvPr id="39" name="Text Box 83"/>
          <p:cNvSpPr txBox="1">
            <a:spLocks noChangeArrowheads="1"/>
          </p:cNvSpPr>
          <p:nvPr/>
        </p:nvSpPr>
        <p:spPr bwMode="auto">
          <a:xfrm>
            <a:off x="899592" y="4134693"/>
            <a:ext cx="7077075" cy="701675"/>
          </a:xfrm>
          <a:prstGeom prst="rect">
            <a:avLst/>
          </a:prstGeom>
          <a:noFill/>
          <a:ln w="9525">
            <a:noFill/>
            <a:miter lim="800000"/>
            <a:headEnd/>
            <a:tailEnd/>
          </a:ln>
          <a:effectLst>
            <a:outerShdw dist="28398" dir="1593903" algn="ctr" rotWithShape="0">
              <a:schemeClr val="bg2"/>
            </a:outerShdw>
          </a:effectLst>
        </p:spPr>
        <p:txBody>
          <a:bodyPr>
            <a:spAutoFit/>
          </a:bodyPr>
          <a:lstStyle/>
          <a:p>
            <a:pPr algn="just">
              <a:spcBef>
                <a:spcPct val="50000"/>
              </a:spcBef>
              <a:defRPr/>
            </a:pPr>
            <a:r>
              <a:rPr lang="en-US" altLang="zh-CN" sz="2000" b="1">
                <a:latin typeface="仿宋_GB2312" pitchFamily="49" charset="-122"/>
              </a:rPr>
              <a:t>    XYZ</a:t>
            </a:r>
            <a:r>
              <a:rPr lang="zh-CN" altLang="en-US" sz="2000" b="1">
                <a:latin typeface="仿宋_GB2312" pitchFamily="49" charset="-122"/>
              </a:rPr>
              <a:t>表色系统是对</a:t>
            </a:r>
            <a:r>
              <a:rPr lang="en-US" altLang="zh-CN" sz="2000" b="1">
                <a:latin typeface="仿宋_GB2312" pitchFamily="49" charset="-122"/>
              </a:rPr>
              <a:t>RGB</a:t>
            </a:r>
            <a:r>
              <a:rPr lang="zh-CN" altLang="en-US" sz="2000" b="1">
                <a:latin typeface="仿宋_GB2312" pitchFamily="49" charset="-122"/>
              </a:rPr>
              <a:t>表色系统进行坐标变换后产生的。配色方程为</a:t>
            </a:r>
          </a:p>
        </p:txBody>
      </p:sp>
      <p:sp>
        <p:nvSpPr>
          <p:cNvPr id="40" name="Text Box 84"/>
          <p:cNvSpPr txBox="1">
            <a:spLocks noChangeArrowheads="1"/>
          </p:cNvSpPr>
          <p:nvPr/>
        </p:nvSpPr>
        <p:spPr bwMode="auto">
          <a:xfrm>
            <a:off x="1510780" y="5734893"/>
            <a:ext cx="5516562" cy="1006475"/>
          </a:xfrm>
          <a:prstGeom prst="rect">
            <a:avLst/>
          </a:prstGeom>
          <a:noFill/>
          <a:ln w="9525">
            <a:noFill/>
            <a:miter lim="800000"/>
            <a:headEnd/>
            <a:tailEnd/>
          </a:ln>
          <a:effectLst>
            <a:outerShdw dist="28398" dir="1593903" algn="ctr" rotWithShape="0">
              <a:schemeClr val="bg2"/>
            </a:outerShdw>
          </a:effectLst>
        </p:spPr>
        <p:txBody>
          <a:bodyPr>
            <a:spAutoFit/>
          </a:bodyPr>
          <a:lstStyle/>
          <a:p>
            <a:pPr algn="just">
              <a:spcBef>
                <a:spcPct val="50000"/>
              </a:spcBef>
              <a:buFont typeface="Wingdings" pitchFamily="2" charset="2"/>
              <a:buChar char="n"/>
              <a:defRPr/>
            </a:pPr>
            <a:r>
              <a:rPr lang="en-US" altLang="zh-CN" sz="2000" b="1">
                <a:latin typeface="仿宋_GB2312" pitchFamily="49" charset="-122"/>
              </a:rPr>
              <a:t> </a:t>
            </a:r>
            <a:r>
              <a:rPr lang="zh-CN" altLang="en-US" sz="2000" b="1">
                <a:latin typeface="仿宋_GB2312" pitchFamily="49" charset="-122"/>
              </a:rPr>
              <a:t>相应的三个原刺激值均不为负；</a:t>
            </a:r>
          </a:p>
          <a:p>
            <a:pPr algn="just">
              <a:buFont typeface="Wingdings" pitchFamily="2" charset="2"/>
              <a:buChar char="n"/>
              <a:defRPr/>
            </a:pPr>
            <a:r>
              <a:rPr lang="zh-CN" altLang="en-US" sz="2000" b="1">
                <a:latin typeface="仿宋_GB2312" pitchFamily="49" charset="-122"/>
              </a:rPr>
              <a:t> </a:t>
            </a:r>
            <a:r>
              <a:rPr lang="en-US" altLang="zh-CN" sz="2000" b="1">
                <a:latin typeface="仿宋_GB2312" pitchFamily="49" charset="-122"/>
              </a:rPr>
              <a:t>Y</a:t>
            </a:r>
            <a:r>
              <a:rPr lang="zh-CN" altLang="en-US" sz="2000" b="1">
                <a:latin typeface="仿宋_GB2312" pitchFamily="49" charset="-122"/>
              </a:rPr>
              <a:t>的数值正好是相应彩色光的光通量；</a:t>
            </a:r>
          </a:p>
          <a:p>
            <a:pPr algn="just">
              <a:buFont typeface="Wingdings" pitchFamily="2" charset="2"/>
              <a:buChar char="n"/>
              <a:defRPr/>
            </a:pPr>
            <a:r>
              <a:rPr lang="zh-CN" altLang="en-US" sz="2000" b="1">
                <a:latin typeface="仿宋_GB2312" pitchFamily="49" charset="-122"/>
              </a:rPr>
              <a:t> 当</a:t>
            </a:r>
            <a:r>
              <a:rPr lang="en-US" altLang="zh-CN" sz="2000" b="1">
                <a:latin typeface="仿宋_GB2312" pitchFamily="49" charset="-122"/>
              </a:rPr>
              <a:t>X=Y=Z</a:t>
            </a:r>
            <a:r>
              <a:rPr lang="zh-CN" altLang="en-US" sz="2000" b="1">
                <a:latin typeface="仿宋_GB2312" pitchFamily="49" charset="-122"/>
              </a:rPr>
              <a:t>时，仍对应标准白光。  </a:t>
            </a:r>
          </a:p>
        </p:txBody>
      </p:sp>
      <p:sp>
        <p:nvSpPr>
          <p:cNvPr id="41" name="Text Box 87"/>
          <p:cNvSpPr txBox="1">
            <a:spLocks noChangeArrowheads="1"/>
          </p:cNvSpPr>
          <p:nvPr/>
        </p:nvSpPr>
        <p:spPr bwMode="auto">
          <a:xfrm>
            <a:off x="899592" y="5301506"/>
            <a:ext cx="7077075" cy="396875"/>
          </a:xfrm>
          <a:prstGeom prst="rect">
            <a:avLst/>
          </a:prstGeom>
          <a:noFill/>
          <a:ln w="9525">
            <a:noFill/>
            <a:miter lim="800000"/>
            <a:headEnd/>
            <a:tailEnd/>
          </a:ln>
          <a:effectLst>
            <a:outerShdw dist="28398" dir="1593903" algn="ctr" rotWithShape="0">
              <a:schemeClr val="bg2"/>
            </a:outerShdw>
          </a:effectLst>
        </p:spPr>
        <p:txBody>
          <a:bodyPr>
            <a:spAutoFit/>
          </a:bodyPr>
          <a:lstStyle/>
          <a:p>
            <a:pPr algn="just">
              <a:spcBef>
                <a:spcPct val="50000"/>
              </a:spcBef>
              <a:defRPr/>
            </a:pPr>
            <a:r>
              <a:rPr lang="en-US" altLang="zh-CN" sz="2000" b="1">
                <a:latin typeface="仿宋_GB2312" pitchFamily="49" charset="-122"/>
              </a:rPr>
              <a:t>    </a:t>
            </a:r>
            <a:r>
              <a:rPr lang="zh-CN" altLang="en-US" sz="2000" b="1">
                <a:latin typeface="仿宋_GB2312" pitchFamily="49" charset="-122"/>
              </a:rPr>
              <a:t>这里三个基色量</a:t>
            </a:r>
            <a:r>
              <a:rPr lang="en-US" altLang="zh-CN" sz="2000" b="1">
                <a:latin typeface="仿宋_GB2312" pitchFamily="49" charset="-122"/>
              </a:rPr>
              <a:t>(x)</a:t>
            </a:r>
            <a:r>
              <a:rPr lang="zh-CN" altLang="en-US" sz="2000" b="1">
                <a:latin typeface="仿宋_GB2312" pitchFamily="49" charset="-122"/>
              </a:rPr>
              <a:t>、</a:t>
            </a:r>
            <a:r>
              <a:rPr lang="en-US" altLang="zh-CN" sz="2000" b="1">
                <a:latin typeface="仿宋_GB2312" pitchFamily="49" charset="-122"/>
              </a:rPr>
              <a:t>(y)</a:t>
            </a:r>
            <a:r>
              <a:rPr lang="zh-CN" altLang="en-US" sz="2000" b="1">
                <a:latin typeface="仿宋_GB2312" pitchFamily="49" charset="-122"/>
              </a:rPr>
              <a:t>、</a:t>
            </a:r>
            <a:r>
              <a:rPr lang="en-US" altLang="zh-CN" sz="2000" b="1">
                <a:latin typeface="仿宋_GB2312" pitchFamily="49" charset="-122"/>
              </a:rPr>
              <a:t>(z)</a:t>
            </a:r>
            <a:r>
              <a:rPr lang="zh-CN" altLang="en-US" sz="2000" b="1">
                <a:latin typeface="仿宋_GB2312" pitchFamily="49" charset="-122"/>
              </a:rPr>
              <a:t>的选择满足以下三个条件：</a:t>
            </a:r>
          </a:p>
        </p:txBody>
      </p:sp>
    </p:spTree>
    <p:extLst>
      <p:ext uri="{BB962C8B-B14F-4D97-AF65-F5344CB8AC3E}">
        <p14:creationId xmlns:p14="http://schemas.microsoft.com/office/powerpoint/2010/main" val="24213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ox(in)">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box(in)">
                                      <p:cBhvr>
                                        <p:cTn id="2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39" grpId="0"/>
      <p:bldP spid="40" grpId="0"/>
      <p:bldP spid="4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x-y</a:t>
            </a:r>
            <a:r>
              <a:rPr lang="zh-CN" altLang="en-US" sz="3600" b="1" dirty="0" smtClean="0">
                <a:solidFill>
                  <a:schemeClr val="tx1">
                    <a:lumMod val="75000"/>
                  </a:schemeClr>
                </a:solidFill>
              </a:rPr>
              <a:t>色度图）</a:t>
            </a:r>
            <a:endParaRPr lang="zh-CN" altLang="en-US" sz="3600" b="1" dirty="0">
              <a:solidFill>
                <a:schemeClr val="tx1">
                  <a:lumMod val="75000"/>
                </a:schemeClr>
              </a:solidFill>
            </a:endParaRPr>
          </a:p>
        </p:txBody>
      </p:sp>
      <p:sp>
        <p:nvSpPr>
          <p:cNvPr id="10" name="Rectangle 56"/>
          <p:cNvSpPr>
            <a:spLocks noChangeArrowheads="1"/>
          </p:cNvSpPr>
          <p:nvPr/>
        </p:nvSpPr>
        <p:spPr bwMode="auto">
          <a:xfrm>
            <a:off x="974205" y="2178893"/>
            <a:ext cx="4895850" cy="519113"/>
          </a:xfrm>
          <a:prstGeom prst="rect">
            <a:avLst/>
          </a:prstGeom>
          <a:noFill/>
          <a:ln w="9525" algn="ctr">
            <a:noFill/>
            <a:miter lim="800000"/>
            <a:headEnd/>
            <a:tailEnd/>
          </a:ln>
          <a:effectLst>
            <a:outerShdw dist="28398" dir="3806097" algn="ctr" rotWithShape="0">
              <a:srgbClr val="000000"/>
            </a:outerShdw>
          </a:effectLst>
        </p:spPr>
        <p:txBody>
          <a:bodyPr>
            <a:spAutoFit/>
          </a:bodyPr>
          <a:lstStyle/>
          <a:p>
            <a:pPr indent="457200">
              <a:buFont typeface="Wingdings" pitchFamily="2" charset="2"/>
              <a:buNone/>
              <a:defRPr/>
            </a:pPr>
            <a:r>
              <a:rPr lang="en-US" altLang="zh-CN" sz="2800" b="1"/>
              <a:t>XYZ</a:t>
            </a:r>
            <a:r>
              <a:rPr lang="zh-CN" altLang="en-US" sz="2800" b="1"/>
              <a:t>表色系统 </a:t>
            </a:r>
          </a:p>
        </p:txBody>
      </p:sp>
      <p:sp>
        <p:nvSpPr>
          <p:cNvPr id="29" name="Text Box 69"/>
          <p:cNvSpPr txBox="1">
            <a:spLocks noChangeArrowheads="1"/>
          </p:cNvSpPr>
          <p:nvPr/>
        </p:nvSpPr>
        <p:spPr bwMode="auto">
          <a:xfrm>
            <a:off x="1128316" y="3927623"/>
            <a:ext cx="7497762" cy="895350"/>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400" b="1">
                <a:latin typeface="仿宋_GB2312" pitchFamily="49" charset="-122"/>
              </a:rPr>
              <a:t>容易验证：它和实际的</a:t>
            </a:r>
            <a:r>
              <a:rPr lang="en-US" altLang="zh-CN" sz="2400" b="1">
                <a:latin typeface="仿宋_GB2312" pitchFamily="49" charset="-122"/>
              </a:rPr>
              <a:t>x</a:t>
            </a:r>
            <a:r>
              <a:rPr lang="zh-CN" altLang="en-US" sz="2400" b="1">
                <a:latin typeface="仿宋_GB2312" pitchFamily="49" charset="-122"/>
              </a:rPr>
              <a:t>、</a:t>
            </a:r>
            <a:r>
              <a:rPr lang="en-US" altLang="zh-CN" sz="2400" b="1">
                <a:latin typeface="仿宋_GB2312" pitchFamily="49" charset="-122"/>
              </a:rPr>
              <a:t>y</a:t>
            </a:r>
            <a:r>
              <a:rPr lang="zh-CN" altLang="en-US" sz="2400" b="1">
                <a:latin typeface="仿宋_GB2312" pitchFamily="49" charset="-122"/>
              </a:rPr>
              <a:t>、</a:t>
            </a:r>
            <a:r>
              <a:rPr lang="en-US" altLang="zh-CN" sz="2400" b="1">
                <a:latin typeface="仿宋_GB2312" pitchFamily="49" charset="-122"/>
              </a:rPr>
              <a:t>z</a:t>
            </a:r>
            <a:r>
              <a:rPr lang="zh-CN" altLang="en-US" sz="2400" b="1">
                <a:latin typeface="仿宋_GB2312" pitchFamily="49" charset="-122"/>
              </a:rPr>
              <a:t>之间满足下列比例关系：</a:t>
            </a:r>
          </a:p>
          <a:p>
            <a:pPr algn="just">
              <a:spcBef>
                <a:spcPct val="20000"/>
              </a:spcBef>
              <a:defRPr/>
            </a:pPr>
            <a:r>
              <a:rPr lang="zh-CN" altLang="en-US" sz="2400" b="1">
                <a:latin typeface="仿宋_GB2312" pitchFamily="49" charset="-122"/>
              </a:rPr>
              <a:t>               </a:t>
            </a:r>
            <a:r>
              <a:rPr lang="en-US" altLang="zh-CN" sz="2400" b="1">
                <a:latin typeface="仿宋_GB2312" pitchFamily="49" charset="-122"/>
              </a:rPr>
              <a:t>X:Y:Z = x:y:z </a:t>
            </a:r>
          </a:p>
        </p:txBody>
      </p:sp>
      <p:graphicFrame>
        <p:nvGraphicFramePr>
          <p:cNvPr id="30" name="Object 70"/>
          <p:cNvGraphicFramePr>
            <a:graphicFrameLocks noChangeAspect="1"/>
          </p:cNvGraphicFramePr>
          <p:nvPr>
            <p:extLst>
              <p:ext uri="{D42A27DB-BD31-4B8C-83A1-F6EECF244321}">
                <p14:modId xmlns:p14="http://schemas.microsoft.com/office/powerpoint/2010/main" val="922367844"/>
              </p:ext>
            </p:extLst>
          </p:nvPr>
        </p:nvGraphicFramePr>
        <p:xfrm>
          <a:off x="1321991" y="5723086"/>
          <a:ext cx="7245350" cy="730250"/>
        </p:xfrm>
        <a:graphic>
          <a:graphicData uri="http://schemas.openxmlformats.org/presentationml/2006/ole">
            <mc:AlternateContent xmlns:mc="http://schemas.openxmlformats.org/markup-compatibility/2006">
              <mc:Choice xmlns:v="urn:schemas-microsoft-com:vml" Requires="v">
                <p:oleObj spid="_x0000_s91158" name="公式" r:id="rId3" imgW="3822480" imgH="393480" progId="Equation.3">
                  <p:embed/>
                </p:oleObj>
              </mc:Choice>
              <mc:Fallback>
                <p:oleObj name="公式" r:id="rId3" imgW="382248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1991" y="5723086"/>
                        <a:ext cx="7245350" cy="730250"/>
                      </a:xfrm>
                      <a:prstGeom prst="rect">
                        <a:avLst/>
                      </a:prstGeom>
                      <a:solidFill>
                        <a:srgbClr val="FFFF00"/>
                      </a:solidFill>
                      <a:effectLst>
                        <a:outerShdw dist="35921" dir="2700000" algn="ctr" rotWithShape="0">
                          <a:schemeClr val="bg2"/>
                        </a:outerShdw>
                      </a:effectLst>
                    </p:spPr>
                  </p:pic>
                </p:oleObj>
              </mc:Fallback>
            </mc:AlternateContent>
          </a:graphicData>
        </a:graphic>
      </p:graphicFrame>
      <p:sp>
        <p:nvSpPr>
          <p:cNvPr id="31" name="Text Box 72"/>
          <p:cNvSpPr txBox="1">
            <a:spLocks noChangeArrowheads="1"/>
          </p:cNvSpPr>
          <p:nvPr/>
        </p:nvSpPr>
        <p:spPr bwMode="auto">
          <a:xfrm>
            <a:off x="1115616" y="5069036"/>
            <a:ext cx="7812087" cy="457200"/>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400" b="1">
                <a:latin typeface="仿宋_GB2312" pitchFamily="49" charset="-122"/>
              </a:rPr>
              <a:t>在颜色空间中</a:t>
            </a:r>
            <a:r>
              <a:rPr lang="en-US" altLang="zh-CN" sz="2400" b="1">
                <a:latin typeface="仿宋_GB2312" pitchFamily="49" charset="-122"/>
              </a:rPr>
              <a:t>,(x,y,z)</a:t>
            </a:r>
            <a:r>
              <a:rPr lang="zh-CN" altLang="en-US" sz="2400" b="1">
                <a:latin typeface="仿宋_GB2312" pitchFamily="49" charset="-122"/>
              </a:rPr>
              <a:t>对应于单位面</a:t>
            </a:r>
            <a:r>
              <a:rPr lang="en-US" altLang="zh-CN" sz="2400" b="1">
                <a:latin typeface="仿宋_GB2312" pitchFamily="49" charset="-122"/>
              </a:rPr>
              <a:t>x+y+z=1</a:t>
            </a:r>
            <a:r>
              <a:rPr lang="zh-CN" altLang="en-US" sz="2400" b="1">
                <a:latin typeface="仿宋_GB2312" pitchFamily="49" charset="-122"/>
              </a:rPr>
              <a:t>上的点。 </a:t>
            </a:r>
          </a:p>
        </p:txBody>
      </p:sp>
      <p:sp>
        <p:nvSpPr>
          <p:cNvPr id="42" name="Rectangle 86"/>
          <p:cNvSpPr>
            <a:spLocks noChangeArrowheads="1"/>
          </p:cNvSpPr>
          <p:nvPr/>
        </p:nvSpPr>
        <p:spPr bwMode="auto">
          <a:xfrm>
            <a:off x="2269728" y="2884636"/>
            <a:ext cx="5521325" cy="901700"/>
          </a:xfrm>
          <a:prstGeom prst="rect">
            <a:avLst/>
          </a:prstGeom>
          <a:solidFill>
            <a:srgbClr val="FFFF00"/>
          </a:solidFill>
          <a:ln w="9525" algn="ctr">
            <a:noFill/>
            <a:miter lim="800000"/>
            <a:headEnd/>
            <a:tailEnd/>
          </a:ln>
          <a:effectLst>
            <a:outerShdw dist="35921" dir="2700000" algn="ctr" rotWithShape="0">
              <a:schemeClr val="bg2"/>
            </a:outerShdw>
          </a:effectLst>
        </p:spPr>
        <p:txBody>
          <a:bodyPr wrap="none" anchor="ctr">
            <a:spAutoFit/>
          </a:bodyPr>
          <a:lstStyle/>
          <a:p>
            <a:pPr>
              <a:defRPr/>
            </a:pPr>
            <a:endParaRPr lang="zh-CN" altLang="en-US"/>
          </a:p>
        </p:txBody>
      </p:sp>
      <p:grpSp>
        <p:nvGrpSpPr>
          <p:cNvPr id="43" name="Group 87"/>
          <p:cNvGrpSpPr>
            <a:grpSpLocks/>
          </p:cNvGrpSpPr>
          <p:nvPr/>
        </p:nvGrpSpPr>
        <p:grpSpPr bwMode="auto">
          <a:xfrm>
            <a:off x="2728516" y="2951311"/>
            <a:ext cx="4525962" cy="655637"/>
            <a:chOff x="1682" y="3296"/>
            <a:chExt cx="1894" cy="211"/>
          </a:xfrm>
        </p:grpSpPr>
        <p:graphicFrame>
          <p:nvGraphicFramePr>
            <p:cNvPr id="44" name="Object 88"/>
            <p:cNvGraphicFramePr>
              <a:graphicFrameLocks noChangeAspect="1"/>
            </p:cNvGraphicFramePr>
            <p:nvPr/>
          </p:nvGraphicFramePr>
          <p:xfrm>
            <a:off x="1682" y="3296"/>
            <a:ext cx="498" cy="210"/>
          </p:xfrm>
          <a:graphic>
            <a:graphicData uri="http://schemas.openxmlformats.org/presentationml/2006/ole">
              <mc:AlternateContent xmlns:mc="http://schemas.openxmlformats.org/markup-compatibility/2006">
                <mc:Choice xmlns:v="urn:schemas-microsoft-com:vml" Requires="v">
                  <p:oleObj spid="_x0000_s91159" r:id="rId5" imgW="787400" imgH="330200" progId="Equation.2">
                    <p:embed/>
                  </p:oleObj>
                </mc:Choice>
                <mc:Fallback>
                  <p:oleObj r:id="rId5" imgW="787400" imgH="330200" progId="Equation.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2" y="3296"/>
                          <a:ext cx="498" cy="2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89"/>
            <p:cNvGraphicFramePr>
              <a:graphicFrameLocks noChangeAspect="1"/>
            </p:cNvGraphicFramePr>
            <p:nvPr/>
          </p:nvGraphicFramePr>
          <p:xfrm>
            <a:off x="2382" y="3297"/>
            <a:ext cx="486" cy="210"/>
          </p:xfrm>
          <a:graphic>
            <a:graphicData uri="http://schemas.openxmlformats.org/presentationml/2006/ole">
              <mc:AlternateContent xmlns:mc="http://schemas.openxmlformats.org/markup-compatibility/2006">
                <mc:Choice xmlns:v="urn:schemas-microsoft-com:vml" Requires="v">
                  <p:oleObj spid="_x0000_s91160" r:id="rId7" imgW="774364" imgH="330057" progId="Equation.2">
                    <p:embed/>
                  </p:oleObj>
                </mc:Choice>
                <mc:Fallback>
                  <p:oleObj r:id="rId7" imgW="774364" imgH="330057" progId="Equation.2">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2" y="3297"/>
                          <a:ext cx="486" cy="2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90"/>
            <p:cNvGraphicFramePr>
              <a:graphicFrameLocks noChangeAspect="1"/>
            </p:cNvGraphicFramePr>
            <p:nvPr/>
          </p:nvGraphicFramePr>
          <p:xfrm>
            <a:off x="3096" y="3297"/>
            <a:ext cx="480" cy="210"/>
          </p:xfrm>
          <a:graphic>
            <a:graphicData uri="http://schemas.openxmlformats.org/presentationml/2006/ole">
              <mc:AlternateContent xmlns:mc="http://schemas.openxmlformats.org/markup-compatibility/2006">
                <mc:Choice xmlns:v="urn:schemas-microsoft-com:vml" Requires="v">
                  <p:oleObj spid="_x0000_s91161" name="公式" r:id="rId9" imgW="761669" imgH="330057" progId="Equation.3">
                    <p:embed/>
                  </p:oleObj>
                </mc:Choice>
                <mc:Fallback>
                  <p:oleObj name="公式" r:id="rId9" imgW="761669" imgH="33005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96" y="3297"/>
                          <a:ext cx="480" cy="2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69721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ox(in)">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9" grpId="0"/>
      <p:bldP spid="31" grpId="0"/>
      <p:bldP spid="4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x-y</a:t>
            </a:r>
            <a:r>
              <a:rPr lang="zh-CN" altLang="en-US" sz="3600" b="1" dirty="0" smtClean="0">
                <a:solidFill>
                  <a:schemeClr val="tx1">
                    <a:lumMod val="75000"/>
                  </a:schemeClr>
                </a:solidFill>
              </a:rPr>
              <a:t>色度图）</a:t>
            </a:r>
            <a:endParaRPr lang="zh-CN" altLang="en-US" sz="3600" b="1" dirty="0">
              <a:solidFill>
                <a:schemeClr val="tx1">
                  <a:lumMod val="75000"/>
                </a:schemeClr>
              </a:solidFill>
            </a:endParaRPr>
          </a:p>
        </p:txBody>
      </p:sp>
      <p:sp>
        <p:nvSpPr>
          <p:cNvPr id="21" name="Rectangle 54"/>
          <p:cNvSpPr>
            <a:spLocks noChangeArrowheads="1"/>
          </p:cNvSpPr>
          <p:nvPr/>
        </p:nvSpPr>
        <p:spPr bwMode="auto">
          <a:xfrm>
            <a:off x="1331640" y="2348880"/>
            <a:ext cx="7407275" cy="4248150"/>
          </a:xfrm>
          <a:prstGeom prst="rect">
            <a:avLst/>
          </a:prstGeom>
          <a:solidFill>
            <a:srgbClr val="FFFF00"/>
          </a:solidFill>
          <a:ln w="9525" algn="ctr">
            <a:noFill/>
            <a:miter lim="800000"/>
            <a:headEnd/>
            <a:tailEnd/>
          </a:ln>
          <a:effectLst>
            <a:outerShdw dist="35921" dir="2700000" algn="ctr" rotWithShape="0">
              <a:schemeClr val="bg2"/>
            </a:outerShdw>
          </a:effectLst>
        </p:spPr>
        <p:txBody>
          <a:bodyPr anchor="ctr">
            <a:spAutoFit/>
          </a:bodyPr>
          <a:lstStyle/>
          <a:p>
            <a:pPr>
              <a:defRPr/>
            </a:pPr>
            <a:endParaRPr lang="zh-CN" altLang="en-US"/>
          </a:p>
        </p:txBody>
      </p:sp>
      <p:sp>
        <p:nvSpPr>
          <p:cNvPr id="23" name="Text Box 60"/>
          <p:cNvSpPr txBox="1">
            <a:spLocks noChangeArrowheads="1"/>
          </p:cNvSpPr>
          <p:nvPr/>
        </p:nvSpPr>
        <p:spPr bwMode="auto">
          <a:xfrm>
            <a:off x="5035277" y="3264868"/>
            <a:ext cx="3278188" cy="2682875"/>
          </a:xfrm>
          <a:prstGeom prst="rect">
            <a:avLst/>
          </a:prstGeom>
          <a:noFill/>
          <a:ln w="9525">
            <a:noFill/>
            <a:miter lim="800000"/>
            <a:headEnd/>
            <a:tailEnd/>
          </a:ln>
          <a:effectLst>
            <a:outerShdw dist="17961" dir="2700000" algn="ctr" rotWithShape="0">
              <a:schemeClr val="tx1"/>
            </a:outerShdw>
          </a:effectLst>
        </p:spPr>
        <p:txBody>
          <a:bodyPr>
            <a:spAutoFit/>
          </a:bodyPr>
          <a:lstStyle/>
          <a:p>
            <a:pPr marL="457200" indent="-457200">
              <a:spcBef>
                <a:spcPct val="50000"/>
              </a:spcBef>
              <a:buFontTx/>
              <a:buAutoNum type="arabicParenBoth"/>
              <a:defRPr/>
            </a:pPr>
            <a:r>
              <a:rPr lang="zh-CN" altLang="en-US" sz="2000" b="1" dirty="0">
                <a:latin typeface="仿宋_GB2312" pitchFamily="49" charset="-122"/>
              </a:rPr>
              <a:t>白色的色度坐标</a:t>
            </a:r>
            <a:r>
              <a:rPr lang="en-US" altLang="zh-CN" sz="2000" b="1" dirty="0">
                <a:latin typeface="仿宋_GB2312" pitchFamily="49" charset="-122"/>
              </a:rPr>
              <a:t>x=y=z=1/3</a:t>
            </a:r>
          </a:p>
          <a:p>
            <a:pPr marL="457200" indent="-457200">
              <a:spcBef>
                <a:spcPct val="50000"/>
              </a:spcBef>
              <a:buFontTx/>
              <a:buAutoNum type="arabicParenBoth"/>
              <a:defRPr/>
            </a:pPr>
            <a:r>
              <a:rPr lang="zh-CN" altLang="en-US" sz="2000" b="1" dirty="0">
                <a:latin typeface="仿宋_GB2312" pitchFamily="49" charset="-122"/>
              </a:rPr>
              <a:t>所有实际的颜色均位于舌形线的内侧。</a:t>
            </a:r>
          </a:p>
          <a:p>
            <a:pPr marL="457200" indent="-457200">
              <a:spcBef>
                <a:spcPct val="50000"/>
              </a:spcBef>
              <a:buFontTx/>
              <a:buAutoNum type="arabicParenBoth"/>
              <a:defRPr/>
            </a:pPr>
            <a:r>
              <a:rPr lang="zh-CN" altLang="en-US" sz="2000" b="1" dirty="0">
                <a:latin typeface="仿宋_GB2312" pitchFamily="49" charset="-122"/>
              </a:rPr>
              <a:t>位于舌形线上各点对应的颜色是纯色。</a:t>
            </a:r>
          </a:p>
          <a:p>
            <a:pPr marL="457200" indent="-457200">
              <a:spcBef>
                <a:spcPct val="50000"/>
              </a:spcBef>
              <a:buFontTx/>
              <a:buAutoNum type="arabicParenBoth"/>
              <a:defRPr/>
            </a:pPr>
            <a:endParaRPr lang="en-US" altLang="zh-CN" sz="2000" b="1" dirty="0">
              <a:solidFill>
                <a:schemeClr val="bg2"/>
              </a:solidFill>
              <a:latin typeface="仿宋_GB2312" pitchFamily="49" charset="-122"/>
            </a:endParaRPr>
          </a:p>
        </p:txBody>
      </p:sp>
      <p:pic>
        <p:nvPicPr>
          <p:cNvPr id="24" name="Picture 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852936"/>
            <a:ext cx="3270377" cy="3286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57269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ox(in)">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box(in)">
                                      <p:cBhvr>
                                        <p:cTn id="1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x-y</a:t>
            </a:r>
            <a:r>
              <a:rPr lang="zh-CN" altLang="en-US" sz="3600" b="1" dirty="0" smtClean="0">
                <a:solidFill>
                  <a:schemeClr val="tx1">
                    <a:lumMod val="75000"/>
                  </a:schemeClr>
                </a:solidFill>
              </a:rPr>
              <a:t>色度图）</a:t>
            </a:r>
            <a:endParaRPr lang="zh-CN" altLang="en-US" sz="3600" b="1" dirty="0">
              <a:solidFill>
                <a:schemeClr val="tx1">
                  <a:lumMod val="75000"/>
                </a:schemeClr>
              </a:solidFill>
            </a:endParaRPr>
          </a:p>
        </p:txBody>
      </p:sp>
      <p:graphicFrame>
        <p:nvGraphicFramePr>
          <p:cNvPr id="7" name="Object 57"/>
          <p:cNvGraphicFramePr>
            <a:graphicFrameLocks noChangeAspect="1"/>
          </p:cNvGraphicFramePr>
          <p:nvPr/>
        </p:nvGraphicFramePr>
        <p:xfrm>
          <a:off x="1439863" y="2586038"/>
          <a:ext cx="3675062" cy="4022725"/>
        </p:xfrm>
        <a:graphic>
          <a:graphicData uri="http://schemas.openxmlformats.org/presentationml/2006/ole">
            <mc:AlternateContent xmlns:mc="http://schemas.openxmlformats.org/markup-compatibility/2006">
              <mc:Choice xmlns:v="urn:schemas-microsoft-com:vml" Requires="v">
                <p:oleObj spid="_x0000_s92167" name="Image" r:id="rId3" imgW="2285714" imgH="2501587" progId="Photoshop.Image.6">
                  <p:embed/>
                </p:oleObj>
              </mc:Choice>
              <mc:Fallback>
                <p:oleObj name="Image" r:id="rId3" imgW="2285714" imgH="2501587"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9863" y="2586038"/>
                        <a:ext cx="3675062" cy="40227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58"/>
          <p:cNvSpPr txBox="1">
            <a:spLocks noChangeArrowheads="1"/>
          </p:cNvSpPr>
          <p:nvPr/>
        </p:nvSpPr>
        <p:spPr bwMode="auto">
          <a:xfrm>
            <a:off x="5537200" y="3435350"/>
            <a:ext cx="3098800" cy="2225675"/>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000" b="1">
                <a:latin typeface="仿宋_GB2312" pitchFamily="49" charset="-122"/>
              </a:rPr>
              <a:t>如图，若</a:t>
            </a:r>
            <a:r>
              <a:rPr lang="en-US" altLang="zh-CN" sz="2000" b="1">
                <a:latin typeface="仿宋_GB2312" pitchFamily="49" charset="-122"/>
              </a:rPr>
              <a:t>C1</a:t>
            </a:r>
            <a:r>
              <a:rPr lang="zh-CN" altLang="en-US" sz="2000" b="1">
                <a:latin typeface="仿宋_GB2312" pitchFamily="49" charset="-122"/>
              </a:rPr>
              <a:t>、</a:t>
            </a:r>
            <a:r>
              <a:rPr lang="en-US" altLang="zh-CN" sz="2000" b="1">
                <a:latin typeface="仿宋_GB2312" pitchFamily="49" charset="-122"/>
              </a:rPr>
              <a:t>C2</a:t>
            </a:r>
            <a:r>
              <a:rPr lang="zh-CN" altLang="en-US" sz="2000" b="1">
                <a:latin typeface="仿宋_GB2312" pitchFamily="49" charset="-122"/>
              </a:rPr>
              <a:t>、</a:t>
            </a:r>
            <a:r>
              <a:rPr lang="en-US" altLang="zh-CN" sz="2000" b="1">
                <a:latin typeface="仿宋_GB2312" pitchFamily="49" charset="-122"/>
              </a:rPr>
              <a:t>C3</a:t>
            </a:r>
            <a:r>
              <a:rPr lang="zh-CN" altLang="en-US" sz="2000" b="1">
                <a:latin typeface="仿宋_GB2312" pitchFamily="49" charset="-122"/>
              </a:rPr>
              <a:t>为所选择的基色组，则</a:t>
            </a:r>
            <a:r>
              <a:rPr lang="en-US" altLang="zh-CN" sz="2000" b="1">
                <a:latin typeface="仿宋_GB2312" pitchFamily="49" charset="-122"/>
              </a:rPr>
              <a:t>C1</a:t>
            </a:r>
            <a:r>
              <a:rPr lang="zh-CN" altLang="en-US" sz="2000" b="1">
                <a:latin typeface="仿宋_GB2312" pitchFamily="49" charset="-122"/>
              </a:rPr>
              <a:t>、</a:t>
            </a:r>
            <a:r>
              <a:rPr lang="en-US" altLang="zh-CN" sz="2000" b="1">
                <a:latin typeface="仿宋_GB2312" pitchFamily="49" charset="-122"/>
              </a:rPr>
              <a:t>C2</a:t>
            </a:r>
            <a:r>
              <a:rPr lang="zh-CN" altLang="en-US" sz="2000" b="1">
                <a:latin typeface="仿宋_GB2312" pitchFamily="49" charset="-122"/>
              </a:rPr>
              <a:t>、</a:t>
            </a:r>
            <a:r>
              <a:rPr lang="en-US" altLang="zh-CN" sz="2000" b="1">
                <a:latin typeface="仿宋_GB2312" pitchFamily="49" charset="-122"/>
              </a:rPr>
              <a:t>C3</a:t>
            </a:r>
            <a:r>
              <a:rPr lang="zh-CN" altLang="en-US" sz="2000" b="1">
                <a:latin typeface="仿宋_GB2312" pitchFamily="49" charset="-122"/>
              </a:rPr>
              <a:t>三点所围成的三角形就是基色组所确定的颜色范围，该三角形内所有的颜色都可以通过混合适量的</a:t>
            </a:r>
            <a:r>
              <a:rPr lang="en-US" altLang="zh-CN" sz="2000" b="1">
                <a:latin typeface="仿宋_GB2312" pitchFamily="49" charset="-122"/>
              </a:rPr>
              <a:t>C1</a:t>
            </a:r>
            <a:r>
              <a:rPr lang="zh-CN" altLang="en-US" sz="2000" b="1">
                <a:latin typeface="仿宋_GB2312" pitchFamily="49" charset="-122"/>
              </a:rPr>
              <a:t>、</a:t>
            </a:r>
            <a:r>
              <a:rPr lang="en-US" altLang="zh-CN" sz="2000" b="1">
                <a:latin typeface="仿宋_GB2312" pitchFamily="49" charset="-122"/>
              </a:rPr>
              <a:t>C2</a:t>
            </a:r>
            <a:r>
              <a:rPr lang="zh-CN" altLang="en-US" sz="2000" b="1">
                <a:latin typeface="仿宋_GB2312" pitchFamily="49" charset="-122"/>
              </a:rPr>
              <a:t>、</a:t>
            </a:r>
            <a:r>
              <a:rPr lang="en-US" altLang="zh-CN" sz="2000" b="1">
                <a:latin typeface="仿宋_GB2312" pitchFamily="49" charset="-122"/>
              </a:rPr>
              <a:t>C3</a:t>
            </a:r>
            <a:r>
              <a:rPr lang="zh-CN" altLang="en-US" sz="2000" b="1">
                <a:latin typeface="仿宋_GB2312" pitchFamily="49" charset="-122"/>
              </a:rPr>
              <a:t>所得到。</a:t>
            </a:r>
          </a:p>
        </p:txBody>
      </p:sp>
    </p:spTree>
    <p:extLst>
      <p:ext uri="{BB962C8B-B14F-4D97-AF65-F5344CB8AC3E}">
        <p14:creationId xmlns:p14="http://schemas.microsoft.com/office/powerpoint/2010/main" val="35293306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x-y</a:t>
            </a:r>
            <a:r>
              <a:rPr lang="zh-CN" altLang="en-US" sz="3600" b="1" dirty="0" smtClean="0">
                <a:solidFill>
                  <a:schemeClr val="tx1">
                    <a:lumMod val="75000"/>
                  </a:schemeClr>
                </a:solidFill>
              </a:rPr>
              <a:t>色度图）</a:t>
            </a:r>
            <a:endParaRPr lang="zh-CN" altLang="en-US" sz="3600" b="1" dirty="0">
              <a:solidFill>
                <a:schemeClr val="tx1">
                  <a:lumMod val="75000"/>
                </a:schemeClr>
              </a:solidFill>
            </a:endParaRPr>
          </a:p>
        </p:txBody>
      </p:sp>
      <p:sp>
        <p:nvSpPr>
          <p:cNvPr id="6" name="Text Box 56"/>
          <p:cNvSpPr txBox="1">
            <a:spLocks noChangeArrowheads="1"/>
          </p:cNvSpPr>
          <p:nvPr/>
        </p:nvSpPr>
        <p:spPr bwMode="auto">
          <a:xfrm>
            <a:off x="4576514" y="2348880"/>
            <a:ext cx="4243958" cy="1938992"/>
          </a:xfrm>
          <a:prstGeom prst="rect">
            <a:avLst/>
          </a:prstGeom>
          <a:noFill/>
          <a:ln w="9525">
            <a:noFill/>
            <a:miter lim="800000"/>
            <a:headEnd/>
            <a:tailEnd/>
          </a:ln>
          <a:effectLst>
            <a:outerShdw dist="35921" dir="2700000" algn="ctr" rotWithShape="0">
              <a:schemeClr val="bg2"/>
            </a:outerShdw>
          </a:effectLst>
        </p:spPr>
        <p:txBody>
          <a:bodyPr wrap="square">
            <a:spAutoFit/>
          </a:bodyPr>
          <a:lstStyle/>
          <a:p>
            <a:pPr>
              <a:spcBef>
                <a:spcPct val="50000"/>
              </a:spcBef>
              <a:defRPr/>
            </a:pPr>
            <a:r>
              <a:rPr lang="en-US" altLang="zh-CN" sz="2000" b="1" dirty="0">
                <a:latin typeface="仿宋_GB2312" pitchFamily="49" charset="-122"/>
              </a:rPr>
              <a:t>    </a:t>
            </a:r>
            <a:r>
              <a:rPr lang="zh-CN" altLang="en-US" sz="2000" b="1" dirty="0">
                <a:latin typeface="仿宋_GB2312" pitchFamily="49" charset="-122"/>
              </a:rPr>
              <a:t>如果两种颜色的光按一定比例混合后能够得到白色光，那么我们就称其为互补色。例如，红色和青色、蓝色和黄色。从色度图上看，互补色一定是位于一条过白色</a:t>
            </a:r>
            <a:r>
              <a:rPr lang="en-US" altLang="zh-CN" sz="2000" b="1" dirty="0">
                <a:latin typeface="仿宋_GB2312" pitchFamily="49" charset="-122"/>
              </a:rPr>
              <a:t>C</a:t>
            </a:r>
            <a:r>
              <a:rPr lang="zh-CN" altLang="en-US" sz="2000" b="1" dirty="0">
                <a:latin typeface="仿宋_GB2312" pitchFamily="49" charset="-122"/>
              </a:rPr>
              <a:t>点的线段的两端。</a:t>
            </a:r>
          </a:p>
        </p:txBody>
      </p:sp>
      <p:graphicFrame>
        <p:nvGraphicFramePr>
          <p:cNvPr id="9" name="Object 57"/>
          <p:cNvGraphicFramePr>
            <a:graphicFrameLocks noChangeAspect="1"/>
          </p:cNvGraphicFramePr>
          <p:nvPr>
            <p:extLst>
              <p:ext uri="{D42A27DB-BD31-4B8C-83A1-F6EECF244321}">
                <p14:modId xmlns:p14="http://schemas.microsoft.com/office/powerpoint/2010/main" val="3523068447"/>
              </p:ext>
            </p:extLst>
          </p:nvPr>
        </p:nvGraphicFramePr>
        <p:xfrm>
          <a:off x="1187624" y="2564904"/>
          <a:ext cx="3359150" cy="3714750"/>
        </p:xfrm>
        <a:graphic>
          <a:graphicData uri="http://schemas.openxmlformats.org/presentationml/2006/ole">
            <mc:AlternateContent xmlns:mc="http://schemas.openxmlformats.org/markup-compatibility/2006">
              <mc:Choice xmlns:v="urn:schemas-microsoft-com:vml" Requires="v">
                <p:oleObj spid="_x0000_s93191" name="Image" r:id="rId3" imgW="2285714" imgH="2526984" progId="Photoshop.Image.6">
                  <p:embed/>
                </p:oleObj>
              </mc:Choice>
              <mc:Fallback>
                <p:oleObj name="Image" r:id="rId3" imgW="2285714" imgH="2526984"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2564904"/>
                        <a:ext cx="3359150" cy="37147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Line 59"/>
          <p:cNvSpPr>
            <a:spLocks noChangeShapeType="1"/>
          </p:cNvSpPr>
          <p:nvPr/>
        </p:nvSpPr>
        <p:spPr bwMode="auto">
          <a:xfrm>
            <a:off x="6405563" y="4749056"/>
            <a:ext cx="1081087" cy="0"/>
          </a:xfrm>
          <a:prstGeom prst="line">
            <a:avLst/>
          </a:prstGeom>
          <a:noFill/>
          <a:ln w="9525">
            <a:solidFill>
              <a:srgbClr val="FFFF00"/>
            </a:solidFill>
            <a:round/>
            <a:headEnd/>
            <a:tailEnd/>
          </a:ln>
          <a:effectLst>
            <a:outerShdw dist="17961" dir="2700000" algn="ctr" rotWithShape="0">
              <a:schemeClr val="bg2"/>
            </a:outerShdw>
          </a:effectLst>
        </p:spPr>
        <p:txBody>
          <a:bodyPr wrap="none" anchor="ctr"/>
          <a:lstStyle/>
          <a:p>
            <a:pPr>
              <a:defRPr/>
            </a:pPr>
            <a:endParaRPr lang="zh-CN" altLang="en-US"/>
          </a:p>
        </p:txBody>
      </p:sp>
      <p:sp>
        <p:nvSpPr>
          <p:cNvPr id="11" name="Text Box 61"/>
          <p:cNvSpPr txBox="1">
            <a:spLocks noChangeArrowheads="1"/>
          </p:cNvSpPr>
          <p:nvPr/>
        </p:nvSpPr>
        <p:spPr bwMode="auto">
          <a:xfrm>
            <a:off x="5903913" y="4542681"/>
            <a:ext cx="738187"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defRPr/>
            </a:pPr>
            <a:r>
              <a:rPr lang="en-US" altLang="zh-CN" sz="2000" b="1">
                <a:ea typeface="华文中宋" pitchFamily="2" charset="-122"/>
              </a:rPr>
              <a:t>x = </a:t>
            </a:r>
          </a:p>
        </p:txBody>
      </p:sp>
      <p:sp>
        <p:nvSpPr>
          <p:cNvPr id="12" name="Text Box 62"/>
          <p:cNvSpPr txBox="1">
            <a:spLocks noChangeArrowheads="1"/>
          </p:cNvSpPr>
          <p:nvPr/>
        </p:nvSpPr>
        <p:spPr bwMode="auto">
          <a:xfrm>
            <a:off x="6483350" y="4365104"/>
            <a:ext cx="1235075"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spcBef>
                <a:spcPct val="50000"/>
              </a:spcBef>
              <a:defRPr/>
            </a:pPr>
            <a:r>
              <a:rPr lang="en-US" altLang="zh-CN" sz="2000" b="1" dirty="0">
                <a:ea typeface="华文中宋" pitchFamily="2" charset="-122"/>
              </a:rPr>
              <a:t>X1+X2</a:t>
            </a:r>
          </a:p>
        </p:txBody>
      </p:sp>
      <p:sp>
        <p:nvSpPr>
          <p:cNvPr id="13" name="Text Box 63"/>
          <p:cNvSpPr txBox="1">
            <a:spLocks noChangeArrowheads="1"/>
          </p:cNvSpPr>
          <p:nvPr/>
        </p:nvSpPr>
        <p:spPr bwMode="auto">
          <a:xfrm>
            <a:off x="6457950" y="4783981"/>
            <a:ext cx="1235075"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spcBef>
                <a:spcPct val="50000"/>
              </a:spcBef>
              <a:defRPr/>
            </a:pPr>
            <a:r>
              <a:rPr lang="en-US" altLang="zh-CN" sz="2000" b="1" dirty="0">
                <a:ea typeface="华文中宋" pitchFamily="2" charset="-122"/>
              </a:rPr>
              <a:t>C1+C2</a:t>
            </a:r>
          </a:p>
        </p:txBody>
      </p:sp>
      <p:sp>
        <p:nvSpPr>
          <p:cNvPr id="14" name="Text Box 64"/>
          <p:cNvSpPr txBox="1">
            <a:spLocks noChangeArrowheads="1"/>
          </p:cNvSpPr>
          <p:nvPr/>
        </p:nvSpPr>
        <p:spPr bwMode="auto">
          <a:xfrm>
            <a:off x="5924550" y="5499943"/>
            <a:ext cx="738188"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defRPr/>
            </a:pPr>
            <a:r>
              <a:rPr lang="en-US" altLang="zh-CN" sz="2000" b="1">
                <a:ea typeface="华文中宋" pitchFamily="2" charset="-122"/>
              </a:rPr>
              <a:t>y = </a:t>
            </a:r>
          </a:p>
        </p:txBody>
      </p:sp>
      <p:sp>
        <p:nvSpPr>
          <p:cNvPr id="15" name="Text Box 65"/>
          <p:cNvSpPr txBox="1">
            <a:spLocks noChangeArrowheads="1"/>
          </p:cNvSpPr>
          <p:nvPr/>
        </p:nvSpPr>
        <p:spPr bwMode="auto">
          <a:xfrm>
            <a:off x="6445250" y="5336381"/>
            <a:ext cx="1235075"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spcBef>
                <a:spcPct val="50000"/>
              </a:spcBef>
              <a:defRPr/>
            </a:pPr>
            <a:r>
              <a:rPr lang="en-US" altLang="zh-CN" sz="2000" b="1" dirty="0">
                <a:ea typeface="华文中宋" pitchFamily="2" charset="-122"/>
              </a:rPr>
              <a:t>Y1+Y2</a:t>
            </a:r>
          </a:p>
        </p:txBody>
      </p:sp>
      <p:sp>
        <p:nvSpPr>
          <p:cNvPr id="16" name="Text Box 66"/>
          <p:cNvSpPr txBox="1">
            <a:spLocks noChangeArrowheads="1"/>
          </p:cNvSpPr>
          <p:nvPr/>
        </p:nvSpPr>
        <p:spPr bwMode="auto">
          <a:xfrm>
            <a:off x="6467475" y="5719018"/>
            <a:ext cx="1235075"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spcBef>
                <a:spcPct val="50000"/>
              </a:spcBef>
              <a:defRPr/>
            </a:pPr>
            <a:r>
              <a:rPr lang="en-US" altLang="zh-CN" sz="2000" b="1">
                <a:ea typeface="华文中宋" pitchFamily="2" charset="-122"/>
              </a:rPr>
              <a:t>C1+C2</a:t>
            </a:r>
          </a:p>
        </p:txBody>
      </p:sp>
      <p:sp>
        <p:nvSpPr>
          <p:cNvPr id="17" name="Text Box 67"/>
          <p:cNvSpPr txBox="1">
            <a:spLocks noChangeArrowheads="1"/>
          </p:cNvSpPr>
          <p:nvPr/>
        </p:nvSpPr>
        <p:spPr bwMode="auto">
          <a:xfrm>
            <a:off x="5688013" y="6344493"/>
            <a:ext cx="3214687" cy="396875"/>
          </a:xfrm>
          <a:prstGeom prst="rect">
            <a:avLst/>
          </a:prstGeom>
          <a:noFill/>
          <a:ln w="9525">
            <a:noFill/>
            <a:miter lim="800000"/>
            <a:headEnd/>
            <a:tailEnd/>
          </a:ln>
          <a:effectLst>
            <a:outerShdw dist="17961" dir="2700000" algn="ctr" rotWithShape="0">
              <a:schemeClr val="bg2"/>
            </a:outerShdw>
          </a:effectLst>
        </p:spPr>
        <p:txBody>
          <a:bodyPr>
            <a:spAutoFit/>
          </a:bodyPr>
          <a:lstStyle/>
          <a:p>
            <a:pPr>
              <a:spcBef>
                <a:spcPct val="50000"/>
              </a:spcBef>
              <a:defRPr/>
            </a:pPr>
            <a:r>
              <a:rPr lang="en-US" altLang="zh-CN" sz="2000" b="1">
                <a:ea typeface="华文中宋" pitchFamily="2" charset="-122"/>
              </a:rPr>
              <a:t>Ci = Xi+Yi+Zi,     i = 1,2</a:t>
            </a:r>
          </a:p>
        </p:txBody>
      </p:sp>
      <p:sp>
        <p:nvSpPr>
          <p:cNvPr id="18" name="Line 68"/>
          <p:cNvSpPr>
            <a:spLocks noChangeShapeType="1"/>
          </p:cNvSpPr>
          <p:nvPr/>
        </p:nvSpPr>
        <p:spPr bwMode="auto">
          <a:xfrm>
            <a:off x="6410325" y="5709493"/>
            <a:ext cx="1081088" cy="0"/>
          </a:xfrm>
          <a:prstGeom prst="line">
            <a:avLst/>
          </a:prstGeom>
          <a:noFill/>
          <a:ln w="9525">
            <a:solidFill>
              <a:srgbClr val="FFFF00"/>
            </a:solidFill>
            <a:round/>
            <a:headEnd/>
            <a:tailEnd/>
          </a:ln>
          <a:effectLst>
            <a:outerShdw dist="17961" dir="2700000" algn="ctr" rotWithShape="0">
              <a:schemeClr val="bg2"/>
            </a:outerShdw>
          </a:effectLst>
        </p:spPr>
        <p:txBody>
          <a:bodyPr wrap="none" anchor="ctr"/>
          <a:lstStyle/>
          <a:p>
            <a:pPr>
              <a:defRPr/>
            </a:pPr>
            <a:endParaRPr lang="zh-CN" altLang="en-US"/>
          </a:p>
        </p:txBody>
      </p:sp>
    </p:spTree>
    <p:extLst>
      <p:ext uri="{BB962C8B-B14F-4D97-AF65-F5344CB8AC3E}">
        <p14:creationId xmlns:p14="http://schemas.microsoft.com/office/powerpoint/2010/main" val="7920450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x-y</a:t>
            </a:r>
            <a:r>
              <a:rPr lang="zh-CN" altLang="en-US" sz="3600" b="1" dirty="0" smtClean="0">
                <a:solidFill>
                  <a:schemeClr val="tx1">
                    <a:lumMod val="75000"/>
                  </a:schemeClr>
                </a:solidFill>
              </a:rPr>
              <a:t>色度图）</a:t>
            </a:r>
            <a:endParaRPr lang="zh-CN" altLang="en-US" sz="3600" b="1" dirty="0">
              <a:solidFill>
                <a:schemeClr val="tx1">
                  <a:lumMod val="75000"/>
                </a:schemeClr>
              </a:solidFill>
            </a:endParaRPr>
          </a:p>
        </p:txBody>
      </p:sp>
      <p:graphicFrame>
        <p:nvGraphicFramePr>
          <p:cNvPr id="7" name="Object 65"/>
          <p:cNvGraphicFramePr>
            <a:graphicFrameLocks noChangeAspect="1"/>
          </p:cNvGraphicFramePr>
          <p:nvPr>
            <p:extLst>
              <p:ext uri="{D42A27DB-BD31-4B8C-83A1-F6EECF244321}">
                <p14:modId xmlns:p14="http://schemas.microsoft.com/office/powerpoint/2010/main" val="2477018484"/>
              </p:ext>
            </p:extLst>
          </p:nvPr>
        </p:nvGraphicFramePr>
        <p:xfrm>
          <a:off x="1043608" y="2551113"/>
          <a:ext cx="3640137" cy="4006850"/>
        </p:xfrm>
        <a:graphic>
          <a:graphicData uri="http://schemas.openxmlformats.org/presentationml/2006/ole">
            <mc:AlternateContent xmlns:mc="http://schemas.openxmlformats.org/markup-compatibility/2006">
              <mc:Choice xmlns:v="urn:schemas-microsoft-com:vml" Requires="v">
                <p:oleObj spid="_x0000_s94215" name="Image" r:id="rId3" imgW="2273016" imgH="2501587" progId="Photoshop.Image.6">
                  <p:embed/>
                </p:oleObj>
              </mc:Choice>
              <mc:Fallback>
                <p:oleObj name="Image" r:id="rId3" imgW="2273016" imgH="2501587"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551113"/>
                        <a:ext cx="3640137" cy="40068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66"/>
          <p:cNvSpPr txBox="1">
            <a:spLocks noChangeArrowheads="1"/>
          </p:cNvSpPr>
          <p:nvPr/>
        </p:nvSpPr>
        <p:spPr bwMode="auto">
          <a:xfrm>
            <a:off x="4856783" y="2479675"/>
            <a:ext cx="3622675" cy="4154488"/>
          </a:xfrm>
          <a:prstGeom prst="rect">
            <a:avLst/>
          </a:prstGeom>
          <a:noFill/>
          <a:ln w="9525">
            <a:noFill/>
            <a:miter lim="800000"/>
            <a:headEnd/>
            <a:tailEnd/>
          </a:ln>
          <a:effectLst>
            <a:outerShdw dist="35921" dir="2700000" algn="ctr" rotWithShape="0">
              <a:schemeClr val="bg2"/>
            </a:outerShdw>
          </a:effectLst>
        </p:spPr>
        <p:txBody>
          <a:bodyPr>
            <a:spAutoFit/>
          </a:bodyPr>
          <a:lstStyle/>
          <a:p>
            <a:pPr algn="just">
              <a:spcBef>
                <a:spcPct val="50000"/>
              </a:spcBef>
              <a:defRPr/>
            </a:pPr>
            <a:r>
              <a:rPr lang="zh-CN" altLang="en-US" sz="2200" b="1" dirty="0">
                <a:latin typeface="仿宋_GB2312" pitchFamily="49" charset="-122"/>
              </a:rPr>
              <a:t>如图所示，从</a:t>
            </a:r>
            <a:r>
              <a:rPr lang="en-US" altLang="zh-CN" sz="2200" b="1" dirty="0">
                <a:latin typeface="仿宋_GB2312" pitchFamily="49" charset="-122"/>
              </a:rPr>
              <a:t>C</a:t>
            </a:r>
            <a:r>
              <a:rPr lang="zh-CN" altLang="en-US" sz="2200" b="1" dirty="0">
                <a:latin typeface="仿宋_GB2312" pitchFamily="49" charset="-122"/>
              </a:rPr>
              <a:t>点过</a:t>
            </a:r>
            <a:r>
              <a:rPr lang="en-US" altLang="zh-CN" sz="2200" b="1" dirty="0">
                <a:latin typeface="仿宋_GB2312" pitchFamily="49" charset="-122"/>
              </a:rPr>
              <a:t>C1</a:t>
            </a:r>
            <a:r>
              <a:rPr lang="zh-CN" altLang="en-US" sz="2200" b="1" dirty="0">
                <a:latin typeface="仿宋_GB2312" pitchFamily="49" charset="-122"/>
              </a:rPr>
              <a:t>点作一条线段与光谱曲线相交，得到</a:t>
            </a:r>
            <a:r>
              <a:rPr lang="en-US" altLang="zh-CN" sz="2200" b="1" dirty="0">
                <a:latin typeface="仿宋_GB2312" pitchFamily="49" charset="-122"/>
              </a:rPr>
              <a:t>Cs</a:t>
            </a:r>
            <a:r>
              <a:rPr lang="zh-CN" altLang="en-US" sz="2200" b="1" dirty="0">
                <a:latin typeface="仿宋_GB2312" pitchFamily="49" charset="-122"/>
              </a:rPr>
              <a:t>点。这样，颜色</a:t>
            </a:r>
            <a:r>
              <a:rPr lang="en-US" altLang="zh-CN" sz="2200" b="1" dirty="0">
                <a:latin typeface="仿宋_GB2312" pitchFamily="49" charset="-122"/>
              </a:rPr>
              <a:t>C1</a:t>
            </a:r>
            <a:r>
              <a:rPr lang="zh-CN" altLang="en-US" sz="2200" b="1" dirty="0">
                <a:latin typeface="仿宋_GB2312" pitchFamily="49" charset="-122"/>
              </a:rPr>
              <a:t>就可以表示为颜色</a:t>
            </a:r>
            <a:r>
              <a:rPr lang="en-US" altLang="zh-CN" sz="2200" b="1" dirty="0">
                <a:latin typeface="仿宋_GB2312" pitchFamily="49" charset="-122"/>
              </a:rPr>
              <a:t>Cs</a:t>
            </a:r>
            <a:r>
              <a:rPr lang="zh-CN" altLang="en-US" sz="2200" b="1" dirty="0">
                <a:latin typeface="仿宋_GB2312" pitchFamily="49" charset="-122"/>
              </a:rPr>
              <a:t>和白光的混合。那么</a:t>
            </a:r>
            <a:r>
              <a:rPr lang="en-US" altLang="zh-CN" sz="2200" b="1" dirty="0">
                <a:latin typeface="仿宋_GB2312" pitchFamily="49" charset="-122"/>
              </a:rPr>
              <a:t>C1</a:t>
            </a:r>
            <a:r>
              <a:rPr lang="zh-CN" altLang="en-US" sz="2200" b="1" dirty="0">
                <a:latin typeface="仿宋_GB2312" pitchFamily="49" charset="-122"/>
              </a:rPr>
              <a:t>的主波长就为</a:t>
            </a:r>
            <a:r>
              <a:rPr lang="en-US" altLang="zh-CN" sz="2200" b="1" dirty="0">
                <a:latin typeface="仿宋_GB2312" pitchFamily="49" charset="-122"/>
              </a:rPr>
              <a:t>Cs</a:t>
            </a:r>
            <a:r>
              <a:rPr lang="zh-CN" altLang="en-US" sz="2200" b="1" dirty="0">
                <a:latin typeface="仿宋_GB2312" pitchFamily="49" charset="-122"/>
              </a:rPr>
              <a:t>。但这种方法不适用与那些</a:t>
            </a:r>
            <a:r>
              <a:rPr lang="en-US" altLang="zh-CN" sz="2200" b="1" dirty="0">
                <a:latin typeface="仿宋_GB2312" pitchFamily="49" charset="-122"/>
              </a:rPr>
              <a:t>C</a:t>
            </a:r>
            <a:r>
              <a:rPr lang="zh-CN" altLang="en-US" sz="2200" b="1" dirty="0">
                <a:latin typeface="仿宋_GB2312" pitchFamily="49" charset="-122"/>
              </a:rPr>
              <a:t>和紫色线之间的颜色点如</a:t>
            </a:r>
            <a:r>
              <a:rPr lang="en-US" altLang="zh-CN" sz="2200" b="1" dirty="0">
                <a:latin typeface="仿宋_GB2312" pitchFamily="49" charset="-122"/>
              </a:rPr>
              <a:t>C2</a:t>
            </a:r>
            <a:r>
              <a:rPr lang="zh-CN" altLang="en-US" sz="2200" b="1" dirty="0">
                <a:latin typeface="仿宋_GB2312" pitchFamily="49" charset="-122"/>
              </a:rPr>
              <a:t>点，因为紫色线不属于光谱范围。为此，我们作</a:t>
            </a:r>
            <a:r>
              <a:rPr lang="en-US" altLang="zh-CN" sz="2200" b="1" dirty="0">
                <a:latin typeface="仿宋_GB2312" pitchFamily="49" charset="-122"/>
              </a:rPr>
              <a:t>C2C</a:t>
            </a:r>
            <a:r>
              <a:rPr lang="zh-CN" altLang="en-US" sz="2200" b="1" dirty="0">
                <a:latin typeface="仿宋_GB2312" pitchFamily="49" charset="-122"/>
              </a:rPr>
              <a:t>的反向延长线，交光谱曲线于</a:t>
            </a:r>
            <a:r>
              <a:rPr lang="en-US" altLang="zh-CN" sz="2200" b="1" dirty="0">
                <a:latin typeface="仿宋_GB2312" pitchFamily="49" charset="-122"/>
              </a:rPr>
              <a:t>Cp</a:t>
            </a:r>
            <a:r>
              <a:rPr lang="zh-CN" altLang="en-US" sz="2200" b="1" dirty="0">
                <a:latin typeface="仿宋_GB2312" pitchFamily="49" charset="-122"/>
              </a:rPr>
              <a:t>点，则</a:t>
            </a:r>
            <a:r>
              <a:rPr lang="en-US" altLang="zh-CN" sz="2200" b="1" dirty="0">
                <a:latin typeface="仿宋_GB2312" pitchFamily="49" charset="-122"/>
              </a:rPr>
              <a:t>C2</a:t>
            </a:r>
            <a:r>
              <a:rPr lang="zh-CN" altLang="en-US" sz="2200" b="1" dirty="0">
                <a:latin typeface="仿宋_GB2312" pitchFamily="49" charset="-122"/>
              </a:rPr>
              <a:t>点的主波长就为</a:t>
            </a:r>
            <a:r>
              <a:rPr lang="en-US" altLang="zh-CN" sz="2200" b="1" dirty="0">
                <a:latin typeface="仿宋_GB2312" pitchFamily="49" charset="-122"/>
              </a:rPr>
              <a:t>Cp</a:t>
            </a:r>
            <a:r>
              <a:rPr lang="zh-CN" altLang="en-US" sz="2200" b="1" dirty="0">
                <a:latin typeface="仿宋_GB2312" pitchFamily="49" charset="-122"/>
              </a:rPr>
              <a:t>。</a:t>
            </a:r>
          </a:p>
        </p:txBody>
      </p:sp>
    </p:spTree>
    <p:extLst>
      <p:ext uri="{BB962C8B-B14F-4D97-AF65-F5344CB8AC3E}">
        <p14:creationId xmlns:p14="http://schemas.microsoft.com/office/powerpoint/2010/main" val="36511965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x-y</a:t>
            </a:r>
            <a:r>
              <a:rPr lang="zh-CN" altLang="en-US" sz="3600" b="1" dirty="0" smtClean="0">
                <a:solidFill>
                  <a:schemeClr val="tx1">
                    <a:lumMod val="75000"/>
                  </a:schemeClr>
                </a:solidFill>
              </a:rPr>
              <a:t>色度图）</a:t>
            </a:r>
            <a:endParaRPr lang="zh-CN" altLang="en-US" sz="3600" b="1" dirty="0">
              <a:solidFill>
                <a:schemeClr val="tx1">
                  <a:lumMod val="75000"/>
                </a:schemeClr>
              </a:solidFill>
            </a:endParaRPr>
          </a:p>
        </p:txBody>
      </p:sp>
      <p:graphicFrame>
        <p:nvGraphicFramePr>
          <p:cNvPr id="6" name="Object 57"/>
          <p:cNvGraphicFramePr>
            <a:graphicFrameLocks noChangeAspect="1"/>
          </p:cNvGraphicFramePr>
          <p:nvPr/>
        </p:nvGraphicFramePr>
        <p:xfrm>
          <a:off x="1557338" y="2928938"/>
          <a:ext cx="3221037" cy="3544887"/>
        </p:xfrm>
        <a:graphic>
          <a:graphicData uri="http://schemas.openxmlformats.org/presentationml/2006/ole">
            <mc:AlternateContent xmlns:mc="http://schemas.openxmlformats.org/markup-compatibility/2006">
              <mc:Choice xmlns:v="urn:schemas-microsoft-com:vml" Requires="v">
                <p:oleObj spid="_x0000_s95239" name="Image" r:id="rId3" imgW="2273016" imgH="2501587" progId="Photoshop.Image.6">
                  <p:embed/>
                </p:oleObj>
              </mc:Choice>
              <mc:Fallback>
                <p:oleObj name="Image" r:id="rId3" imgW="2273016" imgH="2501587"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7338" y="2928938"/>
                        <a:ext cx="3221037" cy="354488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67"/>
          <p:cNvGrpSpPr>
            <a:grpSpLocks/>
          </p:cNvGrpSpPr>
          <p:nvPr/>
        </p:nvGrpSpPr>
        <p:grpSpPr bwMode="auto">
          <a:xfrm>
            <a:off x="5194300" y="3292475"/>
            <a:ext cx="3622675" cy="2425700"/>
            <a:chOff x="3272" y="2074"/>
            <a:chExt cx="2282" cy="1528"/>
          </a:xfrm>
        </p:grpSpPr>
        <p:sp>
          <p:nvSpPr>
            <p:cNvPr id="10" name="Text Box 56"/>
            <p:cNvSpPr txBox="1">
              <a:spLocks noChangeArrowheads="1"/>
            </p:cNvSpPr>
            <p:nvPr/>
          </p:nvSpPr>
          <p:spPr bwMode="auto">
            <a:xfrm>
              <a:off x="3272" y="2074"/>
              <a:ext cx="2282" cy="327"/>
            </a:xfrm>
            <a:prstGeom prst="rect">
              <a:avLst/>
            </a:prstGeom>
            <a:noFill/>
            <a:ln w="9525">
              <a:noFill/>
              <a:miter lim="800000"/>
              <a:headEnd/>
              <a:tailEnd/>
            </a:ln>
            <a:effectLst>
              <a:outerShdw dist="28398" dir="3806097" algn="ctr" rotWithShape="0">
                <a:schemeClr val="bg2"/>
              </a:outerShdw>
            </a:effectLst>
          </p:spPr>
          <p:txBody>
            <a:bodyPr>
              <a:spAutoFit/>
            </a:bodyPr>
            <a:lstStyle/>
            <a:p>
              <a:pPr algn="just">
                <a:spcBef>
                  <a:spcPct val="50000"/>
                </a:spcBef>
                <a:defRPr/>
              </a:pPr>
              <a:r>
                <a:rPr lang="zh-CN" altLang="en-US" sz="2800" b="1">
                  <a:latin typeface="仿宋_GB2312" pitchFamily="49" charset="-122"/>
                </a:rPr>
                <a:t>色饱和度的计算</a:t>
              </a:r>
            </a:p>
          </p:txBody>
        </p:sp>
        <p:sp>
          <p:nvSpPr>
            <p:cNvPr id="11" name="Line 59"/>
            <p:cNvSpPr>
              <a:spLocks noChangeShapeType="1"/>
            </p:cNvSpPr>
            <p:nvPr/>
          </p:nvSpPr>
          <p:spPr bwMode="auto">
            <a:xfrm>
              <a:off x="4315" y="2792"/>
              <a:ext cx="421" cy="0"/>
            </a:xfrm>
            <a:prstGeom prst="line">
              <a:avLst/>
            </a:prstGeom>
            <a:noFill/>
            <a:ln w="9525">
              <a:solidFill>
                <a:srgbClr val="FFFF00"/>
              </a:solidFill>
              <a:round/>
              <a:headEnd/>
              <a:tailEnd/>
            </a:ln>
            <a:effectLst>
              <a:outerShdw dist="12700" dir="5400000" algn="ctr" rotWithShape="0">
                <a:schemeClr val="bg2"/>
              </a:outerShdw>
            </a:effectLst>
          </p:spPr>
          <p:txBody>
            <a:bodyPr wrap="none" anchor="ctr"/>
            <a:lstStyle/>
            <a:p>
              <a:pPr>
                <a:defRPr/>
              </a:pPr>
              <a:endParaRPr lang="zh-CN" altLang="en-US"/>
            </a:p>
          </p:txBody>
        </p:sp>
        <p:sp>
          <p:nvSpPr>
            <p:cNvPr id="12" name="Text Box 60"/>
            <p:cNvSpPr txBox="1">
              <a:spLocks noChangeArrowheads="1"/>
            </p:cNvSpPr>
            <p:nvPr/>
          </p:nvSpPr>
          <p:spPr bwMode="auto">
            <a:xfrm>
              <a:off x="3964" y="2605"/>
              <a:ext cx="410" cy="288"/>
            </a:xfrm>
            <a:prstGeom prst="rect">
              <a:avLst/>
            </a:prstGeom>
            <a:noFill/>
            <a:ln w="9525">
              <a:noFill/>
              <a:miter lim="800000"/>
              <a:headEnd/>
              <a:tailEnd/>
            </a:ln>
            <a:effectLst>
              <a:outerShdw dist="12700" dir="5400000" algn="ctr" rotWithShape="0">
                <a:schemeClr val="bg2"/>
              </a:outerShdw>
            </a:effectLst>
          </p:spPr>
          <p:txBody>
            <a:bodyPr>
              <a:spAutoFit/>
            </a:bodyPr>
            <a:lstStyle/>
            <a:p>
              <a:pPr>
                <a:defRPr/>
              </a:pPr>
              <a:r>
                <a:rPr lang="en-US" altLang="zh-CN" sz="2400" b="1">
                  <a:ea typeface="华文中宋" pitchFamily="2" charset="-122"/>
                </a:rPr>
                <a:t>x = </a:t>
              </a:r>
            </a:p>
          </p:txBody>
        </p:sp>
        <p:sp>
          <p:nvSpPr>
            <p:cNvPr id="13" name="Text Box 61"/>
            <p:cNvSpPr txBox="1">
              <a:spLocks noChangeArrowheads="1"/>
            </p:cNvSpPr>
            <p:nvPr/>
          </p:nvSpPr>
          <p:spPr bwMode="auto">
            <a:xfrm>
              <a:off x="4286" y="2486"/>
              <a:ext cx="687" cy="288"/>
            </a:xfrm>
            <a:prstGeom prst="rect">
              <a:avLst/>
            </a:prstGeom>
            <a:noFill/>
            <a:ln w="9525">
              <a:noFill/>
              <a:miter lim="800000"/>
              <a:headEnd/>
              <a:tailEnd/>
            </a:ln>
            <a:effectLst>
              <a:outerShdw dist="28398" dir="3806097" algn="ctr" rotWithShape="0">
                <a:schemeClr val="bg2"/>
              </a:outerShdw>
            </a:effectLst>
          </p:spPr>
          <p:txBody>
            <a:bodyPr>
              <a:spAutoFit/>
            </a:bodyPr>
            <a:lstStyle/>
            <a:p>
              <a:pPr>
                <a:spcBef>
                  <a:spcPct val="50000"/>
                </a:spcBef>
                <a:defRPr/>
              </a:pPr>
              <a:r>
                <a:rPr lang="en-US" altLang="zh-CN" sz="2400" b="1">
                  <a:ea typeface="华文中宋" pitchFamily="2" charset="-122"/>
                </a:rPr>
                <a:t>x</a:t>
              </a:r>
              <a:r>
                <a:rPr lang="en-US" altLang="zh-CN" sz="2400" b="1" baseline="-8000">
                  <a:ea typeface="华文中宋" pitchFamily="2" charset="-122"/>
                </a:rPr>
                <a:t>1</a:t>
              </a:r>
              <a:r>
                <a:rPr lang="en-US" altLang="zh-CN" sz="2400" b="1">
                  <a:ea typeface="华文中宋" pitchFamily="2" charset="-122"/>
                </a:rPr>
                <a:t>-x</a:t>
              </a:r>
              <a:r>
                <a:rPr lang="en-US" altLang="zh-CN" sz="2400" b="1" baseline="-8000">
                  <a:ea typeface="华文中宋" pitchFamily="2" charset="-122"/>
                </a:rPr>
                <a:t>c</a:t>
              </a:r>
            </a:p>
          </p:txBody>
        </p:sp>
        <p:sp>
          <p:nvSpPr>
            <p:cNvPr id="14" name="Text Box 62"/>
            <p:cNvSpPr txBox="1">
              <a:spLocks noChangeArrowheads="1"/>
            </p:cNvSpPr>
            <p:nvPr/>
          </p:nvSpPr>
          <p:spPr bwMode="auto">
            <a:xfrm>
              <a:off x="4272" y="2750"/>
              <a:ext cx="575" cy="288"/>
            </a:xfrm>
            <a:prstGeom prst="rect">
              <a:avLst/>
            </a:prstGeom>
            <a:noFill/>
            <a:ln w="9525">
              <a:noFill/>
              <a:miter lim="800000"/>
              <a:headEnd/>
              <a:tailEnd/>
            </a:ln>
            <a:effectLst>
              <a:outerShdw dist="12700" dir="5400000" algn="ctr" rotWithShape="0">
                <a:schemeClr val="bg2"/>
              </a:outerShdw>
            </a:effectLst>
          </p:spPr>
          <p:txBody>
            <a:bodyPr>
              <a:spAutoFit/>
            </a:bodyPr>
            <a:lstStyle/>
            <a:p>
              <a:pPr>
                <a:spcBef>
                  <a:spcPct val="50000"/>
                </a:spcBef>
                <a:defRPr/>
              </a:pPr>
              <a:r>
                <a:rPr lang="en-US" altLang="zh-CN" sz="2400" b="1">
                  <a:ea typeface="华文中宋" pitchFamily="2" charset="-122"/>
                </a:rPr>
                <a:t>x</a:t>
              </a:r>
              <a:r>
                <a:rPr lang="en-US" altLang="zh-CN" sz="2400" b="1" baseline="-8000">
                  <a:ea typeface="华文中宋" pitchFamily="2" charset="-122"/>
                </a:rPr>
                <a:t>s</a:t>
              </a:r>
              <a:r>
                <a:rPr lang="en-US" altLang="zh-CN" sz="2400" b="1">
                  <a:ea typeface="华文中宋" pitchFamily="2" charset="-122"/>
                </a:rPr>
                <a:t>-x</a:t>
              </a:r>
              <a:r>
                <a:rPr lang="en-US" altLang="zh-CN" sz="2400" b="1" baseline="-8000">
                  <a:ea typeface="华文中宋" pitchFamily="2" charset="-122"/>
                </a:rPr>
                <a:t>c</a:t>
              </a:r>
            </a:p>
          </p:txBody>
        </p:sp>
        <p:sp>
          <p:nvSpPr>
            <p:cNvPr id="15" name="Text Box 63"/>
            <p:cNvSpPr txBox="1">
              <a:spLocks noChangeArrowheads="1"/>
            </p:cNvSpPr>
            <p:nvPr/>
          </p:nvSpPr>
          <p:spPr bwMode="auto">
            <a:xfrm>
              <a:off x="3975" y="3162"/>
              <a:ext cx="411" cy="288"/>
            </a:xfrm>
            <a:prstGeom prst="rect">
              <a:avLst/>
            </a:prstGeom>
            <a:noFill/>
            <a:ln w="9525">
              <a:noFill/>
              <a:miter lim="800000"/>
              <a:headEnd/>
              <a:tailEnd/>
            </a:ln>
            <a:effectLst>
              <a:outerShdw dist="12700" dir="5400000" algn="ctr" rotWithShape="0">
                <a:schemeClr val="bg2"/>
              </a:outerShdw>
            </a:effectLst>
          </p:spPr>
          <p:txBody>
            <a:bodyPr>
              <a:spAutoFit/>
            </a:bodyPr>
            <a:lstStyle/>
            <a:p>
              <a:pPr>
                <a:defRPr/>
              </a:pPr>
              <a:r>
                <a:rPr lang="en-US" altLang="zh-CN" sz="2400" b="1">
                  <a:ea typeface="华文中宋" pitchFamily="2" charset="-122"/>
                </a:rPr>
                <a:t>y = </a:t>
              </a:r>
            </a:p>
          </p:txBody>
        </p:sp>
        <p:sp>
          <p:nvSpPr>
            <p:cNvPr id="16" name="Text Box 64"/>
            <p:cNvSpPr txBox="1">
              <a:spLocks noChangeArrowheads="1"/>
            </p:cNvSpPr>
            <p:nvPr/>
          </p:nvSpPr>
          <p:spPr bwMode="auto">
            <a:xfrm>
              <a:off x="4265" y="3051"/>
              <a:ext cx="687" cy="288"/>
            </a:xfrm>
            <a:prstGeom prst="rect">
              <a:avLst/>
            </a:prstGeom>
            <a:noFill/>
            <a:ln w="9525">
              <a:noFill/>
              <a:miter lim="800000"/>
              <a:headEnd/>
              <a:tailEnd/>
            </a:ln>
            <a:effectLst>
              <a:outerShdw dist="12700" dir="5400000" algn="ctr" rotWithShape="0">
                <a:schemeClr val="bg2"/>
              </a:outerShdw>
            </a:effectLst>
          </p:spPr>
          <p:txBody>
            <a:bodyPr>
              <a:spAutoFit/>
            </a:bodyPr>
            <a:lstStyle/>
            <a:p>
              <a:pPr>
                <a:spcBef>
                  <a:spcPct val="50000"/>
                </a:spcBef>
                <a:defRPr/>
              </a:pPr>
              <a:r>
                <a:rPr lang="en-US" altLang="zh-CN" sz="2400" b="1">
                  <a:ea typeface="华文中宋" pitchFamily="2" charset="-122"/>
                </a:rPr>
                <a:t>y</a:t>
              </a:r>
              <a:r>
                <a:rPr lang="en-US" altLang="zh-CN" sz="2400" b="1" baseline="-8000">
                  <a:ea typeface="华文中宋" pitchFamily="2" charset="-122"/>
                </a:rPr>
                <a:t>1</a:t>
              </a:r>
              <a:r>
                <a:rPr lang="en-US" altLang="zh-CN" sz="2400" b="1">
                  <a:ea typeface="华文中宋" pitchFamily="2" charset="-122"/>
                </a:rPr>
                <a:t>-y</a:t>
              </a:r>
              <a:r>
                <a:rPr lang="en-US" altLang="zh-CN" sz="2400" b="1" baseline="-8000">
                  <a:ea typeface="华文中宋" pitchFamily="2" charset="-122"/>
                </a:rPr>
                <a:t>c</a:t>
              </a:r>
            </a:p>
          </p:txBody>
        </p:sp>
        <p:sp>
          <p:nvSpPr>
            <p:cNvPr id="17" name="Text Box 65"/>
            <p:cNvSpPr txBox="1">
              <a:spLocks noChangeArrowheads="1"/>
            </p:cNvSpPr>
            <p:nvPr/>
          </p:nvSpPr>
          <p:spPr bwMode="auto">
            <a:xfrm>
              <a:off x="4277" y="3314"/>
              <a:ext cx="687" cy="288"/>
            </a:xfrm>
            <a:prstGeom prst="rect">
              <a:avLst/>
            </a:prstGeom>
            <a:noFill/>
            <a:ln w="9525">
              <a:noFill/>
              <a:miter lim="800000"/>
              <a:headEnd/>
              <a:tailEnd/>
            </a:ln>
            <a:effectLst>
              <a:outerShdw dist="12700" dir="5400000" algn="ctr" rotWithShape="0">
                <a:schemeClr val="bg2"/>
              </a:outerShdw>
            </a:effectLst>
          </p:spPr>
          <p:txBody>
            <a:bodyPr>
              <a:spAutoFit/>
            </a:bodyPr>
            <a:lstStyle/>
            <a:p>
              <a:pPr>
                <a:spcBef>
                  <a:spcPct val="50000"/>
                </a:spcBef>
                <a:defRPr/>
              </a:pPr>
              <a:r>
                <a:rPr lang="en-US" altLang="zh-CN" sz="2400" b="1">
                  <a:ea typeface="华文中宋" pitchFamily="2" charset="-122"/>
                </a:rPr>
                <a:t>y</a:t>
              </a:r>
              <a:r>
                <a:rPr lang="en-US" altLang="zh-CN" sz="2400" b="1" baseline="-8000">
                  <a:ea typeface="华文中宋" pitchFamily="2" charset="-122"/>
                </a:rPr>
                <a:t>s</a:t>
              </a:r>
              <a:r>
                <a:rPr lang="en-US" altLang="zh-CN" sz="2400" b="1">
                  <a:ea typeface="华文中宋" pitchFamily="2" charset="-122"/>
                </a:rPr>
                <a:t>-y</a:t>
              </a:r>
              <a:r>
                <a:rPr lang="en-US" altLang="zh-CN" sz="2400" b="1" baseline="-8000">
                  <a:ea typeface="华文中宋" pitchFamily="2" charset="-122"/>
                </a:rPr>
                <a:t>c</a:t>
              </a:r>
            </a:p>
          </p:txBody>
        </p:sp>
        <p:sp>
          <p:nvSpPr>
            <p:cNvPr id="18" name="Line 66"/>
            <p:cNvSpPr>
              <a:spLocks noChangeShapeType="1"/>
            </p:cNvSpPr>
            <p:nvPr/>
          </p:nvSpPr>
          <p:spPr bwMode="auto">
            <a:xfrm>
              <a:off x="4314" y="3350"/>
              <a:ext cx="426" cy="0"/>
            </a:xfrm>
            <a:prstGeom prst="line">
              <a:avLst/>
            </a:prstGeom>
            <a:noFill/>
            <a:ln w="9525">
              <a:solidFill>
                <a:srgbClr val="FFFF00"/>
              </a:solidFill>
              <a:round/>
              <a:headEnd/>
              <a:tailEnd/>
            </a:ln>
            <a:effectLst>
              <a:outerShdw dist="12700" dir="5400000" algn="ctr" rotWithShape="0">
                <a:schemeClr val="bg2"/>
              </a:outerShdw>
            </a:effectLst>
          </p:spPr>
          <p:txBody>
            <a:bodyPr wrap="none" anchor="ctr"/>
            <a:lstStyle/>
            <a:p>
              <a:pPr>
                <a:defRPr/>
              </a:pPr>
              <a:endParaRPr lang="zh-CN" altLang="en-US"/>
            </a:p>
          </p:txBody>
        </p:sp>
      </p:grpSp>
      <p:pic>
        <p:nvPicPr>
          <p:cNvPr id="19" name="Picture 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9538" y="2314575"/>
            <a:ext cx="4838700" cy="372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648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HSI</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sp>
        <p:nvSpPr>
          <p:cNvPr id="21" name="Text Box 6"/>
          <p:cNvSpPr txBox="1">
            <a:spLocks noChangeArrowheads="1"/>
          </p:cNvSpPr>
          <p:nvPr/>
        </p:nvSpPr>
        <p:spPr bwMode="auto">
          <a:xfrm>
            <a:off x="1475656" y="2348880"/>
            <a:ext cx="6656387" cy="1108075"/>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en-US" altLang="zh-CN" sz="2200" b="1" dirty="0">
                <a:latin typeface="仿宋_GB2312" pitchFamily="49" charset="-122"/>
              </a:rPr>
              <a:t>HSI</a:t>
            </a:r>
            <a:r>
              <a:rPr lang="zh-CN" altLang="en-US" sz="2200" b="1" dirty="0">
                <a:latin typeface="仿宋_GB2312" pitchFamily="49" charset="-122"/>
              </a:rPr>
              <a:t>色彩空间是从人的视觉系统出发，用色调、色饱和度和亮度来描述色彩。这个模型虽然比较复杂，但能把色调、亮度和色饱和度的变化情形表现得很清楚。</a:t>
            </a:r>
          </a:p>
        </p:txBody>
      </p:sp>
      <p:grpSp>
        <p:nvGrpSpPr>
          <p:cNvPr id="22" name="组合 57"/>
          <p:cNvGrpSpPr>
            <a:grpSpLocks/>
          </p:cNvGrpSpPr>
          <p:nvPr/>
        </p:nvGrpSpPr>
        <p:grpSpPr bwMode="auto">
          <a:xfrm>
            <a:off x="1575668" y="4487243"/>
            <a:ext cx="6423025" cy="2030412"/>
            <a:chOff x="1846146" y="4103648"/>
            <a:chExt cx="7247518" cy="2268000"/>
          </a:xfrm>
          <a:noFill/>
        </p:grpSpPr>
        <p:sp>
          <p:nvSpPr>
            <p:cNvPr id="23" name="Rectangle 7"/>
            <p:cNvSpPr>
              <a:spLocks noChangeArrowheads="1"/>
            </p:cNvSpPr>
            <p:nvPr/>
          </p:nvSpPr>
          <p:spPr bwMode="auto">
            <a:xfrm>
              <a:off x="1846146" y="4103648"/>
              <a:ext cx="7247518" cy="2268000"/>
            </a:xfrm>
            <a:prstGeom prst="rect">
              <a:avLst/>
            </a:prstGeom>
            <a:grpFill/>
            <a:ln w="9525" algn="ctr">
              <a:noFill/>
              <a:miter lim="800000"/>
              <a:headEnd/>
              <a:tailEnd/>
            </a:ln>
            <a:effectLst>
              <a:outerShdw dist="35921" dir="2700000" algn="ctr" rotWithShape="0">
                <a:srgbClr val="808080"/>
              </a:outerShdw>
            </a:effectLst>
          </p:spPr>
          <p:txBody>
            <a:bodyPr anchor="ctr">
              <a:spAutoFit/>
            </a:bodyPr>
            <a:lstStyle/>
            <a:p>
              <a:pPr>
                <a:defRPr/>
              </a:pPr>
              <a:endParaRPr lang="zh-CN" altLang="en-US"/>
            </a:p>
          </p:txBody>
        </p:sp>
        <p:graphicFrame>
          <p:nvGraphicFramePr>
            <p:cNvPr id="24" name="Object 8"/>
            <p:cNvGraphicFramePr>
              <a:graphicFrameLocks noChangeAspect="1"/>
            </p:cNvGraphicFramePr>
            <p:nvPr/>
          </p:nvGraphicFramePr>
          <p:xfrm>
            <a:off x="2167906" y="5636903"/>
            <a:ext cx="1666875" cy="622300"/>
          </p:xfrm>
          <a:graphic>
            <a:graphicData uri="http://schemas.openxmlformats.org/presentationml/2006/ole">
              <mc:AlternateContent xmlns:mc="http://schemas.openxmlformats.org/markup-compatibility/2006">
                <mc:Choice xmlns:v="urn:schemas-microsoft-com:vml" Requires="v">
                  <p:oleObj spid="_x0000_s96268" name="Image" r:id="rId3" imgW="1053597" imgH="393512" progId="Photoshop.Image.6">
                    <p:embed/>
                  </p:oleObj>
                </mc:Choice>
                <mc:Fallback>
                  <p:oleObj name="Image" r:id="rId3" imgW="1053597" imgH="393512"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906" y="5636903"/>
                          <a:ext cx="1666875" cy="6223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9"/>
            <p:cNvGraphicFramePr>
              <a:graphicFrameLocks noChangeAspect="1"/>
            </p:cNvGraphicFramePr>
            <p:nvPr/>
          </p:nvGraphicFramePr>
          <p:xfrm>
            <a:off x="2002858" y="4158320"/>
            <a:ext cx="6436446" cy="1484198"/>
          </p:xfrm>
          <a:graphic>
            <a:graphicData uri="http://schemas.openxmlformats.org/presentationml/2006/ole">
              <mc:AlternateContent xmlns:mc="http://schemas.openxmlformats.org/markup-compatibility/2006">
                <mc:Choice xmlns:v="urn:schemas-microsoft-com:vml" Requires="v">
                  <p:oleObj spid="_x0000_s96269" name="Image" r:id="rId5" imgW="3682540" imgH="1396825" progId="Photoshop.Image.6">
                    <p:embed/>
                  </p:oleObj>
                </mc:Choice>
                <mc:Fallback>
                  <p:oleObj name="Image" r:id="rId5" imgW="3682540" imgH="1396825" progId="Photoshop.Image.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2858" y="4158320"/>
                          <a:ext cx="6436446" cy="148419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7" name="Text Box 6"/>
          <p:cNvSpPr txBox="1">
            <a:spLocks noChangeArrowheads="1"/>
          </p:cNvSpPr>
          <p:nvPr/>
        </p:nvSpPr>
        <p:spPr bwMode="auto">
          <a:xfrm>
            <a:off x="1486768" y="3041030"/>
            <a:ext cx="6656388" cy="1277938"/>
          </a:xfrm>
          <a:prstGeom prst="rect">
            <a:avLst/>
          </a:prstGeom>
          <a:noFill/>
          <a:ln w="9525">
            <a:noFill/>
            <a:miter lim="800000"/>
            <a:headEnd/>
            <a:tailEnd/>
          </a:ln>
          <a:effectLst>
            <a:outerShdw dist="17961" dir="2700000" algn="ctr" rotWithShape="0">
              <a:schemeClr val="bg2"/>
            </a:outerShdw>
          </a:effectLst>
        </p:spPr>
        <p:txBody>
          <a:bodyPr>
            <a:spAutoFit/>
          </a:bodyPr>
          <a:lstStyle/>
          <a:p>
            <a:pPr algn="just">
              <a:spcBef>
                <a:spcPct val="50000"/>
              </a:spcBef>
              <a:defRPr/>
            </a:pPr>
            <a:r>
              <a:rPr lang="zh-CN" altLang="en-US" sz="2200" b="1" dirty="0">
                <a:latin typeface="仿宋_GB2312" pitchFamily="49" charset="-122"/>
              </a:rPr>
              <a:t>。</a:t>
            </a:r>
          </a:p>
          <a:p>
            <a:pPr algn="just">
              <a:spcBef>
                <a:spcPct val="50000"/>
              </a:spcBef>
              <a:defRPr/>
            </a:pPr>
            <a:r>
              <a:rPr lang="en-US" altLang="zh-CN" sz="2200" b="1" dirty="0">
                <a:latin typeface="仿宋_GB2312" pitchFamily="49" charset="-122"/>
              </a:rPr>
              <a:t>HSI</a:t>
            </a:r>
            <a:r>
              <a:rPr lang="zh-CN" altLang="en-US" sz="2200" b="1" dirty="0">
                <a:latin typeface="仿宋_GB2312" pitchFamily="49" charset="-122"/>
              </a:rPr>
              <a:t>表示和</a:t>
            </a:r>
            <a:r>
              <a:rPr lang="en-US" altLang="zh-CN" sz="2200" b="1" dirty="0">
                <a:latin typeface="仿宋_GB2312" pitchFamily="49" charset="-122"/>
              </a:rPr>
              <a:t>RGB</a:t>
            </a:r>
            <a:r>
              <a:rPr lang="zh-CN" altLang="en-US" sz="2200" b="1" dirty="0">
                <a:latin typeface="仿宋_GB2312" pitchFamily="49" charset="-122"/>
              </a:rPr>
              <a:t>表示只是同一物理量的不同表示而已，它们之间存在着转换关系：</a:t>
            </a:r>
          </a:p>
        </p:txBody>
      </p:sp>
    </p:spTree>
    <p:extLst>
      <p:ext uri="{BB962C8B-B14F-4D97-AF65-F5344CB8AC3E}">
        <p14:creationId xmlns:p14="http://schemas.microsoft.com/office/powerpoint/2010/main" val="369168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HSI</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pic>
        <p:nvPicPr>
          <p:cNvPr id="10" name="Picture 152" descr="image_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492896"/>
            <a:ext cx="4603750"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490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smtClean="0">
                <a:solidFill>
                  <a:schemeClr val="tx1">
                    <a:lumMod val="75000"/>
                  </a:schemeClr>
                </a:solidFill>
              </a:rPr>
              <a:t>HSI</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sp>
        <p:nvSpPr>
          <p:cNvPr id="5" name="Freeform 247"/>
          <p:cNvSpPr>
            <a:spLocks/>
          </p:cNvSpPr>
          <p:nvPr/>
        </p:nvSpPr>
        <p:spPr bwMode="auto">
          <a:xfrm>
            <a:off x="4630738" y="5038725"/>
            <a:ext cx="1479550" cy="771525"/>
          </a:xfrm>
          <a:custGeom>
            <a:avLst/>
            <a:gdLst/>
            <a:ahLst/>
            <a:cxnLst>
              <a:cxn ang="0">
                <a:pos x="5" y="0"/>
              </a:cxn>
              <a:cxn ang="0">
                <a:pos x="145" y="274"/>
              </a:cxn>
              <a:cxn ang="0">
                <a:pos x="876" y="260"/>
              </a:cxn>
            </a:cxnLst>
            <a:rect l="0" t="0" r="r" b="b"/>
            <a:pathLst>
              <a:path w="876" h="317">
                <a:moveTo>
                  <a:pt x="5" y="0"/>
                </a:moveTo>
                <a:cubicBezTo>
                  <a:pt x="2" y="115"/>
                  <a:pt x="0" y="231"/>
                  <a:pt x="145" y="274"/>
                </a:cubicBezTo>
                <a:cubicBezTo>
                  <a:pt x="290" y="317"/>
                  <a:pt x="755" y="262"/>
                  <a:pt x="876" y="260"/>
                </a:cubicBezTo>
              </a:path>
            </a:pathLst>
          </a:custGeom>
          <a:noFill/>
          <a:ln w="57150" cap="flat" cmpd="sng">
            <a:solidFill>
              <a:schemeClr val="accent3">
                <a:lumMod val="50000"/>
              </a:schemeClr>
            </a:solidFill>
            <a:prstDash val="solid"/>
            <a:round/>
            <a:headEnd type="none" w="med" len="med"/>
            <a:tailEnd type="triangle" w="med" len="med"/>
          </a:ln>
          <a:effectLst>
            <a:outerShdw blurRad="50800" dist="38100" dir="2700000" algn="tl" rotWithShape="0">
              <a:prstClr val="black">
                <a:alpha val="40000"/>
              </a:prstClr>
            </a:outerShdw>
          </a:effectLst>
        </p:spPr>
        <p:txBody>
          <a:bodyPr anchor="ctr">
            <a:spAutoFit/>
          </a:bodyPr>
          <a:lstStyle/>
          <a:p>
            <a:pPr>
              <a:defRPr/>
            </a:pPr>
            <a:endParaRPr lang="zh-CN" altLang="en-US"/>
          </a:p>
        </p:txBody>
      </p:sp>
      <p:grpSp>
        <p:nvGrpSpPr>
          <p:cNvPr id="6" name="组合 153"/>
          <p:cNvGrpSpPr>
            <a:grpSpLocks/>
          </p:cNvGrpSpPr>
          <p:nvPr/>
        </p:nvGrpSpPr>
        <p:grpSpPr bwMode="auto">
          <a:xfrm>
            <a:off x="1881188" y="3176588"/>
            <a:ext cx="3575050" cy="3270250"/>
            <a:chOff x="1479550" y="3187700"/>
            <a:chExt cx="3575050" cy="3270251"/>
          </a:xfrm>
        </p:grpSpPr>
        <p:grpSp>
          <p:nvGrpSpPr>
            <p:cNvPr id="7" name="Group 256"/>
            <p:cNvGrpSpPr>
              <a:grpSpLocks/>
            </p:cNvGrpSpPr>
            <p:nvPr/>
          </p:nvGrpSpPr>
          <p:grpSpPr bwMode="auto">
            <a:xfrm>
              <a:off x="1479550" y="3187700"/>
              <a:ext cx="3575050" cy="3270251"/>
              <a:chOff x="1023" y="1637"/>
              <a:chExt cx="2252" cy="2060"/>
            </a:xfrm>
          </p:grpSpPr>
          <p:graphicFrame>
            <p:nvGraphicFramePr>
              <p:cNvPr id="11" name="Object 151"/>
              <p:cNvGraphicFramePr>
                <a:graphicFrameLocks noChangeAspect="1"/>
              </p:cNvGraphicFramePr>
              <p:nvPr/>
            </p:nvGraphicFramePr>
            <p:xfrm>
              <a:off x="1422" y="2425"/>
              <a:ext cx="1626" cy="445"/>
            </p:xfrm>
            <a:graphic>
              <a:graphicData uri="http://schemas.openxmlformats.org/presentationml/2006/ole">
                <mc:AlternateContent xmlns:mc="http://schemas.openxmlformats.org/markup-compatibility/2006">
                  <mc:Choice xmlns:v="urn:schemas-microsoft-com:vml" Requires="v">
                    <p:oleObj spid="_x0000_s97290" name="Image" r:id="rId3" imgW="3174603" imgH="838095" progId="Photoshop.Image.6">
                      <p:embed/>
                    </p:oleObj>
                  </mc:Choice>
                  <mc:Fallback>
                    <p:oleObj name="Image" r:id="rId3" imgW="3174603" imgH="838095" progId="Photoshop.Image.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2" y="2425"/>
                            <a:ext cx="1626" cy="4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Line 153"/>
              <p:cNvSpPr>
                <a:spLocks noChangeShapeType="1"/>
              </p:cNvSpPr>
              <p:nvPr/>
            </p:nvSpPr>
            <p:spPr bwMode="auto">
              <a:xfrm flipH="1">
                <a:off x="2222" y="1637"/>
                <a:ext cx="8" cy="20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 name="Group 154"/>
              <p:cNvGrpSpPr>
                <a:grpSpLocks/>
              </p:cNvGrpSpPr>
              <p:nvPr/>
            </p:nvGrpSpPr>
            <p:grpSpPr bwMode="auto">
              <a:xfrm>
                <a:off x="2226" y="1758"/>
                <a:ext cx="1" cy="1806"/>
                <a:chOff x="1687" y="1716"/>
                <a:chExt cx="1" cy="1806"/>
              </a:xfrm>
            </p:grpSpPr>
            <p:sp>
              <p:nvSpPr>
                <p:cNvPr id="40" name="Line 155"/>
                <p:cNvSpPr>
                  <a:spLocks noChangeShapeType="1"/>
                </p:cNvSpPr>
                <p:nvPr/>
              </p:nvSpPr>
              <p:spPr bwMode="auto">
                <a:xfrm>
                  <a:off x="1687" y="1716"/>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156"/>
                <p:cNvSpPr>
                  <a:spLocks noChangeShapeType="1"/>
                </p:cNvSpPr>
                <p:nvPr/>
              </p:nvSpPr>
              <p:spPr bwMode="auto">
                <a:xfrm>
                  <a:off x="1687" y="175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157"/>
                <p:cNvSpPr>
                  <a:spLocks noChangeShapeType="1"/>
                </p:cNvSpPr>
                <p:nvPr/>
              </p:nvSpPr>
              <p:spPr bwMode="auto">
                <a:xfrm>
                  <a:off x="1687" y="1789"/>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158"/>
                <p:cNvSpPr>
                  <a:spLocks noChangeShapeType="1"/>
                </p:cNvSpPr>
                <p:nvPr/>
              </p:nvSpPr>
              <p:spPr bwMode="auto">
                <a:xfrm>
                  <a:off x="1687" y="1826"/>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159"/>
                <p:cNvSpPr>
                  <a:spLocks noChangeShapeType="1"/>
                </p:cNvSpPr>
                <p:nvPr/>
              </p:nvSpPr>
              <p:spPr bwMode="auto">
                <a:xfrm>
                  <a:off x="1687" y="186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160"/>
                <p:cNvSpPr>
                  <a:spLocks noChangeShapeType="1"/>
                </p:cNvSpPr>
                <p:nvPr/>
              </p:nvSpPr>
              <p:spPr bwMode="auto">
                <a:xfrm>
                  <a:off x="1687" y="1899"/>
                  <a:ext cx="1" cy="9"/>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161"/>
                <p:cNvSpPr>
                  <a:spLocks noChangeShapeType="1"/>
                </p:cNvSpPr>
                <p:nvPr/>
              </p:nvSpPr>
              <p:spPr bwMode="auto">
                <a:xfrm>
                  <a:off x="1687" y="1936"/>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62"/>
                <p:cNvSpPr>
                  <a:spLocks noChangeShapeType="1"/>
                </p:cNvSpPr>
                <p:nvPr/>
              </p:nvSpPr>
              <p:spPr bwMode="auto">
                <a:xfrm>
                  <a:off x="1687" y="197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163"/>
                <p:cNvSpPr>
                  <a:spLocks noChangeShapeType="1"/>
                </p:cNvSpPr>
                <p:nvPr/>
              </p:nvSpPr>
              <p:spPr bwMode="auto">
                <a:xfrm>
                  <a:off x="1687" y="201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164"/>
                <p:cNvSpPr>
                  <a:spLocks noChangeShapeType="1"/>
                </p:cNvSpPr>
                <p:nvPr/>
              </p:nvSpPr>
              <p:spPr bwMode="auto">
                <a:xfrm>
                  <a:off x="1687" y="2046"/>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165"/>
                <p:cNvSpPr>
                  <a:spLocks noChangeShapeType="1"/>
                </p:cNvSpPr>
                <p:nvPr/>
              </p:nvSpPr>
              <p:spPr bwMode="auto">
                <a:xfrm>
                  <a:off x="1687" y="208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166"/>
                <p:cNvSpPr>
                  <a:spLocks noChangeShapeType="1"/>
                </p:cNvSpPr>
                <p:nvPr/>
              </p:nvSpPr>
              <p:spPr bwMode="auto">
                <a:xfrm>
                  <a:off x="1687" y="212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167"/>
                <p:cNvSpPr>
                  <a:spLocks noChangeShapeType="1"/>
                </p:cNvSpPr>
                <p:nvPr/>
              </p:nvSpPr>
              <p:spPr bwMode="auto">
                <a:xfrm>
                  <a:off x="1687" y="2156"/>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168"/>
                <p:cNvSpPr>
                  <a:spLocks noChangeShapeType="1"/>
                </p:cNvSpPr>
                <p:nvPr/>
              </p:nvSpPr>
              <p:spPr bwMode="auto">
                <a:xfrm>
                  <a:off x="1687" y="219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169"/>
                <p:cNvSpPr>
                  <a:spLocks noChangeShapeType="1"/>
                </p:cNvSpPr>
                <p:nvPr/>
              </p:nvSpPr>
              <p:spPr bwMode="auto">
                <a:xfrm>
                  <a:off x="1687" y="223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170"/>
                <p:cNvSpPr>
                  <a:spLocks noChangeShapeType="1"/>
                </p:cNvSpPr>
                <p:nvPr/>
              </p:nvSpPr>
              <p:spPr bwMode="auto">
                <a:xfrm>
                  <a:off x="1687" y="2266"/>
                  <a:ext cx="1" cy="9"/>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171"/>
                <p:cNvSpPr>
                  <a:spLocks noChangeShapeType="1"/>
                </p:cNvSpPr>
                <p:nvPr/>
              </p:nvSpPr>
              <p:spPr bwMode="auto">
                <a:xfrm>
                  <a:off x="1687" y="230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172"/>
                <p:cNvSpPr>
                  <a:spLocks noChangeShapeType="1"/>
                </p:cNvSpPr>
                <p:nvPr/>
              </p:nvSpPr>
              <p:spPr bwMode="auto">
                <a:xfrm>
                  <a:off x="1687" y="234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73"/>
                <p:cNvSpPr>
                  <a:spLocks noChangeShapeType="1"/>
                </p:cNvSpPr>
                <p:nvPr/>
              </p:nvSpPr>
              <p:spPr bwMode="auto">
                <a:xfrm>
                  <a:off x="1687" y="237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174"/>
                <p:cNvSpPr>
                  <a:spLocks noChangeShapeType="1"/>
                </p:cNvSpPr>
                <p:nvPr/>
              </p:nvSpPr>
              <p:spPr bwMode="auto">
                <a:xfrm>
                  <a:off x="1687" y="241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175"/>
                <p:cNvSpPr>
                  <a:spLocks noChangeShapeType="1"/>
                </p:cNvSpPr>
                <p:nvPr/>
              </p:nvSpPr>
              <p:spPr bwMode="auto">
                <a:xfrm>
                  <a:off x="1687" y="245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176"/>
                <p:cNvSpPr>
                  <a:spLocks noChangeShapeType="1"/>
                </p:cNvSpPr>
                <p:nvPr/>
              </p:nvSpPr>
              <p:spPr bwMode="auto">
                <a:xfrm>
                  <a:off x="1687" y="248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177"/>
                <p:cNvSpPr>
                  <a:spLocks noChangeShapeType="1"/>
                </p:cNvSpPr>
                <p:nvPr/>
              </p:nvSpPr>
              <p:spPr bwMode="auto">
                <a:xfrm>
                  <a:off x="1687" y="2523"/>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178"/>
                <p:cNvSpPr>
                  <a:spLocks noChangeShapeType="1"/>
                </p:cNvSpPr>
                <p:nvPr/>
              </p:nvSpPr>
              <p:spPr bwMode="auto">
                <a:xfrm>
                  <a:off x="1687" y="256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179"/>
                <p:cNvSpPr>
                  <a:spLocks noChangeShapeType="1"/>
                </p:cNvSpPr>
                <p:nvPr/>
              </p:nvSpPr>
              <p:spPr bwMode="auto">
                <a:xfrm>
                  <a:off x="1687" y="259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180"/>
                <p:cNvSpPr>
                  <a:spLocks noChangeShapeType="1"/>
                </p:cNvSpPr>
                <p:nvPr/>
              </p:nvSpPr>
              <p:spPr bwMode="auto">
                <a:xfrm>
                  <a:off x="1687" y="2633"/>
                  <a:ext cx="1" cy="9"/>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181"/>
                <p:cNvSpPr>
                  <a:spLocks noChangeShapeType="1"/>
                </p:cNvSpPr>
                <p:nvPr/>
              </p:nvSpPr>
              <p:spPr bwMode="auto">
                <a:xfrm>
                  <a:off x="1687" y="267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182"/>
                <p:cNvSpPr>
                  <a:spLocks noChangeShapeType="1"/>
                </p:cNvSpPr>
                <p:nvPr/>
              </p:nvSpPr>
              <p:spPr bwMode="auto">
                <a:xfrm>
                  <a:off x="1687" y="270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183"/>
                <p:cNvSpPr>
                  <a:spLocks noChangeShapeType="1"/>
                </p:cNvSpPr>
                <p:nvPr/>
              </p:nvSpPr>
              <p:spPr bwMode="auto">
                <a:xfrm>
                  <a:off x="1687" y="274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184"/>
                <p:cNvSpPr>
                  <a:spLocks noChangeShapeType="1"/>
                </p:cNvSpPr>
                <p:nvPr/>
              </p:nvSpPr>
              <p:spPr bwMode="auto">
                <a:xfrm>
                  <a:off x="1687" y="278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185"/>
                <p:cNvSpPr>
                  <a:spLocks noChangeShapeType="1"/>
                </p:cNvSpPr>
                <p:nvPr/>
              </p:nvSpPr>
              <p:spPr bwMode="auto">
                <a:xfrm>
                  <a:off x="1687" y="281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186"/>
                <p:cNvSpPr>
                  <a:spLocks noChangeShapeType="1"/>
                </p:cNvSpPr>
                <p:nvPr/>
              </p:nvSpPr>
              <p:spPr bwMode="auto">
                <a:xfrm>
                  <a:off x="1687" y="285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87"/>
                <p:cNvSpPr>
                  <a:spLocks noChangeShapeType="1"/>
                </p:cNvSpPr>
                <p:nvPr/>
              </p:nvSpPr>
              <p:spPr bwMode="auto">
                <a:xfrm>
                  <a:off x="1687" y="2890"/>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88"/>
                <p:cNvSpPr>
                  <a:spLocks noChangeShapeType="1"/>
                </p:cNvSpPr>
                <p:nvPr/>
              </p:nvSpPr>
              <p:spPr bwMode="auto">
                <a:xfrm>
                  <a:off x="1687" y="292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89"/>
                <p:cNvSpPr>
                  <a:spLocks noChangeShapeType="1"/>
                </p:cNvSpPr>
                <p:nvPr/>
              </p:nvSpPr>
              <p:spPr bwMode="auto">
                <a:xfrm>
                  <a:off x="1687" y="296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90"/>
                <p:cNvSpPr>
                  <a:spLocks noChangeShapeType="1"/>
                </p:cNvSpPr>
                <p:nvPr/>
              </p:nvSpPr>
              <p:spPr bwMode="auto">
                <a:xfrm>
                  <a:off x="1687" y="3001"/>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91"/>
                <p:cNvSpPr>
                  <a:spLocks noChangeShapeType="1"/>
                </p:cNvSpPr>
                <p:nvPr/>
              </p:nvSpPr>
              <p:spPr bwMode="auto">
                <a:xfrm>
                  <a:off x="1687" y="303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92"/>
                <p:cNvSpPr>
                  <a:spLocks noChangeShapeType="1"/>
                </p:cNvSpPr>
                <p:nvPr/>
              </p:nvSpPr>
              <p:spPr bwMode="auto">
                <a:xfrm>
                  <a:off x="1687" y="307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3"/>
                <p:cNvSpPr>
                  <a:spLocks noChangeShapeType="1"/>
                </p:cNvSpPr>
                <p:nvPr/>
              </p:nvSpPr>
              <p:spPr bwMode="auto">
                <a:xfrm>
                  <a:off x="1687" y="3111"/>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194"/>
                <p:cNvSpPr>
                  <a:spLocks noChangeShapeType="1"/>
                </p:cNvSpPr>
                <p:nvPr/>
              </p:nvSpPr>
              <p:spPr bwMode="auto">
                <a:xfrm>
                  <a:off x="1687" y="314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195"/>
                <p:cNvSpPr>
                  <a:spLocks noChangeShapeType="1"/>
                </p:cNvSpPr>
                <p:nvPr/>
              </p:nvSpPr>
              <p:spPr bwMode="auto">
                <a:xfrm>
                  <a:off x="1687" y="318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196"/>
                <p:cNvSpPr>
                  <a:spLocks noChangeShapeType="1"/>
                </p:cNvSpPr>
                <p:nvPr/>
              </p:nvSpPr>
              <p:spPr bwMode="auto">
                <a:xfrm>
                  <a:off x="1687" y="3221"/>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197"/>
                <p:cNvSpPr>
                  <a:spLocks noChangeShapeType="1"/>
                </p:cNvSpPr>
                <p:nvPr/>
              </p:nvSpPr>
              <p:spPr bwMode="auto">
                <a:xfrm>
                  <a:off x="1687" y="3257"/>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198"/>
                <p:cNvSpPr>
                  <a:spLocks noChangeShapeType="1"/>
                </p:cNvSpPr>
                <p:nvPr/>
              </p:nvSpPr>
              <p:spPr bwMode="auto">
                <a:xfrm>
                  <a:off x="1687" y="329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199"/>
                <p:cNvSpPr>
                  <a:spLocks noChangeShapeType="1"/>
                </p:cNvSpPr>
                <p:nvPr/>
              </p:nvSpPr>
              <p:spPr bwMode="auto">
                <a:xfrm>
                  <a:off x="1687" y="3331"/>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200"/>
                <p:cNvSpPr>
                  <a:spLocks noChangeShapeType="1"/>
                </p:cNvSpPr>
                <p:nvPr/>
              </p:nvSpPr>
              <p:spPr bwMode="auto">
                <a:xfrm>
                  <a:off x="1687" y="3368"/>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201"/>
                <p:cNvSpPr>
                  <a:spLocks noChangeShapeType="1"/>
                </p:cNvSpPr>
                <p:nvPr/>
              </p:nvSpPr>
              <p:spPr bwMode="auto">
                <a:xfrm>
                  <a:off x="1687" y="340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Line 202"/>
                <p:cNvSpPr>
                  <a:spLocks noChangeShapeType="1"/>
                </p:cNvSpPr>
                <p:nvPr/>
              </p:nvSpPr>
              <p:spPr bwMode="auto">
                <a:xfrm>
                  <a:off x="1687" y="3441"/>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203"/>
                <p:cNvSpPr>
                  <a:spLocks noChangeShapeType="1"/>
                </p:cNvSpPr>
                <p:nvPr/>
              </p:nvSpPr>
              <p:spPr bwMode="auto">
                <a:xfrm>
                  <a:off x="1687" y="3478"/>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204"/>
                <p:cNvSpPr>
                  <a:spLocks noChangeShapeType="1"/>
                </p:cNvSpPr>
                <p:nvPr/>
              </p:nvSpPr>
              <p:spPr bwMode="auto">
                <a:xfrm>
                  <a:off x="1687" y="3514"/>
                  <a:ext cx="1" cy="8"/>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 name="Line 205"/>
              <p:cNvSpPr>
                <a:spLocks noChangeShapeType="1"/>
              </p:cNvSpPr>
              <p:nvPr/>
            </p:nvSpPr>
            <p:spPr bwMode="auto">
              <a:xfrm>
                <a:off x="1412" y="2680"/>
                <a:ext cx="825" cy="897"/>
              </a:xfrm>
              <a:prstGeom prst="line">
                <a:avLst/>
              </a:prstGeom>
              <a:noFill/>
              <a:ln w="22225">
                <a:solidFill>
                  <a:srgbClr val="0000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5" name="Line 206"/>
              <p:cNvSpPr>
                <a:spLocks noChangeShapeType="1"/>
              </p:cNvSpPr>
              <p:nvPr/>
            </p:nvSpPr>
            <p:spPr bwMode="auto">
              <a:xfrm flipH="1">
                <a:off x="2223" y="2687"/>
                <a:ext cx="811" cy="88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07"/>
              <p:cNvSpPr>
                <a:spLocks noChangeShapeType="1"/>
              </p:cNvSpPr>
              <p:nvPr/>
            </p:nvSpPr>
            <p:spPr bwMode="auto">
              <a:xfrm flipV="1">
                <a:off x="1412" y="1751"/>
                <a:ext cx="816" cy="88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208"/>
              <p:cNvSpPr>
                <a:spLocks noChangeShapeType="1"/>
              </p:cNvSpPr>
              <p:nvPr/>
            </p:nvSpPr>
            <p:spPr bwMode="auto">
              <a:xfrm flipH="1" flipV="1">
                <a:off x="2228" y="1752"/>
                <a:ext cx="814" cy="882"/>
              </a:xfrm>
              <a:prstGeom prst="line">
                <a:avLst/>
              </a:prstGeom>
              <a:noFill/>
              <a:ln w="22225">
                <a:solidFill>
                  <a:srgbClr val="0000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 name="Rectangle 209"/>
              <p:cNvSpPr>
                <a:spLocks noChangeArrowheads="1"/>
              </p:cNvSpPr>
              <p:nvPr/>
            </p:nvSpPr>
            <p:spPr bwMode="auto">
              <a:xfrm>
                <a:off x="2271" y="1679"/>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白</a:t>
                </a:r>
                <a:endParaRPr lang="zh-CN" altLang="en-US" sz="1800" b="1" dirty="0">
                  <a:solidFill>
                    <a:schemeClr val="accent3">
                      <a:lumMod val="75000"/>
                    </a:schemeClr>
                  </a:solidFill>
                </a:endParaRPr>
              </a:p>
            </p:txBody>
          </p:sp>
          <p:sp>
            <p:nvSpPr>
              <p:cNvPr id="19" name="Rectangle 210"/>
              <p:cNvSpPr>
                <a:spLocks noChangeArrowheads="1"/>
              </p:cNvSpPr>
              <p:nvPr/>
            </p:nvSpPr>
            <p:spPr bwMode="auto">
              <a:xfrm>
                <a:off x="2292" y="3523"/>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黑</a:t>
                </a:r>
                <a:endParaRPr lang="zh-CN" altLang="en-US" sz="1800" b="1" dirty="0">
                  <a:solidFill>
                    <a:schemeClr val="accent3">
                      <a:lumMod val="75000"/>
                    </a:schemeClr>
                  </a:solidFill>
                </a:endParaRPr>
              </a:p>
            </p:txBody>
          </p:sp>
          <p:sp>
            <p:nvSpPr>
              <p:cNvPr id="20" name="Rectangle 214"/>
              <p:cNvSpPr>
                <a:spLocks noChangeArrowheads="1"/>
              </p:cNvSpPr>
              <p:nvPr/>
            </p:nvSpPr>
            <p:spPr bwMode="auto">
              <a:xfrm>
                <a:off x="2946" y="2752"/>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橙</a:t>
                </a:r>
                <a:endParaRPr lang="zh-CN" altLang="en-US" sz="1800" b="1" dirty="0">
                  <a:solidFill>
                    <a:schemeClr val="accent3">
                      <a:lumMod val="75000"/>
                    </a:schemeClr>
                  </a:solidFill>
                </a:endParaRPr>
              </a:p>
            </p:txBody>
          </p:sp>
          <p:sp>
            <p:nvSpPr>
              <p:cNvPr id="21" name="Oval 219"/>
              <p:cNvSpPr>
                <a:spLocks noChangeArrowheads="1"/>
              </p:cNvSpPr>
              <p:nvPr/>
            </p:nvSpPr>
            <p:spPr bwMode="auto">
              <a:xfrm>
                <a:off x="2511" y="2818"/>
                <a:ext cx="74" cy="50"/>
              </a:xfrm>
              <a:prstGeom prst="ellipse">
                <a:avLst/>
              </a:prstGeom>
              <a:solidFill>
                <a:srgbClr val="FAFD00"/>
              </a:solidFill>
              <a:ln w="22225">
                <a:solidFill>
                  <a:srgbClr val="FAFD00"/>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2" name="Oval 220"/>
              <p:cNvSpPr>
                <a:spLocks noChangeArrowheads="1"/>
              </p:cNvSpPr>
              <p:nvPr/>
            </p:nvSpPr>
            <p:spPr bwMode="auto">
              <a:xfrm>
                <a:off x="1631" y="2770"/>
                <a:ext cx="74" cy="50"/>
              </a:xfrm>
              <a:prstGeom prst="ellipse">
                <a:avLst/>
              </a:prstGeom>
              <a:solidFill>
                <a:srgbClr val="00AE00"/>
              </a:solidFill>
              <a:ln w="22225">
                <a:solidFill>
                  <a:srgbClr val="00AE00"/>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3" name="Oval 221"/>
              <p:cNvSpPr>
                <a:spLocks noChangeArrowheads="1"/>
              </p:cNvSpPr>
              <p:nvPr/>
            </p:nvSpPr>
            <p:spPr bwMode="auto">
              <a:xfrm>
                <a:off x="2087" y="2825"/>
                <a:ext cx="74" cy="50"/>
              </a:xfrm>
              <a:prstGeom prst="ellipse">
                <a:avLst/>
              </a:prstGeom>
              <a:solidFill>
                <a:srgbClr val="ADD528"/>
              </a:solidFill>
              <a:ln w="22225">
                <a:solidFill>
                  <a:srgbClr val="ADD528"/>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4" name="Oval 222"/>
              <p:cNvSpPr>
                <a:spLocks noChangeArrowheads="1"/>
              </p:cNvSpPr>
              <p:nvPr/>
            </p:nvSpPr>
            <p:spPr bwMode="auto">
              <a:xfrm>
                <a:off x="1556" y="2501"/>
                <a:ext cx="75" cy="51"/>
              </a:xfrm>
              <a:prstGeom prst="ellipse">
                <a:avLst/>
              </a:prstGeom>
              <a:solidFill>
                <a:srgbClr val="2F97CE"/>
              </a:solidFill>
              <a:ln w="22225">
                <a:solidFill>
                  <a:srgbClr val="2F97CE"/>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5" name="Oval 223"/>
              <p:cNvSpPr>
                <a:spLocks noChangeArrowheads="1"/>
              </p:cNvSpPr>
              <p:nvPr/>
            </p:nvSpPr>
            <p:spPr bwMode="auto">
              <a:xfrm>
                <a:off x="1959" y="2426"/>
                <a:ext cx="75" cy="50"/>
              </a:xfrm>
              <a:prstGeom prst="ellipse">
                <a:avLst/>
              </a:prstGeom>
              <a:solidFill>
                <a:srgbClr val="114FFB"/>
              </a:solidFill>
              <a:ln w="22225">
                <a:solidFill>
                  <a:srgbClr val="114FFB"/>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7" name="Oval 224"/>
              <p:cNvSpPr>
                <a:spLocks noChangeArrowheads="1"/>
              </p:cNvSpPr>
              <p:nvPr/>
            </p:nvSpPr>
            <p:spPr bwMode="auto">
              <a:xfrm>
                <a:off x="2437" y="2426"/>
                <a:ext cx="74" cy="50"/>
              </a:xfrm>
              <a:prstGeom prst="ellipse">
                <a:avLst/>
              </a:prstGeom>
              <a:solidFill>
                <a:srgbClr val="9234DB"/>
              </a:solidFill>
              <a:ln w="22225">
                <a:solidFill>
                  <a:srgbClr val="9234DB"/>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8" name="Oval 225"/>
              <p:cNvSpPr>
                <a:spLocks noChangeArrowheads="1"/>
              </p:cNvSpPr>
              <p:nvPr/>
            </p:nvSpPr>
            <p:spPr bwMode="auto">
              <a:xfrm>
                <a:off x="1387" y="2632"/>
                <a:ext cx="74" cy="50"/>
              </a:xfrm>
              <a:prstGeom prst="ellipse">
                <a:avLst/>
              </a:prstGeom>
              <a:solidFill>
                <a:srgbClr val="35B3C8"/>
              </a:solidFill>
              <a:ln w="22225">
                <a:solidFill>
                  <a:srgbClr val="35B3C8"/>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29" name="Oval 226"/>
              <p:cNvSpPr>
                <a:spLocks noChangeArrowheads="1"/>
              </p:cNvSpPr>
              <p:nvPr/>
            </p:nvSpPr>
            <p:spPr bwMode="auto">
              <a:xfrm>
                <a:off x="3020" y="2625"/>
                <a:ext cx="74" cy="50"/>
              </a:xfrm>
              <a:prstGeom prst="ellipse">
                <a:avLst/>
              </a:prstGeom>
              <a:solidFill>
                <a:srgbClr val="FC0128"/>
              </a:solidFill>
              <a:ln w="22225">
                <a:solidFill>
                  <a:srgbClr val="FC0128"/>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0" name="Oval 227"/>
              <p:cNvSpPr>
                <a:spLocks noChangeArrowheads="1"/>
              </p:cNvSpPr>
              <p:nvPr/>
            </p:nvSpPr>
            <p:spPr bwMode="auto">
              <a:xfrm>
                <a:off x="2871" y="2735"/>
                <a:ext cx="75" cy="50"/>
              </a:xfrm>
              <a:prstGeom prst="ellipse">
                <a:avLst/>
              </a:prstGeom>
              <a:solidFill>
                <a:srgbClr val="FE9B03"/>
              </a:solidFill>
              <a:ln w="22225">
                <a:solidFill>
                  <a:srgbClr val="FE9B03"/>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sp>
            <p:nvSpPr>
              <p:cNvPr id="31" name="Rectangle 232"/>
              <p:cNvSpPr>
                <a:spLocks noChangeArrowheads="1"/>
              </p:cNvSpPr>
              <p:nvPr/>
            </p:nvSpPr>
            <p:spPr bwMode="auto">
              <a:xfrm>
                <a:off x="3129" y="2552"/>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红</a:t>
                </a:r>
                <a:endParaRPr lang="zh-CN" altLang="en-US" sz="1800" b="1" dirty="0">
                  <a:solidFill>
                    <a:schemeClr val="accent3">
                      <a:lumMod val="75000"/>
                    </a:schemeClr>
                  </a:solidFill>
                </a:endParaRPr>
              </a:p>
            </p:txBody>
          </p:sp>
          <p:sp>
            <p:nvSpPr>
              <p:cNvPr id="32" name="Rectangle 233"/>
              <p:cNvSpPr>
                <a:spLocks noChangeArrowheads="1"/>
              </p:cNvSpPr>
              <p:nvPr/>
            </p:nvSpPr>
            <p:spPr bwMode="auto">
              <a:xfrm>
                <a:off x="1023" y="2587"/>
                <a:ext cx="290" cy="173"/>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蓝绿</a:t>
                </a:r>
                <a:endParaRPr lang="zh-CN" altLang="en-US" sz="1800" b="1" dirty="0">
                  <a:solidFill>
                    <a:schemeClr val="accent3">
                      <a:lumMod val="75000"/>
                    </a:schemeClr>
                  </a:solidFill>
                </a:endParaRPr>
              </a:p>
            </p:txBody>
          </p:sp>
          <p:sp>
            <p:nvSpPr>
              <p:cNvPr id="33" name="Rectangle 234"/>
              <p:cNvSpPr>
                <a:spLocks noChangeArrowheads="1"/>
              </p:cNvSpPr>
              <p:nvPr/>
            </p:nvSpPr>
            <p:spPr bwMode="auto">
              <a:xfrm>
                <a:off x="1196" y="2387"/>
                <a:ext cx="290" cy="173"/>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绿蓝</a:t>
                </a:r>
                <a:endParaRPr lang="zh-CN" altLang="en-US" sz="1800" b="1" dirty="0">
                  <a:solidFill>
                    <a:schemeClr val="accent3">
                      <a:lumMod val="75000"/>
                    </a:schemeClr>
                  </a:solidFill>
                </a:endParaRPr>
              </a:p>
            </p:txBody>
          </p:sp>
          <p:sp>
            <p:nvSpPr>
              <p:cNvPr id="34" name="Rectangle 235"/>
              <p:cNvSpPr>
                <a:spLocks noChangeArrowheads="1"/>
              </p:cNvSpPr>
              <p:nvPr/>
            </p:nvSpPr>
            <p:spPr bwMode="auto">
              <a:xfrm>
                <a:off x="1920" y="2214"/>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蓝</a:t>
                </a:r>
                <a:endParaRPr lang="zh-CN" altLang="en-US" sz="1800" b="1" dirty="0">
                  <a:solidFill>
                    <a:schemeClr val="accent3">
                      <a:lumMod val="75000"/>
                    </a:schemeClr>
                  </a:solidFill>
                </a:endParaRPr>
              </a:p>
            </p:txBody>
          </p:sp>
          <p:sp>
            <p:nvSpPr>
              <p:cNvPr id="35" name="Rectangle 237"/>
              <p:cNvSpPr>
                <a:spLocks noChangeArrowheads="1"/>
              </p:cNvSpPr>
              <p:nvPr/>
            </p:nvSpPr>
            <p:spPr bwMode="auto">
              <a:xfrm>
                <a:off x="2477" y="2904"/>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黄</a:t>
                </a:r>
                <a:endParaRPr lang="zh-CN" altLang="en-US" sz="1800" b="1" dirty="0">
                  <a:solidFill>
                    <a:schemeClr val="accent3">
                      <a:lumMod val="75000"/>
                    </a:schemeClr>
                  </a:solidFill>
                </a:endParaRPr>
              </a:p>
            </p:txBody>
          </p:sp>
          <p:sp>
            <p:nvSpPr>
              <p:cNvPr id="36" name="Rectangle 238"/>
              <p:cNvSpPr>
                <a:spLocks noChangeArrowheads="1"/>
              </p:cNvSpPr>
              <p:nvPr/>
            </p:nvSpPr>
            <p:spPr bwMode="auto">
              <a:xfrm>
                <a:off x="1592" y="2856"/>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绿</a:t>
                </a:r>
                <a:endParaRPr lang="zh-CN" altLang="en-US" sz="1800" b="1" dirty="0">
                  <a:solidFill>
                    <a:schemeClr val="accent3">
                      <a:lumMod val="75000"/>
                    </a:schemeClr>
                  </a:solidFill>
                </a:endParaRPr>
              </a:p>
            </p:txBody>
          </p:sp>
          <p:sp>
            <p:nvSpPr>
              <p:cNvPr id="37" name="Rectangle 240"/>
              <p:cNvSpPr>
                <a:spLocks noChangeArrowheads="1"/>
              </p:cNvSpPr>
              <p:nvPr/>
            </p:nvSpPr>
            <p:spPr bwMode="auto">
              <a:xfrm>
                <a:off x="2406" y="2221"/>
                <a:ext cx="146" cy="174"/>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紫</a:t>
                </a:r>
                <a:endParaRPr lang="zh-CN" altLang="en-US" sz="1800" b="1" dirty="0">
                  <a:solidFill>
                    <a:schemeClr val="accent3">
                      <a:lumMod val="75000"/>
                    </a:schemeClr>
                  </a:solidFill>
                </a:endParaRPr>
              </a:p>
            </p:txBody>
          </p:sp>
          <p:sp>
            <p:nvSpPr>
              <p:cNvPr id="38" name="Rectangle 241"/>
              <p:cNvSpPr>
                <a:spLocks noChangeArrowheads="1"/>
              </p:cNvSpPr>
              <p:nvPr/>
            </p:nvSpPr>
            <p:spPr bwMode="auto">
              <a:xfrm>
                <a:off x="2072" y="2421"/>
                <a:ext cx="290" cy="17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r>
                  <a:rPr lang="zh-CN" altLang="en-US" sz="1800" b="1">
                    <a:latin typeface="长城楷体" charset="-122"/>
                  </a:rPr>
                  <a:t>中灰</a:t>
                </a:r>
                <a:endParaRPr lang="zh-CN" altLang="en-US" sz="1800" b="1"/>
              </a:p>
            </p:txBody>
          </p:sp>
          <p:sp>
            <p:nvSpPr>
              <p:cNvPr id="39" name="Oval 246"/>
              <p:cNvSpPr>
                <a:spLocks noChangeArrowheads="1"/>
              </p:cNvSpPr>
              <p:nvPr/>
            </p:nvSpPr>
            <p:spPr bwMode="auto">
              <a:xfrm>
                <a:off x="2184" y="2615"/>
                <a:ext cx="74" cy="50"/>
              </a:xfrm>
              <a:prstGeom prst="ellipse">
                <a:avLst/>
              </a:prstGeom>
              <a:solidFill>
                <a:srgbClr val="919191"/>
              </a:solidFill>
              <a:ln w="22225">
                <a:solidFill>
                  <a:srgbClr val="919191"/>
                </a:solidFill>
                <a:round/>
                <a:headEnd/>
                <a:tailEnd/>
              </a:ln>
              <a:effectLst>
                <a:outerShdw dist="35921" dir="2700000" algn="ctr" rotWithShape="0">
                  <a:schemeClr val="bg2"/>
                </a:outerShdw>
              </a:effectLst>
            </p:spPr>
            <p:txBody>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endParaRPr lang="zh-CN" altLang="en-US"/>
              </a:p>
            </p:txBody>
          </p:sp>
        </p:grpSp>
        <p:sp>
          <p:nvSpPr>
            <p:cNvPr id="8" name="Line 255"/>
            <p:cNvSpPr>
              <a:spLocks noChangeShapeType="1"/>
            </p:cNvSpPr>
            <p:nvPr/>
          </p:nvSpPr>
          <p:spPr bwMode="auto">
            <a:xfrm flipH="1">
              <a:off x="3390900" y="3398838"/>
              <a:ext cx="0" cy="2854325"/>
            </a:xfrm>
            <a:prstGeom prst="line">
              <a:avLst/>
            </a:prstGeom>
            <a:noFill/>
            <a:ln w="57150">
              <a:solidFill>
                <a:srgbClr val="777777"/>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 name="Rectangle 239"/>
            <p:cNvSpPr>
              <a:spLocks noChangeArrowheads="1"/>
            </p:cNvSpPr>
            <p:nvPr/>
          </p:nvSpPr>
          <p:spPr bwMode="auto">
            <a:xfrm>
              <a:off x="2954337" y="5210176"/>
              <a:ext cx="460375" cy="274637"/>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绿黄</a:t>
              </a:r>
              <a:endParaRPr lang="zh-CN" altLang="en-US" sz="1800" b="1" dirty="0">
                <a:solidFill>
                  <a:schemeClr val="accent3">
                    <a:lumMod val="75000"/>
                  </a:schemeClr>
                </a:solidFill>
              </a:endParaRPr>
            </a:p>
          </p:txBody>
        </p:sp>
      </p:grpSp>
      <p:graphicFrame>
        <p:nvGraphicFramePr>
          <p:cNvPr id="91" name="Object 150"/>
          <p:cNvGraphicFramePr>
            <a:graphicFrameLocks noChangeAspect="1"/>
          </p:cNvGraphicFramePr>
          <p:nvPr/>
        </p:nvGraphicFramePr>
        <p:xfrm>
          <a:off x="6110288" y="4260850"/>
          <a:ext cx="2543175" cy="2484438"/>
        </p:xfrm>
        <a:graphic>
          <a:graphicData uri="http://schemas.openxmlformats.org/presentationml/2006/ole">
            <mc:AlternateContent xmlns:mc="http://schemas.openxmlformats.org/markup-compatibility/2006">
              <mc:Choice xmlns:v="urn:schemas-microsoft-com:vml" Requires="v">
                <p:oleObj spid="_x0000_s97291" name="Image" r:id="rId5" imgW="2780952" imgH="2717460" progId="Photoshop.Image.6">
                  <p:embed/>
                </p:oleObj>
              </mc:Choice>
              <mc:Fallback>
                <p:oleObj name="Image" r:id="rId5" imgW="2780952" imgH="2717460" progId="Photoshop.Image.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0288" y="4260850"/>
                        <a:ext cx="2543175" cy="2484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2" name="Picture 2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0388" y="1981200"/>
            <a:ext cx="139700"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Freeform 248"/>
          <p:cNvSpPr>
            <a:spLocks/>
          </p:cNvSpPr>
          <p:nvPr/>
        </p:nvSpPr>
        <p:spPr bwMode="auto">
          <a:xfrm>
            <a:off x="3870325" y="3354388"/>
            <a:ext cx="1717675" cy="590550"/>
          </a:xfrm>
          <a:custGeom>
            <a:avLst/>
            <a:gdLst/>
            <a:ahLst/>
            <a:cxnLst>
              <a:cxn ang="0">
                <a:pos x="0" y="372"/>
              </a:cxn>
              <a:cxn ang="0">
                <a:pos x="295" y="63"/>
              </a:cxn>
              <a:cxn ang="0">
                <a:pos x="1082" y="0"/>
              </a:cxn>
            </a:cxnLst>
            <a:rect l="0" t="0" r="r" b="b"/>
            <a:pathLst>
              <a:path w="1082" h="372">
                <a:moveTo>
                  <a:pt x="0" y="372"/>
                </a:moveTo>
                <a:cubicBezTo>
                  <a:pt x="57" y="248"/>
                  <a:pt x="115" y="125"/>
                  <a:pt x="295" y="63"/>
                </a:cubicBezTo>
                <a:cubicBezTo>
                  <a:pt x="475" y="1"/>
                  <a:pt x="778" y="0"/>
                  <a:pt x="1082" y="0"/>
                </a:cubicBezTo>
              </a:path>
            </a:pathLst>
          </a:custGeom>
          <a:noFill/>
          <a:ln w="57150" cap="flat" cmpd="sng">
            <a:solidFill>
              <a:schemeClr val="accent3">
                <a:lumMod val="50000"/>
              </a:schemeClr>
            </a:solidFill>
            <a:prstDash val="solid"/>
            <a:round/>
            <a:headEnd type="none" w="med" len="med"/>
            <a:tailEnd type="triangle" w="med" len="med"/>
          </a:ln>
          <a:effectLst>
            <a:outerShdw blurRad="50800" dist="38100" dir="2700000" algn="tl" rotWithShape="0">
              <a:prstClr val="black">
                <a:alpha val="40000"/>
              </a:prstClr>
            </a:outerShdw>
          </a:effectLst>
        </p:spPr>
        <p:txBody>
          <a:bodyPr wrap="none" anchor="ctr">
            <a:spAutoFit/>
          </a:bodyPr>
          <a:lstStyle/>
          <a:p>
            <a:pPr>
              <a:defRPr/>
            </a:pPr>
            <a:endParaRPr lang="zh-CN" altLang="en-US"/>
          </a:p>
        </p:txBody>
      </p:sp>
      <p:grpSp>
        <p:nvGrpSpPr>
          <p:cNvPr id="94" name="Group 250"/>
          <p:cNvGrpSpPr>
            <a:grpSpLocks/>
          </p:cNvGrpSpPr>
          <p:nvPr/>
        </p:nvGrpSpPr>
        <p:grpSpPr bwMode="auto">
          <a:xfrm>
            <a:off x="3821113" y="4687888"/>
            <a:ext cx="1276350" cy="130175"/>
            <a:chOff x="1691" y="2562"/>
            <a:chExt cx="804" cy="82"/>
          </a:xfrm>
        </p:grpSpPr>
        <p:sp>
          <p:nvSpPr>
            <p:cNvPr id="95" name="Line 251"/>
            <p:cNvSpPr>
              <a:spLocks noChangeShapeType="1"/>
            </p:cNvSpPr>
            <p:nvPr/>
          </p:nvSpPr>
          <p:spPr bwMode="auto">
            <a:xfrm flipH="1">
              <a:off x="1795" y="2604"/>
              <a:ext cx="594"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Freeform 252"/>
            <p:cNvSpPr>
              <a:spLocks/>
            </p:cNvSpPr>
            <p:nvPr/>
          </p:nvSpPr>
          <p:spPr bwMode="auto">
            <a:xfrm>
              <a:off x="1691" y="2562"/>
              <a:ext cx="210" cy="82"/>
            </a:xfrm>
            <a:custGeom>
              <a:avLst/>
              <a:gdLst>
                <a:gd name="T0" fmla="*/ 0 w 210"/>
                <a:gd name="T1" fmla="*/ 42 h 82"/>
                <a:gd name="T2" fmla="*/ 210 w 210"/>
                <a:gd name="T3" fmla="*/ 82 h 82"/>
                <a:gd name="T4" fmla="*/ 210 w 210"/>
                <a:gd name="T5" fmla="*/ 0 h 82"/>
                <a:gd name="T6" fmla="*/ 0 w 210"/>
                <a:gd name="T7" fmla="*/ 42 h 82"/>
                <a:gd name="T8" fmla="*/ 0 60000 65536"/>
                <a:gd name="T9" fmla="*/ 0 60000 65536"/>
                <a:gd name="T10" fmla="*/ 0 60000 65536"/>
                <a:gd name="T11" fmla="*/ 0 60000 65536"/>
                <a:gd name="T12" fmla="*/ 0 w 210"/>
                <a:gd name="T13" fmla="*/ 0 h 82"/>
                <a:gd name="T14" fmla="*/ 210 w 210"/>
                <a:gd name="T15" fmla="*/ 82 h 82"/>
              </a:gdLst>
              <a:ahLst/>
              <a:cxnLst>
                <a:cxn ang="T8">
                  <a:pos x="T0" y="T1"/>
                </a:cxn>
                <a:cxn ang="T9">
                  <a:pos x="T2" y="T3"/>
                </a:cxn>
                <a:cxn ang="T10">
                  <a:pos x="T4" y="T5"/>
                </a:cxn>
                <a:cxn ang="T11">
                  <a:pos x="T6" y="T7"/>
                </a:cxn>
              </a:cxnLst>
              <a:rect l="T12" t="T13" r="T14" b="T15"/>
              <a:pathLst>
                <a:path w="210" h="82">
                  <a:moveTo>
                    <a:pt x="0" y="42"/>
                  </a:moveTo>
                  <a:lnTo>
                    <a:pt x="210" y="82"/>
                  </a:lnTo>
                  <a:lnTo>
                    <a:pt x="210" y="0"/>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253"/>
            <p:cNvSpPr>
              <a:spLocks/>
            </p:cNvSpPr>
            <p:nvPr/>
          </p:nvSpPr>
          <p:spPr bwMode="auto">
            <a:xfrm>
              <a:off x="2285" y="2562"/>
              <a:ext cx="210" cy="82"/>
            </a:xfrm>
            <a:custGeom>
              <a:avLst/>
              <a:gdLst>
                <a:gd name="T0" fmla="*/ 210 w 210"/>
                <a:gd name="T1" fmla="*/ 42 h 82"/>
                <a:gd name="T2" fmla="*/ 0 w 210"/>
                <a:gd name="T3" fmla="*/ 0 h 82"/>
                <a:gd name="T4" fmla="*/ 0 w 210"/>
                <a:gd name="T5" fmla="*/ 82 h 82"/>
                <a:gd name="T6" fmla="*/ 210 w 210"/>
                <a:gd name="T7" fmla="*/ 42 h 82"/>
                <a:gd name="T8" fmla="*/ 0 60000 65536"/>
                <a:gd name="T9" fmla="*/ 0 60000 65536"/>
                <a:gd name="T10" fmla="*/ 0 60000 65536"/>
                <a:gd name="T11" fmla="*/ 0 60000 65536"/>
                <a:gd name="T12" fmla="*/ 0 w 210"/>
                <a:gd name="T13" fmla="*/ 0 h 82"/>
                <a:gd name="T14" fmla="*/ 210 w 210"/>
                <a:gd name="T15" fmla="*/ 82 h 82"/>
              </a:gdLst>
              <a:ahLst/>
              <a:cxnLst>
                <a:cxn ang="T8">
                  <a:pos x="T0" y="T1"/>
                </a:cxn>
                <a:cxn ang="T9">
                  <a:pos x="T2" y="T3"/>
                </a:cxn>
                <a:cxn ang="T10">
                  <a:pos x="T4" y="T5"/>
                </a:cxn>
                <a:cxn ang="T11">
                  <a:pos x="T6" y="T7"/>
                </a:cxn>
              </a:cxnLst>
              <a:rect l="T12" t="T13" r="T14" b="T15"/>
              <a:pathLst>
                <a:path w="210" h="82">
                  <a:moveTo>
                    <a:pt x="210" y="42"/>
                  </a:moveTo>
                  <a:lnTo>
                    <a:pt x="0" y="0"/>
                  </a:lnTo>
                  <a:lnTo>
                    <a:pt x="0" y="82"/>
                  </a:lnTo>
                  <a:lnTo>
                    <a:pt x="21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8" name="Text Box 257"/>
          <p:cNvSpPr txBox="1">
            <a:spLocks noChangeArrowheads="1"/>
          </p:cNvSpPr>
          <p:nvPr/>
        </p:nvSpPr>
        <p:spPr bwMode="auto">
          <a:xfrm>
            <a:off x="2435225" y="3108325"/>
            <a:ext cx="639763" cy="641350"/>
          </a:xfrm>
          <a:prstGeom prst="rect">
            <a:avLst/>
          </a:prstGeom>
          <a:noFill/>
          <a:ln w="9525">
            <a:noFill/>
            <a:miter lim="800000"/>
            <a:headEnd/>
            <a:tailEnd/>
          </a:ln>
          <a:effectLst>
            <a:outerShdw dist="17961" dir="2700000" algn="ctr" rotWithShape="0">
              <a:schemeClr val="bg2"/>
            </a:outerShdw>
          </a:effectLst>
        </p:spPr>
        <p:txBody>
          <a:bodyPr>
            <a:spAutoFit/>
          </a:bodyPr>
          <a:lstStyle/>
          <a:p>
            <a:pPr>
              <a:spcBef>
                <a:spcPct val="50000"/>
              </a:spcBef>
              <a:defRPr/>
            </a:pPr>
            <a:r>
              <a:rPr lang="zh-CN" altLang="en-US" sz="1800" b="1">
                <a:solidFill>
                  <a:schemeClr val="accent3">
                    <a:lumMod val="75000"/>
                  </a:schemeClr>
                </a:solidFill>
              </a:rPr>
              <a:t>亮度</a:t>
            </a:r>
          </a:p>
        </p:txBody>
      </p:sp>
      <p:sp>
        <p:nvSpPr>
          <p:cNvPr id="99" name="Line 258"/>
          <p:cNvSpPr>
            <a:spLocks noChangeShapeType="1"/>
          </p:cNvSpPr>
          <p:nvPr/>
        </p:nvSpPr>
        <p:spPr bwMode="auto">
          <a:xfrm>
            <a:off x="2921000" y="3568700"/>
            <a:ext cx="900113" cy="638175"/>
          </a:xfrm>
          <a:prstGeom prst="line">
            <a:avLst/>
          </a:prstGeom>
          <a:noFill/>
          <a:ln w="57150">
            <a:solidFill>
              <a:schemeClr val="accent3">
                <a:lumMod val="50000"/>
              </a:schemeClr>
            </a:solidFill>
            <a:round/>
            <a:headEnd/>
            <a:tailEnd type="triangle" w="med" len="med"/>
          </a:ln>
          <a:effectLst>
            <a:outerShdw blurRad="50800" dist="38100" dir="2700000" algn="tl" rotWithShape="0">
              <a:prstClr val="black">
                <a:alpha val="40000"/>
              </a:prstClr>
            </a:outerShdw>
          </a:effectLst>
        </p:spPr>
        <p:txBody>
          <a:bodyPr wrap="none" anchor="ctr"/>
          <a:lstStyle/>
          <a:p>
            <a:pPr>
              <a:defRPr/>
            </a:pPr>
            <a:endParaRPr lang="zh-CN" altLang="en-US">
              <a:solidFill>
                <a:schemeClr val="accent3">
                  <a:lumMod val="75000"/>
                </a:schemeClr>
              </a:solidFill>
            </a:endParaRPr>
          </a:p>
        </p:txBody>
      </p:sp>
      <p:sp>
        <p:nvSpPr>
          <p:cNvPr id="100" name="Rectangle 259"/>
          <p:cNvSpPr>
            <a:spLocks noChangeArrowheads="1"/>
          </p:cNvSpPr>
          <p:nvPr/>
        </p:nvSpPr>
        <p:spPr bwMode="auto">
          <a:xfrm>
            <a:off x="4448175" y="3651250"/>
            <a:ext cx="920750" cy="274638"/>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长城楷体" charset="-122"/>
              </a:rPr>
              <a:t>色饱和度</a:t>
            </a:r>
            <a:endParaRPr lang="zh-CN" altLang="en-US" sz="1800" b="1" dirty="0">
              <a:solidFill>
                <a:schemeClr val="accent3">
                  <a:lumMod val="75000"/>
                </a:schemeClr>
              </a:solidFill>
            </a:endParaRPr>
          </a:p>
        </p:txBody>
      </p:sp>
      <p:sp>
        <p:nvSpPr>
          <p:cNvPr id="101" name="Line 260"/>
          <p:cNvSpPr>
            <a:spLocks noChangeShapeType="1"/>
          </p:cNvSpPr>
          <p:nvPr/>
        </p:nvSpPr>
        <p:spPr bwMode="auto">
          <a:xfrm flipH="1">
            <a:off x="4414838" y="3933825"/>
            <a:ext cx="490537" cy="803275"/>
          </a:xfrm>
          <a:prstGeom prst="line">
            <a:avLst/>
          </a:prstGeom>
          <a:noFill/>
          <a:ln w="57150">
            <a:solidFill>
              <a:schemeClr val="accent3">
                <a:lumMod val="50000"/>
              </a:schemeClr>
            </a:solidFill>
            <a:round/>
            <a:headEnd/>
            <a:tailEnd type="triangle" w="med" len="med"/>
          </a:ln>
          <a:effectLst>
            <a:outerShdw blurRad="50800" dist="38100" dir="2700000" algn="tl" rotWithShape="0">
              <a:prstClr val="black">
                <a:alpha val="40000"/>
              </a:prstClr>
            </a:outerShdw>
          </a:effectLst>
        </p:spPr>
        <p:txBody>
          <a:bodyPr anchor="ctr">
            <a:spAutoFit/>
          </a:bodyPr>
          <a:lstStyle/>
          <a:p>
            <a:pPr>
              <a:defRPr/>
            </a:pPr>
            <a:endParaRPr lang="zh-CN" altLang="en-US"/>
          </a:p>
        </p:txBody>
      </p:sp>
      <p:grpSp>
        <p:nvGrpSpPr>
          <p:cNvPr id="102" name="Group 261"/>
          <p:cNvGrpSpPr>
            <a:grpSpLocks/>
          </p:cNvGrpSpPr>
          <p:nvPr/>
        </p:nvGrpSpPr>
        <p:grpSpPr bwMode="auto">
          <a:xfrm>
            <a:off x="2732088" y="4768850"/>
            <a:ext cx="942975" cy="277813"/>
            <a:chOff x="975" y="2595"/>
            <a:chExt cx="594" cy="175"/>
          </a:xfrm>
        </p:grpSpPr>
        <p:sp>
          <p:nvSpPr>
            <p:cNvPr id="103" name="Arc 262"/>
            <p:cNvSpPr>
              <a:spLocks/>
            </p:cNvSpPr>
            <p:nvPr/>
          </p:nvSpPr>
          <p:spPr bwMode="auto">
            <a:xfrm>
              <a:off x="1066" y="2595"/>
              <a:ext cx="503" cy="137"/>
            </a:xfrm>
            <a:custGeom>
              <a:avLst/>
              <a:gdLst>
                <a:gd name="T0" fmla="*/ 0 w 18291"/>
                <a:gd name="T1" fmla="*/ 0 h 20835"/>
                <a:gd name="T2" fmla="*/ 0 w 18291"/>
                <a:gd name="T3" fmla="*/ 0 h 20835"/>
                <a:gd name="T4" fmla="*/ 0 w 18291"/>
                <a:gd name="T5" fmla="*/ 0 h 20835"/>
                <a:gd name="T6" fmla="*/ 0 60000 65536"/>
                <a:gd name="T7" fmla="*/ 0 60000 65536"/>
                <a:gd name="T8" fmla="*/ 0 60000 65536"/>
                <a:gd name="T9" fmla="*/ 0 w 18291"/>
                <a:gd name="T10" fmla="*/ 0 h 20835"/>
                <a:gd name="T11" fmla="*/ 18291 w 18291"/>
                <a:gd name="T12" fmla="*/ 20835 h 20835"/>
              </a:gdLst>
              <a:ahLst/>
              <a:cxnLst>
                <a:cxn ang="T6">
                  <a:pos x="T0" y="T1"/>
                </a:cxn>
                <a:cxn ang="T7">
                  <a:pos x="T2" y="T3"/>
                </a:cxn>
                <a:cxn ang="T8">
                  <a:pos x="T4" y="T5"/>
                </a:cxn>
              </a:cxnLst>
              <a:rect l="T9" t="T10" r="T11" b="T12"/>
              <a:pathLst>
                <a:path w="18291" h="20835" fill="none" extrusionOk="0">
                  <a:moveTo>
                    <a:pt x="12593" y="20835"/>
                  </a:moveTo>
                  <a:cubicBezTo>
                    <a:pt x="7373" y="19407"/>
                    <a:pt x="2878" y="16072"/>
                    <a:pt x="-1" y="11489"/>
                  </a:cubicBezTo>
                </a:path>
                <a:path w="18291" h="20835" stroke="0" extrusionOk="0">
                  <a:moveTo>
                    <a:pt x="12593" y="20835"/>
                  </a:moveTo>
                  <a:cubicBezTo>
                    <a:pt x="7373" y="19407"/>
                    <a:pt x="2878" y="16072"/>
                    <a:pt x="-1" y="11489"/>
                  </a:cubicBezTo>
                  <a:lnTo>
                    <a:pt x="18291" y="0"/>
                  </a:lnTo>
                  <a:lnTo>
                    <a:pt x="12593" y="20835"/>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 name="Freeform 263"/>
            <p:cNvSpPr>
              <a:spLocks/>
            </p:cNvSpPr>
            <p:nvPr/>
          </p:nvSpPr>
          <p:spPr bwMode="auto">
            <a:xfrm>
              <a:off x="975" y="2595"/>
              <a:ext cx="193" cy="125"/>
            </a:xfrm>
            <a:custGeom>
              <a:avLst/>
              <a:gdLst>
                <a:gd name="T0" fmla="*/ 0 w 193"/>
                <a:gd name="T1" fmla="*/ 0 h 125"/>
                <a:gd name="T2" fmla="*/ 108 w 193"/>
                <a:gd name="T3" fmla="*/ 125 h 125"/>
                <a:gd name="T4" fmla="*/ 193 w 193"/>
                <a:gd name="T5" fmla="*/ 67 h 125"/>
                <a:gd name="T6" fmla="*/ 0 w 193"/>
                <a:gd name="T7" fmla="*/ 0 h 125"/>
                <a:gd name="T8" fmla="*/ 0 60000 65536"/>
                <a:gd name="T9" fmla="*/ 0 60000 65536"/>
                <a:gd name="T10" fmla="*/ 0 60000 65536"/>
                <a:gd name="T11" fmla="*/ 0 60000 65536"/>
                <a:gd name="T12" fmla="*/ 0 w 193"/>
                <a:gd name="T13" fmla="*/ 0 h 125"/>
                <a:gd name="T14" fmla="*/ 193 w 193"/>
                <a:gd name="T15" fmla="*/ 125 h 125"/>
              </a:gdLst>
              <a:ahLst/>
              <a:cxnLst>
                <a:cxn ang="T8">
                  <a:pos x="T0" y="T1"/>
                </a:cxn>
                <a:cxn ang="T9">
                  <a:pos x="T2" y="T3"/>
                </a:cxn>
                <a:cxn ang="T10">
                  <a:pos x="T4" y="T5"/>
                </a:cxn>
                <a:cxn ang="T11">
                  <a:pos x="T6" y="T7"/>
                </a:cxn>
              </a:cxnLst>
              <a:rect l="T12" t="T13" r="T14" b="T15"/>
              <a:pathLst>
                <a:path w="193" h="125">
                  <a:moveTo>
                    <a:pt x="0" y="0"/>
                  </a:moveTo>
                  <a:lnTo>
                    <a:pt x="108" y="125"/>
                  </a:lnTo>
                  <a:lnTo>
                    <a:pt x="193" y="67"/>
                  </a:lnTo>
                  <a:lnTo>
                    <a:pt x="0" y="0"/>
                  </a:lnTo>
                  <a:close/>
                </a:path>
              </a:pathLst>
            </a:custGeom>
            <a:solidFill>
              <a:srgbClr val="000000"/>
            </a:solidFill>
            <a:ln w="19050">
              <a:solidFill>
                <a:srgbClr val="000000"/>
              </a:solidFill>
              <a:round/>
              <a:headEnd/>
              <a:tailEnd/>
            </a:ln>
          </p:spPr>
          <p:txBody>
            <a:bodyPr/>
            <a:lstStyle/>
            <a:p>
              <a:endParaRPr lang="zh-CN" altLang="en-US"/>
            </a:p>
          </p:txBody>
        </p:sp>
        <p:sp>
          <p:nvSpPr>
            <p:cNvPr id="105" name="Freeform 264"/>
            <p:cNvSpPr>
              <a:spLocks/>
            </p:cNvSpPr>
            <p:nvPr/>
          </p:nvSpPr>
          <p:spPr bwMode="auto">
            <a:xfrm>
              <a:off x="1355" y="2690"/>
              <a:ext cx="214" cy="80"/>
            </a:xfrm>
            <a:custGeom>
              <a:avLst/>
              <a:gdLst>
                <a:gd name="T0" fmla="*/ 214 w 214"/>
                <a:gd name="T1" fmla="*/ 49 h 80"/>
                <a:gd name="T2" fmla="*/ 7 w 214"/>
                <a:gd name="T3" fmla="*/ 0 h 80"/>
                <a:gd name="T4" fmla="*/ 0 w 214"/>
                <a:gd name="T5" fmla="*/ 80 h 80"/>
                <a:gd name="T6" fmla="*/ 214 w 214"/>
                <a:gd name="T7" fmla="*/ 49 h 80"/>
                <a:gd name="T8" fmla="*/ 0 60000 65536"/>
                <a:gd name="T9" fmla="*/ 0 60000 65536"/>
                <a:gd name="T10" fmla="*/ 0 60000 65536"/>
                <a:gd name="T11" fmla="*/ 0 60000 65536"/>
                <a:gd name="T12" fmla="*/ 0 w 214"/>
                <a:gd name="T13" fmla="*/ 0 h 80"/>
                <a:gd name="T14" fmla="*/ 214 w 214"/>
                <a:gd name="T15" fmla="*/ 80 h 80"/>
              </a:gdLst>
              <a:ahLst/>
              <a:cxnLst>
                <a:cxn ang="T8">
                  <a:pos x="T0" y="T1"/>
                </a:cxn>
                <a:cxn ang="T9">
                  <a:pos x="T2" y="T3"/>
                </a:cxn>
                <a:cxn ang="T10">
                  <a:pos x="T4" y="T5"/>
                </a:cxn>
                <a:cxn ang="T11">
                  <a:pos x="T6" y="T7"/>
                </a:cxn>
              </a:cxnLst>
              <a:rect l="T12" t="T13" r="T14" b="T15"/>
              <a:pathLst>
                <a:path w="214" h="80">
                  <a:moveTo>
                    <a:pt x="214" y="49"/>
                  </a:moveTo>
                  <a:lnTo>
                    <a:pt x="7" y="0"/>
                  </a:lnTo>
                  <a:lnTo>
                    <a:pt x="0" y="80"/>
                  </a:lnTo>
                  <a:lnTo>
                    <a:pt x="214" y="49"/>
                  </a:lnTo>
                  <a:close/>
                </a:path>
              </a:pathLst>
            </a:custGeom>
            <a:solidFill>
              <a:srgbClr val="000000"/>
            </a:solidFill>
            <a:ln w="19050">
              <a:solidFill>
                <a:srgbClr val="000000"/>
              </a:solidFill>
              <a:round/>
              <a:headEnd/>
              <a:tailEnd/>
            </a:ln>
          </p:spPr>
          <p:txBody>
            <a:bodyPr/>
            <a:lstStyle/>
            <a:p>
              <a:endParaRPr lang="zh-CN" altLang="en-US"/>
            </a:p>
          </p:txBody>
        </p:sp>
      </p:grpSp>
      <p:sp>
        <p:nvSpPr>
          <p:cNvPr id="106" name="Rectangle 265"/>
          <p:cNvSpPr>
            <a:spLocks noChangeArrowheads="1"/>
          </p:cNvSpPr>
          <p:nvPr/>
        </p:nvSpPr>
        <p:spPr bwMode="auto">
          <a:xfrm>
            <a:off x="3013075" y="4611688"/>
            <a:ext cx="460375" cy="274637"/>
          </a:xfrm>
          <a:prstGeom prst="rect">
            <a:avLst/>
          </a:prstGeom>
          <a:noFill/>
          <a:ln w="9525">
            <a:noFill/>
            <a:miter lim="800000"/>
            <a:headEnd/>
            <a:tailEnd/>
          </a:ln>
          <a:effectLst>
            <a:outerShdw dist="17961" dir="2700000" algn="ctr" rotWithShape="0">
              <a:schemeClr val="bg2"/>
            </a:outerShdw>
          </a:effectLst>
        </p:spPr>
        <p:txBody>
          <a:bodyPr wrap="none" lIns="0" tIns="0" rIns="0" bIns="0">
            <a:spAutoFit/>
          </a:bodyPr>
          <a:lstStyle/>
          <a:p>
            <a:pPr>
              <a:defRPr/>
            </a:pPr>
            <a:r>
              <a:rPr lang="zh-CN" altLang="en-US" sz="1800" b="1" dirty="0">
                <a:solidFill>
                  <a:schemeClr val="accent3">
                    <a:lumMod val="75000"/>
                  </a:schemeClr>
                </a:solidFill>
                <a:latin typeface="仿宋_GB2312" pitchFamily="49" charset="-122"/>
              </a:rPr>
              <a:t>色调</a:t>
            </a:r>
          </a:p>
        </p:txBody>
      </p:sp>
      <p:pic>
        <p:nvPicPr>
          <p:cNvPr id="108" name="Picture 270" descr="200px-Color_cones">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61050" y="1198563"/>
            <a:ext cx="2906713" cy="309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621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box(in)">
                                      <p:cBhvr>
                                        <p:cTn id="11" dur="500"/>
                                        <p:tgtEl>
                                          <p:spTgt spid="102"/>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106"/>
                                        </p:tgtEl>
                                        <p:attrNameLst>
                                          <p:attrName>style.visibility</p:attrName>
                                        </p:attrNameLst>
                                      </p:cBhvr>
                                      <p:to>
                                        <p:strVal val="visible"/>
                                      </p:to>
                                    </p:set>
                                    <p:animEffect transition="in" filter="box(in)">
                                      <p:cBhvr>
                                        <p:cTn id="16" dur="500"/>
                                        <p:tgtEl>
                                          <p:spTgt spid="10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94"/>
                                        </p:tgtEl>
                                        <p:attrNameLst>
                                          <p:attrName>style.visibility</p:attrName>
                                        </p:attrNameLst>
                                      </p:cBhvr>
                                      <p:to>
                                        <p:strVal val="visible"/>
                                      </p:to>
                                    </p:set>
                                    <p:animEffect transition="in" filter="box(in)">
                                      <p:cBhvr>
                                        <p:cTn id="21" dur="500"/>
                                        <p:tgtEl>
                                          <p:spTgt spid="94"/>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100"/>
                                        </p:tgtEl>
                                        <p:attrNameLst>
                                          <p:attrName>style.visibility</p:attrName>
                                        </p:attrNameLst>
                                      </p:cBhvr>
                                      <p:to>
                                        <p:strVal val="visible"/>
                                      </p:to>
                                    </p:set>
                                    <p:animEffect transition="in" filter="box(in)">
                                      <p:cBhvr>
                                        <p:cTn id="26" dur="500"/>
                                        <p:tgtEl>
                                          <p:spTgt spid="100"/>
                                        </p:tgtEl>
                                      </p:cBhvr>
                                    </p:animEffect>
                                  </p:childTnLst>
                                </p:cTn>
                              </p:par>
                              <p:par>
                                <p:cTn id="27" presetID="4" presetClass="entr" presetSubtype="16" fill="hold" nodeType="withEffect">
                                  <p:stCondLst>
                                    <p:cond delay="0"/>
                                  </p:stCondLst>
                                  <p:childTnLst>
                                    <p:set>
                                      <p:cBhvr>
                                        <p:cTn id="28" dur="1" fill="hold">
                                          <p:stCondLst>
                                            <p:cond delay="0"/>
                                          </p:stCondLst>
                                        </p:cTn>
                                        <p:tgtEl>
                                          <p:spTgt spid="101"/>
                                        </p:tgtEl>
                                        <p:attrNameLst>
                                          <p:attrName>style.visibility</p:attrName>
                                        </p:attrNameLst>
                                      </p:cBhvr>
                                      <p:to>
                                        <p:strVal val="visible"/>
                                      </p:to>
                                    </p:set>
                                    <p:animEffect transition="in" filter="box(in)">
                                      <p:cBhvr>
                                        <p:cTn id="29" dur="500"/>
                                        <p:tgtEl>
                                          <p:spTgt spid="10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9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9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9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100" grpId="0"/>
      <p:bldP spid="10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err="1" smtClean="0">
                <a:solidFill>
                  <a:schemeClr val="tx1">
                    <a:lumMod val="75000"/>
                  </a:schemeClr>
                </a:solidFill>
              </a:rPr>
              <a:t>YCrCb</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pic>
        <p:nvPicPr>
          <p:cNvPr id="8" name="Picture 64" descr="image1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348880"/>
            <a:ext cx="4059238"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p:cNvSpPr txBox="1">
            <a:spLocks noChangeArrowheads="1"/>
          </p:cNvSpPr>
          <p:nvPr/>
        </p:nvSpPr>
        <p:spPr bwMode="auto">
          <a:xfrm>
            <a:off x="755576" y="2564904"/>
            <a:ext cx="30035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spcBef>
                <a:spcPct val="50000"/>
              </a:spcBef>
            </a:pPr>
            <a:r>
              <a:rPr lang="zh-CN" altLang="en-US" sz="2400" b="1" dirty="0">
                <a:solidFill>
                  <a:schemeClr val="tx1">
                    <a:lumMod val="75000"/>
                  </a:schemeClr>
                </a:solidFill>
              </a:rPr>
              <a:t>椭圆区域（放大显示）表示人眼无法与椭圆中心颜色进行区分的颜色范围，椭圆的大小、方向随着中心位置的变化而变化，因此不能用空间中的欧式距离度量颜色差异</a:t>
            </a:r>
          </a:p>
        </p:txBody>
      </p:sp>
    </p:spTree>
    <p:extLst>
      <p:ext uri="{BB962C8B-B14F-4D97-AF65-F5344CB8AC3E}">
        <p14:creationId xmlns:p14="http://schemas.microsoft.com/office/powerpoint/2010/main" val="101779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2.2 </a:t>
            </a:r>
            <a:r>
              <a:rPr lang="zh-CN" altLang="en-US" b="1" dirty="0"/>
              <a:t>图像颜色模型</a:t>
            </a:r>
            <a:endParaRPr lang="zh-CN" altLang="en-US" dirty="0"/>
          </a:p>
        </p:txBody>
      </p:sp>
      <p:sp>
        <p:nvSpPr>
          <p:cNvPr id="26" name="Rectangle 52"/>
          <p:cNvSpPr>
            <a:spLocks noChangeArrowheads="1"/>
          </p:cNvSpPr>
          <p:nvPr/>
        </p:nvSpPr>
        <p:spPr bwMode="auto">
          <a:xfrm>
            <a:off x="919163" y="1550814"/>
            <a:ext cx="7974012" cy="641350"/>
          </a:xfrm>
          <a:prstGeom prst="rect">
            <a:avLst/>
          </a:prstGeom>
          <a:noFill/>
          <a:ln w="9525" algn="ctr">
            <a:noFill/>
            <a:miter lim="800000"/>
            <a:headEnd/>
            <a:tailEnd/>
          </a:ln>
          <a:effectLst>
            <a:outerShdw dist="35921" dir="2700000" algn="ctr" rotWithShape="0">
              <a:schemeClr val="bg2"/>
            </a:outerShdw>
          </a:effectLst>
        </p:spPr>
        <p:txBody>
          <a:bodyPr>
            <a:spAutoFit/>
          </a:bodyPr>
          <a:lstStyle/>
          <a:p>
            <a:pPr indent="457200">
              <a:defRPr/>
            </a:pPr>
            <a:r>
              <a:rPr lang="zh-CN" altLang="en-US" sz="3600" b="1" dirty="0" smtClean="0">
                <a:solidFill>
                  <a:schemeClr val="tx1">
                    <a:lumMod val="75000"/>
                  </a:schemeClr>
                </a:solidFill>
              </a:rPr>
              <a:t>图像颜色模型（</a:t>
            </a:r>
            <a:r>
              <a:rPr lang="en-US" altLang="zh-CN" sz="3600" b="1" dirty="0" err="1" smtClean="0">
                <a:solidFill>
                  <a:schemeClr val="tx1">
                    <a:lumMod val="75000"/>
                  </a:schemeClr>
                </a:solidFill>
              </a:rPr>
              <a:t>YCrCb</a:t>
            </a:r>
            <a:r>
              <a:rPr lang="zh-CN" altLang="en-US" sz="3600" b="1" dirty="0" smtClean="0">
                <a:solidFill>
                  <a:schemeClr val="tx1">
                    <a:lumMod val="75000"/>
                  </a:schemeClr>
                </a:solidFill>
              </a:rPr>
              <a:t>）</a:t>
            </a:r>
            <a:endParaRPr lang="zh-CN" altLang="en-US" sz="3600" b="1" dirty="0">
              <a:solidFill>
                <a:schemeClr val="tx1">
                  <a:lumMod val="75000"/>
                </a:schemeClr>
              </a:solidFill>
            </a:endParaRPr>
          </a:p>
        </p:txBody>
      </p:sp>
      <p:sp>
        <p:nvSpPr>
          <p:cNvPr id="6" name="Text Box 54"/>
          <p:cNvSpPr txBox="1">
            <a:spLocks noChangeArrowheads="1"/>
          </p:cNvSpPr>
          <p:nvPr/>
        </p:nvSpPr>
        <p:spPr bwMode="auto">
          <a:xfrm>
            <a:off x="1043608" y="2420888"/>
            <a:ext cx="7560840" cy="1938992"/>
          </a:xfrm>
          <a:prstGeom prst="rect">
            <a:avLst/>
          </a:prstGeom>
          <a:noFill/>
          <a:ln w="9525">
            <a:noFill/>
            <a:miter lim="800000"/>
            <a:headEnd/>
            <a:tailEnd/>
          </a:ln>
          <a:effectLst>
            <a:outerShdw dist="17961" dir="2700000" algn="ctr" rotWithShape="0">
              <a:schemeClr val="bg2"/>
            </a:outerShdw>
          </a:effectLst>
        </p:spPr>
        <p:txBody>
          <a:bodyPr wrap="square">
            <a:spAutoFit/>
          </a:bodyPr>
          <a:lstStyle/>
          <a:p>
            <a:pPr algn="just">
              <a:spcBef>
                <a:spcPct val="50000"/>
              </a:spcBef>
              <a:defRPr/>
            </a:pPr>
            <a:r>
              <a:rPr lang="zh-CN" altLang="en-US" sz="2400" b="1" dirty="0">
                <a:latin typeface="仿宋_GB2312" pitchFamily="49" charset="-122"/>
              </a:rPr>
              <a:t>    该模型中</a:t>
            </a:r>
            <a:r>
              <a:rPr lang="en-US" altLang="zh-CN" sz="2400" b="1" dirty="0">
                <a:latin typeface="仿宋_GB2312" pitchFamily="49" charset="-122"/>
              </a:rPr>
              <a:t>Y</a:t>
            </a:r>
            <a:r>
              <a:rPr lang="zh-CN" altLang="en-US" sz="2400" b="1" dirty="0">
                <a:latin typeface="仿宋_GB2312" pitchFamily="49" charset="-122"/>
              </a:rPr>
              <a:t>代表了光源的亮度，而色度则包含</a:t>
            </a:r>
            <a:r>
              <a:rPr lang="zh-CN" altLang="en-US" sz="2400" b="1" dirty="0" smtClean="0">
                <a:latin typeface="仿宋_GB2312" pitchFamily="49" charset="-122"/>
              </a:rPr>
              <a:t>在</a:t>
            </a:r>
            <a:r>
              <a:rPr lang="en-US" altLang="zh-CN" sz="2400" b="1" dirty="0" smtClean="0">
                <a:latin typeface="仿宋_GB2312" pitchFamily="49" charset="-122"/>
              </a:rPr>
              <a:t>Cr</a:t>
            </a:r>
            <a:r>
              <a:rPr lang="zh-CN" altLang="en-US" sz="2400" b="1" dirty="0" smtClean="0">
                <a:latin typeface="仿宋_GB2312" pitchFamily="49" charset="-122"/>
              </a:rPr>
              <a:t>、</a:t>
            </a:r>
            <a:r>
              <a:rPr lang="en-US" altLang="zh-CN" sz="2400" b="1" dirty="0" err="1" smtClean="0">
                <a:latin typeface="仿宋_GB2312" pitchFamily="49" charset="-122"/>
              </a:rPr>
              <a:t>Cb</a:t>
            </a:r>
            <a:r>
              <a:rPr lang="zh-CN" altLang="en-US" sz="2400" b="1" dirty="0" smtClean="0">
                <a:latin typeface="仿宋_GB2312" pitchFamily="49" charset="-122"/>
              </a:rPr>
              <a:t>两</a:t>
            </a:r>
            <a:r>
              <a:rPr lang="zh-CN" altLang="en-US" sz="2400" b="1" dirty="0">
                <a:latin typeface="仿宋_GB2312" pitchFamily="49" charset="-122"/>
              </a:rPr>
              <a:t>个参数里</a:t>
            </a:r>
            <a:r>
              <a:rPr lang="zh-CN" altLang="en-US" sz="2400" b="1" dirty="0" smtClean="0">
                <a:latin typeface="仿宋_GB2312" pitchFamily="49" charset="-122"/>
              </a:rPr>
              <a:t>。</a:t>
            </a:r>
            <a:r>
              <a:rPr lang="zh-CN" altLang="en-US" sz="2400" b="1" dirty="0">
                <a:latin typeface="仿宋_GB2312" pitchFamily="49" charset="-122"/>
              </a:rPr>
              <a:t>此</a:t>
            </a:r>
            <a:r>
              <a:rPr lang="zh-CN" altLang="en-US" sz="2400" b="1" dirty="0" smtClean="0">
                <a:latin typeface="仿宋_GB2312" pitchFamily="49" charset="-122"/>
              </a:rPr>
              <a:t>类模型被广泛采用在视频、电视信号的传输中，代表性的颜色模型有</a:t>
            </a:r>
            <a:r>
              <a:rPr lang="en-US" altLang="zh-CN" sz="2400" b="1" dirty="0" smtClean="0">
                <a:latin typeface="仿宋_GB2312" pitchFamily="49" charset="-122"/>
              </a:rPr>
              <a:t>LAB,LUV</a:t>
            </a:r>
            <a:r>
              <a:rPr lang="zh-CN" altLang="en-US" sz="2400" b="1" dirty="0" smtClean="0">
                <a:latin typeface="仿宋_GB2312" pitchFamily="49" charset="-122"/>
              </a:rPr>
              <a:t>等。由于</a:t>
            </a:r>
            <a:r>
              <a:rPr lang="zh-CN" altLang="en-US" sz="2400" b="1" dirty="0">
                <a:latin typeface="仿宋_GB2312" pitchFamily="49" charset="-122"/>
              </a:rPr>
              <a:t>人眼对亮度的敏感程度大于对色度的敏感程度，因此总是将最大的带宽分给</a:t>
            </a:r>
            <a:r>
              <a:rPr lang="en-US" altLang="zh-CN" sz="2400" b="1" dirty="0">
                <a:latin typeface="仿宋_GB2312" pitchFamily="49" charset="-122"/>
              </a:rPr>
              <a:t>Y</a:t>
            </a:r>
            <a:r>
              <a:rPr lang="zh-CN" altLang="en-US" sz="2400" b="1" dirty="0">
                <a:latin typeface="仿宋_GB2312" pitchFamily="49" charset="-122"/>
              </a:rPr>
              <a:t>信号。</a:t>
            </a:r>
          </a:p>
        </p:txBody>
      </p:sp>
      <p:grpSp>
        <p:nvGrpSpPr>
          <p:cNvPr id="7" name="组合 64"/>
          <p:cNvGrpSpPr>
            <a:grpSpLocks/>
          </p:cNvGrpSpPr>
          <p:nvPr/>
        </p:nvGrpSpPr>
        <p:grpSpPr bwMode="auto">
          <a:xfrm>
            <a:off x="1862312" y="5210175"/>
            <a:ext cx="5248275" cy="1311275"/>
            <a:chOff x="2514600" y="4875213"/>
            <a:chExt cx="5248237" cy="1311275"/>
          </a:xfrm>
        </p:grpSpPr>
        <p:sp>
          <p:nvSpPr>
            <p:cNvPr id="10" name="AutoShape 68"/>
            <p:cNvSpPr>
              <a:spLocks noChangeArrowheads="1"/>
            </p:cNvSpPr>
            <p:nvPr/>
          </p:nvSpPr>
          <p:spPr bwMode="auto">
            <a:xfrm>
              <a:off x="2514600" y="4919663"/>
              <a:ext cx="611183" cy="1258372"/>
            </a:xfrm>
            <a:prstGeom prst="bracketPair">
              <a:avLst>
                <a:gd name="adj" fmla="val 16667"/>
              </a:avLst>
            </a:prstGeom>
            <a:noFill/>
            <a:ln w="9525">
              <a:noFill/>
              <a:round/>
              <a:headEnd/>
              <a:tailEnd/>
            </a:ln>
            <a:effectLst>
              <a:outerShdw dist="35921" dir="2700000" algn="ctr" rotWithShape="0">
                <a:schemeClr val="bg2"/>
              </a:outerShdw>
            </a:effectLst>
          </p:spPr>
          <p:txBody>
            <a:bodyPr>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algn="just" eaLnBrk="1" hangingPunct="1">
                <a:spcBef>
                  <a:spcPct val="50000"/>
                </a:spcBef>
              </a:pPr>
              <a:r>
                <a:rPr lang="en-US" altLang="zh-CN" sz="1800" b="1" dirty="0">
                  <a:solidFill>
                    <a:schemeClr val="tx1"/>
                  </a:solidFill>
                  <a:latin typeface="华文中宋" pitchFamily="2" charset="-122"/>
                  <a:ea typeface="华文中宋" pitchFamily="2" charset="-122"/>
                </a:rPr>
                <a:t>Y</a:t>
              </a:r>
            </a:p>
            <a:p>
              <a:pPr algn="just" eaLnBrk="1" hangingPunct="1">
                <a:spcBef>
                  <a:spcPct val="50000"/>
                </a:spcBef>
              </a:pPr>
              <a:r>
                <a:rPr lang="en-US" altLang="zh-CN" sz="1800" b="1" dirty="0">
                  <a:solidFill>
                    <a:schemeClr val="tx1"/>
                  </a:solidFill>
                  <a:latin typeface="华文中宋" pitchFamily="2" charset="-122"/>
                  <a:ea typeface="华文中宋" pitchFamily="2" charset="-122"/>
                </a:rPr>
                <a:t>Cr</a:t>
              </a:r>
            </a:p>
            <a:p>
              <a:pPr algn="just" eaLnBrk="1" hangingPunct="1">
                <a:spcBef>
                  <a:spcPct val="50000"/>
                </a:spcBef>
              </a:pPr>
              <a:r>
                <a:rPr lang="en-US" altLang="zh-CN" sz="1800" b="1" dirty="0" err="1">
                  <a:solidFill>
                    <a:schemeClr val="tx1"/>
                  </a:solidFill>
                  <a:latin typeface="华文中宋" pitchFamily="2" charset="-122"/>
                  <a:ea typeface="华文中宋" pitchFamily="2" charset="-122"/>
                </a:rPr>
                <a:t>Cb</a:t>
              </a:r>
              <a:endParaRPr lang="en-US" altLang="zh-CN" sz="1800" b="1" dirty="0">
                <a:solidFill>
                  <a:schemeClr val="tx1"/>
                </a:solidFill>
                <a:latin typeface="华文中宋" pitchFamily="2" charset="-122"/>
                <a:ea typeface="华文中宋" pitchFamily="2" charset="-122"/>
              </a:endParaRPr>
            </a:p>
          </p:txBody>
        </p:sp>
        <p:sp>
          <p:nvSpPr>
            <p:cNvPr id="11" name="AutoShape 69"/>
            <p:cNvSpPr>
              <a:spLocks noChangeArrowheads="1"/>
            </p:cNvSpPr>
            <p:nvPr/>
          </p:nvSpPr>
          <p:spPr bwMode="auto">
            <a:xfrm>
              <a:off x="2517775" y="4999038"/>
              <a:ext cx="509583" cy="1116013"/>
            </a:xfrm>
            <a:prstGeom prst="bracketPair">
              <a:avLst>
                <a:gd name="adj" fmla="val 16667"/>
              </a:avLst>
            </a:prstGeom>
            <a:noFill/>
            <a:ln w="9525">
              <a:solidFill>
                <a:srgbClr val="FFFF00"/>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12" name="Text Box 71"/>
            <p:cNvSpPr txBox="1">
              <a:spLocks noChangeArrowheads="1"/>
            </p:cNvSpPr>
            <p:nvPr/>
          </p:nvSpPr>
          <p:spPr bwMode="auto">
            <a:xfrm>
              <a:off x="6397597" y="4959351"/>
              <a:ext cx="428622" cy="1192212"/>
            </a:xfrm>
            <a:prstGeom prst="rect">
              <a:avLst/>
            </a:prstGeom>
            <a:noFill/>
            <a:ln w="9525">
              <a:noFill/>
              <a:miter lim="800000"/>
              <a:headEnd/>
              <a:tailEnd/>
            </a:ln>
            <a:effectLst>
              <a:outerShdw dist="35921" dir="2700000" algn="ctr" rotWithShape="0">
                <a:schemeClr val="bg2"/>
              </a:outerShdw>
            </a:effectLst>
          </p:spPr>
          <p:txBody>
            <a:bodyPr>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algn="just" eaLnBrk="1" hangingPunct="1">
                <a:spcBef>
                  <a:spcPct val="50000"/>
                </a:spcBef>
              </a:pPr>
              <a:r>
                <a:rPr lang="en-US" altLang="zh-CN" sz="1800" b="1" dirty="0">
                  <a:solidFill>
                    <a:schemeClr val="tx1"/>
                  </a:solidFill>
                  <a:latin typeface="华文中宋" pitchFamily="2" charset="-122"/>
                  <a:ea typeface="华文中宋" pitchFamily="2" charset="-122"/>
                </a:rPr>
                <a:t>R</a:t>
              </a:r>
            </a:p>
            <a:p>
              <a:pPr algn="just" eaLnBrk="1" hangingPunct="1">
                <a:spcBef>
                  <a:spcPct val="50000"/>
                </a:spcBef>
              </a:pPr>
              <a:r>
                <a:rPr lang="en-US" altLang="zh-CN" sz="1800" b="1" dirty="0">
                  <a:solidFill>
                    <a:schemeClr val="tx1"/>
                  </a:solidFill>
                  <a:latin typeface="华文中宋" pitchFamily="2" charset="-122"/>
                  <a:ea typeface="华文中宋" pitchFamily="2" charset="-122"/>
                </a:rPr>
                <a:t>G</a:t>
              </a:r>
            </a:p>
            <a:p>
              <a:pPr algn="just" eaLnBrk="1" hangingPunct="1">
                <a:spcBef>
                  <a:spcPct val="50000"/>
                </a:spcBef>
              </a:pPr>
              <a:r>
                <a:rPr lang="en-US" altLang="zh-CN" sz="1800" b="1" dirty="0">
                  <a:solidFill>
                    <a:schemeClr val="tx1"/>
                  </a:solidFill>
                  <a:latin typeface="华文中宋" pitchFamily="2" charset="-122"/>
                  <a:ea typeface="华文中宋" pitchFamily="2" charset="-122"/>
                </a:rPr>
                <a:t>B</a:t>
              </a:r>
            </a:p>
          </p:txBody>
        </p:sp>
        <p:sp>
          <p:nvSpPr>
            <p:cNvPr id="13" name="AutoShape 72"/>
            <p:cNvSpPr>
              <a:spLocks noChangeArrowheads="1"/>
            </p:cNvSpPr>
            <p:nvPr/>
          </p:nvSpPr>
          <p:spPr bwMode="auto">
            <a:xfrm>
              <a:off x="6362672" y="5013326"/>
              <a:ext cx="380997" cy="1116012"/>
            </a:xfrm>
            <a:prstGeom prst="bracketPair">
              <a:avLst>
                <a:gd name="adj" fmla="val 16667"/>
              </a:avLst>
            </a:prstGeom>
            <a:noFill/>
            <a:ln w="9525">
              <a:solidFill>
                <a:srgbClr val="FFFF00"/>
              </a:solidFill>
              <a:round/>
              <a:headEnd/>
              <a:tailEnd/>
            </a:ln>
            <a:effectLst>
              <a:outerShdw dist="35921" dir="2700000" algn="ctr" rotWithShape="0">
                <a:schemeClr val="bg2"/>
              </a:outerShdw>
            </a:effectLst>
          </p:spPr>
          <p:txBody>
            <a:bodyPr wrap="none" anchor="ctr"/>
            <a:lstStyle/>
            <a:p>
              <a:pPr algn="ctr">
                <a:defRPr/>
              </a:pPr>
              <a:endParaRPr lang="zh-CN" altLang="zh-CN" sz="2000" b="1">
                <a:ea typeface="华文中宋" pitchFamily="2" charset="-122"/>
              </a:endParaRPr>
            </a:p>
          </p:txBody>
        </p:sp>
        <p:sp>
          <p:nvSpPr>
            <p:cNvPr id="14" name="AutoShape 74"/>
            <p:cNvSpPr>
              <a:spLocks noChangeArrowheads="1"/>
            </p:cNvSpPr>
            <p:nvPr/>
          </p:nvSpPr>
          <p:spPr bwMode="auto">
            <a:xfrm>
              <a:off x="3668704" y="4875213"/>
              <a:ext cx="2774930" cy="1311275"/>
            </a:xfrm>
            <a:prstGeom prst="bracketPair">
              <a:avLst>
                <a:gd name="adj" fmla="val 16667"/>
              </a:avLst>
            </a:prstGeom>
            <a:noFill/>
            <a:ln w="9525">
              <a:noFill/>
              <a:round/>
              <a:headEnd/>
              <a:tailEnd/>
            </a:ln>
            <a:effectLst>
              <a:outerShdw dist="35921" dir="2700000" algn="ctr" rotWithShape="0">
                <a:schemeClr val="bg2"/>
              </a:outerShdw>
            </a:effectLst>
          </p:spPr>
          <p:txBody>
            <a:bodyPr>
              <a:spAutoFit/>
            </a:bodyPr>
            <a:lstStyle/>
            <a:p>
              <a:pPr>
                <a:spcBef>
                  <a:spcPct val="50000"/>
                </a:spcBef>
                <a:defRPr/>
              </a:pPr>
              <a:r>
                <a:rPr lang="en-US" altLang="zh-CN" sz="1800" b="1">
                  <a:latin typeface="华文中宋" pitchFamily="2" charset="-122"/>
                  <a:ea typeface="华文中宋" pitchFamily="2" charset="-122"/>
                </a:rPr>
                <a:t>0.30     0.59    0.11</a:t>
              </a:r>
            </a:p>
            <a:p>
              <a:pPr>
                <a:spcBef>
                  <a:spcPct val="50000"/>
                </a:spcBef>
                <a:defRPr/>
              </a:pPr>
              <a:r>
                <a:rPr lang="en-US" altLang="zh-CN" sz="1800" b="1">
                  <a:latin typeface="华文中宋" pitchFamily="2" charset="-122"/>
                  <a:ea typeface="华文中宋" pitchFamily="2" charset="-122"/>
                </a:rPr>
                <a:t>0.50    -0.42    0.08</a:t>
              </a:r>
            </a:p>
            <a:p>
              <a:pPr>
                <a:spcBef>
                  <a:spcPct val="50000"/>
                </a:spcBef>
                <a:defRPr/>
              </a:pPr>
              <a:r>
                <a:rPr lang="en-US" altLang="zh-CN" sz="1800" b="1">
                  <a:latin typeface="华文中宋" pitchFamily="2" charset="-122"/>
                  <a:ea typeface="华文中宋" pitchFamily="2" charset="-122"/>
                </a:rPr>
                <a:t>-0.17    -0.33   0.50</a:t>
              </a:r>
            </a:p>
          </p:txBody>
        </p:sp>
        <p:sp>
          <p:nvSpPr>
            <p:cNvPr id="15" name="AutoShape 75"/>
            <p:cNvSpPr>
              <a:spLocks noChangeArrowheads="1"/>
            </p:cNvSpPr>
            <p:nvPr/>
          </p:nvSpPr>
          <p:spPr bwMode="auto">
            <a:xfrm>
              <a:off x="3597267" y="5022851"/>
              <a:ext cx="2600306" cy="1114425"/>
            </a:xfrm>
            <a:prstGeom prst="bracketPair">
              <a:avLst>
                <a:gd name="adj" fmla="val 16667"/>
              </a:avLst>
            </a:prstGeom>
            <a:noFill/>
            <a:ln w="9525">
              <a:solidFill>
                <a:srgbClr val="FFFF00"/>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16" name="Text Box 76"/>
            <p:cNvSpPr txBox="1">
              <a:spLocks noChangeArrowheads="1"/>
            </p:cNvSpPr>
            <p:nvPr/>
          </p:nvSpPr>
          <p:spPr bwMode="auto">
            <a:xfrm>
              <a:off x="3076575" y="5307013"/>
              <a:ext cx="474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spcBef>
                  <a:spcPct val="50000"/>
                </a:spcBef>
              </a:pPr>
              <a:r>
                <a:rPr lang="en-US" altLang="zh-CN" sz="2400" b="1">
                  <a:ea typeface="华文中宋" pitchFamily="2" charset="-122"/>
                </a:rPr>
                <a:t>=</a:t>
              </a:r>
            </a:p>
          </p:txBody>
        </p:sp>
        <p:sp>
          <p:nvSpPr>
            <p:cNvPr id="17" name="Text Box 78"/>
            <p:cNvSpPr txBox="1">
              <a:spLocks noChangeArrowheads="1"/>
            </p:cNvSpPr>
            <p:nvPr/>
          </p:nvSpPr>
          <p:spPr bwMode="auto">
            <a:xfrm>
              <a:off x="7119904" y="4959351"/>
              <a:ext cx="642933" cy="1192212"/>
            </a:xfrm>
            <a:prstGeom prst="rect">
              <a:avLst/>
            </a:prstGeom>
            <a:noFill/>
            <a:ln w="9525">
              <a:noFill/>
              <a:miter lim="800000"/>
              <a:headEnd/>
              <a:tailEnd/>
            </a:ln>
            <a:effectLst>
              <a:outerShdw dist="35921" dir="2700000" algn="ctr" rotWithShape="0">
                <a:schemeClr val="bg2"/>
              </a:outerShdw>
            </a:effectLst>
          </p:spPr>
          <p:txBody>
            <a:bodyPr>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algn="just" eaLnBrk="1" hangingPunct="1">
                <a:spcBef>
                  <a:spcPct val="50000"/>
                </a:spcBef>
              </a:pPr>
              <a:r>
                <a:rPr lang="en-US" altLang="zh-CN" sz="1800" b="1" dirty="0">
                  <a:solidFill>
                    <a:schemeClr val="tx1"/>
                  </a:solidFill>
                  <a:latin typeface="华文中宋" pitchFamily="2" charset="-122"/>
                  <a:ea typeface="华文中宋" pitchFamily="2" charset="-122"/>
                </a:rPr>
                <a:t>0</a:t>
              </a:r>
            </a:p>
            <a:p>
              <a:pPr algn="just" eaLnBrk="1" hangingPunct="1">
                <a:spcBef>
                  <a:spcPct val="50000"/>
                </a:spcBef>
              </a:pPr>
              <a:r>
                <a:rPr lang="en-US" altLang="zh-CN" sz="1800" b="1" dirty="0">
                  <a:solidFill>
                    <a:schemeClr val="tx1"/>
                  </a:solidFill>
                  <a:latin typeface="华文中宋" pitchFamily="2" charset="-122"/>
                  <a:ea typeface="华文中宋" pitchFamily="2" charset="-122"/>
                </a:rPr>
                <a:t>0.5</a:t>
              </a:r>
            </a:p>
            <a:p>
              <a:pPr algn="just" eaLnBrk="1" hangingPunct="1">
                <a:spcBef>
                  <a:spcPct val="50000"/>
                </a:spcBef>
              </a:pPr>
              <a:r>
                <a:rPr lang="en-US" altLang="zh-CN" sz="1800" b="1" dirty="0">
                  <a:solidFill>
                    <a:schemeClr val="tx1"/>
                  </a:solidFill>
                  <a:latin typeface="华文中宋" pitchFamily="2" charset="-122"/>
                  <a:ea typeface="华文中宋" pitchFamily="2" charset="-122"/>
                </a:rPr>
                <a:t>0.5</a:t>
              </a:r>
            </a:p>
          </p:txBody>
        </p:sp>
        <p:sp>
          <p:nvSpPr>
            <p:cNvPr id="18" name="AutoShape 79"/>
            <p:cNvSpPr>
              <a:spLocks noChangeArrowheads="1"/>
            </p:cNvSpPr>
            <p:nvPr/>
          </p:nvSpPr>
          <p:spPr bwMode="auto">
            <a:xfrm>
              <a:off x="7096092" y="5024438"/>
              <a:ext cx="606421" cy="1116013"/>
            </a:xfrm>
            <a:prstGeom prst="bracketPair">
              <a:avLst>
                <a:gd name="adj" fmla="val 16667"/>
              </a:avLst>
            </a:prstGeom>
            <a:noFill/>
            <a:ln w="9525">
              <a:solidFill>
                <a:srgbClr val="FFFF00"/>
              </a:solidFill>
              <a:round/>
              <a:headEnd/>
              <a:tailEnd/>
            </a:ln>
            <a:effectLst>
              <a:outerShdw dist="35921" dir="2700000" algn="ctr" rotWithShape="0">
                <a:schemeClr val="bg2"/>
              </a:outerShdw>
            </a:effectLst>
          </p:spPr>
          <p:txBody>
            <a:bodyPr wrap="none" anchor="ctr"/>
            <a:lstStyle/>
            <a:p>
              <a:pPr algn="ctr">
                <a:defRPr/>
              </a:pPr>
              <a:endParaRPr lang="zh-CN" altLang="zh-CN" sz="2000" b="1">
                <a:ea typeface="华文中宋" pitchFamily="2" charset="-122"/>
              </a:endParaRPr>
            </a:p>
          </p:txBody>
        </p:sp>
        <p:sp>
          <p:nvSpPr>
            <p:cNvPr id="19" name="Text Box 80"/>
            <p:cNvSpPr txBox="1">
              <a:spLocks noChangeArrowheads="1"/>
            </p:cNvSpPr>
            <p:nvPr/>
          </p:nvSpPr>
          <p:spPr bwMode="auto">
            <a:xfrm>
              <a:off x="6743669" y="5329238"/>
              <a:ext cx="474659" cy="457200"/>
            </a:xfrm>
            <a:prstGeom prst="rect">
              <a:avLst/>
            </a:prstGeom>
            <a:noFill/>
            <a:ln w="9525">
              <a:noFill/>
              <a:miter lim="800000"/>
              <a:headEnd/>
              <a:tailEnd/>
            </a:ln>
            <a:effectLst>
              <a:outerShdw dist="35921" dir="2700000" algn="ctr" rotWithShape="0">
                <a:schemeClr val="bg2"/>
              </a:outerShdw>
            </a:effectLst>
          </p:spPr>
          <p:txBody>
            <a:bodyPr>
              <a:spAutoFit/>
            </a:bodyPr>
            <a:lstStyle>
              <a:lvl1pPr eaLnBrk="0" hangingPunct="0">
                <a:defRPr kumimoji="1" sz="4400">
                  <a:solidFill>
                    <a:srgbClr val="FFFF00"/>
                  </a:solidFill>
                  <a:latin typeface="Times New Roman" pitchFamily="18" charset="0"/>
                  <a:ea typeface="仿宋_GB2312" pitchFamily="49" charset="-122"/>
                </a:defRPr>
              </a:lvl1pPr>
              <a:lvl2pPr marL="742950" indent="-285750" eaLnBrk="0" hangingPunct="0">
                <a:defRPr kumimoji="1" sz="4400">
                  <a:solidFill>
                    <a:srgbClr val="FFFF00"/>
                  </a:solidFill>
                  <a:latin typeface="Times New Roman" pitchFamily="18" charset="0"/>
                  <a:ea typeface="仿宋_GB2312" pitchFamily="49" charset="-122"/>
                </a:defRPr>
              </a:lvl2pPr>
              <a:lvl3pPr marL="1143000" indent="-228600" eaLnBrk="0" hangingPunct="0">
                <a:defRPr kumimoji="1" sz="4400">
                  <a:solidFill>
                    <a:srgbClr val="FFFF00"/>
                  </a:solidFill>
                  <a:latin typeface="Times New Roman" pitchFamily="18" charset="0"/>
                  <a:ea typeface="仿宋_GB2312" pitchFamily="49" charset="-122"/>
                </a:defRPr>
              </a:lvl3pPr>
              <a:lvl4pPr marL="1600200" indent="-228600" eaLnBrk="0" hangingPunct="0">
                <a:defRPr kumimoji="1" sz="4400">
                  <a:solidFill>
                    <a:srgbClr val="FFFF00"/>
                  </a:solidFill>
                  <a:latin typeface="Times New Roman" pitchFamily="18" charset="0"/>
                  <a:ea typeface="仿宋_GB2312" pitchFamily="49" charset="-122"/>
                </a:defRPr>
              </a:lvl4pPr>
              <a:lvl5pPr marL="2057400" indent="-228600" eaLnBrk="0" hangingPunct="0">
                <a:defRPr kumimoji="1" sz="4400">
                  <a:solidFill>
                    <a:srgbClr val="FFFF00"/>
                  </a:solidFill>
                  <a:latin typeface="Times New Roman" pitchFamily="18" charset="0"/>
                  <a:ea typeface="仿宋_GB2312" pitchFamily="49" charset="-122"/>
                </a:defRPr>
              </a:lvl5pPr>
              <a:lvl6pPr marL="25146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6pPr>
              <a:lvl7pPr marL="29718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7pPr>
              <a:lvl8pPr marL="34290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8pPr>
              <a:lvl9pPr marL="3886200" indent="-228600" eaLnBrk="0" fontAlgn="base" hangingPunct="0">
                <a:spcBef>
                  <a:spcPct val="0"/>
                </a:spcBef>
                <a:spcAft>
                  <a:spcPct val="0"/>
                </a:spcAft>
                <a:defRPr kumimoji="1" sz="4400">
                  <a:solidFill>
                    <a:srgbClr val="FFFF00"/>
                  </a:solidFill>
                  <a:latin typeface="Times New Roman" pitchFamily="18" charset="0"/>
                  <a:ea typeface="仿宋_GB2312" pitchFamily="49" charset="-122"/>
                </a:defRPr>
              </a:lvl9pPr>
            </a:lstStyle>
            <a:p>
              <a:pPr eaLnBrk="1" hangingPunct="1">
                <a:spcBef>
                  <a:spcPct val="50000"/>
                </a:spcBef>
              </a:pPr>
              <a:r>
                <a:rPr lang="en-US" altLang="zh-CN" sz="2400" b="1" dirty="0">
                  <a:ea typeface="华文中宋" pitchFamily="2" charset="-122"/>
                </a:rPr>
                <a:t>+</a:t>
              </a:r>
            </a:p>
          </p:txBody>
        </p:sp>
      </p:grpSp>
      <p:sp>
        <p:nvSpPr>
          <p:cNvPr id="20" name="Text Box 65"/>
          <p:cNvSpPr txBox="1">
            <a:spLocks noChangeArrowheads="1"/>
          </p:cNvSpPr>
          <p:nvPr/>
        </p:nvSpPr>
        <p:spPr bwMode="auto">
          <a:xfrm>
            <a:off x="1187624" y="4198938"/>
            <a:ext cx="6534150" cy="830262"/>
          </a:xfrm>
          <a:prstGeom prst="rect">
            <a:avLst/>
          </a:prstGeom>
          <a:noFill/>
          <a:ln w="9525">
            <a:noFill/>
            <a:miter lim="800000"/>
            <a:headEnd/>
            <a:tailEnd/>
          </a:ln>
          <a:effectLst>
            <a:outerShdw dist="35921" dir="2700000" algn="ctr" rotWithShape="0">
              <a:schemeClr val="bg2"/>
            </a:outerShdw>
          </a:effectLst>
        </p:spPr>
        <p:txBody>
          <a:bodyPr>
            <a:spAutoFit/>
          </a:bodyPr>
          <a:lstStyle/>
          <a:p>
            <a:pPr algn="just">
              <a:spcBef>
                <a:spcPct val="50000"/>
              </a:spcBef>
              <a:defRPr/>
            </a:pPr>
            <a:r>
              <a:rPr lang="en-US" altLang="zh-CN" sz="2400" b="1" dirty="0">
                <a:latin typeface="仿宋_GB2312" pitchFamily="49" charset="-122"/>
              </a:rPr>
              <a:t>    </a:t>
            </a:r>
            <a:r>
              <a:rPr lang="en-US" altLang="zh-CN" sz="2400" b="1" dirty="0" err="1">
                <a:latin typeface="仿宋_GB2312" pitchFamily="49" charset="-122"/>
              </a:rPr>
              <a:t>YCrCb</a:t>
            </a:r>
            <a:r>
              <a:rPr lang="zh-CN" altLang="en-US" sz="2400" b="1" dirty="0">
                <a:latin typeface="仿宋_GB2312" pitchFamily="49" charset="-122"/>
              </a:rPr>
              <a:t>表示和</a:t>
            </a:r>
            <a:r>
              <a:rPr lang="en-US" altLang="zh-CN" sz="2400" b="1" dirty="0">
                <a:latin typeface="仿宋_GB2312" pitchFamily="49" charset="-122"/>
              </a:rPr>
              <a:t>RGB</a:t>
            </a:r>
            <a:r>
              <a:rPr lang="zh-CN" altLang="en-US" sz="2400" b="1" dirty="0">
                <a:latin typeface="仿宋_GB2312" pitchFamily="49" charset="-122"/>
              </a:rPr>
              <a:t>表示之间存在如下所示的转换关系：</a:t>
            </a:r>
          </a:p>
        </p:txBody>
      </p:sp>
    </p:spTree>
    <p:extLst>
      <p:ext uri="{BB962C8B-B14F-4D97-AF65-F5344CB8AC3E}">
        <p14:creationId xmlns:p14="http://schemas.microsoft.com/office/powerpoint/2010/main" val="96873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Rot="1" noChangeArrowheads="1"/>
          </p:cNvSpPr>
          <p:nvPr>
            <p:ph type="title"/>
          </p:nvPr>
        </p:nvSpPr>
        <p:spPr>
          <a:xfrm>
            <a:off x="914400" y="1277888"/>
            <a:ext cx="7772400" cy="1143000"/>
          </a:xfrm>
        </p:spPr>
        <p:txBody>
          <a:bodyPr/>
          <a:lstStyle/>
          <a:p>
            <a:r>
              <a:rPr lang="zh-CN" altLang="en-US" b="1" dirty="0">
                <a:latin typeface="楷体_GB2312" pitchFamily="49" charset="-122"/>
                <a:ea typeface="楷体_GB2312" pitchFamily="49" charset="-122"/>
              </a:rPr>
              <a:t>色差</a:t>
            </a:r>
            <a:r>
              <a:rPr lang="en-US" altLang="zh-CN" b="1" dirty="0">
                <a:latin typeface="楷体_GB2312" pitchFamily="49" charset="-122"/>
                <a:ea typeface="楷体_GB2312" pitchFamily="49" charset="-122"/>
              </a:rPr>
              <a:t>(Color Difference)</a:t>
            </a:r>
          </a:p>
        </p:txBody>
      </p:sp>
      <p:sp>
        <p:nvSpPr>
          <p:cNvPr id="303107" name="Rectangle 3"/>
          <p:cNvSpPr>
            <a:spLocks noGrp="1" noRot="1" noChangeArrowheads="1"/>
          </p:cNvSpPr>
          <p:nvPr>
            <p:ph type="body" idx="1"/>
          </p:nvPr>
        </p:nvSpPr>
        <p:spPr>
          <a:xfrm>
            <a:off x="914400" y="2457400"/>
            <a:ext cx="7772400" cy="4572000"/>
          </a:xfrm>
        </p:spPr>
        <p:txBody>
          <a:bodyPr/>
          <a:lstStyle/>
          <a:p>
            <a:r>
              <a:rPr lang="en-US" altLang="zh-CN" sz="3600" b="1" dirty="0" err="1">
                <a:solidFill>
                  <a:schemeClr val="tx1">
                    <a:lumMod val="75000"/>
                  </a:schemeClr>
                </a:solidFill>
              </a:rPr>
              <a:t>YCrCb</a:t>
            </a:r>
            <a:r>
              <a:rPr lang="zh-CN" altLang="en-US" sz="3600" b="1" dirty="0" smtClean="0">
                <a:latin typeface="楷体_GB2312" pitchFamily="49" charset="-122"/>
                <a:ea typeface="楷体_GB2312" pitchFamily="49" charset="-122"/>
              </a:rPr>
              <a:t>颜色空间</a:t>
            </a:r>
            <a:r>
              <a:rPr lang="zh-CN" altLang="en-US" sz="3600" b="1" dirty="0">
                <a:latin typeface="楷体_GB2312" pitchFamily="49" charset="-122"/>
                <a:ea typeface="楷体_GB2312" pitchFamily="49" charset="-122"/>
              </a:rPr>
              <a:t>中的欧氏</a:t>
            </a:r>
            <a:r>
              <a:rPr lang="zh-CN" altLang="en-US" sz="3600" b="1" dirty="0" smtClean="0">
                <a:latin typeface="楷体_GB2312" pitchFamily="49" charset="-122"/>
                <a:ea typeface="楷体_GB2312" pitchFamily="49" charset="-122"/>
              </a:rPr>
              <a:t>距离可以度量</a:t>
            </a:r>
            <a:r>
              <a:rPr lang="zh-CN" altLang="en-US" sz="3600" b="1" dirty="0">
                <a:latin typeface="楷体_GB2312" pitchFamily="49" charset="-122"/>
                <a:ea typeface="楷体_GB2312" pitchFamily="49" charset="-122"/>
              </a:rPr>
              <a:t>色差</a:t>
            </a:r>
            <a:r>
              <a:rPr lang="en-US" altLang="zh-CN" sz="3600" b="1" dirty="0">
                <a:latin typeface="楷体_GB2312" pitchFamily="49" charset="-122"/>
                <a:ea typeface="楷体_GB2312" pitchFamily="49" charset="-122"/>
              </a:rPr>
              <a:t>.</a:t>
            </a:r>
          </a:p>
        </p:txBody>
      </p:sp>
      <p:sp>
        <p:nvSpPr>
          <p:cNvPr id="303109" name="Rectangle 5"/>
          <p:cNvSpPr>
            <a:spLocks noChangeArrowheads="1"/>
          </p:cNvSpPr>
          <p:nvPr/>
        </p:nvSpPr>
        <p:spPr bwMode="auto">
          <a:xfrm>
            <a:off x="0" y="4686201"/>
            <a:ext cx="9144000" cy="0"/>
          </a:xfrm>
          <a:prstGeom prst="rect">
            <a:avLst/>
          </a:prstGeom>
          <a:noFill/>
          <a:ln w="9525">
            <a:noFill/>
            <a:miter lim="800000"/>
            <a:headEnd/>
            <a:tailEnd/>
          </a:ln>
          <a:effectLst/>
        </p:spPr>
        <p:txBody>
          <a:bodyPr wrap="none" anchor="ctr">
            <a:spAutoFit/>
          </a:bodyPr>
          <a:lstStyle/>
          <a:p>
            <a:endParaRPr lang="zh-CN" altLang="en-US"/>
          </a:p>
        </p:txBody>
      </p:sp>
      <p:pic>
        <p:nvPicPr>
          <p:cNvPr id="303110" name="Picture 6" descr="eab"/>
          <p:cNvPicPr>
            <a:picLocks noChangeAspect="1" noChangeArrowheads="1"/>
          </p:cNvPicPr>
          <p:nvPr/>
        </p:nvPicPr>
        <p:blipFill>
          <a:blip r:embed="rId2" cstate="print"/>
          <a:srcRect/>
          <a:stretch>
            <a:fillRect/>
          </a:stretch>
        </p:blipFill>
        <p:spPr bwMode="auto">
          <a:xfrm>
            <a:off x="1619026" y="3992215"/>
            <a:ext cx="5040313" cy="660400"/>
          </a:xfrm>
          <a:prstGeom prst="rect">
            <a:avLst/>
          </a:prstGeom>
          <a:noFill/>
        </p:spPr>
      </p:pic>
      <p:pic>
        <p:nvPicPr>
          <p:cNvPr id="303111" name="Picture 7" descr="euv"/>
          <p:cNvPicPr>
            <a:picLocks noChangeAspect="1" noChangeArrowheads="1"/>
          </p:cNvPicPr>
          <p:nvPr/>
        </p:nvPicPr>
        <p:blipFill>
          <a:blip r:embed="rId3" cstate="print"/>
          <a:srcRect/>
          <a:stretch>
            <a:fillRect/>
          </a:stretch>
        </p:blipFill>
        <p:spPr bwMode="auto">
          <a:xfrm>
            <a:off x="1619026" y="4885978"/>
            <a:ext cx="5329238" cy="703262"/>
          </a:xfrm>
          <a:prstGeom prst="rect">
            <a:avLst/>
          </a:prstGeom>
          <a:noFill/>
        </p:spPr>
      </p:pic>
      <p:sp>
        <p:nvSpPr>
          <p:cNvPr id="8" name="标题 1"/>
          <p:cNvSpPr txBox="1">
            <a:spLocks/>
          </p:cNvSpPr>
          <p:nvPr/>
        </p:nvSpPr>
        <p:spPr>
          <a:xfrm>
            <a:off x="1066800" y="427038"/>
            <a:ext cx="7772400" cy="1143000"/>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zh-CN" b="1" smtClean="0"/>
              <a:t>2.2 </a:t>
            </a:r>
            <a:r>
              <a:rPr lang="zh-CN" altLang="en-US" b="1" smtClean="0"/>
              <a:t>图像颜色模型</a:t>
            </a:r>
            <a:endParaRPr lang="zh-CN"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b="1" dirty="0" smtClean="0">
                <a:latin typeface="+mn-ea"/>
                <a:ea typeface="+mn-ea"/>
              </a:rPr>
              <a:t>数字相机</a:t>
            </a:r>
            <a:endParaRPr lang="zh-CN" altLang="en-US" b="1" dirty="0">
              <a:latin typeface="+mn-ea"/>
              <a:ea typeface="+mn-ea"/>
            </a:endParaRPr>
          </a:p>
        </p:txBody>
      </p:sp>
      <p:pic>
        <p:nvPicPr>
          <p:cNvPr id="5" name="图片 4" descr="220px-Cameras.jpg"/>
          <p:cNvPicPr>
            <a:picLocks noChangeAspect="1"/>
          </p:cNvPicPr>
          <p:nvPr/>
        </p:nvPicPr>
        <p:blipFill>
          <a:blip r:embed="rId2" cstate="print"/>
          <a:stretch>
            <a:fillRect/>
          </a:stretch>
        </p:blipFill>
        <p:spPr>
          <a:xfrm>
            <a:off x="467544" y="1916832"/>
            <a:ext cx="4320480" cy="3083252"/>
          </a:xfrm>
          <a:prstGeom prst="rect">
            <a:avLst/>
          </a:prstGeom>
        </p:spPr>
      </p:pic>
      <p:pic>
        <p:nvPicPr>
          <p:cNvPr id="6" name="图片 5" descr="120px-Eos_300d_v_sst.jpg"/>
          <p:cNvPicPr>
            <a:picLocks noChangeAspect="1"/>
          </p:cNvPicPr>
          <p:nvPr/>
        </p:nvPicPr>
        <p:blipFill>
          <a:blip r:embed="rId3" cstate="print"/>
          <a:stretch>
            <a:fillRect/>
          </a:stretch>
        </p:blipFill>
        <p:spPr>
          <a:xfrm>
            <a:off x="5436096" y="692696"/>
            <a:ext cx="2559144" cy="2516492"/>
          </a:xfrm>
          <a:prstGeom prst="rect">
            <a:avLst/>
          </a:prstGeom>
        </p:spPr>
      </p:pic>
      <p:pic>
        <p:nvPicPr>
          <p:cNvPr id="7" name="图片 6" descr="220px-Olympus_E-420.jpg"/>
          <p:cNvPicPr>
            <a:picLocks noChangeAspect="1"/>
          </p:cNvPicPr>
          <p:nvPr/>
        </p:nvPicPr>
        <p:blipFill>
          <a:blip r:embed="rId4" cstate="print"/>
          <a:stretch>
            <a:fillRect/>
          </a:stretch>
        </p:blipFill>
        <p:spPr>
          <a:xfrm>
            <a:off x="5292080" y="3861048"/>
            <a:ext cx="3416675" cy="2562509"/>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b="1" dirty="0" smtClean="0">
                <a:latin typeface="+mn-ea"/>
                <a:ea typeface="+mn-ea"/>
              </a:rPr>
              <a:t>数字相机</a:t>
            </a:r>
            <a:endParaRPr lang="zh-CN" altLang="en-US" b="1" dirty="0">
              <a:latin typeface="+mn-ea"/>
              <a:ea typeface="+mn-ea"/>
            </a:endParaRPr>
          </a:p>
        </p:txBody>
      </p:sp>
      <p:sp>
        <p:nvSpPr>
          <p:cNvPr id="3" name="内容占位符 2"/>
          <p:cNvSpPr>
            <a:spLocks noGrp="1"/>
          </p:cNvSpPr>
          <p:nvPr>
            <p:ph sz="quarter" idx="1"/>
          </p:nvPr>
        </p:nvSpPr>
        <p:spPr/>
        <p:txBody>
          <a:bodyPr/>
          <a:lstStyle/>
          <a:p>
            <a:endParaRPr lang="zh-CN" altLang="en-US" dirty="0"/>
          </a:p>
        </p:txBody>
      </p:sp>
      <p:pic>
        <p:nvPicPr>
          <p:cNvPr id="78850" name="Picture 2"/>
          <p:cNvPicPr>
            <a:picLocks noChangeAspect="1" noChangeArrowheads="1"/>
          </p:cNvPicPr>
          <p:nvPr/>
        </p:nvPicPr>
        <p:blipFill>
          <a:blip r:embed="rId2" cstate="print"/>
          <a:srcRect/>
          <a:stretch>
            <a:fillRect/>
          </a:stretch>
        </p:blipFill>
        <p:spPr bwMode="auto">
          <a:xfrm>
            <a:off x="988626" y="1543621"/>
            <a:ext cx="7255782" cy="44776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descr="180px-Focal-length_svg.png"/>
          <p:cNvPicPr>
            <a:picLocks noGrp="1" noChangeAspect="1"/>
          </p:cNvPicPr>
          <p:nvPr>
            <p:ph sz="quarter" idx="1"/>
          </p:nvPr>
        </p:nvPicPr>
        <p:blipFill>
          <a:blip r:embed="rId2" cstate="print"/>
          <a:srcRect b="49601"/>
          <a:stretch>
            <a:fillRect/>
          </a:stretch>
        </p:blipFill>
        <p:spPr>
          <a:xfrm>
            <a:off x="1115616" y="1700808"/>
            <a:ext cx="2462818" cy="3744416"/>
          </a:xfrm>
        </p:spPr>
      </p:pic>
      <p:sp>
        <p:nvSpPr>
          <p:cNvPr id="4" name="标题 1"/>
          <p:cNvSpPr>
            <a:spLocks noGrp="1"/>
          </p:cNvSpPr>
          <p:nvPr>
            <p:ph type="title"/>
          </p:nvPr>
        </p:nvSpPr>
        <p:spPr>
          <a:xfrm>
            <a:off x="914400" y="274638"/>
            <a:ext cx="7772400" cy="1143000"/>
          </a:xfrm>
        </p:spPr>
        <p:txBody>
          <a:bodyPr/>
          <a:lstStyle/>
          <a:p>
            <a:r>
              <a:rPr lang="en-US" altLang="zh-CN" b="1" dirty="0" smtClean="0"/>
              <a:t>3.1</a:t>
            </a:r>
            <a:r>
              <a:rPr lang="zh-CN" altLang="en-US" b="1" dirty="0" smtClean="0"/>
              <a:t> 光学转换部分</a:t>
            </a:r>
            <a:endParaRPr lang="zh-CN" altLang="en-US" b="1" dirty="0"/>
          </a:p>
        </p:txBody>
      </p:sp>
      <p:sp>
        <p:nvSpPr>
          <p:cNvPr id="7" name="矩形 6"/>
          <p:cNvSpPr/>
          <p:nvPr/>
        </p:nvSpPr>
        <p:spPr>
          <a:xfrm>
            <a:off x="755576" y="5517232"/>
            <a:ext cx="3456384" cy="1015663"/>
          </a:xfrm>
          <a:prstGeom prst="rect">
            <a:avLst/>
          </a:prstGeom>
        </p:spPr>
        <p:txBody>
          <a:bodyPr wrap="square">
            <a:spAutoFit/>
          </a:bodyPr>
          <a:lstStyle/>
          <a:p>
            <a:pPr algn="just"/>
            <a:r>
              <a:rPr lang="en-US" altLang="zh-CN" sz="2000" dirty="0" smtClean="0">
                <a:latin typeface="Times New Roman" pitchFamily="18" charset="0"/>
                <a:cs typeface="Times New Roman" pitchFamily="18" charset="0"/>
              </a:rPr>
              <a:t>The focal point F and focal length </a:t>
            </a:r>
            <a:r>
              <a:rPr lang="en-US" altLang="zh-CN" sz="2000" i="1" dirty="0" smtClean="0">
                <a:latin typeface="Times New Roman" pitchFamily="18" charset="0"/>
                <a:cs typeface="Times New Roman" pitchFamily="18" charset="0"/>
              </a:rPr>
              <a:t>f</a:t>
            </a:r>
            <a:r>
              <a:rPr lang="en-US" altLang="zh-CN" sz="2000" dirty="0" smtClean="0">
                <a:latin typeface="Times New Roman" pitchFamily="18" charset="0"/>
                <a:cs typeface="Times New Roman" pitchFamily="18" charset="0"/>
              </a:rPr>
              <a:t> of a positive (convex) lens, a negative (concave) lens</a:t>
            </a:r>
            <a:endParaRPr lang="zh-CN" altLang="en-US" sz="2000" dirty="0">
              <a:latin typeface="Times New Roman" pitchFamily="18" charset="0"/>
              <a:cs typeface="Times New Roman" pitchFamily="18" charset="0"/>
            </a:endParaRPr>
          </a:p>
        </p:txBody>
      </p:sp>
      <p:pic>
        <p:nvPicPr>
          <p:cNvPr id="8" name="图片 7" descr="220px-Pinhole-camera_svg.png"/>
          <p:cNvPicPr>
            <a:picLocks noChangeAspect="1"/>
          </p:cNvPicPr>
          <p:nvPr/>
        </p:nvPicPr>
        <p:blipFill>
          <a:blip r:embed="rId3" cstate="print"/>
          <a:stretch>
            <a:fillRect/>
          </a:stretch>
        </p:blipFill>
        <p:spPr>
          <a:xfrm>
            <a:off x="4355976" y="2060848"/>
            <a:ext cx="4224469" cy="288032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914400" y="274638"/>
            <a:ext cx="7772400" cy="1143000"/>
          </a:xfrm>
        </p:spPr>
        <p:txBody>
          <a:bodyPr>
            <a:normAutofit fontScale="90000"/>
          </a:bodyPr>
          <a:lstStyle/>
          <a:p>
            <a:r>
              <a:rPr lang="en-US" altLang="zh-CN" b="1" dirty="0" smtClean="0"/>
              <a:t>3.1</a:t>
            </a:r>
            <a:r>
              <a:rPr lang="zh-CN" altLang="en-US" b="1" dirty="0" smtClean="0"/>
              <a:t> 光学转换部分</a:t>
            </a:r>
            <a:r>
              <a:rPr lang="en-US" altLang="zh-CN" b="1" dirty="0" smtClean="0"/>
              <a:t>(</a:t>
            </a:r>
            <a:r>
              <a:rPr lang="zh-CN" altLang="en-US" b="1" dirty="0" smtClean="0"/>
              <a:t>焦距 </a:t>
            </a:r>
            <a:r>
              <a:rPr lang="en-US" altLang="zh-CN" b="1" dirty="0" smtClean="0"/>
              <a:t>focal length)</a:t>
            </a:r>
            <a:endParaRPr lang="zh-CN" altLang="en-US" b="1" dirty="0"/>
          </a:p>
        </p:txBody>
      </p:sp>
      <p:pic>
        <p:nvPicPr>
          <p:cNvPr id="9" name="图片 8" descr="170px-Focal_length.jpg"/>
          <p:cNvPicPr>
            <a:picLocks noChangeAspect="1"/>
          </p:cNvPicPr>
          <p:nvPr/>
        </p:nvPicPr>
        <p:blipFill>
          <a:blip r:embed="rId2" cstate="print"/>
          <a:stretch>
            <a:fillRect/>
          </a:stretch>
        </p:blipFill>
        <p:spPr>
          <a:xfrm>
            <a:off x="6228184" y="1556792"/>
            <a:ext cx="2376264" cy="4738550"/>
          </a:xfrm>
          <a:prstGeom prst="rect">
            <a:avLst/>
          </a:prstGeom>
        </p:spPr>
      </p:pic>
      <p:pic>
        <p:nvPicPr>
          <p:cNvPr id="12" name="图片 11" descr="Angleofview_28mm_f4.jpg"/>
          <p:cNvPicPr>
            <a:picLocks noChangeAspect="1"/>
          </p:cNvPicPr>
          <p:nvPr/>
        </p:nvPicPr>
        <p:blipFill>
          <a:blip r:embed="rId3" cstate="print"/>
          <a:stretch>
            <a:fillRect/>
          </a:stretch>
        </p:blipFill>
        <p:spPr>
          <a:xfrm>
            <a:off x="179512" y="1700809"/>
            <a:ext cx="2750770" cy="1800000"/>
          </a:xfrm>
          <a:prstGeom prst="rect">
            <a:avLst/>
          </a:prstGeom>
        </p:spPr>
      </p:pic>
      <p:pic>
        <p:nvPicPr>
          <p:cNvPr id="13" name="图片 12" descr="Angleofview_50mm_f4.jpg"/>
          <p:cNvPicPr>
            <a:picLocks noChangeAspect="1"/>
          </p:cNvPicPr>
          <p:nvPr/>
        </p:nvPicPr>
        <p:blipFill>
          <a:blip r:embed="rId4" cstate="print"/>
          <a:stretch>
            <a:fillRect/>
          </a:stretch>
        </p:blipFill>
        <p:spPr>
          <a:xfrm>
            <a:off x="3059832" y="1700807"/>
            <a:ext cx="2812499" cy="1800000"/>
          </a:xfrm>
          <a:prstGeom prst="rect">
            <a:avLst/>
          </a:prstGeom>
        </p:spPr>
      </p:pic>
      <p:pic>
        <p:nvPicPr>
          <p:cNvPr id="14" name="图片 13" descr="Angleofview_70mm_f4.jpg"/>
          <p:cNvPicPr>
            <a:picLocks noChangeAspect="1"/>
          </p:cNvPicPr>
          <p:nvPr/>
        </p:nvPicPr>
        <p:blipFill>
          <a:blip r:embed="rId5" cstate="print"/>
          <a:stretch>
            <a:fillRect/>
          </a:stretch>
        </p:blipFill>
        <p:spPr>
          <a:xfrm>
            <a:off x="179513" y="4077072"/>
            <a:ext cx="2754000" cy="1753380"/>
          </a:xfrm>
          <a:prstGeom prst="rect">
            <a:avLst/>
          </a:prstGeom>
        </p:spPr>
      </p:pic>
      <p:pic>
        <p:nvPicPr>
          <p:cNvPr id="15" name="图片 14" descr="Angleofview_210mm_f4.jpg"/>
          <p:cNvPicPr>
            <a:picLocks noChangeAspect="1"/>
          </p:cNvPicPr>
          <p:nvPr/>
        </p:nvPicPr>
        <p:blipFill>
          <a:blip r:embed="rId6" cstate="print"/>
          <a:stretch>
            <a:fillRect/>
          </a:stretch>
        </p:blipFill>
        <p:spPr>
          <a:xfrm>
            <a:off x="3059832" y="4077072"/>
            <a:ext cx="2750400" cy="1787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3.1</a:t>
            </a:r>
            <a:r>
              <a:rPr lang="zh-CN" altLang="en-US" b="1" dirty="0" smtClean="0"/>
              <a:t> 光学转换部分 </a:t>
            </a:r>
            <a:r>
              <a:rPr lang="en-US" altLang="zh-CN" b="1" dirty="0" smtClean="0"/>
              <a:t>(</a:t>
            </a:r>
            <a:r>
              <a:rPr lang="zh-CN" altLang="en-US" b="1" dirty="0" smtClean="0"/>
              <a:t>光圈</a:t>
            </a:r>
            <a:r>
              <a:rPr lang="en-US" altLang="zh-CN" b="1" dirty="0" smtClean="0"/>
              <a:t>Aperture)</a:t>
            </a:r>
            <a:endParaRPr lang="zh-CN" altLang="en-US" b="1" dirty="0"/>
          </a:p>
        </p:txBody>
      </p:sp>
      <p:pic>
        <p:nvPicPr>
          <p:cNvPr id="6" name="图片 5" descr="440px-Depth_of_field_diagram.png"/>
          <p:cNvPicPr>
            <a:picLocks noChangeAspect="1"/>
          </p:cNvPicPr>
          <p:nvPr/>
        </p:nvPicPr>
        <p:blipFill>
          <a:blip r:embed="rId2" cstate="print"/>
          <a:stretch>
            <a:fillRect/>
          </a:stretch>
        </p:blipFill>
        <p:spPr>
          <a:xfrm>
            <a:off x="1619672" y="4221088"/>
            <a:ext cx="6636414" cy="2232248"/>
          </a:xfrm>
          <a:prstGeom prst="rect">
            <a:avLst/>
          </a:prstGeom>
        </p:spPr>
      </p:pic>
      <p:pic>
        <p:nvPicPr>
          <p:cNvPr id="7" name="图片 6" descr="220px-Lens_aperture_side.jpg"/>
          <p:cNvPicPr>
            <a:picLocks noChangeAspect="1"/>
          </p:cNvPicPr>
          <p:nvPr/>
        </p:nvPicPr>
        <p:blipFill>
          <a:blip r:embed="rId3" cstate="print"/>
          <a:stretch>
            <a:fillRect/>
          </a:stretch>
        </p:blipFill>
        <p:spPr>
          <a:xfrm>
            <a:off x="1475656" y="1427088"/>
            <a:ext cx="2794000" cy="2794000"/>
          </a:xfrm>
          <a:prstGeom prst="rect">
            <a:avLst/>
          </a:prstGeom>
        </p:spPr>
      </p:pic>
      <p:sp>
        <p:nvSpPr>
          <p:cNvPr id="79876" name="Rectangle 4"/>
          <p:cNvSpPr>
            <a:spLocks noChangeArrowheads="1"/>
          </p:cNvSpPr>
          <p:nvPr/>
        </p:nvSpPr>
        <p:spPr bwMode="auto">
          <a:xfrm>
            <a:off x="4716016" y="1484784"/>
            <a:ext cx="3960440" cy="25853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smtClean="0">
                <a:ln>
                  <a:noFill/>
                </a:ln>
                <a:solidFill>
                  <a:schemeClr val="tx1"/>
                </a:solidFill>
                <a:effectLst/>
                <a:latin typeface="Arial" pitchFamily="34" charset="0"/>
                <a:ea typeface="Courier New" pitchFamily="49" charset="0"/>
                <a:cs typeface="宋体" pitchFamily="2" charset="-122"/>
                <a:hlinkClick r:id="rId4" tooltip="Enlarge"/>
              </a:rPr>
              <a:t>  </a:t>
            </a:r>
            <a:r>
              <a:rPr kumimoji="0" lang="zh-CN" altLang="zh-CN" sz="600" b="0" i="0" u="none" strike="noStrike" cap="none" normalizeH="0" baseline="0" dirty="0" smtClean="0">
                <a:ln>
                  <a:noFill/>
                </a:ln>
                <a:solidFill>
                  <a:schemeClr val="tx1"/>
                </a:solidFill>
                <a:effectLst/>
                <a:latin typeface="Arial" pitchFamily="34" charset="0"/>
                <a:ea typeface="Courier New" pitchFamily="49" charset="0"/>
                <a:cs typeface="宋体" pitchFamily="2" charset="-122"/>
              </a:rPr>
              <a:t> </a:t>
            </a:r>
            <a:r>
              <a:rPr kumimoji="0" lang="zh-CN" altLang="zh-CN" sz="1800" b="0" i="0" u="none" strike="noStrike" cap="none" normalizeH="0" baseline="0" dirty="0" smtClean="0">
                <a:ln>
                  <a:noFill/>
                </a:ln>
                <a:solidFill>
                  <a:schemeClr val="tx1"/>
                </a:solidFill>
                <a:effectLst/>
                <a:latin typeface="Arial" pitchFamily="34" charset="0"/>
                <a:ea typeface="Courier New" pitchFamily="49" charset="0"/>
                <a:cs typeface="宋体" pitchFamily="2" charset="-122"/>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smtClean="0">
                <a:ln>
                  <a:noFill/>
                </a:ln>
                <a:solidFill>
                  <a:schemeClr val="tx1"/>
                </a:solidFill>
                <a:effectLst/>
                <a:latin typeface="Arial" pitchFamily="34" charset="0"/>
                <a:ea typeface="Courier New" pitchFamily="49" charset="0"/>
                <a:cs typeface="宋体" pitchFamily="2" charset="-122"/>
              </a:rPr>
              <a:t>A 35 mm lens set to </a:t>
            </a:r>
            <a:r>
              <a:rPr kumimoji="0" lang="zh-CN" altLang="zh-CN" sz="1800" b="0" i="1" u="none" strike="noStrike" cap="none" normalizeH="0" baseline="0" dirty="0" smtClean="0">
                <a:ln>
                  <a:noFill/>
                </a:ln>
                <a:solidFill>
                  <a:schemeClr val="tx1"/>
                </a:solidFill>
                <a:effectLst/>
                <a:latin typeface="Arial" pitchFamily="34" charset="0"/>
                <a:ea typeface="Courier New" pitchFamily="49" charset="0"/>
                <a:cs typeface="宋体" pitchFamily="2" charset="-122"/>
              </a:rPr>
              <a:t>f</a:t>
            </a:r>
            <a:r>
              <a:rPr kumimoji="0" lang="zh-CN" altLang="zh-CN" sz="1800" b="0" i="0" u="none" strike="noStrike" cap="none" normalizeH="0" baseline="0" dirty="0" smtClean="0">
                <a:ln>
                  <a:noFill/>
                </a:ln>
                <a:solidFill>
                  <a:schemeClr val="tx1"/>
                </a:solidFill>
                <a:effectLst/>
                <a:latin typeface="Arial" pitchFamily="34" charset="0"/>
                <a:ea typeface="Courier New" pitchFamily="49" charset="0"/>
                <a:cs typeface="宋体" pitchFamily="2" charset="-122"/>
              </a:rPr>
              <a:t>/11. The depth-of-field scale (top) indicates that a subject which is anywhere between 1 and 2 meters in front of the camera will be rendered acceptably sharp. If the aperture were set to </a:t>
            </a:r>
            <a:r>
              <a:rPr kumimoji="0" lang="zh-CN" altLang="zh-CN" sz="1800" b="0" i="1" u="none" strike="noStrike" cap="none" normalizeH="0" baseline="0" dirty="0" smtClean="0">
                <a:ln>
                  <a:noFill/>
                </a:ln>
                <a:solidFill>
                  <a:schemeClr val="tx1"/>
                </a:solidFill>
                <a:effectLst/>
                <a:latin typeface="Trebuchet MS" pitchFamily="34" charset="0"/>
                <a:ea typeface="Courier New" pitchFamily="49" charset="0"/>
                <a:cs typeface="宋体" pitchFamily="2" charset="-122"/>
              </a:rPr>
              <a:t>f</a:t>
            </a:r>
            <a:r>
              <a:rPr kumimoji="0" lang="zh-CN" altLang="zh-CN" sz="1800" b="0" i="0" u="none" strike="noStrike" cap="none" normalizeH="0" baseline="0" dirty="0" smtClean="0">
                <a:ln>
                  <a:noFill/>
                </a:ln>
                <a:solidFill>
                  <a:schemeClr val="tx1"/>
                </a:solidFill>
                <a:effectLst/>
                <a:latin typeface="Arial" pitchFamily="34" charset="0"/>
                <a:ea typeface="Courier New" pitchFamily="49" charset="0"/>
                <a:cs typeface="宋体" pitchFamily="2" charset="-122"/>
              </a:rPr>
              <a:t>/22 instead, everything from 0.7 meters to infinity would appear to be in focus.</a:t>
            </a:r>
          </a:p>
        </p:txBody>
      </p:sp>
      <p:pic>
        <p:nvPicPr>
          <p:cNvPr id="79877" name="Picture 5" descr="http://bits.wikimedia.org/skins-1.17/common/images/magnify-clip.png">
            <a:hlinkClick r:id="rId4" tooltip="Enlarge"/>
          </p:cNvPr>
          <p:cNvPicPr>
            <a:picLocks noChangeAspect="1" noChangeArrowheads="1"/>
          </p:cNvPicPr>
          <p:nvPr/>
        </p:nvPicPr>
        <p:blipFill>
          <a:blip r:embed="rId5" cstate="print"/>
          <a:srcRect/>
          <a:stretch>
            <a:fillRect/>
          </a:stretch>
        </p:blipFill>
        <p:spPr bwMode="auto">
          <a:xfrm>
            <a:off x="155575" y="-685800"/>
            <a:ext cx="142875" cy="104775"/>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Shutter_speed_waterfall.gif"/>
          <p:cNvPicPr>
            <a:picLocks noGrp="1" noChangeAspect="1"/>
          </p:cNvPicPr>
          <p:nvPr>
            <p:ph sz="quarter" idx="1"/>
          </p:nvPr>
        </p:nvPicPr>
        <p:blipFill>
          <a:blip r:embed="rId2" cstate="print"/>
          <a:stretch>
            <a:fillRect/>
          </a:stretch>
        </p:blipFill>
        <p:spPr>
          <a:xfrm>
            <a:off x="1331640" y="1524532"/>
            <a:ext cx="6192688" cy="4136716"/>
          </a:xfrm>
        </p:spPr>
      </p:pic>
      <p:sp>
        <p:nvSpPr>
          <p:cNvPr id="4" name="标题 1"/>
          <p:cNvSpPr txBox="1">
            <a:spLocks/>
          </p:cNvSpPr>
          <p:nvPr/>
        </p:nvSpPr>
        <p:spPr>
          <a:xfrm>
            <a:off x="899592" y="197768"/>
            <a:ext cx="7772400" cy="1143000"/>
          </a:xfrm>
          <a:prstGeom prst="rect">
            <a:avLst/>
          </a:prstGeom>
        </p:spPr>
        <p:txBody>
          <a:bodyPr bIns="9144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000" b="1" i="0" u="none" strike="noStrike" kern="1200" cap="none" spc="0" normalizeH="0" baseline="0" noProof="0" dirty="0" smtClean="0">
                <a:ln>
                  <a:noFill/>
                </a:ln>
                <a:solidFill>
                  <a:schemeClr val="tx2"/>
                </a:solidFill>
                <a:effectLst/>
                <a:uLnTx/>
                <a:uFillTx/>
                <a:latin typeface="+mj-lt"/>
                <a:ea typeface="+mj-ea"/>
                <a:cs typeface="+mj-cs"/>
              </a:rPr>
              <a:t>3.1</a:t>
            </a:r>
            <a:r>
              <a:rPr kumimoji="0" lang="zh-CN" altLang="en-US" sz="4000" b="1" i="0" u="none" strike="noStrike" kern="1200" cap="none" spc="0" normalizeH="0" baseline="0" noProof="0" dirty="0" smtClean="0">
                <a:ln>
                  <a:noFill/>
                </a:ln>
                <a:solidFill>
                  <a:schemeClr val="tx2"/>
                </a:solidFill>
                <a:effectLst/>
                <a:uLnTx/>
                <a:uFillTx/>
                <a:latin typeface="+mj-lt"/>
                <a:ea typeface="+mj-ea"/>
                <a:cs typeface="+mj-cs"/>
              </a:rPr>
              <a:t> 光学转换部分</a:t>
            </a:r>
            <a:r>
              <a:rPr kumimoji="0" lang="en-US" altLang="zh-CN" sz="4000" b="1" i="0" u="none" strike="noStrike" kern="1200" cap="none" spc="0" normalizeH="0" baseline="0" noProof="0" dirty="0" smtClean="0">
                <a:ln>
                  <a:noFill/>
                </a:ln>
                <a:solidFill>
                  <a:schemeClr val="tx2"/>
                </a:solidFill>
                <a:effectLst/>
                <a:uLnTx/>
                <a:uFillTx/>
                <a:latin typeface="+mj-lt"/>
                <a:ea typeface="+mj-ea"/>
                <a:cs typeface="+mj-cs"/>
              </a:rPr>
              <a:t>(</a:t>
            </a:r>
            <a:r>
              <a:rPr kumimoji="0" lang="zh-CN" altLang="en-US" sz="4000" b="1" i="0" u="none" strike="noStrike" kern="1200" cap="none" spc="0" normalizeH="0" baseline="0" noProof="0" dirty="0" smtClean="0">
                <a:ln>
                  <a:noFill/>
                </a:ln>
                <a:solidFill>
                  <a:schemeClr val="tx2"/>
                </a:solidFill>
                <a:effectLst/>
                <a:uLnTx/>
                <a:uFillTx/>
                <a:latin typeface="+mj-lt"/>
                <a:ea typeface="+mj-ea"/>
                <a:cs typeface="+mj-cs"/>
              </a:rPr>
              <a:t>快门</a:t>
            </a:r>
            <a:r>
              <a:rPr kumimoji="0" lang="en-US" altLang="zh-CN" sz="4000" b="1" i="0" u="none" strike="noStrike" kern="1200" cap="none" spc="0" normalizeH="0" baseline="0" noProof="0" dirty="0" smtClean="0">
                <a:ln>
                  <a:noFill/>
                </a:ln>
                <a:solidFill>
                  <a:schemeClr val="tx2"/>
                </a:solidFill>
                <a:effectLst/>
                <a:uLnTx/>
                <a:uFillTx/>
                <a:latin typeface="+mj-lt"/>
                <a:ea typeface="+mj-ea"/>
                <a:cs typeface="+mj-cs"/>
              </a:rPr>
              <a:t>shutter)</a:t>
            </a:r>
            <a:endParaRPr kumimoji="0" lang="zh-CN" altLang="en-US" sz="4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3.2 </a:t>
            </a:r>
            <a:r>
              <a:rPr lang="zh-CN" altLang="en-US" b="1" dirty="0" smtClean="0"/>
              <a:t>光电转换部分</a:t>
            </a:r>
            <a:endParaRPr lang="zh-CN" altLang="en-US" b="1" dirty="0"/>
          </a:p>
        </p:txBody>
      </p:sp>
      <p:sp>
        <p:nvSpPr>
          <p:cNvPr id="3" name="内容占位符 2"/>
          <p:cNvSpPr>
            <a:spLocks noGrp="1"/>
          </p:cNvSpPr>
          <p:nvPr>
            <p:ph sz="quarter" idx="1"/>
          </p:nvPr>
        </p:nvSpPr>
        <p:spPr/>
        <p:txBody>
          <a:bodyPr/>
          <a:lstStyle/>
          <a:p>
            <a:r>
              <a:rPr lang="zh-CN" altLang="en-US" b="1" dirty="0" smtClean="0"/>
              <a:t>光电传感器</a:t>
            </a:r>
            <a:endParaRPr lang="en-US" altLang="zh-CN" b="1" dirty="0" smtClean="0"/>
          </a:p>
          <a:p>
            <a:pPr lvl="1"/>
            <a:endParaRPr lang="en-US" altLang="zh-CN" dirty="0" smtClean="0"/>
          </a:p>
          <a:p>
            <a:pPr lvl="1"/>
            <a:r>
              <a:rPr lang="en-US" altLang="zh-CN" dirty="0" smtClean="0"/>
              <a:t>CCD:</a:t>
            </a:r>
            <a:r>
              <a:rPr lang="zh-CN" altLang="en-US" dirty="0" smtClean="0"/>
              <a:t>电荷耦合元件</a:t>
            </a:r>
            <a:endParaRPr lang="en-US" altLang="zh-CN" dirty="0" smtClean="0"/>
          </a:p>
          <a:p>
            <a:endParaRPr lang="en-US" altLang="zh-CN" dirty="0" smtClean="0"/>
          </a:p>
          <a:p>
            <a:pPr lvl="1"/>
            <a:r>
              <a:rPr lang="en-US" altLang="zh-CN" dirty="0" smtClean="0"/>
              <a:t>CMOS:</a:t>
            </a:r>
            <a:r>
              <a:rPr lang="zh-CN" altLang="en-US" dirty="0" smtClean="0"/>
              <a:t>互补金属氧化物半导体</a:t>
            </a:r>
          </a:p>
          <a:p>
            <a:endParaRPr lang="en-US" altLang="zh-CN" b="1" dirty="0" smtClean="0"/>
          </a:p>
          <a:p>
            <a:r>
              <a:rPr lang="en-US" altLang="zh-CN" b="1" dirty="0" smtClean="0"/>
              <a:t>AGC:</a:t>
            </a:r>
            <a:r>
              <a:rPr lang="zh-CN" altLang="en-US" b="1" dirty="0" smtClean="0"/>
              <a:t> 自动增益控制</a:t>
            </a:r>
            <a:endParaRPr lang="en-US" altLang="zh-CN" b="1" dirty="0" smtClean="0"/>
          </a:p>
          <a:p>
            <a:pPr lvl="1"/>
            <a:r>
              <a:rPr lang="en-US" altLang="zh-CN" b="1" dirty="0" smtClean="0"/>
              <a:t>ISO</a:t>
            </a:r>
            <a:r>
              <a:rPr lang="zh-CN" altLang="en-US" b="1" dirty="0" smtClean="0"/>
              <a:t> </a:t>
            </a:r>
            <a:r>
              <a:rPr lang="en-US" altLang="zh-CN" b="1" dirty="0" smtClean="0"/>
              <a:t>settings</a:t>
            </a:r>
            <a:r>
              <a:rPr lang="zh-CN" altLang="en-US" b="1" dirty="0" smtClean="0"/>
              <a:t>：</a:t>
            </a:r>
            <a:r>
              <a:rPr lang="en-US" altLang="zh-CN" b="1" dirty="0" smtClean="0"/>
              <a:t>100</a:t>
            </a:r>
            <a:r>
              <a:rPr lang="zh-CN" altLang="en-US" b="1" dirty="0" smtClean="0"/>
              <a:t>，</a:t>
            </a:r>
            <a:r>
              <a:rPr lang="en-US" altLang="zh-CN" b="1" dirty="0" smtClean="0"/>
              <a:t>200</a:t>
            </a:r>
            <a:r>
              <a:rPr lang="zh-CN" altLang="en-US" b="1" dirty="0" smtClean="0"/>
              <a:t>，</a:t>
            </a:r>
            <a:r>
              <a:rPr lang="en-US" altLang="zh-CN" b="1" dirty="0" smtClean="0"/>
              <a:t>400</a:t>
            </a:r>
          </a:p>
          <a:p>
            <a:pPr lvl="1"/>
            <a:r>
              <a:rPr lang="en-US" altLang="zh-CN" b="1" dirty="0" smtClean="0"/>
              <a:t>ISO</a:t>
            </a:r>
            <a:r>
              <a:rPr lang="zh-CN" altLang="en-US" b="1" dirty="0" smtClean="0"/>
              <a:t> 高，图像亮度增加，伴随噪声增加</a:t>
            </a:r>
            <a:endParaRPr lang="en-US" altLang="zh-CN" dirty="0" smtClean="0"/>
          </a:p>
          <a:p>
            <a:endParaRPr lang="en-US" altLang="zh-CN" dirty="0"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3.3 </a:t>
            </a:r>
            <a:r>
              <a:rPr lang="zh-CN" altLang="en-US" b="1" dirty="0" smtClean="0"/>
              <a:t>图像处理部分</a:t>
            </a:r>
            <a:endParaRPr lang="zh-CN" altLang="en-US" dirty="0"/>
          </a:p>
        </p:txBody>
      </p:sp>
      <p:sp>
        <p:nvSpPr>
          <p:cNvPr id="3" name="内容占位符 2"/>
          <p:cNvSpPr>
            <a:spLocks noGrp="1"/>
          </p:cNvSpPr>
          <p:nvPr>
            <p:ph sz="quarter" idx="1"/>
          </p:nvPr>
        </p:nvSpPr>
        <p:spPr/>
        <p:txBody>
          <a:bodyPr/>
          <a:lstStyle/>
          <a:p>
            <a:r>
              <a:rPr lang="en-US" altLang="zh-CN" b="1" dirty="0" smtClean="0">
                <a:latin typeface="Times New Roman" pitchFamily="18" charset="0"/>
                <a:cs typeface="Times New Roman" pitchFamily="18" charset="0"/>
              </a:rPr>
              <a:t>Demosaicing</a:t>
            </a:r>
          </a:p>
          <a:p>
            <a:pPr>
              <a:buNone/>
            </a:pPr>
            <a:r>
              <a:rPr lang="en-US" altLang="zh-CN" sz="2000" dirty="0" smtClean="0">
                <a:latin typeface="Times New Roman" pitchFamily="18" charset="0"/>
                <a:cs typeface="Times New Roman" pitchFamily="18" charset="0"/>
              </a:rPr>
              <a:t>    - is to reconstruct a full color image (i.e. a full set of color triples) from the spatially undersampled color channels output from the CFA.</a:t>
            </a:r>
            <a:endParaRPr lang="zh-CN" altLang="en-US" sz="2000" dirty="0">
              <a:latin typeface="Times New Roman" pitchFamily="18" charset="0"/>
              <a:cs typeface="Times New Roman" pitchFamily="18" charset="0"/>
            </a:endParaRPr>
          </a:p>
        </p:txBody>
      </p:sp>
      <p:pic>
        <p:nvPicPr>
          <p:cNvPr id="4" name="图片 3" descr="250px-Bayer_pattern_on_sensor_svg.png"/>
          <p:cNvPicPr>
            <a:picLocks noChangeAspect="1"/>
          </p:cNvPicPr>
          <p:nvPr/>
        </p:nvPicPr>
        <p:blipFill>
          <a:blip r:embed="rId2" cstate="print"/>
          <a:stretch>
            <a:fillRect/>
          </a:stretch>
        </p:blipFill>
        <p:spPr>
          <a:xfrm>
            <a:off x="2229247" y="2823319"/>
            <a:ext cx="4430985" cy="2889002"/>
          </a:xfrm>
          <a:prstGeom prst="rect">
            <a:avLst/>
          </a:prstGeom>
        </p:spPr>
      </p:pic>
      <p:sp>
        <p:nvSpPr>
          <p:cNvPr id="5" name="矩形 4"/>
          <p:cNvSpPr/>
          <p:nvPr/>
        </p:nvSpPr>
        <p:spPr>
          <a:xfrm>
            <a:off x="2411760" y="5919663"/>
            <a:ext cx="4196149" cy="461665"/>
          </a:xfrm>
          <a:prstGeom prst="rect">
            <a:avLst/>
          </a:prstGeom>
        </p:spPr>
        <p:txBody>
          <a:bodyPr wrap="none">
            <a:spAutoFit/>
          </a:bodyPr>
          <a:lstStyle/>
          <a:p>
            <a:r>
              <a:rPr lang="en-US" altLang="zh-CN" sz="2400" b="1" dirty="0" smtClean="0"/>
              <a:t>color filter array</a:t>
            </a:r>
            <a:r>
              <a:rPr lang="zh-CN" altLang="en-US" sz="2400" b="1" dirty="0" smtClean="0"/>
              <a:t>：</a:t>
            </a:r>
            <a:r>
              <a:rPr lang="en-US" altLang="zh-CN" sz="2400" b="1" dirty="0" smtClean="0"/>
              <a:t>Bayer mode</a:t>
            </a:r>
            <a:endParaRPr lang="zh-CN" altLang="en-US" sz="2400" b="1"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914400" y="548680"/>
            <a:ext cx="7772400" cy="5471120"/>
          </a:xfrm>
        </p:spPr>
        <p:txBody>
          <a:bodyPr/>
          <a:lstStyle/>
          <a:p>
            <a:r>
              <a:rPr lang="en-US" altLang="zh-CN" b="1" dirty="0" smtClean="0">
                <a:latin typeface="Times New Roman" pitchFamily="18" charset="0"/>
                <a:cs typeface="Times New Roman" pitchFamily="18" charset="0"/>
              </a:rPr>
              <a:t>White Balance</a:t>
            </a:r>
          </a:p>
          <a:p>
            <a:pPr>
              <a:buNone/>
            </a:pPr>
            <a:r>
              <a:rPr lang="en-US" altLang="zh-CN" b="1" dirty="0" smtClean="0">
                <a:latin typeface="Times New Roman" pitchFamily="18" charset="0"/>
                <a:cs typeface="Times New Roman" pitchFamily="18" charset="0"/>
              </a:rPr>
              <a:t>   </a:t>
            </a:r>
            <a:r>
              <a:rPr lang="en-US" altLang="zh-CN" sz="2000" b="1" dirty="0" smtClean="0">
                <a:latin typeface="Times New Roman" pitchFamily="18" charset="0"/>
                <a:cs typeface="Times New Roman" pitchFamily="18" charset="0"/>
              </a:rPr>
              <a:t> - </a:t>
            </a:r>
            <a:r>
              <a:rPr lang="zh-CN" altLang="en-US" sz="2000" dirty="0" smtClean="0">
                <a:latin typeface="Times New Roman" pitchFamily="18" charset="0"/>
                <a:cs typeface="Times New Roman" pitchFamily="18" charset="0"/>
              </a:rPr>
              <a:t>也叫</a:t>
            </a:r>
            <a:r>
              <a:rPr lang="en-US" altLang="zh-CN" sz="2000" dirty="0" smtClean="0">
                <a:latin typeface="Times New Roman" pitchFamily="18" charset="0"/>
                <a:cs typeface="Times New Roman" pitchFamily="18" charset="0"/>
              </a:rPr>
              <a:t>Color Balance, </a:t>
            </a:r>
            <a:r>
              <a:rPr lang="zh-CN" altLang="en-US" sz="2000" dirty="0" smtClean="0">
                <a:latin typeface="Times New Roman" pitchFamily="18" charset="0"/>
                <a:cs typeface="Times New Roman" pitchFamily="18" charset="0"/>
              </a:rPr>
              <a:t>是指对三原色的全局调整，使得能够适应不同光照条件</a:t>
            </a:r>
            <a:r>
              <a:rPr lang="en-US" altLang="zh-CN" sz="2000" dirty="0" smtClean="0">
                <a:latin typeface="Times New Roman" pitchFamily="18" charset="0"/>
                <a:cs typeface="Times New Roman" pitchFamily="18" charset="0"/>
              </a:rPr>
              <a:t>.</a:t>
            </a:r>
            <a:endParaRPr lang="en-US" altLang="zh-CN" sz="2000" b="1" dirty="0" smtClean="0">
              <a:latin typeface="Times New Roman" pitchFamily="18" charset="0"/>
              <a:cs typeface="Times New Roman" pitchFamily="18" charset="0"/>
            </a:endParaRPr>
          </a:p>
          <a:p>
            <a:endParaRPr lang="en-US" altLang="zh-CN" b="1" dirty="0" smtClean="0">
              <a:latin typeface="Times New Roman" pitchFamily="18" charset="0"/>
              <a:cs typeface="Times New Roman" pitchFamily="18" charset="0"/>
            </a:endParaRPr>
          </a:p>
          <a:p>
            <a:endParaRPr lang="en-US" altLang="zh-CN" b="1" dirty="0" smtClean="0">
              <a:latin typeface="Times New Roman" pitchFamily="18" charset="0"/>
              <a:cs typeface="Times New Roman" pitchFamily="18" charset="0"/>
            </a:endParaRPr>
          </a:p>
          <a:p>
            <a:endParaRPr lang="en-US" altLang="zh-CN" b="1" dirty="0" smtClean="0">
              <a:latin typeface="Times New Roman" pitchFamily="18" charset="0"/>
              <a:cs typeface="Times New Roman" pitchFamily="18" charset="0"/>
            </a:endParaRPr>
          </a:p>
          <a:p>
            <a:endParaRPr lang="en-US" altLang="zh-CN" b="1" dirty="0" smtClean="0">
              <a:latin typeface="Times New Roman" pitchFamily="18" charset="0"/>
              <a:cs typeface="Times New Roman" pitchFamily="18" charset="0"/>
            </a:endParaRPr>
          </a:p>
          <a:p>
            <a:r>
              <a:rPr lang="en-US" altLang="zh-CN" b="1" dirty="0" smtClean="0">
                <a:latin typeface="Times New Roman" pitchFamily="18" charset="0"/>
                <a:cs typeface="Times New Roman" pitchFamily="18" charset="0"/>
              </a:rPr>
              <a:t>Gamma </a:t>
            </a:r>
          </a:p>
          <a:p>
            <a:pPr>
              <a:buNone/>
            </a:pPr>
            <a:r>
              <a:rPr lang="en-US" altLang="zh-CN" sz="2000" dirty="0" smtClean="0">
                <a:latin typeface="Times New Roman" pitchFamily="18" charset="0"/>
                <a:cs typeface="Times New Roman" pitchFamily="18" charset="0"/>
              </a:rPr>
              <a:t>    -</a:t>
            </a:r>
            <a:r>
              <a:rPr lang="zh-CN" altLang="en-US" sz="2000" dirty="0" smtClean="0">
                <a:latin typeface="Times New Roman" pitchFamily="18" charset="0"/>
                <a:cs typeface="Times New Roman" pitchFamily="18" charset="0"/>
              </a:rPr>
              <a:t> </a:t>
            </a:r>
            <a:r>
              <a:rPr lang="zh-CN" altLang="en-US" sz="2000" dirty="0" smtClean="0"/>
              <a:t>校正补偿不同输出设备存在的颜色显示差异，从而使图像在不同的监视器上呈现出相同的效果。</a:t>
            </a:r>
            <a:r>
              <a:rPr lang="en-US" altLang="zh-CN" sz="2000" dirty="0" smtClean="0">
                <a:latin typeface="Times New Roman" pitchFamily="18" charset="0"/>
                <a:cs typeface="Times New Roman" pitchFamily="18" charset="0"/>
              </a:rPr>
              <a:t>.</a:t>
            </a:r>
            <a:endParaRPr lang="zh-CN" altLang="en-US" sz="2000" dirty="0">
              <a:latin typeface="Times New Roman" pitchFamily="18" charset="0"/>
              <a:cs typeface="Times New Roman" pitchFamily="18" charset="0"/>
            </a:endParaRPr>
          </a:p>
        </p:txBody>
      </p:sp>
      <p:pic>
        <p:nvPicPr>
          <p:cNvPr id="6" name="图片 5" descr="220px-ColorChecker100423.jpg"/>
          <p:cNvPicPr>
            <a:picLocks noChangeAspect="1"/>
          </p:cNvPicPr>
          <p:nvPr/>
        </p:nvPicPr>
        <p:blipFill>
          <a:blip r:embed="rId2" cstate="print"/>
          <a:stretch>
            <a:fillRect/>
          </a:stretch>
        </p:blipFill>
        <p:spPr>
          <a:xfrm>
            <a:off x="1331640" y="1916832"/>
            <a:ext cx="2304256" cy="1675823"/>
          </a:xfrm>
          <a:prstGeom prst="rect">
            <a:avLst/>
          </a:prstGeom>
        </p:spPr>
      </p:pic>
      <p:pic>
        <p:nvPicPr>
          <p:cNvPr id="8" name="图片 7" descr="220px-Lily-M7292-As-shot-and-manual.jpg"/>
          <p:cNvPicPr>
            <a:picLocks noChangeAspect="1"/>
          </p:cNvPicPr>
          <p:nvPr/>
        </p:nvPicPr>
        <p:blipFill>
          <a:blip r:embed="rId3" cstate="print"/>
          <a:stretch>
            <a:fillRect/>
          </a:stretch>
        </p:blipFill>
        <p:spPr>
          <a:xfrm>
            <a:off x="5076056" y="1844824"/>
            <a:ext cx="2351504" cy="1763628"/>
          </a:xfrm>
          <a:prstGeom prst="rect">
            <a:avLst/>
          </a:prstGeom>
        </p:spPr>
      </p:pic>
      <p:pic>
        <p:nvPicPr>
          <p:cNvPr id="9" name="图片 8" descr="476217f70a2c1603720eec85.jpg"/>
          <p:cNvPicPr>
            <a:picLocks noChangeAspect="1"/>
          </p:cNvPicPr>
          <p:nvPr/>
        </p:nvPicPr>
        <p:blipFill>
          <a:blip r:embed="rId4" cstate="print"/>
          <a:stretch>
            <a:fillRect/>
          </a:stretch>
        </p:blipFill>
        <p:spPr>
          <a:xfrm>
            <a:off x="3059832" y="4941168"/>
            <a:ext cx="2624928" cy="16971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914400" y="404664"/>
            <a:ext cx="7772400" cy="5615136"/>
          </a:xfrm>
        </p:spPr>
        <p:txBody>
          <a:bodyPr/>
          <a:lstStyle/>
          <a:p>
            <a:r>
              <a:rPr lang="en-US" altLang="zh-CN" b="1" dirty="0" smtClean="0">
                <a:latin typeface="Times New Roman" pitchFamily="18" charset="0"/>
                <a:cs typeface="Times New Roman" pitchFamily="18" charset="0"/>
              </a:rPr>
              <a:t>Compress</a:t>
            </a:r>
            <a:r>
              <a:rPr lang="zh-CN" altLang="en-US" b="1" dirty="0" smtClean="0">
                <a:latin typeface="Times New Roman" pitchFamily="18" charset="0"/>
                <a:cs typeface="Times New Roman" pitchFamily="18" charset="0"/>
              </a:rPr>
              <a:t> （</a:t>
            </a:r>
            <a:r>
              <a:rPr lang="en-US" altLang="zh-CN" b="1" dirty="0" smtClean="0">
                <a:latin typeface="Times New Roman" pitchFamily="18" charset="0"/>
                <a:cs typeface="Times New Roman" pitchFamily="18" charset="0"/>
              </a:rPr>
              <a:t>JPEG2000 or MPEG7</a:t>
            </a:r>
            <a:r>
              <a:rPr lang="zh-CN" altLang="en-US" b="1" dirty="0" smtClean="0">
                <a:latin typeface="Times New Roman" pitchFamily="18" charset="0"/>
                <a:cs typeface="Times New Roman" pitchFamily="18" charset="0"/>
              </a:rPr>
              <a:t>）</a:t>
            </a:r>
            <a:endParaRPr lang="en-US" altLang="zh-CN" b="1" dirty="0" smtClean="0">
              <a:latin typeface="Times New Roman" pitchFamily="18" charset="0"/>
              <a:cs typeface="Times New Roman" pitchFamily="18" charset="0"/>
            </a:endParaRPr>
          </a:p>
          <a:p>
            <a:pPr marL="577850" indent="-577850">
              <a:buFont typeface="Wingdings" pitchFamily="2" charset="2"/>
              <a:buNone/>
            </a:pPr>
            <a:endParaRPr lang="en-US" altLang="zh-CN" b="1" dirty="0" smtClean="0">
              <a:latin typeface="楷体_GB2312" pitchFamily="49" charset="-122"/>
              <a:ea typeface="楷体_GB2312" pitchFamily="49" charset="-122"/>
            </a:endParaRPr>
          </a:p>
          <a:p>
            <a:pPr marL="577850" indent="-577850">
              <a:buFont typeface="Wingdings" pitchFamily="2" charset="2"/>
              <a:buNone/>
            </a:pPr>
            <a:r>
              <a:rPr lang="zh-CN" altLang="en-US" sz="2400" b="1" dirty="0" smtClean="0">
                <a:latin typeface="楷体_GB2312" pitchFamily="49" charset="-122"/>
                <a:ea typeface="楷体_GB2312" pitchFamily="49" charset="-122"/>
              </a:rPr>
              <a:t>主要步骤：</a:t>
            </a:r>
          </a:p>
          <a:p>
            <a:pPr marL="852170" lvl="1" indent="-577850"/>
            <a:r>
              <a:rPr lang="zh-CN" altLang="en-US" b="1" dirty="0" smtClean="0">
                <a:latin typeface="楷体_GB2312" pitchFamily="49" charset="-122"/>
                <a:ea typeface="楷体_GB2312" pitchFamily="49" charset="-122"/>
              </a:rPr>
              <a:t>将图像由</a:t>
            </a:r>
            <a:r>
              <a:rPr lang="en-US" altLang="zh-CN" b="1" dirty="0" smtClean="0">
                <a:latin typeface="楷体_GB2312" pitchFamily="49" charset="-122"/>
                <a:ea typeface="楷体_GB2312" pitchFamily="49" charset="-122"/>
              </a:rPr>
              <a:t>RGB</a:t>
            </a:r>
            <a:r>
              <a:rPr lang="zh-CN" altLang="en-US" b="1" dirty="0" smtClean="0">
                <a:latin typeface="楷体_GB2312" pitchFamily="49" charset="-122"/>
                <a:ea typeface="楷体_GB2312" pitchFamily="49" charset="-122"/>
              </a:rPr>
              <a:t>空间映射到</a:t>
            </a:r>
            <a:r>
              <a:rPr lang="en-US" altLang="zh-CN" b="1" dirty="0" err="1" smtClean="0">
                <a:latin typeface="楷体_GB2312" pitchFamily="49" charset="-122"/>
                <a:ea typeface="楷体_GB2312" pitchFamily="49" charset="-122"/>
              </a:rPr>
              <a:t>YCrCb</a:t>
            </a:r>
            <a:r>
              <a:rPr lang="zh-CN" altLang="en-US" b="1" dirty="0" smtClean="0">
                <a:latin typeface="楷体_GB2312" pitchFamily="49" charset="-122"/>
                <a:ea typeface="楷体_GB2312" pitchFamily="49" charset="-122"/>
              </a:rPr>
              <a:t>空间</a:t>
            </a:r>
          </a:p>
          <a:p>
            <a:pPr marL="852170" lvl="1" indent="-577850"/>
            <a:r>
              <a:rPr lang="zh-CN" altLang="en-US" b="1" dirty="0" smtClean="0">
                <a:latin typeface="楷体_GB2312" pitchFamily="49" charset="-122"/>
                <a:ea typeface="楷体_GB2312" pitchFamily="49" charset="-122"/>
              </a:rPr>
              <a:t>将各颜色分量图像分为</a:t>
            </a:r>
            <a:r>
              <a:rPr lang="en-US" altLang="zh-CN" b="1" dirty="0" smtClean="0">
                <a:latin typeface="楷体_GB2312" pitchFamily="49" charset="-122"/>
                <a:ea typeface="楷体_GB2312" pitchFamily="49" charset="-122"/>
              </a:rPr>
              <a:t>N</a:t>
            </a:r>
            <a:r>
              <a:rPr lang="zh-CN" altLang="en-US" b="1" dirty="0" smtClean="0">
                <a:latin typeface="楷体_GB2312" pitchFamily="49" charset="-122"/>
                <a:ea typeface="楷体_GB2312" pitchFamily="49" charset="-122"/>
              </a:rPr>
              <a:t>个小块，计算每一块中所有象素各颜色分量的平均值，并以此作为该块的代表颜色</a:t>
            </a:r>
          </a:p>
          <a:p>
            <a:pPr marL="852170" lvl="1" indent="-577850"/>
            <a:r>
              <a:rPr lang="zh-CN" altLang="en-US" b="1" dirty="0" smtClean="0">
                <a:latin typeface="楷体_GB2312" pitchFamily="49" charset="-122"/>
                <a:ea typeface="楷体_GB2312" pitchFamily="49" charset="-122"/>
              </a:rPr>
              <a:t>将各块平均值数据做</a:t>
            </a:r>
            <a:r>
              <a:rPr lang="en-US" altLang="zh-CN" b="1" dirty="0" smtClean="0">
                <a:latin typeface="楷体_GB2312" pitchFamily="49" charset="-122"/>
                <a:ea typeface="楷体_GB2312" pitchFamily="49" charset="-122"/>
              </a:rPr>
              <a:t>DCT(</a:t>
            </a:r>
            <a:r>
              <a:rPr lang="zh-CN" altLang="en-US" b="1" dirty="0" smtClean="0">
                <a:latin typeface="楷体_GB2312" pitchFamily="49" charset="-122"/>
                <a:ea typeface="楷体_GB2312" pitchFamily="49" charset="-122"/>
              </a:rPr>
              <a:t>小波</a:t>
            </a:r>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变换</a:t>
            </a:r>
          </a:p>
          <a:p>
            <a:pPr marL="852170" lvl="1" indent="-577850"/>
            <a:r>
              <a:rPr lang="zh-CN" altLang="en-US" b="1" dirty="0" smtClean="0">
                <a:latin typeface="楷体_GB2312" pitchFamily="49" charset="-122"/>
                <a:ea typeface="楷体_GB2312" pitchFamily="49" charset="-122"/>
              </a:rPr>
              <a:t>通过之字形扫描和量化，取出</a:t>
            </a:r>
            <a:r>
              <a:rPr lang="en-US" altLang="zh-CN" b="1" dirty="0" smtClean="0">
                <a:latin typeface="楷体_GB2312" pitchFamily="49" charset="-122"/>
                <a:ea typeface="楷体_GB2312" pitchFamily="49" charset="-122"/>
              </a:rPr>
              <a:t>3</a:t>
            </a:r>
            <a:r>
              <a:rPr lang="zh-CN" altLang="en-US" b="1" dirty="0" smtClean="0">
                <a:latin typeface="楷体_GB2312" pitchFamily="49" charset="-122"/>
                <a:ea typeface="楷体_GB2312" pitchFamily="49" charset="-122"/>
              </a:rPr>
              <a:t>组颜色</a:t>
            </a:r>
            <a:r>
              <a:rPr lang="en-US" altLang="zh-CN" b="1" dirty="0" smtClean="0">
                <a:latin typeface="楷体_GB2312" pitchFamily="49" charset="-122"/>
                <a:ea typeface="楷体_GB2312" pitchFamily="49" charset="-122"/>
              </a:rPr>
              <a:t>DCT(</a:t>
            </a:r>
            <a:r>
              <a:rPr lang="zh-CN" altLang="en-US" b="1" dirty="0" smtClean="0">
                <a:latin typeface="楷体_GB2312" pitchFamily="49" charset="-122"/>
                <a:ea typeface="楷体_GB2312" pitchFamily="49" charset="-122"/>
              </a:rPr>
              <a:t>小波</a:t>
            </a:r>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变换后的低频分量，共同构成该图像的颜色布局描述符。</a:t>
            </a:r>
          </a:p>
          <a:p>
            <a:endParaRPr lang="zh-CN" alt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 </a:t>
            </a:r>
            <a:r>
              <a:rPr lang="zh-CN" altLang="en-US" b="1" dirty="0" smtClean="0">
                <a:latin typeface="+mn-ea"/>
                <a:ea typeface="+mn-ea"/>
              </a:rPr>
              <a:t>数字相机模型</a:t>
            </a:r>
            <a:endParaRPr lang="zh-CN" altLang="en-US" b="1" dirty="0">
              <a:latin typeface="+mn-ea"/>
              <a:ea typeface="+mn-ea"/>
            </a:endParaRPr>
          </a:p>
        </p:txBody>
      </p:sp>
      <p:pic>
        <p:nvPicPr>
          <p:cNvPr id="7" name="Picture 2"/>
          <p:cNvPicPr>
            <a:picLocks noChangeAspect="1" noChangeArrowheads="1"/>
          </p:cNvPicPr>
          <p:nvPr/>
        </p:nvPicPr>
        <p:blipFill>
          <a:blip r:embed="rId2" cstate="print"/>
          <a:srcRect/>
          <a:stretch>
            <a:fillRect/>
          </a:stretch>
        </p:blipFill>
        <p:spPr bwMode="auto">
          <a:xfrm>
            <a:off x="971600" y="1514528"/>
            <a:ext cx="6912768" cy="45067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smtClean="0"/>
              <a:t>3.5 </a:t>
            </a:r>
            <a:r>
              <a:rPr lang="zh-CN" altLang="en-US" b="1" dirty="0" smtClean="0"/>
              <a:t>研究</a:t>
            </a:r>
            <a:r>
              <a:rPr lang="zh-CN" altLang="en-US" b="1" smtClean="0"/>
              <a:t>热点问题</a:t>
            </a:r>
            <a:endParaRPr lang="zh-CN" altLang="en-US" b="1" dirty="0"/>
          </a:p>
        </p:txBody>
      </p:sp>
      <p:sp>
        <p:nvSpPr>
          <p:cNvPr id="3" name="内容占位符 2"/>
          <p:cNvSpPr>
            <a:spLocks noGrp="1"/>
          </p:cNvSpPr>
          <p:nvPr>
            <p:ph sz="quarter" idx="1"/>
          </p:nvPr>
        </p:nvSpPr>
        <p:spPr/>
        <p:txBody>
          <a:bodyPr/>
          <a:lstStyle/>
          <a:p>
            <a:r>
              <a:rPr lang="en-US" altLang="zh-CN" dirty="0" smtClean="0"/>
              <a:t>Camera response function</a:t>
            </a:r>
          </a:p>
          <a:p>
            <a:r>
              <a:rPr lang="en-US" altLang="zh-CN" dirty="0" smtClean="0"/>
              <a:t>Noise level function</a:t>
            </a:r>
          </a:p>
          <a:p>
            <a:r>
              <a:rPr lang="en-US" altLang="zh-CN" dirty="0" smtClean="0"/>
              <a:t>Chromatic aberration</a:t>
            </a:r>
          </a:p>
          <a:p>
            <a:r>
              <a:rPr lang="en-US" altLang="zh-CN" dirty="0" err="1" smtClean="0"/>
              <a:t>Vignetting</a:t>
            </a:r>
            <a:endParaRPr lang="en-US" altLang="zh-CN" dirty="0" smtClean="0"/>
          </a:p>
          <a:p>
            <a:r>
              <a:rPr lang="en-US" altLang="zh-CN" dirty="0" smtClean="0"/>
              <a:t>Super-resolution</a:t>
            </a:r>
          </a:p>
          <a:p>
            <a:r>
              <a:rPr lang="en-US" altLang="zh-CN" dirty="0" err="1" smtClean="0"/>
              <a:t>Deblurring</a:t>
            </a:r>
            <a:endParaRPr lang="en-US" altLang="zh-CN" dirty="0" smtClean="0"/>
          </a:p>
          <a:p>
            <a:r>
              <a:rPr lang="en-US" altLang="zh-CN" dirty="0" smtClean="0"/>
              <a:t>High Dynamic Range</a:t>
            </a:r>
          </a:p>
          <a:p>
            <a:endParaRPr lang="en-US" altLang="zh-CN" dirty="0" smtClean="0"/>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1565</TotalTime>
  <Words>3567</Words>
  <Application>Microsoft Office PowerPoint</Application>
  <PresentationFormat>全屏显示(4:3)</PresentationFormat>
  <Paragraphs>352</Paragraphs>
  <Slides>65</Slides>
  <Notes>0</Notes>
  <HiddenSlides>0</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65</vt:i4>
      </vt:variant>
    </vt:vector>
  </HeadingPairs>
  <TitlesOfParts>
    <vt:vector size="70" baseType="lpstr">
      <vt:lpstr>Equity</vt:lpstr>
      <vt:lpstr>Equation</vt:lpstr>
      <vt:lpstr>公式</vt:lpstr>
      <vt:lpstr>Image</vt:lpstr>
      <vt:lpstr>Microsoft Equation 2.0</vt:lpstr>
      <vt:lpstr>第二章 视觉的基本知识</vt:lpstr>
      <vt:lpstr> 第二节 视觉物理学特性</vt:lpstr>
      <vt:lpstr>物理学与计算机视觉</vt:lpstr>
      <vt:lpstr>Examples:</vt:lpstr>
      <vt:lpstr>Examples:</vt:lpstr>
      <vt:lpstr>1.1 光度学</vt:lpstr>
      <vt:lpstr>辐射源强度的度量</vt:lpstr>
      <vt:lpstr>光感的强度度量</vt:lpstr>
      <vt:lpstr>视觉中的常用度量</vt:lpstr>
      <vt:lpstr>视觉中的常用度量</vt:lpstr>
      <vt:lpstr>1.2 成像物理学</vt:lpstr>
      <vt:lpstr>成像物理学</vt:lpstr>
      <vt:lpstr>（1）表面方向半球(Hemisphere of Directions)</vt:lpstr>
      <vt:lpstr>（2）透视缩小效应(foreshortening)</vt:lpstr>
      <vt:lpstr>（3）辐照度与辐射度</vt:lpstr>
      <vt:lpstr>（4）双向反射分布函数</vt:lpstr>
      <vt:lpstr>双向反射分布函数</vt:lpstr>
      <vt:lpstr>（5）表面的辐射度与辐照度</vt:lpstr>
      <vt:lpstr>（6）反射率(reflectance)</vt:lpstr>
      <vt:lpstr>（7）图像平面的辐照度</vt:lpstr>
      <vt:lpstr>2.色度学</vt:lpstr>
      <vt:lpstr>2.1 人类颜色感知</vt:lpstr>
      <vt:lpstr>2.1 人类颜色感知</vt:lpstr>
      <vt:lpstr>2.1 人类颜色感知</vt:lpstr>
      <vt:lpstr>PowerPoint 演示文稿</vt:lpstr>
      <vt:lpstr>2.1 人类颜色感知</vt:lpstr>
      <vt:lpstr>2.1 人类颜色感知</vt:lpstr>
      <vt:lpstr>2.1 人类颜色感知</vt:lpstr>
      <vt:lpstr>2.1 人类颜色感知</vt:lpstr>
      <vt:lpstr>2.1 人类颜色感知</vt:lpstr>
      <vt:lpstr>2.1 人类颜色感知</vt:lpstr>
      <vt:lpstr>2.1 人类颜色感知</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 图像颜色模型</vt:lpstr>
      <vt:lpstr>2.2.2 图像颜色模型</vt:lpstr>
      <vt:lpstr>2.2 图像颜色模型</vt:lpstr>
      <vt:lpstr>2.2 图像颜色模型</vt:lpstr>
      <vt:lpstr>2.2 图像颜色模型</vt:lpstr>
      <vt:lpstr>2.2 图像颜色模型</vt:lpstr>
      <vt:lpstr>色差(Color Difference)</vt:lpstr>
      <vt:lpstr>3. 数字相机</vt:lpstr>
      <vt:lpstr>3. 数字相机</vt:lpstr>
      <vt:lpstr>3.1 光学转换部分</vt:lpstr>
      <vt:lpstr>3.1 光学转换部分(焦距 focal length)</vt:lpstr>
      <vt:lpstr>3.1 光学转换部分 (光圈Aperture)</vt:lpstr>
      <vt:lpstr>PowerPoint 演示文稿</vt:lpstr>
      <vt:lpstr>3.2 光电转换部分</vt:lpstr>
      <vt:lpstr>3.3 图像处理部分</vt:lpstr>
      <vt:lpstr>PowerPoint 演示文稿</vt:lpstr>
      <vt:lpstr>PowerPoint 演示文稿</vt:lpstr>
      <vt:lpstr>3.4 数字相机模型</vt:lpstr>
      <vt:lpstr>3.5 研究热点问题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第二节 视觉物理学特性</dc:title>
  <dc:creator>nbstar</dc:creator>
  <cp:lastModifiedBy>NTKO</cp:lastModifiedBy>
  <cp:revision>44</cp:revision>
  <dcterms:created xsi:type="dcterms:W3CDTF">2011-02-23T03:00:29Z</dcterms:created>
  <dcterms:modified xsi:type="dcterms:W3CDTF">2018-03-06T02:50:44Z</dcterms:modified>
</cp:coreProperties>
</file>
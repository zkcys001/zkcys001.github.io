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  <p:sldMasterId id="2147483802" r:id="rId2"/>
  </p:sldMasterIdLst>
  <p:notesMasterIdLst>
    <p:notesMasterId r:id="rId96"/>
  </p:notesMasterIdLst>
  <p:handoutMasterIdLst>
    <p:handoutMasterId r:id="rId97"/>
  </p:handoutMasterIdLst>
  <p:sldIdLst>
    <p:sldId id="256" r:id="rId3"/>
    <p:sldId id="429" r:id="rId4"/>
    <p:sldId id="430" r:id="rId5"/>
    <p:sldId id="431" r:id="rId6"/>
    <p:sldId id="433" r:id="rId7"/>
    <p:sldId id="434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47" r:id="rId20"/>
    <p:sldId id="448" r:id="rId21"/>
    <p:sldId id="449" r:id="rId22"/>
    <p:sldId id="450" r:id="rId23"/>
    <p:sldId id="451" r:id="rId24"/>
    <p:sldId id="452" r:id="rId25"/>
    <p:sldId id="453" r:id="rId26"/>
    <p:sldId id="454" r:id="rId27"/>
    <p:sldId id="455" r:id="rId28"/>
    <p:sldId id="456" r:id="rId29"/>
    <p:sldId id="457" r:id="rId30"/>
    <p:sldId id="470" r:id="rId31"/>
    <p:sldId id="471" r:id="rId32"/>
    <p:sldId id="472" r:id="rId33"/>
    <p:sldId id="473" r:id="rId34"/>
    <p:sldId id="474" r:id="rId35"/>
    <p:sldId id="475" r:id="rId36"/>
    <p:sldId id="476" r:id="rId37"/>
    <p:sldId id="477" r:id="rId38"/>
    <p:sldId id="478" r:id="rId39"/>
    <p:sldId id="479" r:id="rId40"/>
    <p:sldId id="480" r:id="rId41"/>
    <p:sldId id="481" r:id="rId42"/>
    <p:sldId id="482" r:id="rId43"/>
    <p:sldId id="483" r:id="rId44"/>
    <p:sldId id="484" r:id="rId45"/>
    <p:sldId id="485" r:id="rId46"/>
    <p:sldId id="486" r:id="rId47"/>
    <p:sldId id="487" r:id="rId48"/>
    <p:sldId id="489" r:id="rId49"/>
    <p:sldId id="494" r:id="rId50"/>
    <p:sldId id="495" r:id="rId51"/>
    <p:sldId id="496" r:id="rId52"/>
    <p:sldId id="499" r:id="rId53"/>
    <p:sldId id="511" r:id="rId54"/>
    <p:sldId id="534" r:id="rId55"/>
    <p:sldId id="513" r:id="rId56"/>
    <p:sldId id="541" r:id="rId57"/>
    <p:sldId id="542" r:id="rId58"/>
    <p:sldId id="544" r:id="rId59"/>
    <p:sldId id="545" r:id="rId60"/>
    <p:sldId id="546" r:id="rId61"/>
    <p:sldId id="547" r:id="rId62"/>
    <p:sldId id="518" r:id="rId63"/>
    <p:sldId id="520" r:id="rId64"/>
    <p:sldId id="550" r:id="rId65"/>
    <p:sldId id="549" r:id="rId66"/>
    <p:sldId id="390" r:id="rId67"/>
    <p:sldId id="391" r:id="rId68"/>
    <p:sldId id="392" r:id="rId69"/>
    <p:sldId id="393" r:id="rId70"/>
    <p:sldId id="394" r:id="rId71"/>
    <p:sldId id="399" r:id="rId72"/>
    <p:sldId id="402" r:id="rId73"/>
    <p:sldId id="406" r:id="rId74"/>
    <p:sldId id="407" r:id="rId75"/>
    <p:sldId id="408" r:id="rId76"/>
    <p:sldId id="410" r:id="rId77"/>
    <p:sldId id="411" r:id="rId78"/>
    <p:sldId id="412" r:id="rId79"/>
    <p:sldId id="413" r:id="rId80"/>
    <p:sldId id="414" r:id="rId81"/>
    <p:sldId id="415" r:id="rId82"/>
    <p:sldId id="416" r:id="rId83"/>
    <p:sldId id="417" r:id="rId84"/>
    <p:sldId id="418" r:id="rId85"/>
    <p:sldId id="419" r:id="rId86"/>
    <p:sldId id="420" r:id="rId87"/>
    <p:sldId id="421" r:id="rId88"/>
    <p:sldId id="422" r:id="rId89"/>
    <p:sldId id="423" r:id="rId90"/>
    <p:sldId id="424" r:id="rId91"/>
    <p:sldId id="425" r:id="rId92"/>
    <p:sldId id="426" r:id="rId93"/>
    <p:sldId id="427" r:id="rId94"/>
    <p:sldId id="428" r:id="rId9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90" autoAdjust="0"/>
    <p:restoredTop sz="94706" autoAdjust="0"/>
  </p:normalViewPr>
  <p:slideViewPr>
    <p:cSldViewPr>
      <p:cViewPr varScale="1">
        <p:scale>
          <a:sx n="67" d="100"/>
          <a:sy n="67" d="100"/>
        </p:scale>
        <p:origin x="1098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584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41.xml"/><Relationship Id="rId3" Type="http://schemas.openxmlformats.org/officeDocument/2006/relationships/slide" Target="slides/slide36.xml"/><Relationship Id="rId7" Type="http://schemas.openxmlformats.org/officeDocument/2006/relationships/slide" Target="slides/slide40.xml"/><Relationship Id="rId12" Type="http://schemas.openxmlformats.org/officeDocument/2006/relationships/slide" Target="slides/slide45.xml"/><Relationship Id="rId2" Type="http://schemas.openxmlformats.org/officeDocument/2006/relationships/slide" Target="slides/slide35.xml"/><Relationship Id="rId1" Type="http://schemas.openxmlformats.org/officeDocument/2006/relationships/slide" Target="slides/slide34.xml"/><Relationship Id="rId6" Type="http://schemas.openxmlformats.org/officeDocument/2006/relationships/slide" Target="slides/slide39.xml"/><Relationship Id="rId11" Type="http://schemas.openxmlformats.org/officeDocument/2006/relationships/slide" Target="slides/slide44.xml"/><Relationship Id="rId5" Type="http://schemas.openxmlformats.org/officeDocument/2006/relationships/slide" Target="slides/slide38.xml"/><Relationship Id="rId10" Type="http://schemas.openxmlformats.org/officeDocument/2006/relationships/slide" Target="slides/slide43.xml"/><Relationship Id="rId4" Type="http://schemas.openxmlformats.org/officeDocument/2006/relationships/slide" Target="slides/slide37.xml"/><Relationship Id="rId9" Type="http://schemas.openxmlformats.org/officeDocument/2006/relationships/slide" Target="slides/slide4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A9C7F97-1A74-482B-973F-6C1CCFCE1F38}" type="datetimeFigureOut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D4E7935-FA5F-47F3-8C57-E7DD45889E7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792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05597A9-92FB-469D-A4B9-AAD2696EED39}" type="datetimeFigureOut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5E1AE82-BC5C-4F61-AC9E-67E0204F36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5261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4DA9D3-1921-4761-B1C6-D2B145759AB8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71614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6" descr="顶部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88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Line 1033"/>
          <p:cNvSpPr>
            <a:spLocks noChangeShapeType="1"/>
          </p:cNvSpPr>
          <p:nvPr/>
        </p:nvSpPr>
        <p:spPr bwMode="auto">
          <a:xfrm>
            <a:off x="1023938" y="2743200"/>
            <a:ext cx="7086600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6" name="Rectangle 1042"/>
          <p:cNvSpPr>
            <a:spLocks noChangeArrowheads="1"/>
          </p:cNvSpPr>
          <p:nvPr/>
        </p:nvSpPr>
        <p:spPr bwMode="auto">
          <a:xfrm>
            <a:off x="2209800" y="5791200"/>
            <a:ext cx="4876800" cy="76200"/>
          </a:xfrm>
          <a:prstGeom prst="rect">
            <a:avLst/>
          </a:prstGeom>
          <a:solidFill>
            <a:srgbClr val="E7F6FF">
              <a:alpha val="50000"/>
            </a:srgbClr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schemeClr val="tx2"/>
                </a:solidFill>
                <a:latin typeface="Haettenschweiler" pitchFamily="34" charset="0"/>
                <a:ea typeface="+mn-ea"/>
              </a:rPr>
              <a:t>U</a:t>
            </a:r>
            <a:r>
              <a:rPr lang="en-US" altLang="zh-CN" sz="2000">
                <a:solidFill>
                  <a:srgbClr val="000066"/>
                </a:solidFill>
                <a:latin typeface="Haettenschweiler" pitchFamily="34" charset="0"/>
                <a:ea typeface="+mn-ea"/>
              </a:rPr>
              <a:t>niversity    of    </a:t>
            </a:r>
            <a:r>
              <a:rPr lang="en-US" altLang="zh-CN">
                <a:solidFill>
                  <a:schemeClr val="tx2"/>
                </a:solidFill>
                <a:latin typeface="Haettenschweiler" pitchFamily="34" charset="0"/>
                <a:ea typeface="+mn-ea"/>
              </a:rPr>
              <a:t>S</a:t>
            </a:r>
            <a:r>
              <a:rPr lang="en-US" altLang="zh-CN" sz="2000">
                <a:solidFill>
                  <a:srgbClr val="000066"/>
                </a:solidFill>
                <a:latin typeface="Haettenschweiler" pitchFamily="34" charset="0"/>
                <a:ea typeface="+mn-ea"/>
              </a:rPr>
              <a:t>cience    and    </a:t>
            </a:r>
            <a:r>
              <a:rPr lang="en-US" altLang="zh-CN">
                <a:solidFill>
                  <a:schemeClr val="tx2"/>
                </a:solidFill>
                <a:latin typeface="Haettenschweiler" pitchFamily="34" charset="0"/>
                <a:ea typeface="+mn-ea"/>
              </a:rPr>
              <a:t>T</a:t>
            </a:r>
            <a:r>
              <a:rPr lang="en-US" altLang="zh-CN" sz="2000">
                <a:solidFill>
                  <a:srgbClr val="000066"/>
                </a:solidFill>
                <a:latin typeface="Haettenschweiler" pitchFamily="34" charset="0"/>
                <a:ea typeface="+mn-ea"/>
              </a:rPr>
              <a:t>echnology    of    </a:t>
            </a:r>
            <a:r>
              <a:rPr lang="en-US" altLang="zh-CN">
                <a:solidFill>
                  <a:schemeClr val="tx2"/>
                </a:solidFill>
                <a:latin typeface="Haettenschweiler" pitchFamily="34" charset="0"/>
                <a:ea typeface="+mn-ea"/>
              </a:rPr>
              <a:t>C</a:t>
            </a:r>
            <a:r>
              <a:rPr lang="en-US" altLang="zh-CN" sz="2000">
                <a:solidFill>
                  <a:srgbClr val="000066"/>
                </a:solidFill>
                <a:latin typeface="Haettenschweiler" pitchFamily="34" charset="0"/>
                <a:ea typeface="+mn-ea"/>
              </a:rPr>
              <a:t>hina</a:t>
            </a:r>
          </a:p>
        </p:txBody>
      </p:sp>
      <p:pic>
        <p:nvPicPr>
          <p:cNvPr id="7" name="Picture 104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638800"/>
            <a:ext cx="9144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1027"/>
          <p:cNvSpPr>
            <a:spLocks noGrp="1" noChangeArrowheads="1"/>
          </p:cNvSpPr>
          <p:nvPr>
            <p:ph type="ctrTitle"/>
          </p:nvPr>
        </p:nvSpPr>
        <p:spPr>
          <a:xfrm>
            <a:off x="990600" y="990600"/>
            <a:ext cx="7086600" cy="16764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100" name="Rectangle 1028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971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8" name="Rectangle 1029"/>
          <p:cNvSpPr>
            <a:spLocks noGrp="1" noChangeArrowheads="1"/>
          </p:cNvSpPr>
          <p:nvPr>
            <p:ph type="dt" sz="half" idx="10"/>
          </p:nvPr>
        </p:nvSpPr>
        <p:spPr>
          <a:xfrm>
            <a:off x="8382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1807C-189D-4C54-A574-22C8733EA269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9" name="Rectangle 1030"/>
          <p:cNvSpPr>
            <a:spLocks noGrp="1" noChangeArrowheads="1"/>
          </p:cNvSpPr>
          <p:nvPr>
            <p:ph type="ftr" sz="quarter" idx="11"/>
          </p:nvPr>
        </p:nvSpPr>
        <p:spPr>
          <a:xfrm>
            <a:off x="32766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Rectangle 103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2C882-902D-4D39-9AF6-7017191656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DA137-1B48-48F0-A0D4-5116DED243D0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E1859-598D-4001-8269-61C428827E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8F14F-EA21-4DA0-A208-DC7A3FCD0639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8A44A8-4D4D-4772-912C-CDABAD8345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828800"/>
            <a:ext cx="36576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9200" y="1828800"/>
            <a:ext cx="36576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DCDEB-4A47-4AA7-9863-73A8D7C972E4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37BAA-C7C2-4C71-BC7D-777AD870AD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52DE0E-ED30-4273-9CEA-769F77F57178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E130F-5574-4839-B8E4-852662D4B1B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27CF5-B7AC-4051-8F94-0575F4251A54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693432-9A51-4B9D-9577-E77B27BEB2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9D96B5-FFE4-4A6D-AC76-CEBFA9ED705C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C45B5-40BF-4963-BFE1-9EEBC035B2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87D0B-115D-402C-80B1-AAF934A70C1F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43BD87-10B5-4295-81E5-D0AFE99A11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426C6-3AFC-4AFB-A995-BEA65AA7AB6A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72D7A-753B-4D5D-8096-02799A4A02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E4966-BA02-4EB0-9824-502E614FBF0B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01FA2D-8F00-4F02-B42B-78A2424BC32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77050" y="609600"/>
            <a:ext cx="1885950" cy="5257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609600"/>
            <a:ext cx="5505450" cy="5257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F68A72-4FA7-4D02-B921-94EC4F0D0EDC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6BA74-CFE5-4CA2-BE3B-97BDE2549E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09600"/>
            <a:ext cx="7543800" cy="76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828800"/>
            <a:ext cx="7467600" cy="1943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924300"/>
            <a:ext cx="7467600" cy="1943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92D88-5646-488A-8EA5-61B2713CEF93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C4C85-D2A1-45E8-B5EF-AAEDE3E506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09600"/>
            <a:ext cx="7543800" cy="76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19200" y="1828800"/>
            <a:ext cx="3657600" cy="4038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9200" y="1828800"/>
            <a:ext cx="3657600" cy="4038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D3E7E-8543-425F-AD63-788A6C2B6197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A88B7-3763-482E-9868-A47900EF2B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85720" y="142852"/>
            <a:ext cx="8572560" cy="92869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u="none" baseline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5720" y="1357298"/>
            <a:ext cx="8572560" cy="49101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7338" indent="-287338">
              <a:defRPr sz="2400"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33791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28625" y="214313"/>
            <a:ext cx="8286750" cy="85723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buNone/>
              <a:defRPr/>
            </a:lvl2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89795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28596" y="357166"/>
            <a:ext cx="8286750" cy="928708"/>
          </a:xfrm>
          <a:prstGeom prst="rect">
            <a:avLst/>
          </a:prstGeom>
        </p:spPr>
        <p:txBody>
          <a:bodyPr/>
          <a:lstStyle>
            <a:lvl1pPr algn="ctr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04949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>
            <a:scene3d>
              <a:camera prst="perspectiveFront"/>
              <a:lightRig rig="threePt" dir="t"/>
            </a:scene3d>
          </a:bodyPr>
          <a:lstStyle>
            <a:lvl1pPr algn="l">
              <a:defRPr sz="3200" b="1" cap="all">
                <a:solidFill>
                  <a:schemeClr val="accent5">
                    <a:lumMod val="5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>
            <a:scene3d>
              <a:camera prst="perspectiveAbove"/>
              <a:lightRig rig="threePt" dir="t"/>
            </a:scene3d>
          </a:bodyPr>
          <a:lstStyle>
            <a:lvl1pPr marL="0" indent="0">
              <a:buNone/>
              <a:defRPr sz="4800">
                <a:effectLst>
                  <a:reflection blurRad="6350" stA="55000" endA="300" endPos="45500" dir="5400000" sy="-100000" algn="bl" rotWithShape="0"/>
                </a:effectLst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en-US" altLang="zh-CN" dirty="0" smtClean="0"/>
          </a:p>
          <a:p>
            <a:pPr lvl="0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23468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928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72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31486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783940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2020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118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2038603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4B8D85-2FA1-4BCD-94E4-82966394D310}" type="slidenum">
              <a:rPr lang="en-US" altLang="zh-CN" sz="2400">
                <a:solidFill>
                  <a:prstClr val="black"/>
                </a:solidFill>
                <a:latin typeface="Times New Roman" pitchFamily="18" charset="0"/>
              </a:rPr>
              <a:pPr/>
              <a:t>‹#›</a:t>
            </a:fld>
            <a:endParaRPr lang="en-US" altLang="zh-CN" sz="24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889104"/>
      </p:ext>
    </p:extLst>
  </p:cSld>
  <p:clrMapOvr>
    <a:masterClrMapping/>
  </p:clrMapOvr>
  <p:transition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2" descr="main1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404813"/>
            <a:ext cx="1204913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3" descr="顶部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0"/>
            <a:ext cx="914400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609600"/>
            <a:ext cx="7543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828800"/>
            <a:ext cx="7467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835150" y="6248400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B2B83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2713081-FF5F-4428-BB92-6F111173B23A}" type="datetime1">
              <a:rPr lang="zh-CN" altLang="en-US"/>
              <a:pPr>
                <a:defRPr/>
              </a:pPr>
              <a:t>2019/4/29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35488" y="5943600"/>
            <a:ext cx="4573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B2B83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29000" y="6248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B2B83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31D4168-1200-42B7-BDAA-E68C97E470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59" name="Line 35"/>
          <p:cNvSpPr>
            <a:spLocks noChangeShapeType="1"/>
          </p:cNvSpPr>
          <p:nvPr/>
        </p:nvSpPr>
        <p:spPr bwMode="auto">
          <a:xfrm>
            <a:off x="1219200" y="1447800"/>
            <a:ext cx="7543800" cy="0"/>
          </a:xfrm>
          <a:prstGeom prst="line">
            <a:avLst/>
          </a:prstGeom>
          <a:noFill/>
          <a:ln w="1905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Times New Roman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Times New Roman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Times New Roman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Times New Roman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rgbClr val="340068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2346"/>
        </a:buClr>
        <a:buChar char="•"/>
        <a:defRPr kumimoji="1" sz="3200">
          <a:solidFill>
            <a:srgbClr val="1D1D57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1C3870"/>
        </a:buClr>
        <a:buChar char="•"/>
        <a:defRPr kumimoji="1" sz="2800">
          <a:solidFill>
            <a:srgbClr val="1D1D57"/>
          </a:solidFill>
          <a:latin typeface="+mj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64C8"/>
        </a:buClr>
        <a:buChar char="•"/>
        <a:defRPr kumimoji="1" sz="2400">
          <a:solidFill>
            <a:srgbClr val="1D1D57"/>
          </a:solidFill>
          <a:latin typeface="+mj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83FF"/>
        </a:buClr>
        <a:buChar char="•"/>
        <a:defRPr kumimoji="1" sz="2000">
          <a:solidFill>
            <a:srgbClr val="1D1D57"/>
          </a:solidFill>
          <a:latin typeface="+mj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7C3FF"/>
        </a:buClr>
        <a:buChar char="•"/>
        <a:defRPr kumimoji="1" sz="2000">
          <a:solidFill>
            <a:srgbClr val="1D1D57"/>
          </a:solidFill>
          <a:latin typeface="+mj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87C3FF"/>
        </a:buClr>
        <a:buChar char="•"/>
        <a:defRPr kumimoji="1" sz="2000">
          <a:solidFill>
            <a:srgbClr val="1D1D57"/>
          </a:solidFill>
          <a:latin typeface="+mj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87C3FF"/>
        </a:buClr>
        <a:buChar char="•"/>
        <a:defRPr kumimoji="1" sz="2000">
          <a:solidFill>
            <a:srgbClr val="1D1D57"/>
          </a:solidFill>
          <a:latin typeface="+mj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87C3FF"/>
        </a:buClr>
        <a:buChar char="•"/>
        <a:defRPr kumimoji="1" sz="2000">
          <a:solidFill>
            <a:srgbClr val="1D1D57"/>
          </a:solidFill>
          <a:latin typeface="+mj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87C3FF"/>
        </a:buClr>
        <a:buChar char="•"/>
        <a:defRPr kumimoji="1" sz="2000">
          <a:solidFill>
            <a:srgbClr val="1D1D57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33400" y="7620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3200" b="1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457200" y="2514600"/>
            <a:ext cx="8229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7338" indent="-287338">
              <a:spcBef>
                <a:spcPct val="20000"/>
              </a:spcBef>
              <a:buFontTx/>
              <a:buChar char="•"/>
              <a:defRPr/>
            </a:pPr>
            <a:endParaRPr lang="zh-CN" altLang="en-US" sz="2800" b="1">
              <a:solidFill>
                <a:prstClr val="black"/>
              </a:solidFill>
              <a:latin typeface="Times New Roman" pitchFamily="18" charset="0"/>
            </a:endParaRPr>
          </a:p>
        </p:txBody>
      </p:sp>
      <p:grpSp>
        <p:nvGrpSpPr>
          <p:cNvPr id="31748" name="Group 5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1749" name="Group 6"/>
            <p:cNvGrpSpPr>
              <a:grpSpLocks/>
            </p:cNvGrpSpPr>
            <p:nvPr userDrawn="1"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31751" name="Group 7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pic>
              <p:nvPicPr>
                <p:cNvPr id="31753" name="Picture 8" descr="电子技术_bg3"/>
                <p:cNvPicPr>
                  <a:picLocks noChangeAspect="1" noChangeArrowheads="1"/>
                </p:cNvPicPr>
                <p:nvPr userDrawn="1"/>
              </p:nvPicPr>
              <p:blipFill>
                <a:blip r:embed="rId15"/>
                <a:srcRect/>
                <a:stretch>
                  <a:fillRect/>
                </a:stretch>
              </p:blipFill>
              <p:spPr bwMode="auto">
                <a:xfrm>
                  <a:off x="0" y="0"/>
                  <a:ext cx="5760" cy="43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153" name="Rectangle 9"/>
                <p:cNvSpPr>
                  <a:spLocks noChangeArrowheads="1"/>
                </p:cNvSpPr>
                <p:nvPr userDrawn="1"/>
              </p:nvSpPr>
              <p:spPr bwMode="auto">
                <a:xfrm>
                  <a:off x="4944" y="96"/>
                  <a:ext cx="720" cy="38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>
                    <a:solidFill>
                      <a:prstClr val="black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6154" name="Rectangle 10"/>
              <p:cNvSpPr>
                <a:spLocks noChangeArrowheads="1"/>
              </p:cNvSpPr>
              <p:nvPr userDrawn="1"/>
            </p:nvSpPr>
            <p:spPr bwMode="auto">
              <a:xfrm>
                <a:off x="0" y="576"/>
                <a:ext cx="5760" cy="24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6155" name="Rectangle 11"/>
            <p:cNvSpPr>
              <a:spLocks noChangeArrowheads="1"/>
            </p:cNvSpPr>
            <p:nvPr userDrawn="1"/>
          </p:nvSpPr>
          <p:spPr bwMode="auto">
            <a:xfrm>
              <a:off x="0" y="3936"/>
              <a:ext cx="5760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639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2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0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3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4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5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/>
          </p:nvPr>
        </p:nvSpPr>
        <p:spPr>
          <a:xfrm>
            <a:off x="642938" y="1386656"/>
            <a:ext cx="7772400" cy="1538288"/>
          </a:xfrm>
        </p:spPr>
        <p:txBody>
          <a:bodyPr/>
          <a:lstStyle/>
          <a:p>
            <a:pPr eaLnBrk="1" hangingPunct="1"/>
            <a:r>
              <a:rPr lang="zh-CN" altLang="en-US" b="1" dirty="0" smtClean="0"/>
              <a:t>信号与图像处理基础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328738" y="3717032"/>
            <a:ext cx="6400800" cy="196691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600" b="1" dirty="0" smtClean="0"/>
              <a:t>中国科学技术大学  </a:t>
            </a:r>
            <a:r>
              <a:rPr lang="zh-CN" altLang="en-US" sz="2600" b="1" dirty="0" smtClean="0"/>
              <a:t>自动化系</a:t>
            </a:r>
            <a:endParaRPr lang="en-US" altLang="zh-CN" sz="2600" b="1" dirty="0" smtClean="0"/>
          </a:p>
          <a:p>
            <a:pPr eaLnBrk="1" hangingPunct="1">
              <a:defRPr/>
            </a:pPr>
            <a:r>
              <a:rPr lang="zh-CN" altLang="en-US" sz="2600" b="1" dirty="0" smtClean="0"/>
              <a:t>曹  洋</a:t>
            </a:r>
            <a:endParaRPr lang="en-US" altLang="zh-CN" sz="2600" b="1" dirty="0" smtClean="0"/>
          </a:p>
        </p:txBody>
      </p:sp>
      <p:sp>
        <p:nvSpPr>
          <p:cNvPr id="4100" name="Rectangle 1"/>
          <p:cNvSpPr>
            <a:spLocks noChangeArrowheads="1"/>
          </p:cNvSpPr>
          <p:nvPr/>
        </p:nvSpPr>
        <p:spPr bwMode="auto">
          <a:xfrm>
            <a:off x="500063" y="2700209"/>
            <a:ext cx="83359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fontAlgn="t"/>
            <a:r>
              <a:rPr lang="en-US" altLang="zh-CN" sz="3200" b="1" dirty="0" smtClean="0">
                <a:solidFill>
                  <a:srgbClr val="000000"/>
                </a:solidFill>
                <a:latin typeface="Calibri" pitchFamily="34" charset="0"/>
                <a:cs typeface="Arial" charset="0"/>
              </a:rPr>
              <a:t>Image</a:t>
            </a:r>
            <a:r>
              <a:rPr lang="zh-CN" altLang="en-US" sz="3200" b="1" dirty="0" smtClean="0">
                <a:solidFill>
                  <a:srgbClr val="000000"/>
                </a:solidFill>
                <a:latin typeface="Calibri" pitchFamily="34" charset="0"/>
                <a:cs typeface="Arial" charset="0"/>
              </a:rPr>
              <a:t> </a:t>
            </a:r>
            <a:r>
              <a:rPr lang="en-US" altLang="zh-CN" sz="3200" b="1" dirty="0" smtClean="0">
                <a:solidFill>
                  <a:srgbClr val="000000"/>
                </a:solidFill>
                <a:latin typeface="Calibri" pitchFamily="34" charset="0"/>
                <a:cs typeface="Arial" charset="0"/>
              </a:rPr>
              <a:t>Compression</a:t>
            </a:r>
          </a:p>
        </p:txBody>
      </p:sp>
    </p:spTree>
  </p:cSld>
  <p:clrMapOvr>
    <a:masterClrMapping/>
  </p:clrMapOvr>
  <p:transition spd="med" advTm="1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798984"/>
            <a:ext cx="4824413" cy="685800"/>
          </a:xfrm>
        </p:spPr>
        <p:txBody>
          <a:bodyPr/>
          <a:lstStyle/>
          <a:p>
            <a:r>
              <a:rPr lang="zh-CN" altLang="en-US" sz="3600" b="1" dirty="0">
                <a:ea typeface="黑体" pitchFamily="2" charset="-122"/>
              </a:rPr>
              <a:t>图像压缩编码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828178" y="1700733"/>
            <a:ext cx="7488238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b="1" dirty="0"/>
              <a:t>  </a:t>
            </a:r>
            <a:r>
              <a:rPr lang="zh-CN" altLang="en-US" b="1" dirty="0">
                <a:solidFill>
                  <a:srgbClr val="FF0000"/>
                </a:solidFill>
              </a:rPr>
              <a:t>数据压缩与信息论基础</a:t>
            </a:r>
          </a:p>
          <a:p>
            <a:pPr lvl="2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b="1" dirty="0"/>
              <a:t>  图像压缩与编码基本概念</a:t>
            </a:r>
          </a:p>
          <a:p>
            <a:pPr lvl="2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b="1" dirty="0"/>
              <a:t>  信息论基础</a:t>
            </a:r>
          </a:p>
          <a:p>
            <a:pPr>
              <a:lnSpc>
                <a:spcPct val="130000"/>
              </a:lnSpc>
            </a:pPr>
            <a:r>
              <a:rPr lang="zh-CN" altLang="en-US" b="1" dirty="0"/>
              <a:t>  图像压缩编码</a:t>
            </a:r>
          </a:p>
          <a:p>
            <a:pPr lvl="2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b="1" dirty="0"/>
              <a:t>  </a:t>
            </a:r>
            <a:r>
              <a:rPr lang="zh-CN" altLang="en-US" b="1" dirty="0">
                <a:solidFill>
                  <a:srgbClr val="FF0000"/>
                </a:solidFill>
              </a:rPr>
              <a:t>无损压缩</a:t>
            </a:r>
          </a:p>
          <a:p>
            <a:pPr lvl="2"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zh-CN" altLang="en-US" b="1" dirty="0"/>
              <a:t>有损压缩</a:t>
            </a:r>
          </a:p>
          <a:p>
            <a:pPr>
              <a:lnSpc>
                <a:spcPct val="130000"/>
              </a:lnSpc>
            </a:pPr>
            <a:r>
              <a:rPr lang="zh-CN" altLang="en-US" b="1" dirty="0"/>
              <a:t>  图像压缩编码主要国际标准</a:t>
            </a:r>
          </a:p>
          <a:p>
            <a:pPr lvl="2">
              <a:lnSpc>
                <a:spcPct val="13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/>
              <a:t>静止图像压缩编码标准</a:t>
            </a:r>
            <a:r>
              <a:rPr lang="en-US" altLang="zh-CN" b="1" dirty="0"/>
              <a:t>-</a:t>
            </a:r>
            <a:r>
              <a:rPr lang="en-US" altLang="zh-CN" b="1" dirty="0" smtClean="0"/>
              <a:t>JPEG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33588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1187624" y="764704"/>
            <a:ext cx="71278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Verdana" pitchFamily="34" charset="0"/>
                <a:ea typeface="隶书" pitchFamily="49" charset="-122"/>
              </a:rPr>
              <a:t> </a:t>
            </a:r>
            <a:r>
              <a:rPr lang="zh-CN" altLang="en-US" sz="4000" b="1" dirty="0">
                <a:solidFill>
                  <a:srgbClr val="FF3300"/>
                </a:solidFill>
                <a:latin typeface="Verdana" pitchFamily="34" charset="0"/>
                <a:ea typeface="隶书" pitchFamily="49" charset="-122"/>
              </a:rPr>
              <a:t>一</a:t>
            </a:r>
            <a:r>
              <a:rPr lang="en-US" altLang="zh-CN" sz="4000" b="1" dirty="0">
                <a:solidFill>
                  <a:srgbClr val="FF3300"/>
                </a:solidFill>
                <a:latin typeface="Verdana" pitchFamily="34" charset="0"/>
                <a:ea typeface="隶书" pitchFamily="49" charset="-122"/>
              </a:rPr>
              <a:t>.</a:t>
            </a:r>
            <a:r>
              <a:rPr lang="zh-CN" altLang="en-US" sz="4000" b="1" dirty="0">
                <a:solidFill>
                  <a:srgbClr val="FF3300"/>
                </a:solidFill>
                <a:latin typeface="Verdana" pitchFamily="34" charset="0"/>
                <a:ea typeface="隶书" pitchFamily="49" charset="-122"/>
              </a:rPr>
              <a:t>图像压缩与编码基本概念</a:t>
            </a: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1066800" y="1412776"/>
            <a:ext cx="8077200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en-US" altLang="zh-CN" sz="3000" b="1" dirty="0">
                <a:latin typeface="隶书" pitchFamily="49" charset="-122"/>
                <a:ea typeface="隶书" pitchFamily="49" charset="-122"/>
              </a:rPr>
              <a:t>  </a:t>
            </a: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为什么要进行图像压缩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  图像数据压缩的可能性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  数据冗余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  图像压缩的目的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  图像数据压缩技术的重要指标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  图像数据压缩的应用领域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  图像编码中的保真度准则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  信息论基础</a:t>
            </a:r>
          </a:p>
          <a:p>
            <a:pPr>
              <a:lnSpc>
                <a:spcPct val="130000"/>
              </a:lnSpc>
              <a:buFont typeface="Wingdings" pitchFamily="2" charset="2"/>
              <a:buChar char="Ø"/>
            </a:pPr>
            <a:r>
              <a:rPr lang="zh-CN" altLang="en-US" sz="3000" b="1" dirty="0">
                <a:latin typeface="隶书" pitchFamily="49" charset="-122"/>
                <a:ea typeface="隶书" pitchFamily="49" charset="-122"/>
              </a:rPr>
              <a:t>  图像压缩模型</a:t>
            </a:r>
          </a:p>
        </p:txBody>
      </p:sp>
    </p:spTree>
    <p:extLst>
      <p:ext uri="{BB962C8B-B14F-4D97-AF65-F5344CB8AC3E}">
        <p14:creationId xmlns:p14="http://schemas.microsoft.com/office/powerpoint/2010/main" val="212206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1403350" y="333375"/>
            <a:ext cx="7416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1.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为什么要进行图像压缩？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539750" y="1561355"/>
            <a:ext cx="8218488" cy="4573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Aft>
                <a:spcPct val="50000"/>
              </a:spcAft>
            </a:pPr>
            <a:r>
              <a:rPr kumimoji="1" lang="en-US" altLang="zh-CN" sz="2800" b="1" dirty="0">
                <a:latin typeface="宋体" pitchFamily="2" charset="-122"/>
              </a:rPr>
              <a:t>    </a:t>
            </a:r>
            <a:r>
              <a:rPr kumimoji="1" lang="zh-CN" altLang="en-US" sz="2800" b="1" dirty="0">
                <a:latin typeface="宋体" pitchFamily="2" charset="-122"/>
              </a:rPr>
              <a:t>数字图像通常要求很大的比特数，这给图像的传输和存储带来相当大的困难。要占用很多的资源，花很高的费用</a:t>
            </a:r>
            <a:r>
              <a:rPr kumimoji="1" lang="zh-CN" altLang="en-US" sz="2800" b="1" dirty="0" smtClean="0">
                <a:latin typeface="宋体" pitchFamily="2" charset="-122"/>
              </a:rPr>
              <a:t>。 </a:t>
            </a:r>
            <a:endParaRPr kumimoji="1" lang="en-US" altLang="zh-CN" sz="2800" b="1" dirty="0" smtClean="0">
              <a:latin typeface="宋体" pitchFamily="2" charset="-122"/>
            </a:endParaRPr>
          </a:p>
          <a:p>
            <a:pPr>
              <a:lnSpc>
                <a:spcPct val="130000"/>
              </a:lnSpc>
              <a:spcAft>
                <a:spcPct val="50000"/>
              </a:spcAft>
            </a:pPr>
            <a:r>
              <a:rPr kumimoji="1" lang="zh-CN" altLang="en-US" sz="2400" b="1" dirty="0" smtClean="0">
                <a:latin typeface="宋体" pitchFamily="2" charset="-122"/>
              </a:rPr>
              <a:t>如</a:t>
            </a:r>
            <a:r>
              <a:rPr kumimoji="1" lang="zh-CN" altLang="en-US" sz="2400" b="1" dirty="0">
                <a:latin typeface="宋体" pitchFamily="2" charset="-122"/>
              </a:rPr>
              <a:t>一幅</a:t>
            </a:r>
            <a:r>
              <a:rPr kumimoji="1" lang="en-US" altLang="zh-CN" sz="2400" b="1" dirty="0"/>
              <a:t>512*512</a:t>
            </a:r>
            <a:r>
              <a:rPr kumimoji="1" lang="zh-CN" altLang="en-US" sz="2400" b="1" dirty="0">
                <a:latin typeface="宋体" pitchFamily="2" charset="-122"/>
              </a:rPr>
              <a:t>的灰度图象的比特数</a:t>
            </a:r>
            <a:r>
              <a:rPr kumimoji="1" lang="zh-CN" altLang="en-US" sz="2400" b="1" dirty="0" smtClean="0">
                <a:latin typeface="宋体" pitchFamily="2" charset="-122"/>
              </a:rPr>
              <a:t>为        </a:t>
            </a:r>
            <a:r>
              <a:rPr kumimoji="1" lang="en-US" altLang="zh-CN" sz="2400" b="1" dirty="0"/>
              <a:t>512*512*8=</a:t>
            </a: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256k</a:t>
            </a:r>
            <a:r>
              <a:rPr kumimoji="1" lang="en-US" altLang="zh-CN" sz="2400" b="1" dirty="0"/>
              <a:t> </a:t>
            </a:r>
          </a:p>
          <a:p>
            <a:pPr>
              <a:lnSpc>
                <a:spcPct val="130000"/>
              </a:lnSpc>
              <a:spcAft>
                <a:spcPct val="50000"/>
              </a:spcAft>
            </a:pPr>
            <a:r>
              <a:rPr kumimoji="1" lang="zh-CN" altLang="en-US" sz="2400" b="1" dirty="0" smtClean="0">
                <a:latin typeface="宋体" pitchFamily="2" charset="-122"/>
              </a:rPr>
              <a:t>再</a:t>
            </a:r>
            <a:r>
              <a:rPr kumimoji="1" lang="zh-CN" altLang="en-US" sz="2400" b="1" dirty="0">
                <a:latin typeface="宋体" pitchFamily="2" charset="-122"/>
              </a:rPr>
              <a:t>如一部</a:t>
            </a:r>
            <a:r>
              <a:rPr kumimoji="1" lang="en-US" altLang="zh-CN" sz="2400" b="1" dirty="0">
                <a:latin typeface="宋体" pitchFamily="2" charset="-122"/>
              </a:rPr>
              <a:t>90</a:t>
            </a:r>
            <a:r>
              <a:rPr kumimoji="1" lang="zh-CN" altLang="en-US" sz="2400" b="1" dirty="0">
                <a:latin typeface="宋体" pitchFamily="2" charset="-122"/>
              </a:rPr>
              <a:t>分钟的彩色电影，每秒放映</a:t>
            </a:r>
            <a:r>
              <a:rPr kumimoji="1" lang="en-US" altLang="zh-CN" sz="2400" b="1" dirty="0">
                <a:latin typeface="宋体" pitchFamily="2" charset="-122"/>
              </a:rPr>
              <a:t>24</a:t>
            </a:r>
            <a:r>
              <a:rPr kumimoji="1" lang="zh-CN" altLang="en-US" sz="2400" b="1" dirty="0">
                <a:latin typeface="宋体" pitchFamily="2" charset="-122"/>
              </a:rPr>
              <a:t>帧。把它数字化，每帧</a:t>
            </a:r>
            <a:r>
              <a:rPr kumimoji="1" lang="en-US" altLang="zh-CN" sz="2400" b="1" dirty="0"/>
              <a:t>512*512</a:t>
            </a:r>
            <a:r>
              <a:rPr kumimoji="1" lang="zh-CN" altLang="en-US" sz="2400" b="1" dirty="0">
                <a:latin typeface="宋体" pitchFamily="2" charset="-122"/>
              </a:rPr>
              <a:t>象素，每象素的</a:t>
            </a:r>
            <a:r>
              <a:rPr kumimoji="1"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R</a:t>
            </a:r>
            <a:r>
              <a:rPr kumimoji="1" lang="zh-CN" altLang="en-US" sz="2400" b="1" dirty="0">
                <a:latin typeface="宋体" pitchFamily="2" charset="-122"/>
              </a:rPr>
              <a:t>、</a:t>
            </a:r>
            <a:r>
              <a:rPr kumimoji="1" lang="en-US" altLang="zh-CN" sz="2400" b="1" dirty="0">
                <a:solidFill>
                  <a:srgbClr val="00CC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G</a:t>
            </a:r>
            <a:r>
              <a:rPr kumimoji="1" lang="zh-CN" altLang="en-US" sz="2400" b="1" dirty="0">
                <a:latin typeface="宋体" pitchFamily="2" charset="-122"/>
              </a:rPr>
              <a:t>、</a:t>
            </a:r>
            <a:r>
              <a:rPr kumimoji="1" lang="en-US" altLang="zh-CN" sz="2400" b="1" dirty="0">
                <a:solidFill>
                  <a:srgbClr val="339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B</a:t>
            </a:r>
            <a:r>
              <a:rPr kumimoji="1" lang="zh-CN" altLang="en-US" sz="2400" b="1" dirty="0">
                <a:latin typeface="宋体" pitchFamily="2" charset="-122"/>
              </a:rPr>
              <a:t>三分量分别占</a:t>
            </a:r>
            <a:r>
              <a:rPr kumimoji="1" lang="en-US" altLang="zh-CN" sz="2400" b="1" dirty="0">
                <a:latin typeface="宋体" pitchFamily="2" charset="-122"/>
              </a:rPr>
              <a:t>8 bit</a:t>
            </a:r>
            <a:r>
              <a:rPr kumimoji="1" lang="zh-CN" altLang="en-US" sz="2400" b="1" dirty="0">
                <a:latin typeface="宋体" pitchFamily="2" charset="-122"/>
              </a:rPr>
              <a:t>，总比特数为</a:t>
            </a:r>
          </a:p>
        </p:txBody>
      </p:sp>
      <p:sp>
        <p:nvSpPr>
          <p:cNvPr id="2" name="矩形 1"/>
          <p:cNvSpPr/>
          <p:nvPr/>
        </p:nvSpPr>
        <p:spPr>
          <a:xfrm>
            <a:off x="1691680" y="6063679"/>
            <a:ext cx="51845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 </a:t>
            </a:r>
            <a:r>
              <a:rPr kumimoji="1" lang="en-US" altLang="zh-CN" sz="2400" b="1" dirty="0" smtClean="0">
                <a:latin typeface="宋体" pitchFamily="2" charset="-122"/>
              </a:rPr>
              <a:t>9</a:t>
            </a:r>
            <a:r>
              <a:rPr kumimoji="1" lang="en-US" altLang="zh-CN" sz="2400" b="1" dirty="0" smtClean="0"/>
              <a:t>0*60*24*3*512*512*8bit=</a:t>
            </a:r>
            <a:r>
              <a:rPr kumimoji="1" lang="en-US" altLang="zh-CN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97,200M</a:t>
            </a:r>
            <a:r>
              <a:rPr kumimoji="1" lang="zh-CN" altLang="en-US" sz="2400" b="1" dirty="0">
                <a:latin typeface="宋体" pitchFamily="2" charset="-122"/>
              </a:rPr>
              <a:t>。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5219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 advAuto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1258888" y="783109"/>
            <a:ext cx="6985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2.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图像数据压缩的可能性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755650" y="2087708"/>
            <a:ext cx="7848600" cy="3717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0" hangingPunct="0">
              <a:lnSpc>
                <a:spcPct val="130000"/>
              </a:lnSpc>
              <a:spcAft>
                <a:spcPct val="30000"/>
              </a:spcAft>
              <a:buFontTx/>
              <a:buBlip>
                <a:blip r:embed="rId2"/>
              </a:buBlip>
            </a:pPr>
            <a:r>
              <a:rPr kumimoji="1" lang="en-US" altLang="zh-CN" sz="2400" b="1" dirty="0">
                <a:latin typeface="宋体" pitchFamily="2" charset="-122"/>
              </a:rPr>
              <a:t> </a:t>
            </a:r>
            <a:r>
              <a:rPr kumimoji="1" lang="zh-CN" altLang="en-US" sz="2400" b="1" dirty="0">
                <a:latin typeface="宋体" pitchFamily="2" charset="-122"/>
              </a:rPr>
              <a:t>一般原始图像中存在很大的冗余度。</a:t>
            </a:r>
          </a:p>
          <a:p>
            <a:pPr algn="just" eaLnBrk="0" hangingPunct="0">
              <a:lnSpc>
                <a:spcPct val="130000"/>
              </a:lnSpc>
              <a:spcAft>
                <a:spcPct val="30000"/>
              </a:spcAft>
              <a:buFontTx/>
              <a:buBlip>
                <a:blip r:embed="rId2"/>
              </a:buBlip>
            </a:pPr>
            <a:r>
              <a:rPr kumimoji="1" lang="zh-CN" altLang="en-US" sz="2400" b="1" dirty="0">
                <a:latin typeface="宋体" pitchFamily="2" charset="-122"/>
              </a:rPr>
              <a:t> 用户通常允许图像失真。</a:t>
            </a:r>
          </a:p>
          <a:p>
            <a:pPr algn="just" eaLnBrk="0" hangingPunct="0">
              <a:lnSpc>
                <a:spcPct val="130000"/>
              </a:lnSpc>
              <a:spcAft>
                <a:spcPct val="30000"/>
              </a:spcAft>
              <a:buFontTx/>
              <a:buBlip>
                <a:blip r:embed="rId2"/>
              </a:buBlip>
            </a:pPr>
            <a:r>
              <a:rPr kumimoji="1" lang="zh-CN" altLang="en-US" sz="2400" b="1" dirty="0">
                <a:latin typeface="宋体" pitchFamily="2" charset="-122"/>
              </a:rPr>
              <a:t> 当信道的分辨率不及原始图像的分辨率时，降低输入的原始图像的分辨率对输出图像分辨率影响不大。</a:t>
            </a:r>
          </a:p>
          <a:p>
            <a:pPr algn="just" eaLnBrk="0" hangingPunct="0">
              <a:lnSpc>
                <a:spcPct val="130000"/>
              </a:lnSpc>
              <a:spcAft>
                <a:spcPct val="30000"/>
              </a:spcAft>
              <a:buFontTx/>
              <a:buBlip>
                <a:blip r:embed="rId2"/>
              </a:buBlip>
            </a:pPr>
            <a:r>
              <a:rPr kumimoji="1" lang="zh-CN" altLang="en-US" sz="2400" b="1" dirty="0">
                <a:latin typeface="宋体" pitchFamily="2" charset="-122"/>
              </a:rPr>
              <a:t> 用户对原始图像的信号不全都感兴趣，可用特征提取和图像识别的方法，丢掉大量无用的信息。提取有用的信息，使必须传输和存储的图像数据大大减少。  </a:t>
            </a:r>
          </a:p>
        </p:txBody>
      </p:sp>
    </p:spTree>
    <p:extLst>
      <p:ext uri="{BB962C8B-B14F-4D97-AF65-F5344CB8AC3E}">
        <p14:creationId xmlns:p14="http://schemas.microsoft.com/office/powerpoint/2010/main" val="387068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857896"/>
            <a:ext cx="8153400" cy="4027488"/>
          </a:xfrm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2800" b="1"/>
              <a:t>    </a:t>
            </a:r>
            <a:r>
              <a:rPr lang="zh-CN" altLang="en-US" sz="2600" b="1"/>
              <a:t>设：</a:t>
            </a:r>
            <a:r>
              <a:rPr lang="en-US" altLang="zh-CN" sz="2600" b="1">
                <a:solidFill>
                  <a:srgbClr val="FF0000"/>
                </a:solidFill>
              </a:rPr>
              <a:t>n</a:t>
            </a:r>
            <a:r>
              <a:rPr lang="en-US" altLang="zh-CN" sz="2600" b="1" baseline="-25000">
                <a:solidFill>
                  <a:srgbClr val="FF0000"/>
                </a:solidFill>
              </a:rPr>
              <a:t>1</a:t>
            </a:r>
            <a:r>
              <a:rPr lang="zh-CN" altLang="en-US" sz="2600" b="1"/>
              <a:t>和</a:t>
            </a:r>
            <a:r>
              <a:rPr lang="en-US" altLang="zh-CN" sz="2600" b="1">
                <a:solidFill>
                  <a:srgbClr val="FF0000"/>
                </a:solidFill>
              </a:rPr>
              <a:t>n</a:t>
            </a:r>
            <a:r>
              <a:rPr lang="en-US" altLang="zh-CN" sz="2600" b="1" baseline="-25000">
                <a:solidFill>
                  <a:srgbClr val="FF0000"/>
                </a:solidFill>
              </a:rPr>
              <a:t>2</a:t>
            </a:r>
            <a:r>
              <a:rPr lang="zh-CN" altLang="en-US" sz="2600" b="1"/>
              <a:t>是在两个表达相同信息的数据集中，所携带的单位信息量。</a:t>
            </a:r>
          </a:p>
          <a:p>
            <a:pPr lvl="1" algn="just"/>
            <a:r>
              <a:rPr lang="zh-CN" altLang="en-US" b="1" u="sng">
                <a:solidFill>
                  <a:srgbClr val="FF0000"/>
                </a:solidFill>
              </a:rPr>
              <a:t>压缩率</a:t>
            </a:r>
            <a:r>
              <a:rPr lang="zh-CN" altLang="en-US" b="1"/>
              <a:t>：</a:t>
            </a:r>
            <a:r>
              <a:rPr lang="en-US" altLang="zh-CN" b="1"/>
              <a:t>——</a:t>
            </a:r>
            <a:r>
              <a:rPr lang="zh-CN" altLang="en-US" b="1"/>
              <a:t>描述压缩算法性能</a:t>
            </a:r>
            <a:endParaRPr lang="zh-CN" altLang="en-US" sz="2400" b="1">
              <a:solidFill>
                <a:srgbClr val="660066"/>
              </a:solidFill>
            </a:endParaRPr>
          </a:p>
          <a:p>
            <a:pPr lvl="1" algn="just">
              <a:buFontTx/>
              <a:buNone/>
            </a:pPr>
            <a:r>
              <a:rPr lang="zh-CN" altLang="en-US" sz="2400" b="1">
                <a:solidFill>
                  <a:srgbClr val="660066"/>
                </a:solidFill>
              </a:rPr>
              <a:t>				</a:t>
            </a:r>
            <a:r>
              <a:rPr lang="en-US" altLang="zh-CN" sz="2400" b="1">
                <a:solidFill>
                  <a:srgbClr val="FF0000"/>
                </a:solidFill>
              </a:rPr>
              <a:t>C</a:t>
            </a:r>
            <a:r>
              <a:rPr lang="en-US" altLang="zh-CN" sz="2400" b="1" baseline="-25000">
                <a:solidFill>
                  <a:srgbClr val="FF0000"/>
                </a:solidFill>
              </a:rPr>
              <a:t>R</a:t>
            </a:r>
            <a:r>
              <a:rPr lang="en-US" altLang="zh-CN" sz="2400" b="1">
                <a:solidFill>
                  <a:srgbClr val="FF0000"/>
                </a:solidFill>
              </a:rPr>
              <a:t> = n</a:t>
            </a:r>
            <a:r>
              <a:rPr lang="en-US" altLang="zh-CN" sz="2400" b="1" baseline="-25000">
                <a:solidFill>
                  <a:srgbClr val="FF0000"/>
                </a:solidFill>
              </a:rPr>
              <a:t>1 </a:t>
            </a:r>
            <a:r>
              <a:rPr lang="en-US" altLang="zh-CN" sz="2400" b="1">
                <a:solidFill>
                  <a:srgbClr val="FF0000"/>
                </a:solidFill>
              </a:rPr>
              <a:t>/ n</a:t>
            </a:r>
            <a:r>
              <a:rPr lang="en-US" altLang="zh-CN" sz="2400" b="1" baseline="-25000">
                <a:solidFill>
                  <a:srgbClr val="FF0000"/>
                </a:solidFill>
              </a:rPr>
              <a:t>2</a:t>
            </a:r>
            <a:r>
              <a:rPr lang="en-US" altLang="zh-CN" sz="2400" b="1">
                <a:solidFill>
                  <a:srgbClr val="660066"/>
                </a:solidFill>
              </a:rPr>
              <a:t>				</a:t>
            </a:r>
          </a:p>
          <a:p>
            <a:pPr lvl="1" algn="just">
              <a:buFontTx/>
              <a:buNone/>
            </a:pPr>
            <a:r>
              <a:rPr lang="zh-CN" altLang="en-US" sz="2400" b="1"/>
              <a:t>其中，</a:t>
            </a:r>
            <a:r>
              <a:rPr lang="en-US" altLang="zh-CN" sz="2400" b="1"/>
              <a:t>n</a:t>
            </a:r>
            <a:r>
              <a:rPr lang="en-US" altLang="zh-CN" sz="2400" b="1" baseline="-25000"/>
              <a:t>1</a:t>
            </a:r>
            <a:r>
              <a:rPr lang="zh-CN" altLang="en-US" sz="2400" b="1"/>
              <a:t>是压缩前的数据量，</a:t>
            </a:r>
            <a:r>
              <a:rPr lang="en-US" altLang="zh-CN" sz="2400" b="1"/>
              <a:t>n</a:t>
            </a:r>
            <a:r>
              <a:rPr lang="en-US" altLang="zh-CN" sz="2400" b="1" baseline="-25000"/>
              <a:t>2</a:t>
            </a:r>
            <a:r>
              <a:rPr lang="zh-CN" altLang="en-US" sz="2400" b="1"/>
              <a:t>是压缩后的数据量</a:t>
            </a:r>
            <a:endParaRPr lang="zh-CN" altLang="en-US" sz="2400" b="1">
              <a:solidFill>
                <a:srgbClr val="660066"/>
              </a:solidFill>
            </a:endParaRPr>
          </a:p>
          <a:p>
            <a:pPr lvl="1" algn="just"/>
            <a:r>
              <a:rPr lang="zh-CN" altLang="en-US" b="1" u="sng">
                <a:solidFill>
                  <a:srgbClr val="FF0000"/>
                </a:solidFill>
              </a:rPr>
              <a:t>相对数据冗余</a:t>
            </a:r>
            <a:r>
              <a:rPr lang="zh-CN" altLang="en-US" b="1"/>
              <a:t>：		</a:t>
            </a:r>
          </a:p>
          <a:p>
            <a:pPr lvl="1" algn="just">
              <a:buFontTx/>
              <a:buNone/>
            </a:pPr>
            <a:r>
              <a:rPr lang="zh-CN" altLang="en-US" b="1"/>
              <a:t>				</a:t>
            </a:r>
            <a:r>
              <a:rPr lang="en-US" altLang="zh-CN" sz="2400" b="1">
                <a:solidFill>
                  <a:srgbClr val="FF0000"/>
                </a:solidFill>
              </a:rPr>
              <a:t>R</a:t>
            </a:r>
            <a:r>
              <a:rPr lang="en-US" altLang="zh-CN" sz="2400" b="1" baseline="-25000">
                <a:solidFill>
                  <a:srgbClr val="FF0000"/>
                </a:solidFill>
              </a:rPr>
              <a:t>D</a:t>
            </a:r>
            <a:r>
              <a:rPr lang="en-US" altLang="zh-CN" sz="2400" b="1">
                <a:solidFill>
                  <a:srgbClr val="FF0000"/>
                </a:solidFill>
              </a:rPr>
              <a:t> = 1 – 1/C</a:t>
            </a:r>
            <a:r>
              <a:rPr lang="en-US" altLang="zh-CN" sz="2400" b="1" baseline="-25000">
                <a:solidFill>
                  <a:srgbClr val="FF0000"/>
                </a:solidFill>
              </a:rPr>
              <a:t>R</a:t>
            </a:r>
          </a:p>
          <a:p>
            <a:pPr lvl="1" algn="just">
              <a:buFontTx/>
              <a:buNone/>
            </a:pPr>
            <a:r>
              <a:rPr lang="zh-CN" altLang="en-US" sz="2400" b="1"/>
              <a:t>例：</a:t>
            </a:r>
            <a:r>
              <a:rPr lang="en-US" altLang="zh-CN" sz="2400" b="1"/>
              <a:t>C</a:t>
            </a:r>
            <a:r>
              <a:rPr lang="en-US" altLang="zh-CN" sz="2400" b="1" baseline="-25000"/>
              <a:t>R</a:t>
            </a:r>
            <a:r>
              <a:rPr lang="en-US" altLang="zh-CN" sz="2400" b="1"/>
              <a:t>=20;   R</a:t>
            </a:r>
            <a:r>
              <a:rPr lang="en-US" altLang="zh-CN" sz="2400" b="1" baseline="-25000"/>
              <a:t>D</a:t>
            </a:r>
            <a:r>
              <a:rPr lang="en-US" altLang="zh-CN" sz="2400" b="1"/>
              <a:t> = 19/20</a:t>
            </a:r>
          </a:p>
        </p:txBody>
      </p:sp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468313" y="2281634"/>
            <a:ext cx="84248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 dirty="0"/>
              <a:t>描述信源的数据是信息量（信源熵）和信息冗余量之和。</a:t>
            </a: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1043037" y="1633934"/>
            <a:ext cx="4537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）数据冗余的基本概念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177363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bldLvl="3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798512" y="3355553"/>
            <a:ext cx="8382000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A.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编码冗余：    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3311524" y="3923878"/>
            <a:ext cx="25908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3929062" y="4173116"/>
            <a:ext cx="1295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798512" y="1772816"/>
            <a:ext cx="51847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3200" b="1" dirty="0">
                <a:latin typeface="黑体" pitchFamily="2" charset="-122"/>
                <a:ea typeface="黑体" pitchFamily="2" charset="-122"/>
              </a:rPr>
              <a:t>）常见的数据冗余</a:t>
            </a: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798512" y="2347491"/>
            <a:ext cx="8137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600" b="1"/>
              <a:t>在数字图像压缩中，常有</a:t>
            </a:r>
            <a:r>
              <a:rPr lang="en-US" altLang="zh-CN" sz="2600" b="1"/>
              <a:t>3</a:t>
            </a:r>
            <a:r>
              <a:rPr lang="zh-CN" altLang="en-US" sz="2600" b="1"/>
              <a:t>种基本的数据冗余：编码冗余、像素间的冗余以及心理视觉冗余</a:t>
            </a: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871537" y="4004841"/>
            <a:ext cx="7991475" cy="235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600" b="1"/>
              <a:t>为表达图像数据需要用一系列符号，用这些符号根据一定的规则来表达图像就是对</a:t>
            </a:r>
            <a:r>
              <a:rPr lang="zh-CN" altLang="en-US" sz="2600" b="1">
                <a:solidFill>
                  <a:srgbClr val="FF0000"/>
                </a:solidFill>
              </a:rPr>
              <a:t>图像编码</a:t>
            </a:r>
            <a:r>
              <a:rPr lang="zh-CN" altLang="en-US" sz="2600" b="1"/>
              <a:t>。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600" b="1"/>
              <a:t>对每个信息或事件所赋的符号序列称为</a:t>
            </a:r>
            <a:r>
              <a:rPr lang="zh-CN" altLang="en-US" sz="2600" b="1">
                <a:solidFill>
                  <a:srgbClr val="FF0000"/>
                </a:solidFill>
              </a:rPr>
              <a:t>码字</a:t>
            </a:r>
            <a:r>
              <a:rPr lang="zh-CN" altLang="en-US" sz="2600" b="1"/>
              <a:t>，而每个码字里的符号个数称为</a:t>
            </a:r>
            <a:r>
              <a:rPr lang="zh-CN" altLang="en-US" sz="2600" b="1">
                <a:solidFill>
                  <a:srgbClr val="FF0000"/>
                </a:solidFill>
              </a:rPr>
              <a:t>码字的长度</a:t>
            </a:r>
            <a:r>
              <a:rPr lang="zh-CN" altLang="en-US" sz="2600" b="1"/>
              <a:t>。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</p:spTree>
    <p:extLst>
      <p:ext uri="{BB962C8B-B14F-4D97-AF65-F5344CB8AC3E}">
        <p14:creationId xmlns:p14="http://schemas.microsoft.com/office/powerpoint/2010/main" val="203064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828997" y="1572022"/>
            <a:ext cx="7991475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600" b="1" dirty="0"/>
              <a:t>设定义在</a:t>
            </a:r>
            <a:r>
              <a:rPr lang="en-US" altLang="zh-CN" sz="2600" b="1" dirty="0"/>
              <a:t>[0,1]</a:t>
            </a:r>
            <a:r>
              <a:rPr lang="zh-CN" altLang="en-US" sz="2600" b="1" dirty="0"/>
              <a:t>区间的离散随机变量</a:t>
            </a:r>
            <a:r>
              <a:rPr lang="en-US" altLang="zh-CN" sz="2600" b="1" dirty="0" err="1"/>
              <a:t>s</a:t>
            </a:r>
            <a:r>
              <a:rPr lang="en-US" altLang="zh-CN" sz="2600" b="1" baseline="-25000" dirty="0" err="1"/>
              <a:t>k</a:t>
            </a:r>
            <a:r>
              <a:rPr lang="zh-CN" altLang="en-US" sz="2600" b="1" dirty="0"/>
              <a:t>代表图像的灰度值，每个</a:t>
            </a:r>
            <a:r>
              <a:rPr lang="en-US" altLang="zh-CN" sz="2600" b="1" dirty="0" err="1"/>
              <a:t>s</a:t>
            </a:r>
            <a:r>
              <a:rPr lang="en-US" altLang="zh-CN" sz="2600" b="1" baseline="-25000" dirty="0" err="1"/>
              <a:t>k</a:t>
            </a:r>
            <a:r>
              <a:rPr lang="zh-CN" altLang="en-US" sz="2600" b="1" dirty="0"/>
              <a:t>以概率</a:t>
            </a:r>
            <a:r>
              <a:rPr lang="en-US" altLang="zh-CN" sz="2600" b="1" dirty="0" err="1"/>
              <a:t>p</a:t>
            </a:r>
            <a:r>
              <a:rPr lang="en-US" altLang="zh-CN" sz="2600" b="1" baseline="-25000" dirty="0" err="1"/>
              <a:t>s</a:t>
            </a:r>
            <a:r>
              <a:rPr lang="en-US" altLang="zh-CN" sz="2600" b="1" dirty="0"/>
              <a:t>(</a:t>
            </a:r>
            <a:r>
              <a:rPr lang="en-US" altLang="zh-CN" sz="2600" b="1" dirty="0" err="1"/>
              <a:t>s</a:t>
            </a:r>
            <a:r>
              <a:rPr lang="en-US" altLang="zh-CN" sz="2600" b="1" baseline="-25000" dirty="0" err="1"/>
              <a:t>k</a:t>
            </a:r>
            <a:r>
              <a:rPr lang="en-US" altLang="zh-CN" sz="2600" b="1" dirty="0"/>
              <a:t>)</a:t>
            </a:r>
            <a:r>
              <a:rPr lang="zh-CN" altLang="en-US" sz="2600" b="1" dirty="0"/>
              <a:t>出现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600" b="1" dirty="0"/>
              <a:t>P</a:t>
            </a:r>
            <a:r>
              <a:rPr lang="en-US" altLang="zh-CN" sz="2600" b="1" baseline="-25000" dirty="0"/>
              <a:t>s</a:t>
            </a:r>
            <a:r>
              <a:rPr lang="en-US" altLang="zh-CN" sz="2600" b="1" dirty="0"/>
              <a:t>(</a:t>
            </a:r>
            <a:r>
              <a:rPr lang="en-US" altLang="zh-CN" sz="2600" b="1" dirty="0" err="1"/>
              <a:t>s</a:t>
            </a:r>
            <a:r>
              <a:rPr lang="en-US" altLang="zh-CN" sz="2600" b="1" baseline="-25000" dirty="0" err="1"/>
              <a:t>k</a:t>
            </a:r>
            <a:r>
              <a:rPr lang="en-US" altLang="zh-CN" sz="2600" b="1" dirty="0"/>
              <a:t>)=</a:t>
            </a:r>
            <a:r>
              <a:rPr lang="en-US" altLang="zh-CN" sz="2600" b="1" dirty="0" err="1"/>
              <a:t>n</a:t>
            </a:r>
            <a:r>
              <a:rPr lang="en-US" altLang="zh-CN" sz="2600" b="1" baseline="-25000" dirty="0" err="1"/>
              <a:t>k</a:t>
            </a:r>
            <a:r>
              <a:rPr lang="en-US" altLang="zh-CN" sz="2600" b="1" dirty="0"/>
              <a:t>/n  k=0,1,2,…,L-1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600" b="1" dirty="0"/>
              <a:t>其中</a:t>
            </a:r>
            <a:r>
              <a:rPr lang="en-US" altLang="zh-CN" sz="2600" b="1" dirty="0"/>
              <a:t>L</a:t>
            </a:r>
            <a:r>
              <a:rPr lang="zh-CN" altLang="en-US" sz="2600" b="1" dirty="0"/>
              <a:t>为灰度级数，</a:t>
            </a:r>
            <a:r>
              <a:rPr lang="en-US" altLang="zh-CN" sz="2600" b="1" dirty="0" err="1"/>
              <a:t>n</a:t>
            </a:r>
            <a:r>
              <a:rPr lang="en-US" altLang="zh-CN" sz="2600" b="1" baseline="-25000" dirty="0" err="1"/>
              <a:t>k</a:t>
            </a:r>
            <a:r>
              <a:rPr lang="zh-CN" altLang="en-US" sz="2600" b="1" dirty="0"/>
              <a:t>是第</a:t>
            </a:r>
            <a:r>
              <a:rPr lang="en-US" altLang="zh-CN" sz="2600" b="1" dirty="0"/>
              <a:t>k</a:t>
            </a:r>
            <a:r>
              <a:rPr lang="zh-CN" altLang="en-US" sz="2600" b="1" dirty="0"/>
              <a:t>个灰度级出现的次数，</a:t>
            </a:r>
            <a:r>
              <a:rPr lang="en-US" altLang="zh-CN" sz="2600" b="1" dirty="0"/>
              <a:t>n</a:t>
            </a:r>
            <a:r>
              <a:rPr lang="zh-CN" altLang="en-US" sz="2600" b="1" dirty="0"/>
              <a:t>是图像中像素总个数。设用来表示</a:t>
            </a:r>
            <a:r>
              <a:rPr lang="en-US" altLang="zh-CN" sz="2600" b="1" dirty="0" err="1"/>
              <a:t>s</a:t>
            </a:r>
            <a:r>
              <a:rPr lang="en-US" altLang="zh-CN" sz="2600" b="1" baseline="-25000" dirty="0" err="1"/>
              <a:t>k</a:t>
            </a:r>
            <a:r>
              <a:rPr lang="zh-CN" altLang="en-US" sz="2600" b="1" dirty="0"/>
              <a:t>的每个数值的比特数是        ，那么为表示每个像素所需的平均比特数就是</a:t>
            </a:r>
          </a:p>
        </p:txBody>
      </p:sp>
      <p:graphicFrame>
        <p:nvGraphicFramePr>
          <p:cNvPr id="8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079489"/>
              </p:ext>
            </p:extLst>
          </p:nvPr>
        </p:nvGraphicFramePr>
        <p:xfrm>
          <a:off x="2773685" y="5157192"/>
          <a:ext cx="3238475" cy="110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Equation" r:id="rId3" imgW="927000" imgH="317160" progId="Equation.DSMT4">
                  <p:embed/>
                </p:oleObj>
              </mc:Choice>
              <mc:Fallback>
                <p:oleObj name="Equation" r:id="rId3" imgW="92700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685" y="5157192"/>
                        <a:ext cx="3238475" cy="1108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208768"/>
              </p:ext>
            </p:extLst>
          </p:nvPr>
        </p:nvGraphicFramePr>
        <p:xfrm>
          <a:off x="1908497" y="4451747"/>
          <a:ext cx="7207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Equation" r:id="rId5" imgW="253800" imgH="190440" progId="Equation.DSMT4">
                  <p:embed/>
                </p:oleObj>
              </mc:Choice>
              <mc:Fallback>
                <p:oleObj name="Equation" r:id="rId5" imgW="2538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497" y="4451747"/>
                        <a:ext cx="72072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3" name="Rectangle 7"/>
          <p:cNvSpPr>
            <a:spLocks noChangeArrowheads="1"/>
          </p:cNvSpPr>
          <p:nvPr/>
        </p:nvSpPr>
        <p:spPr bwMode="auto">
          <a:xfrm>
            <a:off x="973460" y="6237312"/>
            <a:ext cx="62658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600" b="1" dirty="0"/>
              <a:t>编码所用的符号构成的集合称为</a:t>
            </a:r>
            <a:r>
              <a:rPr lang="zh-CN" altLang="en-US" sz="2600" b="1" dirty="0">
                <a:solidFill>
                  <a:srgbClr val="FF0000"/>
                </a:solidFill>
              </a:rPr>
              <a:t>码本</a:t>
            </a:r>
            <a:r>
              <a:rPr lang="zh-CN" altLang="en-US" sz="2600" b="1" dirty="0"/>
              <a:t>。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</p:spTree>
    <p:extLst>
      <p:ext uri="{BB962C8B-B14F-4D97-AF65-F5344CB8AC3E}">
        <p14:creationId xmlns:p14="http://schemas.microsoft.com/office/powerpoint/2010/main" val="334005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755576" y="2100808"/>
            <a:ext cx="8137525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600" b="1"/>
              <a:t>等长码：对于一个消息集合中的不同消息，用相同长度的不同码字表示，</a:t>
            </a:r>
            <a:r>
              <a:rPr lang="zh-CN" altLang="en-US" sz="2600" b="1">
                <a:solidFill>
                  <a:srgbClr val="FF0000"/>
                </a:solidFill>
              </a:rPr>
              <a:t>编解码简单，编码效率不高</a:t>
            </a:r>
            <a:r>
              <a:rPr lang="zh-CN" altLang="en-US" sz="2600" b="1"/>
              <a:t>。</a:t>
            </a:r>
          </a:p>
        </p:txBody>
      </p:sp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755576" y="3542258"/>
            <a:ext cx="7777163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600" b="1"/>
              <a:t>变长码：与等长码相对应，对于一个消息集合中的不同消息，也可以用不同长度的码字表示，</a:t>
            </a:r>
            <a:r>
              <a:rPr lang="zh-CN" altLang="en-US" sz="2600" b="1">
                <a:solidFill>
                  <a:srgbClr val="FF0000"/>
                </a:solidFill>
              </a:rPr>
              <a:t>编码效率高，编码解码复杂。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</p:spTree>
    <p:extLst>
      <p:ext uri="{BB962C8B-B14F-4D97-AF65-F5344CB8AC3E}">
        <p14:creationId xmlns:p14="http://schemas.microsoft.com/office/powerpoint/2010/main" val="135654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827088" y="5013176"/>
            <a:ext cx="7758112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latin typeface="宋体" pitchFamily="2" charset="-122"/>
              </a:rPr>
              <a:t>例：如果用</a:t>
            </a:r>
            <a:r>
              <a:rPr kumimoji="1" lang="en-US" altLang="zh-CN" sz="2800" b="1" dirty="0">
                <a:latin typeface="宋体" pitchFamily="2" charset="-122"/>
              </a:rPr>
              <a:t>8</a:t>
            </a:r>
            <a:r>
              <a:rPr kumimoji="1" lang="zh-CN" altLang="en-US" sz="2800" b="1" dirty="0">
                <a:latin typeface="宋体" pitchFamily="2" charset="-122"/>
              </a:rPr>
              <a:t>位表示该图像的像素，我们就说该图像存在着编码冗余，因为该图像的像素只有两个灰度，用一位即可表示。</a:t>
            </a: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3348038" y="3140968"/>
            <a:ext cx="2590800" cy="1676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3957638" y="3670176"/>
            <a:ext cx="12954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395288" y="1741884"/>
            <a:ext cx="7991475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b="1" dirty="0"/>
              <a:t>如果一个图像的灰度级编码，使用了多于实际需要的编码符号，就称该图像包含了编码冗余。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</p:spTree>
    <p:extLst>
      <p:ext uri="{BB962C8B-B14F-4D97-AF65-F5344CB8AC3E}">
        <p14:creationId xmlns:p14="http://schemas.microsoft.com/office/powerpoint/2010/main" val="14772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684213" y="1486173"/>
            <a:ext cx="7632700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B.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像素冗余：      </a:t>
            </a: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755650" y="1874093"/>
            <a:ext cx="8064500" cy="35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130000"/>
              </a:lnSpc>
              <a:spcAft>
                <a:spcPct val="50000"/>
              </a:spcAft>
            </a:pPr>
            <a:r>
              <a:rPr lang="en-US" altLang="zh-CN" sz="2600" b="1" dirty="0"/>
              <a:t>      </a:t>
            </a:r>
            <a:r>
              <a:rPr lang="zh-CN" altLang="en-US" sz="2600" b="1" dirty="0"/>
              <a:t>由于任何给定的像素值，原理上都可以通过它的邻居预测到，单个像素携带的信息相对是小的。</a:t>
            </a:r>
          </a:p>
          <a:p>
            <a:pPr lvl="1">
              <a:lnSpc>
                <a:spcPct val="130000"/>
              </a:lnSpc>
              <a:spcAft>
                <a:spcPct val="50000"/>
              </a:spcAft>
            </a:pPr>
            <a:r>
              <a:rPr lang="zh-CN" altLang="en-US" sz="2600" b="1" dirty="0"/>
              <a:t>      对于一个图像，很多单个像素对视觉的贡献是冗余的。这是建立在对邻居值预测的基础上。</a:t>
            </a:r>
          </a:p>
          <a:p>
            <a:pPr lvl="1">
              <a:lnSpc>
                <a:spcPct val="130000"/>
              </a:lnSpc>
              <a:spcAft>
                <a:spcPct val="50000"/>
              </a:spcAft>
            </a:pPr>
            <a:r>
              <a:rPr lang="zh-CN" altLang="en-US" sz="2600" b="1" dirty="0"/>
              <a:t>     原始图像越有规则，各像素之间的相关性越强，它可能压缩的数据就越多。</a:t>
            </a: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1116013" y="5617418"/>
            <a:ext cx="720090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130000"/>
              </a:lnSpc>
            </a:pPr>
            <a:r>
              <a:rPr kumimoji="1" lang="zh-CN" altLang="en-US" sz="2600" b="1">
                <a:solidFill>
                  <a:schemeClr val="accent2"/>
                </a:solidFill>
              </a:rPr>
              <a:t>例：原图像数据：</a:t>
            </a:r>
            <a:r>
              <a:rPr kumimoji="1" lang="en-US" altLang="zh-CN" sz="2600" b="1">
                <a:solidFill>
                  <a:schemeClr val="accent2"/>
                </a:solidFill>
              </a:rPr>
              <a:t>234 223 231 238 235</a:t>
            </a:r>
          </a:p>
          <a:p>
            <a:pPr lvl="1">
              <a:lnSpc>
                <a:spcPct val="130000"/>
              </a:lnSpc>
            </a:pPr>
            <a:r>
              <a:rPr kumimoji="1" lang="en-US" altLang="zh-CN" sz="2600" b="1">
                <a:solidFill>
                  <a:schemeClr val="accent2"/>
                </a:solidFill>
              </a:rPr>
              <a:t>	 </a:t>
            </a:r>
            <a:r>
              <a:rPr kumimoji="1" lang="zh-CN" altLang="en-US" sz="2600" b="1">
                <a:solidFill>
                  <a:schemeClr val="accent2"/>
                </a:solidFill>
              </a:rPr>
              <a:t>压缩后数据：</a:t>
            </a:r>
            <a:r>
              <a:rPr kumimoji="1" lang="en-US" altLang="zh-CN" sz="2600" b="1">
                <a:solidFill>
                  <a:schemeClr val="accent2"/>
                </a:solidFill>
              </a:rPr>
              <a:t>234 11   -8    -7   3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</p:spTree>
    <p:extLst>
      <p:ext uri="{BB962C8B-B14F-4D97-AF65-F5344CB8AC3E}">
        <p14:creationId xmlns:p14="http://schemas.microsoft.com/office/powerpoint/2010/main" val="7349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Line 3"/>
          <p:cNvSpPr>
            <a:spLocks noChangeShapeType="1"/>
          </p:cNvSpPr>
          <p:nvPr/>
        </p:nvSpPr>
        <p:spPr bwMode="auto">
          <a:xfrm flipH="1">
            <a:off x="2497138" y="2613992"/>
            <a:ext cx="16764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948" name="Line 4"/>
          <p:cNvSpPr>
            <a:spLocks noChangeShapeType="1"/>
          </p:cNvSpPr>
          <p:nvPr/>
        </p:nvSpPr>
        <p:spPr bwMode="auto">
          <a:xfrm flipV="1">
            <a:off x="4173538" y="2461592"/>
            <a:ext cx="28956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3563938" y="1940892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ahoma" pitchFamily="34" charset="0"/>
              </a:rPr>
              <a:t>相同的目标</a:t>
            </a:r>
          </a:p>
        </p:txBody>
      </p:sp>
      <p:sp>
        <p:nvSpPr>
          <p:cNvPr id="82950" name="Line 6"/>
          <p:cNvSpPr>
            <a:spLocks noChangeShapeType="1"/>
          </p:cNvSpPr>
          <p:nvPr/>
        </p:nvSpPr>
        <p:spPr bwMode="auto">
          <a:xfrm flipH="1">
            <a:off x="4021138" y="2613992"/>
            <a:ext cx="152400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951" name="Line 7"/>
          <p:cNvSpPr>
            <a:spLocks noChangeShapeType="1"/>
          </p:cNvSpPr>
          <p:nvPr/>
        </p:nvSpPr>
        <p:spPr bwMode="auto">
          <a:xfrm>
            <a:off x="4173538" y="2613992"/>
            <a:ext cx="2286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5621338" y="2918792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ahoma" pitchFamily="34" charset="0"/>
              </a:rPr>
              <a:t>相同的直方图</a:t>
            </a:r>
          </a:p>
        </p:txBody>
      </p:sp>
      <p:sp>
        <p:nvSpPr>
          <p:cNvPr id="82953" name="Text Box 9"/>
          <p:cNvSpPr txBox="1">
            <a:spLocks noChangeArrowheads="1"/>
          </p:cNvSpPr>
          <p:nvPr/>
        </p:nvSpPr>
        <p:spPr bwMode="auto">
          <a:xfrm>
            <a:off x="611188" y="5036517"/>
            <a:ext cx="2041525" cy="1212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800" b="1" dirty="0" smtClean="0">
                <a:latin typeface="Tahoma" pitchFamily="34" charset="0"/>
              </a:rPr>
              <a:t>像素间</a:t>
            </a:r>
            <a:r>
              <a:rPr kumimoji="1" lang="zh-CN" altLang="en-US" sz="2800" b="1" dirty="0">
                <a:latin typeface="Tahoma" pitchFamily="34" charset="0"/>
              </a:rPr>
              <a:t>的相关性不同</a:t>
            </a:r>
          </a:p>
        </p:txBody>
      </p:sp>
      <p:pic>
        <p:nvPicPr>
          <p:cNvPr id="82954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925142"/>
            <a:ext cx="2159000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7777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0000"/>
                  </a:outerShdw>
                </a:effectLst>
              </a14:hiddenEffects>
            </a:ext>
          </a:extLst>
        </p:spPr>
      </p:pic>
      <p:pic>
        <p:nvPicPr>
          <p:cNvPr id="82955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363" y="1512267"/>
            <a:ext cx="1754187" cy="1389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77777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0000"/>
                  </a:outerShdw>
                </a:effectLst>
              </a14:hiddenEffects>
            </a:ext>
          </a:extLst>
        </p:spPr>
      </p:pic>
      <p:pic>
        <p:nvPicPr>
          <p:cNvPr id="82956" name="Picture 12" descr="zhifangtu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3883992"/>
            <a:ext cx="5632450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7" name="Picture 13" descr="xiangguanxing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5441329"/>
            <a:ext cx="5632450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</p:spTree>
    <p:extLst>
      <p:ext uri="{BB962C8B-B14F-4D97-AF65-F5344CB8AC3E}">
        <p14:creationId xmlns:p14="http://schemas.microsoft.com/office/powerpoint/2010/main" val="315436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827385" y="1628899"/>
            <a:ext cx="5184775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b="1" dirty="0">
                <a:latin typeface="Tahoma" pitchFamily="34" charset="0"/>
              </a:rPr>
              <a:t>类似还有：</a:t>
            </a:r>
          </a:p>
          <a:p>
            <a:pPr>
              <a:lnSpc>
                <a:spcPct val="150000"/>
              </a:lnSpc>
            </a:pPr>
            <a:r>
              <a:rPr kumimoji="1" lang="zh-CN" altLang="en-US" sz="2800" b="1" dirty="0">
                <a:latin typeface="Tahoma" pitchFamily="34" charset="0"/>
              </a:rPr>
              <a:t>图像彩色光谱空间的冗余；</a:t>
            </a:r>
            <a:br>
              <a:rPr kumimoji="1" lang="zh-CN" altLang="en-US" sz="2800" b="1" dirty="0">
                <a:latin typeface="Tahoma" pitchFamily="34" charset="0"/>
              </a:rPr>
            </a:br>
            <a:r>
              <a:rPr kumimoji="1" lang="zh-CN" altLang="en-US" sz="2800" b="1" dirty="0">
                <a:latin typeface="Tahoma" pitchFamily="34" charset="0"/>
              </a:rPr>
              <a:t>视频图像信号在时间上的冗余；</a:t>
            </a:r>
          </a:p>
        </p:txBody>
      </p:sp>
      <p:pic>
        <p:nvPicPr>
          <p:cNvPr id="83971" name="Picture 3" descr="party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86200"/>
            <a:ext cx="6319838" cy="189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972" name="Picture 4" descr="color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063" y="3913188"/>
            <a:ext cx="19812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973" name="AutoShape 5"/>
          <p:cNvCxnSpPr>
            <a:cxnSpLocks noChangeShapeType="1"/>
          </p:cNvCxnSpPr>
          <p:nvPr/>
        </p:nvCxnSpPr>
        <p:spPr bwMode="auto">
          <a:xfrm>
            <a:off x="5148064" y="2708920"/>
            <a:ext cx="2106811" cy="1340793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974" name="AutoShape 6"/>
          <p:cNvCxnSpPr>
            <a:cxnSpLocks noChangeShapeType="1"/>
          </p:cNvCxnSpPr>
          <p:nvPr/>
        </p:nvCxnSpPr>
        <p:spPr bwMode="auto">
          <a:xfrm rot="16200000" flipH="1">
            <a:off x="3646656" y="4059808"/>
            <a:ext cx="2100262" cy="982663"/>
          </a:xfrm>
          <a:prstGeom prst="curvedConnector4">
            <a:avLst>
              <a:gd name="adj1" fmla="val 27361"/>
              <a:gd name="adj2" fmla="val 123264"/>
            </a:avLst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</p:spTree>
    <p:extLst>
      <p:ext uri="{BB962C8B-B14F-4D97-AF65-F5344CB8AC3E}">
        <p14:creationId xmlns:p14="http://schemas.microsoft.com/office/powerpoint/2010/main" val="289825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23850" y="1844427"/>
            <a:ext cx="864235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   </a:t>
            </a:r>
            <a:r>
              <a:rPr lang="zh-CN" altLang="en-US" sz="2400" b="1" dirty="0">
                <a:latin typeface="宋体" pitchFamily="2" charset="-122"/>
              </a:rPr>
              <a:t>一些信息在一般视觉处理中比其它信息的相对重要程度要小，这种信息就被称为视觉心理冗余。</a:t>
            </a:r>
          </a:p>
        </p:txBody>
      </p:sp>
      <p:pic>
        <p:nvPicPr>
          <p:cNvPr id="56323" name="Picture 3" descr="10lj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81486"/>
            <a:ext cx="44958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24" name="Picture 4" descr="10lc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081486"/>
            <a:ext cx="44958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827088" y="1409403"/>
            <a:ext cx="4248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视觉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心理冗余：</a:t>
            </a:r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739775" y="4449911"/>
            <a:ext cx="793750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kumimoji="1" lang="en-US" altLang="zh-CN" sz="3200">
                <a:solidFill>
                  <a:srgbClr val="FF0000"/>
                </a:solidFill>
                <a:latin typeface="方正大黑简体" pitchFamily="65" charset="-122"/>
                <a:ea typeface="方正大黑简体" pitchFamily="65" charset="-122"/>
              </a:rPr>
              <a:t>33K</a:t>
            </a:r>
          </a:p>
        </p:txBody>
      </p:sp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5564188" y="4449911"/>
            <a:ext cx="793750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kumimoji="1" lang="en-US" altLang="zh-CN" sz="3200">
                <a:solidFill>
                  <a:srgbClr val="FF0000"/>
                </a:solidFill>
                <a:latin typeface="方正大黑简体" pitchFamily="65" charset="-122"/>
                <a:ea typeface="方正大黑简体" pitchFamily="65" charset="-122"/>
              </a:rPr>
              <a:t>15K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331640" y="711101"/>
            <a:ext cx="53292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数据冗余</a:t>
            </a:r>
          </a:p>
        </p:txBody>
      </p:sp>
    </p:spTree>
    <p:extLst>
      <p:ext uri="{BB962C8B-B14F-4D97-AF65-F5344CB8AC3E}">
        <p14:creationId xmlns:p14="http://schemas.microsoft.com/office/powerpoint/2010/main" val="364607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7" grpId="0" animBg="1" autoUpdateAnimBg="0"/>
      <p:bldP spid="5632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403648" y="711101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4.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图像压缩的目的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827088" y="1693565"/>
            <a:ext cx="7272337" cy="215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0" hangingPunct="0">
              <a:lnSpc>
                <a:spcPct val="130000"/>
              </a:lnSpc>
            </a:pPr>
            <a:r>
              <a:rPr kumimoji="1" lang="en-US" altLang="zh-CN" sz="2600" b="1" dirty="0">
                <a:latin typeface="宋体" pitchFamily="2" charset="-122"/>
              </a:rPr>
              <a:t>    </a:t>
            </a:r>
            <a:r>
              <a:rPr kumimoji="1" lang="zh-CN" altLang="en-US" sz="2600" b="1" dirty="0">
                <a:latin typeface="宋体" pitchFamily="2" charset="-122"/>
              </a:rPr>
              <a:t>图像数据压缩的目的是在满足一定图像质量</a:t>
            </a:r>
          </a:p>
          <a:p>
            <a:pPr algn="just" eaLnBrk="0" hangingPunct="0">
              <a:lnSpc>
                <a:spcPct val="130000"/>
              </a:lnSpc>
            </a:pPr>
            <a:r>
              <a:rPr kumimoji="1" lang="zh-CN" altLang="en-US" sz="2600" b="1" dirty="0">
                <a:latin typeface="宋体" pitchFamily="2" charset="-122"/>
              </a:rPr>
              <a:t>条件下，用尽可能少的比特数来表示原始图像，</a:t>
            </a:r>
          </a:p>
          <a:p>
            <a:pPr algn="just" eaLnBrk="0" hangingPunct="0">
              <a:lnSpc>
                <a:spcPct val="130000"/>
              </a:lnSpc>
            </a:pPr>
            <a:r>
              <a:rPr kumimoji="1" lang="zh-CN" altLang="en-US" sz="2600" b="1" dirty="0">
                <a:latin typeface="宋体" pitchFamily="2" charset="-122"/>
              </a:rPr>
              <a:t>以提高图像传输的效率和减少图像存储的容量。</a:t>
            </a:r>
          </a:p>
          <a:p>
            <a:pPr algn="just" eaLnBrk="0" hangingPunct="0">
              <a:lnSpc>
                <a:spcPct val="130000"/>
              </a:lnSpc>
            </a:pPr>
            <a:r>
              <a:rPr kumimoji="1" lang="zh-CN" altLang="en-US" sz="2600" b="1" dirty="0">
                <a:latin typeface="宋体" pitchFamily="2" charset="-122"/>
              </a:rPr>
              <a:t>在信息论中称为信源编码。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827088" y="3925590"/>
            <a:ext cx="7345362" cy="267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0" hangingPunct="0">
              <a:lnSpc>
                <a:spcPct val="130000"/>
              </a:lnSpc>
            </a:pPr>
            <a:r>
              <a:rPr kumimoji="1" lang="en-US" altLang="zh-CN" sz="2600" b="1">
                <a:latin typeface="宋体" pitchFamily="2" charset="-122"/>
              </a:rPr>
              <a:t>   </a:t>
            </a:r>
            <a:r>
              <a:rPr kumimoji="1" lang="zh-CN" altLang="en-US" sz="2600" b="1">
                <a:latin typeface="宋体" pitchFamily="2" charset="-122"/>
              </a:rPr>
              <a:t>图像从结构上大体上可分为两大类，一类是具有一定图形特征的结构，另一类是具有一定概率统计特性的结构。</a:t>
            </a:r>
          </a:p>
          <a:p>
            <a:pPr algn="just" eaLnBrk="0" hangingPunct="0">
              <a:lnSpc>
                <a:spcPct val="130000"/>
              </a:lnSpc>
            </a:pPr>
            <a:r>
              <a:rPr kumimoji="1" lang="zh-CN" altLang="en-US" sz="2600" b="1">
                <a:latin typeface="宋体" pitchFamily="2" charset="-122"/>
              </a:rPr>
              <a:t>   基于不同的图像结构特性，应采用不同的压缩编码方法。</a:t>
            </a:r>
          </a:p>
        </p:txBody>
      </p:sp>
    </p:spTree>
    <p:extLst>
      <p:ext uri="{BB962C8B-B14F-4D97-AF65-F5344CB8AC3E}">
        <p14:creationId xmlns:p14="http://schemas.microsoft.com/office/powerpoint/2010/main" val="254470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build="p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971550" y="783109"/>
            <a:ext cx="7902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5.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图像数据压缩技术的重要指标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395536" y="1989807"/>
            <a:ext cx="8534400" cy="137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宋体" pitchFamily="2" charset="-122"/>
              </a:rPr>
              <a:t>（</a:t>
            </a:r>
            <a:r>
              <a:rPr lang="en-US" altLang="zh-CN" sz="2800" b="1" dirty="0">
                <a:latin typeface="宋体" pitchFamily="2" charset="-122"/>
              </a:rPr>
              <a:t>1</a:t>
            </a:r>
            <a:r>
              <a:rPr lang="zh-CN" altLang="en-US" sz="2800" b="1" dirty="0">
                <a:latin typeface="宋体" pitchFamily="2" charset="-122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压缩比</a:t>
            </a:r>
            <a:r>
              <a:rPr lang="zh-CN" altLang="en-US" sz="2800" b="1" dirty="0">
                <a:latin typeface="宋体" pitchFamily="2" charset="-122"/>
              </a:rPr>
              <a:t>：图像压缩前后所需的信息存储量之比，压缩比越大越好。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397124" y="3501107"/>
            <a:ext cx="7993062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>
                <a:latin typeface="宋体" pitchFamily="2" charset="-122"/>
              </a:rPr>
              <a:t>（</a:t>
            </a:r>
            <a:r>
              <a:rPr lang="en-US" altLang="zh-CN" sz="2800" b="1">
                <a:latin typeface="宋体" pitchFamily="2" charset="-122"/>
              </a:rPr>
              <a:t>2</a:t>
            </a:r>
            <a:r>
              <a:rPr lang="zh-CN" altLang="en-US" sz="2800" b="1">
                <a:latin typeface="宋体" pitchFamily="2" charset="-122"/>
              </a:rPr>
              <a:t>）</a:t>
            </a:r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压缩算法</a:t>
            </a:r>
            <a:r>
              <a:rPr lang="zh-CN" altLang="en-US" sz="2800" b="1">
                <a:latin typeface="宋体" pitchFamily="2" charset="-122"/>
              </a:rPr>
              <a:t>：利用不同的编码方式，实现对图像的数据压缩。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latin typeface="宋体" pitchFamily="2" charset="-122"/>
              </a:rPr>
              <a:t>（</a:t>
            </a:r>
            <a:r>
              <a:rPr lang="en-US" altLang="zh-CN" sz="2800" b="1">
                <a:latin typeface="宋体" pitchFamily="2" charset="-122"/>
              </a:rPr>
              <a:t>3</a:t>
            </a:r>
            <a:r>
              <a:rPr lang="zh-CN" altLang="en-US" sz="2800" b="1">
                <a:latin typeface="宋体" pitchFamily="2" charset="-122"/>
              </a:rPr>
              <a:t>）</a:t>
            </a:r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</a:rPr>
              <a:t>失真性</a:t>
            </a:r>
            <a:r>
              <a:rPr lang="zh-CN" altLang="en-US" sz="2800" b="1">
                <a:latin typeface="宋体" pitchFamily="2" charset="-122"/>
              </a:rPr>
              <a:t>：压缩前后图像存在的误差大小。</a:t>
            </a:r>
          </a:p>
        </p:txBody>
      </p:sp>
    </p:spTree>
    <p:extLst>
      <p:ext uri="{BB962C8B-B14F-4D97-AF65-F5344CB8AC3E}">
        <p14:creationId xmlns:p14="http://schemas.microsoft.com/office/powerpoint/2010/main" val="335756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900113" y="1539205"/>
            <a:ext cx="7620000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0" hangingPunct="0">
              <a:lnSpc>
                <a:spcPct val="130000"/>
              </a:lnSpc>
              <a:spcAft>
                <a:spcPct val="50000"/>
              </a:spcAft>
            </a:pPr>
            <a:r>
              <a:rPr kumimoji="1" lang="en-US" altLang="zh-CN" sz="2800" b="1" dirty="0">
                <a:latin typeface="宋体" pitchFamily="2" charset="-122"/>
              </a:rPr>
              <a:t>     </a:t>
            </a:r>
            <a:r>
              <a:rPr kumimoji="1" lang="zh-CN" altLang="en-US" sz="2800" b="1" dirty="0">
                <a:latin typeface="宋体" pitchFamily="2" charset="-122"/>
              </a:rPr>
              <a:t>全面评价一种编码方法的优劣，除了看它的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编码效率</a:t>
            </a:r>
            <a:r>
              <a:rPr kumimoji="1" lang="zh-CN" altLang="en-US" sz="2800" b="1" dirty="0">
                <a:latin typeface="宋体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实时性</a:t>
            </a:r>
            <a:r>
              <a:rPr kumimoji="1" lang="zh-CN" altLang="en-US" sz="2800" b="1" dirty="0">
                <a:latin typeface="宋体" pitchFamily="2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失真度</a:t>
            </a:r>
            <a:r>
              <a:rPr kumimoji="1" lang="zh-CN" altLang="en-US" sz="2800" b="1" dirty="0">
                <a:latin typeface="宋体" pitchFamily="2" charset="-122"/>
              </a:rPr>
              <a:t>以外，还要看它的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设备复杂程度</a:t>
            </a:r>
            <a:r>
              <a:rPr kumimoji="1" lang="zh-CN" altLang="en-US" sz="2800" b="1" dirty="0">
                <a:latin typeface="宋体" pitchFamily="2" charset="-122"/>
              </a:rPr>
              <a:t>，是否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经济与实用</a:t>
            </a:r>
            <a:r>
              <a:rPr kumimoji="1" lang="zh-CN" altLang="en-US" sz="2800" b="1" dirty="0">
                <a:latin typeface="宋体" pitchFamily="2" charset="-122"/>
              </a:rPr>
              <a:t>。</a:t>
            </a:r>
          </a:p>
          <a:p>
            <a:pPr algn="just" eaLnBrk="0" hangingPunct="0">
              <a:lnSpc>
                <a:spcPct val="130000"/>
              </a:lnSpc>
              <a:spcAft>
                <a:spcPct val="50000"/>
              </a:spcAft>
            </a:pPr>
            <a:r>
              <a:rPr kumimoji="1" lang="zh-CN" altLang="en-US" sz="2800" b="1" dirty="0">
                <a:latin typeface="宋体" pitchFamily="2" charset="-122"/>
              </a:rPr>
              <a:t>    常采用混合编码的方案，以求在性能和经济上取得折衷。</a:t>
            </a:r>
          </a:p>
          <a:p>
            <a:pPr algn="just" eaLnBrk="0" hangingPunct="0">
              <a:lnSpc>
                <a:spcPct val="130000"/>
              </a:lnSpc>
              <a:spcAft>
                <a:spcPct val="50000"/>
              </a:spcAft>
            </a:pPr>
            <a:r>
              <a:rPr kumimoji="1" lang="zh-CN" altLang="en-US" sz="2800" b="1" dirty="0">
                <a:latin typeface="宋体" pitchFamily="2" charset="-122"/>
              </a:rPr>
              <a:t>    随着计算方法的发展，使许多高效而又比较复杂的编码方法在工程上有实现的可能。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71550" y="783109"/>
            <a:ext cx="7902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5.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图像数据压缩技术的重要指标</a:t>
            </a:r>
          </a:p>
        </p:txBody>
      </p:sp>
    </p:spTree>
    <p:extLst>
      <p:ext uri="{BB962C8B-B14F-4D97-AF65-F5344CB8AC3E}">
        <p14:creationId xmlns:p14="http://schemas.microsoft.com/office/powerpoint/2010/main" val="421466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1403350" y="711101"/>
            <a:ext cx="7161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6.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图像编码中的保真度准则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1116013" y="1482750"/>
            <a:ext cx="7508875" cy="475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spcAft>
                <a:spcPct val="50000"/>
              </a:spcAft>
            </a:pPr>
            <a:r>
              <a:rPr kumimoji="1" lang="en-US" altLang="zh-CN" sz="2800" b="1" dirty="0">
                <a:latin typeface="宋体" pitchFamily="2" charset="-122"/>
              </a:rPr>
              <a:t>   </a:t>
            </a:r>
            <a:r>
              <a:rPr kumimoji="1" lang="zh-CN" altLang="en-US" sz="2800" b="1" dirty="0">
                <a:latin typeface="宋体" pitchFamily="2" charset="-122"/>
              </a:rPr>
              <a:t>图像信号在编码和传输过程中会产生误差，</a:t>
            </a:r>
          </a:p>
          <a:p>
            <a:pPr>
              <a:lnSpc>
                <a:spcPct val="140000"/>
              </a:lnSpc>
              <a:spcAft>
                <a:spcPct val="50000"/>
              </a:spcAft>
            </a:pPr>
            <a:r>
              <a:rPr kumimoji="1" lang="zh-CN" altLang="en-US" sz="2800" b="1" dirty="0">
                <a:latin typeface="宋体" pitchFamily="2" charset="-122"/>
              </a:rPr>
              <a:t>尤其是在有损压缩编码中，产生的误差应在</a:t>
            </a:r>
          </a:p>
          <a:p>
            <a:pPr>
              <a:lnSpc>
                <a:spcPct val="140000"/>
              </a:lnSpc>
              <a:spcAft>
                <a:spcPct val="50000"/>
              </a:spcAft>
            </a:pPr>
            <a:r>
              <a:rPr kumimoji="1" lang="zh-CN" altLang="en-US" sz="2800" b="1" dirty="0">
                <a:latin typeface="宋体" pitchFamily="2" charset="-122"/>
              </a:rPr>
              <a:t>允许的范围之内。在这种情况下，保真度准</a:t>
            </a:r>
          </a:p>
          <a:p>
            <a:pPr>
              <a:lnSpc>
                <a:spcPct val="140000"/>
              </a:lnSpc>
              <a:spcAft>
                <a:spcPct val="50000"/>
              </a:spcAft>
            </a:pPr>
            <a:r>
              <a:rPr kumimoji="1" lang="zh-CN" altLang="en-US" sz="2800" b="1" dirty="0">
                <a:latin typeface="宋体" pitchFamily="2" charset="-122"/>
              </a:rPr>
              <a:t>则可以用来衡量编码方法或系统质量的优劣。</a:t>
            </a:r>
          </a:p>
          <a:p>
            <a:pPr>
              <a:lnSpc>
                <a:spcPct val="140000"/>
              </a:lnSpc>
              <a:spcAft>
                <a:spcPct val="50000"/>
              </a:spcAft>
            </a:pPr>
            <a:r>
              <a:rPr kumimoji="1" lang="zh-CN" altLang="en-US" sz="2800" b="1" dirty="0">
                <a:latin typeface="宋体" pitchFamily="2" charset="-122"/>
              </a:rPr>
              <a:t>通常，这种衡量的尺度可分为</a:t>
            </a:r>
            <a:r>
              <a:rPr kumimoji="1" lang="zh-CN" altLang="en-US" sz="28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客观保真度准</a:t>
            </a:r>
          </a:p>
          <a:p>
            <a:pPr>
              <a:lnSpc>
                <a:spcPct val="140000"/>
              </a:lnSpc>
              <a:spcAft>
                <a:spcPct val="50000"/>
              </a:spcAft>
            </a:pPr>
            <a:r>
              <a:rPr kumimoji="1" lang="zh-CN" altLang="en-US" sz="28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则</a:t>
            </a:r>
            <a:r>
              <a:rPr kumimoji="1" lang="zh-CN" altLang="en-US" sz="2800" b="1" dirty="0">
                <a:latin typeface="宋体" pitchFamily="2" charset="-122"/>
              </a:rPr>
              <a:t>和</a:t>
            </a:r>
            <a:r>
              <a:rPr kumimoji="1" lang="zh-CN" altLang="en-US" sz="28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主观保真度准则</a:t>
            </a:r>
            <a:r>
              <a:rPr kumimoji="1" lang="zh-CN" altLang="en-US" sz="2800" b="1" dirty="0">
                <a:latin typeface="宋体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7200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468313" y="2523473"/>
            <a:ext cx="8208962" cy="3569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ct val="50000"/>
              </a:spcAft>
              <a:buFont typeface="Wingdings" pitchFamily="2" charset="2"/>
              <a:buNone/>
            </a:pPr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通常使用的客观保真度准则有输入图像和输出图像的</a:t>
            </a:r>
            <a:r>
              <a:rPr kumimoji="1" lang="zh-CN" altLang="en-US" sz="24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均方根误差</a:t>
            </a:r>
            <a:r>
              <a:rPr kumimoji="1" lang="zh-CN" altLang="en-US" sz="2400" b="1" dirty="0">
                <a:latin typeface="宋体" pitchFamily="2" charset="-122"/>
              </a:rPr>
              <a:t>；输入图像和输出图像的</a:t>
            </a:r>
            <a:r>
              <a:rPr kumimoji="1" lang="zh-CN" altLang="en-US" sz="24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均方根信噪比</a:t>
            </a:r>
            <a:r>
              <a:rPr kumimoji="1" lang="zh-CN" altLang="en-US" sz="2400" b="1" dirty="0">
                <a:latin typeface="宋体" pitchFamily="2" charset="-122"/>
              </a:rPr>
              <a:t>两种。</a:t>
            </a:r>
          </a:p>
          <a:p>
            <a:pPr>
              <a:lnSpc>
                <a:spcPct val="130000"/>
              </a:lnSpc>
              <a:spcAft>
                <a:spcPct val="50000"/>
              </a:spcAft>
            </a:pPr>
            <a:r>
              <a:rPr kumimoji="1" lang="zh-CN" altLang="en-US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均方根误差</a:t>
            </a:r>
            <a:r>
              <a:rPr kumimoji="1" lang="en-US" altLang="zh-CN" sz="24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kumimoji="1" lang="en-US" altLang="zh-CN" sz="2400" b="1" dirty="0">
                <a:latin typeface="宋体" pitchFamily="2" charset="-122"/>
              </a:rPr>
              <a:t> </a:t>
            </a:r>
            <a:r>
              <a:rPr kumimoji="1" lang="zh-CN" altLang="en-US" sz="2400" b="1" dirty="0">
                <a:latin typeface="宋体" pitchFamily="2" charset="-122"/>
              </a:rPr>
              <a:t>设输入图像是由</a:t>
            </a:r>
            <a:r>
              <a:rPr kumimoji="1" lang="en-US" altLang="zh-CN" sz="2400" b="1" dirty="0">
                <a:latin typeface="宋体" pitchFamily="2" charset="-122"/>
              </a:rPr>
              <a:t>N×N</a:t>
            </a:r>
            <a:r>
              <a:rPr kumimoji="1" lang="zh-CN" altLang="en-US" sz="2400" b="1" dirty="0">
                <a:latin typeface="宋体" pitchFamily="2" charset="-122"/>
              </a:rPr>
              <a:t>个像素组成，令其为</a:t>
            </a:r>
            <a:r>
              <a:rPr kumimoji="1" lang="en-US" altLang="zh-CN" sz="2400" b="1" dirty="0">
                <a:latin typeface="宋体" pitchFamily="2" charset="-122"/>
              </a:rPr>
              <a:t>f (x ,y)</a:t>
            </a:r>
            <a:r>
              <a:rPr kumimoji="1" lang="zh-CN" altLang="en-US" sz="2400" b="1" dirty="0">
                <a:latin typeface="宋体" pitchFamily="2" charset="-122"/>
              </a:rPr>
              <a:t>，其中</a:t>
            </a:r>
            <a:r>
              <a:rPr kumimoji="1" lang="en-US" altLang="zh-CN" sz="2400" b="1" dirty="0">
                <a:latin typeface="宋体" pitchFamily="2" charset="-122"/>
              </a:rPr>
              <a:t>x ,y=0,1,2,…,N-1</a:t>
            </a:r>
            <a:r>
              <a:rPr kumimoji="1" lang="zh-CN" altLang="en-US" sz="2400" b="1" dirty="0">
                <a:latin typeface="宋体" pitchFamily="2" charset="-122"/>
              </a:rPr>
              <a:t>。这样一幅图像经过压缩编码处理后，送至受信端，再经译码处理，重建原来图像，这里令重建图像为</a:t>
            </a:r>
            <a:r>
              <a:rPr kumimoji="1" lang="en-US" altLang="zh-CN" sz="2400" b="1" dirty="0">
                <a:latin typeface="宋体" pitchFamily="2" charset="-122"/>
              </a:rPr>
              <a:t>g (x ,y)</a:t>
            </a:r>
            <a:r>
              <a:rPr kumimoji="1" lang="zh-CN" altLang="en-US" sz="2400" b="1" dirty="0">
                <a:latin typeface="宋体" pitchFamily="2" charset="-122"/>
              </a:rPr>
              <a:t>。它同样包含</a:t>
            </a:r>
            <a:r>
              <a:rPr kumimoji="1" lang="en-US" altLang="zh-CN" sz="2400" b="1" dirty="0">
                <a:latin typeface="宋体" pitchFamily="2" charset="-122"/>
              </a:rPr>
              <a:t>N×N</a:t>
            </a:r>
            <a:r>
              <a:rPr kumimoji="1" lang="zh-CN" altLang="en-US" sz="2400" b="1" dirty="0">
                <a:latin typeface="宋体" pitchFamily="2" charset="-122"/>
              </a:rPr>
              <a:t>个像素，并且</a:t>
            </a:r>
            <a:r>
              <a:rPr kumimoji="1" lang="en-US" altLang="zh-CN" sz="2400" b="1" dirty="0">
                <a:latin typeface="宋体" pitchFamily="2" charset="-122"/>
              </a:rPr>
              <a:t>x ,y=0,1,2,…,N-1</a:t>
            </a:r>
            <a:r>
              <a:rPr kumimoji="1"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900113" y="1697434"/>
            <a:ext cx="4464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1" lang="en-US" altLang="zh-CN" sz="3200" b="1" dirty="0">
                <a:latin typeface="黑体" pitchFamily="2" charset="-122"/>
                <a:ea typeface="黑体" pitchFamily="2" charset="-122"/>
              </a:rPr>
              <a:t>(1) </a:t>
            </a:r>
            <a:r>
              <a:rPr kumimoji="1" lang="zh-CN" altLang="en-US" sz="3200" b="1" dirty="0">
                <a:latin typeface="黑体" pitchFamily="2" charset="-122"/>
                <a:ea typeface="黑体" pitchFamily="2" charset="-122"/>
              </a:rPr>
              <a:t>客观保真度准则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403350" y="711101"/>
            <a:ext cx="7161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6.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图像编码中的保真度准则</a:t>
            </a:r>
          </a:p>
        </p:txBody>
      </p:sp>
    </p:spTree>
    <p:extLst>
      <p:ext uri="{BB962C8B-B14F-4D97-AF65-F5344CB8AC3E}">
        <p14:creationId xmlns:p14="http://schemas.microsoft.com/office/powerpoint/2010/main" val="49060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971600" y="1674316"/>
            <a:ext cx="82296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宋体" pitchFamily="2" charset="-122"/>
              </a:rPr>
              <a:t>在</a:t>
            </a:r>
            <a:r>
              <a:rPr kumimoji="1" lang="en-US" altLang="zh-CN" sz="2400" b="1" dirty="0">
                <a:latin typeface="宋体" pitchFamily="2" charset="-122"/>
              </a:rPr>
              <a:t>0,1,2,…,N-1</a:t>
            </a:r>
            <a:r>
              <a:rPr kumimoji="1" lang="zh-CN" altLang="en-US" sz="2400" b="1" dirty="0">
                <a:latin typeface="宋体" pitchFamily="2" charset="-122"/>
              </a:rPr>
              <a:t>范围内</a:t>
            </a:r>
            <a:r>
              <a:rPr kumimoji="1" lang="en-US" altLang="zh-CN" sz="2400" b="1" dirty="0" err="1">
                <a:latin typeface="宋体" pitchFamily="2" charset="-122"/>
              </a:rPr>
              <a:t>x,y</a:t>
            </a:r>
            <a:r>
              <a:rPr kumimoji="1" lang="zh-CN" altLang="en-US" sz="2400" b="1" dirty="0">
                <a:latin typeface="宋体" pitchFamily="2" charset="-122"/>
              </a:rPr>
              <a:t>的任意值，输入像素和对应的输出图像之间的误差可用下式表示：</a:t>
            </a:r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416862"/>
              </p:ext>
            </p:extLst>
          </p:nvPr>
        </p:nvGraphicFramePr>
        <p:xfrm>
          <a:off x="4741913" y="2085478"/>
          <a:ext cx="36988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3" imgW="101520" imgH="152280" progId="Equation.DSMT4">
                  <p:embed/>
                </p:oleObj>
              </mc:Choice>
              <mc:Fallback>
                <p:oleObj name="Equation" r:id="rId3" imgW="10152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913" y="2085478"/>
                        <a:ext cx="369887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971600" y="3547864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2400" b="1">
                <a:latin typeface="宋体" pitchFamily="2" charset="-122"/>
              </a:rPr>
              <a:t>而包含</a:t>
            </a:r>
            <a:r>
              <a:rPr kumimoji="1" lang="en-US" altLang="zh-CN" sz="2400" b="1">
                <a:latin typeface="宋体" pitchFamily="2" charset="-122"/>
              </a:rPr>
              <a:t>N×N</a:t>
            </a:r>
            <a:r>
              <a:rPr kumimoji="1" lang="zh-CN" altLang="en-US" sz="2400" b="1">
                <a:latin typeface="宋体" pitchFamily="2" charset="-122"/>
              </a:rPr>
              <a:t>像素的图像之均方误差为</a:t>
            </a:r>
            <a:r>
              <a:rPr kumimoji="1" lang="en-US" altLang="zh-CN" sz="2400" b="1">
                <a:latin typeface="宋体" pitchFamily="2" charset="-122"/>
              </a:rPr>
              <a:t>:</a:t>
            </a:r>
          </a:p>
        </p:txBody>
      </p:sp>
      <p:graphicFrame>
        <p:nvGraphicFramePr>
          <p:cNvPr id="624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431589"/>
              </p:ext>
            </p:extLst>
          </p:nvPr>
        </p:nvGraphicFramePr>
        <p:xfrm>
          <a:off x="827584" y="4250283"/>
          <a:ext cx="331311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公式" r:id="rId5" imgW="1396800" imgH="444240" progId="Equation.3">
                  <p:embed/>
                </p:oleObj>
              </mc:Choice>
              <mc:Fallback>
                <p:oleObj name="公式" r:id="rId5" imgW="13968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250283"/>
                        <a:ext cx="3313112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651410"/>
              </p:ext>
            </p:extLst>
          </p:nvPr>
        </p:nvGraphicFramePr>
        <p:xfrm>
          <a:off x="4067944" y="4200500"/>
          <a:ext cx="46085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公式" r:id="rId7" imgW="1930320" imgH="431640" progId="Equation.3">
                  <p:embed/>
                </p:oleObj>
              </mc:Choice>
              <mc:Fallback>
                <p:oleObj name="公式" r:id="rId7" imgW="1930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200500"/>
                        <a:ext cx="460851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1043608" y="549208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由式可得到均方根误差为</a:t>
            </a:r>
          </a:p>
        </p:txBody>
      </p:sp>
      <p:graphicFrame>
        <p:nvGraphicFramePr>
          <p:cNvPr id="624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517399"/>
              </p:ext>
            </p:extLst>
          </p:nvPr>
        </p:nvGraphicFramePr>
        <p:xfrm>
          <a:off x="3348088" y="5923235"/>
          <a:ext cx="2449512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公式" r:id="rId9" imgW="787320" imgH="241200" progId="Equation.3">
                  <p:embed/>
                </p:oleObj>
              </mc:Choice>
              <mc:Fallback>
                <p:oleObj name="公式" r:id="rId9" imgW="7873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88" y="5923235"/>
                        <a:ext cx="2449512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214480"/>
              </p:ext>
            </p:extLst>
          </p:nvPr>
        </p:nvGraphicFramePr>
        <p:xfrm>
          <a:off x="2555925" y="2760662"/>
          <a:ext cx="4681538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" name="Equation" r:id="rId11" imgW="1333440" imgH="190440" progId="Equation.DSMT4">
                  <p:embed/>
                </p:oleObj>
              </mc:Choice>
              <mc:Fallback>
                <p:oleObj name="Equation" r:id="rId11" imgW="13334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925" y="2760662"/>
                        <a:ext cx="4681538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403350" y="711101"/>
            <a:ext cx="7161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6.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图像编码中的保真度准则</a:t>
            </a:r>
          </a:p>
        </p:txBody>
      </p:sp>
    </p:spTree>
    <p:extLst>
      <p:ext uri="{BB962C8B-B14F-4D97-AF65-F5344CB8AC3E}">
        <p14:creationId xmlns:p14="http://schemas.microsoft.com/office/powerpoint/2010/main" val="45395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827088" y="1573857"/>
            <a:ext cx="79216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2400" b="1">
                <a:latin typeface="宋体" pitchFamily="2" charset="-122"/>
              </a:rPr>
              <a:t>   </a:t>
            </a:r>
            <a:r>
              <a:rPr kumimoji="1" lang="zh-CN" altLang="en-US" sz="2400" b="1">
                <a:latin typeface="宋体" pitchFamily="2" charset="-122"/>
              </a:rPr>
              <a:t>如果把输入、输出图像间的误差看作是噪声，那么，重建图像</a:t>
            </a:r>
            <a:r>
              <a:rPr kumimoji="1" lang="en-US" altLang="zh-CN" sz="2400" b="1">
                <a:latin typeface="宋体" pitchFamily="2" charset="-122"/>
              </a:rPr>
              <a:t>g(x,y)</a:t>
            </a:r>
            <a:r>
              <a:rPr kumimoji="1" lang="zh-CN" altLang="en-US" sz="2400" b="1">
                <a:latin typeface="宋体" pitchFamily="2" charset="-122"/>
              </a:rPr>
              <a:t>可由下式表示：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362713"/>
              </p:ext>
            </p:extLst>
          </p:nvPr>
        </p:nvGraphicFramePr>
        <p:xfrm>
          <a:off x="2484438" y="2581920"/>
          <a:ext cx="439102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公式" r:id="rId3" imgW="1587240" imgH="203040" progId="Equation.3">
                  <p:embed/>
                </p:oleObj>
              </mc:Choice>
              <mc:Fallback>
                <p:oleObj name="公式" r:id="rId3" imgW="1587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581920"/>
                        <a:ext cx="439102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755650" y="3085157"/>
            <a:ext cx="7704138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       </a:t>
            </a:r>
            <a:r>
              <a:rPr kumimoji="1" lang="zh-CN" altLang="en-US" sz="2400" b="1">
                <a:latin typeface="Times New Roman" pitchFamily="18" charset="0"/>
              </a:rPr>
              <a:t>在这种情况下，另一个客观保真度准则</a:t>
            </a:r>
            <a:r>
              <a:rPr kumimoji="1" lang="en-US" altLang="zh-CN" sz="2400" b="1">
                <a:latin typeface="宋体"/>
              </a:rPr>
              <a:t>——</a:t>
            </a:r>
            <a:r>
              <a:rPr kumimoji="1" lang="zh-CN" altLang="en-US" sz="2400" b="1">
                <a:latin typeface="Times New Roman" pitchFamily="18" charset="0"/>
              </a:rPr>
              <a:t>重建图像的均方信噪比如下式表示：</a:t>
            </a:r>
          </a:p>
        </p:txBody>
      </p:sp>
      <p:graphicFrame>
        <p:nvGraphicFramePr>
          <p:cNvPr id="634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244163"/>
              </p:ext>
            </p:extLst>
          </p:nvPr>
        </p:nvGraphicFramePr>
        <p:xfrm>
          <a:off x="1691680" y="4437112"/>
          <a:ext cx="542925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Equation" r:id="rId5" imgW="2806560" imgH="749160" progId="Equation.DSMT4">
                  <p:embed/>
                </p:oleObj>
              </mc:Choice>
              <mc:Fallback>
                <p:oleObj name="Equation" r:id="rId5" imgW="280656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437112"/>
                        <a:ext cx="542925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03350" y="711101"/>
            <a:ext cx="7161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6.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图像编码中的保真度准则</a:t>
            </a:r>
          </a:p>
        </p:txBody>
      </p:sp>
    </p:spTree>
    <p:extLst>
      <p:ext uri="{BB962C8B-B14F-4D97-AF65-F5344CB8AC3E}">
        <p14:creationId xmlns:p14="http://schemas.microsoft.com/office/powerpoint/2010/main" val="191695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755576" y="2279944"/>
            <a:ext cx="8136830" cy="3813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kumimoji="1" lang="zh-CN" altLang="en-US" sz="2600" b="1" dirty="0" smtClean="0">
                <a:latin typeface="宋体" pitchFamily="2" charset="-122"/>
              </a:rPr>
              <a:t>图像处理</a:t>
            </a:r>
            <a:r>
              <a:rPr kumimoji="1" lang="zh-CN" altLang="en-US" sz="2600" b="1" dirty="0">
                <a:latin typeface="宋体" pitchFamily="2" charset="-122"/>
              </a:rPr>
              <a:t>的结果</a:t>
            </a:r>
            <a:r>
              <a:rPr kumimoji="1" lang="en-US" altLang="zh-CN" sz="2600" b="1" dirty="0">
                <a:latin typeface="宋体" pitchFamily="2" charset="-122"/>
              </a:rPr>
              <a:t>,</a:t>
            </a:r>
            <a:r>
              <a:rPr kumimoji="1" lang="zh-CN" altLang="en-US" sz="2600" b="1" dirty="0">
                <a:latin typeface="宋体" pitchFamily="2" charset="-122"/>
              </a:rPr>
              <a:t>大多是给人观看，由研究人员来解释的，因此，图像质量的好坏，既与图像本身的客观质量有关，也与视觉系统的特性有关。</a:t>
            </a:r>
          </a:p>
          <a:p>
            <a:pPr>
              <a:lnSpc>
                <a:spcPct val="130000"/>
              </a:lnSpc>
              <a:spcAft>
                <a:spcPct val="20000"/>
              </a:spcAft>
            </a:pPr>
            <a:r>
              <a:rPr kumimoji="1" lang="zh-CN" altLang="en-US" sz="2600" b="1" dirty="0" smtClean="0">
                <a:latin typeface="宋体" pitchFamily="2" charset="-122"/>
              </a:rPr>
              <a:t>有时候</a:t>
            </a:r>
            <a:r>
              <a:rPr kumimoji="1" lang="zh-CN" altLang="en-US" sz="2600" b="1" dirty="0">
                <a:latin typeface="宋体" pitchFamily="2" charset="-122"/>
              </a:rPr>
              <a:t>，客观保真度完全一样的两幅图像可能会有完全不相同的视觉质量，所以又规定了主观保真度准则，这种方法是把图像显示给观察者，然后把评价结果加以平均，以此来评价一幅图像的主观质量。    </a:t>
            </a: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1043483" y="1506364"/>
            <a:ext cx="4392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kumimoji="1" lang="en-US" altLang="zh-CN" sz="3200" b="1" dirty="0">
                <a:latin typeface="黑体" pitchFamily="2" charset="-122"/>
                <a:ea typeface="黑体" pitchFamily="2" charset="-122"/>
              </a:rPr>
              <a:t>(2) </a:t>
            </a:r>
            <a:r>
              <a:rPr kumimoji="1" lang="zh-CN" altLang="en-US" sz="3200" b="1" dirty="0">
                <a:latin typeface="黑体" pitchFamily="2" charset="-122"/>
                <a:ea typeface="黑体" pitchFamily="2" charset="-122"/>
              </a:rPr>
              <a:t>主观保真度准则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403350" y="711101"/>
            <a:ext cx="7161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6.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图像编码中的保真度准则</a:t>
            </a:r>
          </a:p>
        </p:txBody>
      </p:sp>
    </p:spTree>
    <p:extLst>
      <p:ext uri="{BB962C8B-B14F-4D97-AF65-F5344CB8AC3E}">
        <p14:creationId xmlns:p14="http://schemas.microsoft.com/office/powerpoint/2010/main" val="386422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77" name="Group 45"/>
          <p:cNvGraphicFramePr>
            <a:graphicFrameLocks noGrp="1"/>
          </p:cNvGraphicFramePr>
          <p:nvPr/>
        </p:nvGraphicFramePr>
        <p:xfrm>
          <a:off x="539750" y="2349500"/>
          <a:ext cx="8135938" cy="3816352"/>
        </p:xfrm>
        <a:graphic>
          <a:graphicData uri="http://schemas.openxmlformats.org/drawingml/2006/table">
            <a:tbl>
              <a:tblPr/>
              <a:tblGrid>
                <a:gridCol w="795338"/>
                <a:gridCol w="1211262"/>
                <a:gridCol w="6129338"/>
              </a:tblGrid>
              <a:tr h="544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评分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评价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说明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优秀的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优秀的具有极高质量的图像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好的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是可供观赏的高质量的图像，干扰并不令人讨厌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可通过的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     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图像质量可以接受，干扰不讨厌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边缘的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图像质量较低，希望能加以改善，干扰有些讨厌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劣等的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  <a:cs typeface="Times New Roman" pitchFamily="18" charset="0"/>
                        </a:rPr>
                        <a:t>图像质量很差，尚能观看，干扰显著地令人讨厌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不能用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图像质量非常之差，无法观看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678" name="Rectangle 46"/>
          <p:cNvSpPr>
            <a:spLocks noChangeArrowheads="1"/>
          </p:cNvSpPr>
          <p:nvPr/>
        </p:nvSpPr>
        <p:spPr bwMode="auto">
          <a:xfrm>
            <a:off x="2843213" y="1773238"/>
            <a:ext cx="41703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latin typeface="Times New Roman" pitchFamily="18" charset="0"/>
              </a:rPr>
              <a:t>表</a:t>
            </a:r>
            <a:r>
              <a:rPr lang="en-US" altLang="zh-CN" sz="2400" b="1">
                <a:latin typeface="宋体" pitchFamily="2" charset="-122"/>
              </a:rPr>
              <a:t>6.1 </a:t>
            </a:r>
            <a:r>
              <a:rPr lang="zh-CN" altLang="en-US" sz="2400" b="1">
                <a:latin typeface="Times New Roman" pitchFamily="18" charset="0"/>
              </a:rPr>
              <a:t>电视图像质量评价尺度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03350" y="711101"/>
            <a:ext cx="7161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6.</a:t>
            </a:r>
            <a:r>
              <a:rPr lang="zh-CN" altLang="en-US" sz="4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图像编码中的保真度准则</a:t>
            </a:r>
          </a:p>
        </p:txBody>
      </p:sp>
    </p:spTree>
    <p:extLst>
      <p:ext uri="{BB962C8B-B14F-4D97-AF65-F5344CB8AC3E}">
        <p14:creationId xmlns:p14="http://schemas.microsoft.com/office/powerpoint/2010/main" val="217575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711101"/>
            <a:ext cx="3960812" cy="7016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7.</a:t>
            </a:r>
            <a:r>
              <a:rPr lang="zh-CN" altLang="en-US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信息论</a:t>
            </a:r>
            <a:endParaRPr lang="zh-CN" altLang="en-US" sz="4000" b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251520" y="2079890"/>
            <a:ext cx="8856984" cy="4013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latin typeface="宋体" pitchFamily="2" charset="-122"/>
              </a:rPr>
              <a:t>（一）、信源空间概述</a:t>
            </a:r>
            <a:br>
              <a:rPr kumimoji="1" lang="zh-CN" altLang="en-US" sz="2800" b="1" dirty="0">
                <a:latin typeface="宋体" pitchFamily="2" charset="-122"/>
              </a:rPr>
            </a:br>
            <a:r>
              <a:rPr kumimoji="1" lang="en-US" altLang="zh-CN" sz="2800" b="1" dirty="0">
                <a:latin typeface="宋体" pitchFamily="2" charset="-122"/>
              </a:rPr>
              <a:t>1</a:t>
            </a:r>
            <a:r>
              <a:rPr kumimoji="1" lang="zh-CN" altLang="en-US" sz="2800" b="1" dirty="0">
                <a:latin typeface="宋体" pitchFamily="2" charset="-122"/>
              </a:rPr>
              <a:t>、信息：事物运动状态或存在方式的不确定性的描述；</a:t>
            </a:r>
            <a:br>
              <a:rPr kumimoji="1" lang="zh-CN" altLang="en-US" sz="2800" b="1" dirty="0">
                <a:latin typeface="宋体" pitchFamily="2" charset="-122"/>
              </a:rPr>
            </a:br>
            <a:r>
              <a:rPr kumimoji="1" lang="en-US" altLang="zh-CN" sz="2800" b="1" dirty="0">
                <a:latin typeface="宋体" pitchFamily="2" charset="-122"/>
              </a:rPr>
              <a:t>2</a:t>
            </a:r>
            <a:r>
              <a:rPr kumimoji="1" lang="zh-CN" altLang="en-US" sz="2800" b="1" dirty="0">
                <a:latin typeface="宋体" pitchFamily="2" charset="-122"/>
              </a:rPr>
              <a:t>、信源空间：随机符号及其出现概率的空间；</a:t>
            </a:r>
            <a:br>
              <a:rPr kumimoji="1" lang="zh-CN" altLang="en-US" sz="2800" b="1" dirty="0">
                <a:latin typeface="宋体" pitchFamily="2" charset="-122"/>
              </a:rPr>
            </a:br>
            <a:r>
              <a:rPr kumimoji="1" lang="en-US" altLang="zh-CN" sz="2800" b="1" dirty="0">
                <a:latin typeface="宋体" pitchFamily="2" charset="-122"/>
              </a:rPr>
              <a:t>3</a:t>
            </a:r>
            <a:r>
              <a:rPr kumimoji="1" lang="zh-CN" altLang="en-US" sz="2800" b="1" dirty="0">
                <a:latin typeface="宋体" pitchFamily="2" charset="-122"/>
              </a:rPr>
              <a:t>、信源的分类：</a:t>
            </a:r>
            <a:br>
              <a:rPr kumimoji="1" lang="zh-CN" altLang="en-US" sz="2800" b="1" dirty="0">
                <a:latin typeface="宋体" pitchFamily="2" charset="-122"/>
              </a:rPr>
            </a:br>
            <a:r>
              <a:rPr kumimoji="1" lang="zh-CN" altLang="en-US" sz="2800" b="1" dirty="0">
                <a:latin typeface="宋体" pitchFamily="2" charset="-122"/>
              </a:rPr>
              <a:t>（</a:t>
            </a:r>
            <a:r>
              <a:rPr kumimoji="1" lang="en-US" altLang="zh-CN" sz="2800" b="1" dirty="0">
                <a:latin typeface="宋体" pitchFamily="2" charset="-122"/>
              </a:rPr>
              <a:t>1</a:t>
            </a:r>
            <a:r>
              <a:rPr kumimoji="1" lang="zh-CN" altLang="en-US" sz="2800" b="1" dirty="0">
                <a:latin typeface="宋体" pitchFamily="2" charset="-122"/>
              </a:rPr>
              <a:t>）连续信源</a:t>
            </a:r>
            <a:r>
              <a:rPr kumimoji="1" lang="en-US" altLang="zh-CN" sz="2800" b="1" dirty="0">
                <a:latin typeface="Times New Roman"/>
              </a:rPr>
              <a:t>—</a:t>
            </a:r>
            <a:r>
              <a:rPr kumimoji="1" lang="zh-CN" altLang="en-US" sz="2800" b="1" dirty="0">
                <a:latin typeface="宋体" pitchFamily="2" charset="-122"/>
              </a:rPr>
              <a:t>离散信源</a:t>
            </a:r>
            <a:r>
              <a:rPr kumimoji="1" lang="en-US" altLang="zh-CN" sz="2800" b="1" dirty="0">
                <a:latin typeface="Times New Roman"/>
              </a:rPr>
              <a:t>—</a:t>
            </a:r>
            <a:r>
              <a:rPr kumimoji="1" lang="zh-CN" altLang="en-US" sz="2800" b="1" dirty="0">
                <a:latin typeface="宋体" pitchFamily="2" charset="-122"/>
              </a:rPr>
              <a:t>混合信源；</a:t>
            </a:r>
            <a:br>
              <a:rPr kumimoji="1" lang="zh-CN" altLang="en-US" sz="2800" b="1" dirty="0">
                <a:latin typeface="宋体" pitchFamily="2" charset="-122"/>
              </a:rPr>
            </a:br>
            <a:r>
              <a:rPr kumimoji="1" lang="zh-CN" altLang="en-US" sz="2800" b="1" dirty="0">
                <a:latin typeface="宋体" pitchFamily="2" charset="-122"/>
              </a:rPr>
              <a:t>（</a:t>
            </a:r>
            <a:r>
              <a:rPr kumimoji="1" lang="en-US" altLang="zh-CN" sz="2800" b="1" dirty="0">
                <a:latin typeface="宋体" pitchFamily="2" charset="-122"/>
              </a:rPr>
              <a:t>2</a:t>
            </a:r>
            <a:r>
              <a:rPr kumimoji="1" lang="zh-CN" altLang="en-US" sz="2800" b="1" dirty="0">
                <a:latin typeface="宋体" pitchFamily="2" charset="-122"/>
              </a:rPr>
              <a:t>）无记忆信源</a:t>
            </a:r>
            <a:r>
              <a:rPr kumimoji="1" lang="en-US" altLang="zh-CN" sz="2800" b="1" dirty="0">
                <a:latin typeface="Times New Roman"/>
              </a:rPr>
              <a:t>—</a:t>
            </a:r>
            <a:r>
              <a:rPr kumimoji="1" lang="zh-CN" altLang="en-US" sz="2800" b="1" dirty="0">
                <a:latin typeface="宋体" pitchFamily="2" charset="-122"/>
              </a:rPr>
              <a:t>有记忆信源（相关信源）</a:t>
            </a:r>
            <a:r>
              <a:rPr kumimoji="1" lang="en-US" altLang="zh-CN" sz="2800" b="1" dirty="0">
                <a:latin typeface="Times New Roman"/>
              </a:rPr>
              <a:t>—</a:t>
            </a:r>
            <a:r>
              <a:rPr kumimoji="1" lang="zh-CN" altLang="en-US" sz="2800" b="1" dirty="0">
                <a:latin typeface="宋体" pitchFamily="2" charset="-122"/>
              </a:rPr>
              <a:t>有限长度记忆信源（</a:t>
            </a:r>
            <a:r>
              <a:rPr kumimoji="1" lang="en-US" altLang="zh-CN" sz="2800" b="1" dirty="0">
                <a:latin typeface="宋体" pitchFamily="2" charset="-122"/>
              </a:rPr>
              <a:t>Markov</a:t>
            </a:r>
            <a:r>
              <a:rPr kumimoji="1" lang="zh-CN" altLang="en-US" sz="2800" b="1" dirty="0">
                <a:latin typeface="宋体" pitchFamily="2" charset="-122"/>
              </a:rPr>
              <a:t>信源）</a:t>
            </a:r>
          </a:p>
        </p:txBody>
      </p:sp>
    </p:spTree>
    <p:extLst>
      <p:ext uri="{BB962C8B-B14F-4D97-AF65-F5344CB8AC3E}">
        <p14:creationId xmlns:p14="http://schemas.microsoft.com/office/powerpoint/2010/main" val="306233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839216" y="1484660"/>
            <a:ext cx="8269288" cy="4392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</a:pPr>
            <a:r>
              <a:rPr kumimoji="1" lang="zh-CN" altLang="en-US" sz="2600" b="1" dirty="0">
                <a:latin typeface="Tahoma" pitchFamily="34" charset="0"/>
              </a:rPr>
              <a:t>（二）、信息的度量</a:t>
            </a:r>
            <a:br>
              <a:rPr kumimoji="1" lang="zh-CN" altLang="en-US" sz="2600" b="1" dirty="0">
                <a:latin typeface="Tahoma" pitchFamily="34" charset="0"/>
              </a:rPr>
            </a:br>
            <a:r>
              <a:rPr kumimoji="1" lang="en-US" altLang="zh-CN" sz="2600" b="1" dirty="0">
                <a:latin typeface="Tahoma" pitchFamily="34" charset="0"/>
              </a:rPr>
              <a:t>1</a:t>
            </a:r>
            <a:r>
              <a:rPr kumimoji="1" lang="zh-CN" altLang="en-US" sz="2600" b="1" dirty="0">
                <a:latin typeface="Tahoma" pitchFamily="34" charset="0"/>
              </a:rPr>
              <a:t>、信息公理</a:t>
            </a:r>
            <a:br>
              <a:rPr kumimoji="1" lang="zh-CN" altLang="en-US" sz="2600" b="1" dirty="0">
                <a:latin typeface="Tahoma" pitchFamily="34" charset="0"/>
              </a:rPr>
            </a:br>
            <a:r>
              <a:rPr kumimoji="1" lang="zh-CN" altLang="en-US" sz="2600" b="1" dirty="0">
                <a:latin typeface="Tahoma" pitchFamily="34" charset="0"/>
              </a:rPr>
              <a:t>（</a:t>
            </a:r>
            <a:r>
              <a:rPr kumimoji="1" lang="en-US" altLang="zh-CN" sz="2600" b="1" dirty="0">
                <a:latin typeface="Tahoma" pitchFamily="34" charset="0"/>
              </a:rPr>
              <a:t>1</a:t>
            </a:r>
            <a:r>
              <a:rPr kumimoji="1" lang="zh-CN" altLang="en-US" sz="2600" b="1" dirty="0">
                <a:latin typeface="Tahoma" pitchFamily="34" charset="0"/>
              </a:rPr>
              <a:t>）信息由</a:t>
            </a:r>
            <a:r>
              <a:rPr kumimoji="1" lang="zh-CN" altLang="en-US" sz="2600" b="1" dirty="0">
                <a:solidFill>
                  <a:srgbClr val="FF0000"/>
                </a:solidFill>
                <a:latin typeface="Tahoma" pitchFamily="34" charset="0"/>
              </a:rPr>
              <a:t>不确定性程度</a:t>
            </a:r>
            <a:r>
              <a:rPr kumimoji="1" lang="zh-CN" altLang="en-US" sz="2600" b="1" dirty="0">
                <a:latin typeface="Tahoma" pitchFamily="34" charset="0"/>
              </a:rPr>
              <a:t>进行度量；</a:t>
            </a:r>
            <a:br>
              <a:rPr kumimoji="1" lang="zh-CN" altLang="en-US" sz="2600" b="1" dirty="0">
                <a:latin typeface="Tahoma" pitchFamily="34" charset="0"/>
              </a:rPr>
            </a:br>
            <a:r>
              <a:rPr kumimoji="1" lang="zh-CN" altLang="en-US" sz="2600" b="1" dirty="0">
                <a:latin typeface="Tahoma" pitchFamily="34" charset="0"/>
              </a:rPr>
              <a:t>              确定事件的信息量为零。</a:t>
            </a:r>
            <a:br>
              <a:rPr kumimoji="1" lang="zh-CN" altLang="en-US" sz="2600" b="1" dirty="0">
                <a:latin typeface="Tahoma" pitchFamily="34" charset="0"/>
              </a:rPr>
            </a:br>
            <a:r>
              <a:rPr kumimoji="1" lang="zh-CN" altLang="en-US" sz="2600" b="1" dirty="0">
                <a:latin typeface="Tahoma" pitchFamily="34" charset="0"/>
              </a:rPr>
              <a:t>（</a:t>
            </a:r>
            <a:r>
              <a:rPr kumimoji="1" lang="en-US" altLang="zh-CN" sz="2600" b="1" dirty="0">
                <a:latin typeface="Tahoma" pitchFamily="34" charset="0"/>
              </a:rPr>
              <a:t>2</a:t>
            </a:r>
            <a:r>
              <a:rPr kumimoji="1" lang="zh-CN" altLang="en-US" sz="2600" b="1" dirty="0">
                <a:latin typeface="Tahoma" pitchFamily="34" charset="0"/>
              </a:rPr>
              <a:t>）不确定性程度越高信息量越大；</a:t>
            </a:r>
            <a:br>
              <a:rPr kumimoji="1" lang="zh-CN" altLang="en-US" sz="2600" b="1" dirty="0">
                <a:latin typeface="Tahoma" pitchFamily="34" charset="0"/>
              </a:rPr>
            </a:br>
            <a:r>
              <a:rPr kumimoji="1" lang="zh-CN" altLang="en-US" sz="2600" b="1" dirty="0">
                <a:latin typeface="Tahoma" pitchFamily="34" charset="0"/>
              </a:rPr>
              <a:t>（</a:t>
            </a:r>
            <a:r>
              <a:rPr kumimoji="1" lang="en-US" altLang="zh-CN" sz="2600" b="1" dirty="0">
                <a:latin typeface="Tahoma" pitchFamily="34" charset="0"/>
              </a:rPr>
              <a:t>3</a:t>
            </a:r>
            <a:r>
              <a:rPr kumimoji="1" lang="zh-CN" altLang="en-US" sz="2600" b="1" dirty="0">
                <a:latin typeface="Tahoma" pitchFamily="34" charset="0"/>
              </a:rPr>
              <a:t>）相互独立性与信息量可加性；</a:t>
            </a:r>
            <a:br>
              <a:rPr kumimoji="1" lang="zh-CN" altLang="en-US" sz="2600" b="1" dirty="0">
                <a:latin typeface="Tahoma" pitchFamily="34" charset="0"/>
              </a:rPr>
            </a:br>
            <a:r>
              <a:rPr kumimoji="1" lang="zh-CN" altLang="en-US" sz="2600" b="1" dirty="0">
                <a:latin typeface="Tahoma" pitchFamily="34" charset="0"/>
              </a:rPr>
              <a:t>   独立事件的联合信息等于两个独立事件的信息总和。</a:t>
            </a:r>
            <a:br>
              <a:rPr kumimoji="1" lang="zh-CN" altLang="en-US" sz="2600" b="1" dirty="0">
                <a:latin typeface="Tahoma" pitchFamily="34" charset="0"/>
              </a:rPr>
            </a:br>
            <a:r>
              <a:rPr kumimoji="1" lang="zh-CN" altLang="en-US" sz="2600" b="1" dirty="0">
                <a:latin typeface="Tahoma" pitchFamily="34" charset="0"/>
              </a:rPr>
              <a:t>         满足上述公理的函数为：</a:t>
            </a:r>
          </a:p>
        </p:txBody>
      </p:sp>
      <p:graphicFrame>
        <p:nvGraphicFramePr>
          <p:cNvPr id="942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466358"/>
              </p:ext>
            </p:extLst>
          </p:nvPr>
        </p:nvGraphicFramePr>
        <p:xfrm>
          <a:off x="2187227" y="5763344"/>
          <a:ext cx="45450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3" imgW="1079280" imgH="203040" progId="Equation.DSMT4">
                  <p:embed/>
                </p:oleObj>
              </mc:Choice>
              <mc:Fallback>
                <p:oleObj name="Equation" r:id="rId3" imgW="1079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227" y="5763344"/>
                        <a:ext cx="45450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711101"/>
            <a:ext cx="3960812" cy="7016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7.</a:t>
            </a:r>
            <a:r>
              <a:rPr lang="zh-CN" altLang="en-US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信息论</a:t>
            </a:r>
            <a:endParaRPr lang="zh-CN" altLang="en-US" sz="4000" b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144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827088" y="1484585"/>
            <a:ext cx="7345362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2600" b="1">
                <a:latin typeface="Tahoma" pitchFamily="34" charset="0"/>
              </a:rPr>
              <a:t>2</a:t>
            </a:r>
            <a:r>
              <a:rPr kumimoji="1" lang="zh-CN" altLang="en-US" sz="2600" b="1">
                <a:latin typeface="Tahoma" pitchFamily="34" charset="0"/>
              </a:rPr>
              <a:t>、离散无记忆信源（</a:t>
            </a:r>
            <a:r>
              <a:rPr kumimoji="1" lang="en-US" altLang="zh-CN" sz="2600" b="1">
                <a:latin typeface="Tahoma" pitchFamily="34" charset="0"/>
              </a:rPr>
              <a:t>DNMS</a:t>
            </a:r>
            <a:r>
              <a:rPr kumimoji="1" lang="zh-CN" altLang="en-US" sz="2600" b="1">
                <a:latin typeface="Tahoma" pitchFamily="34" charset="0"/>
              </a:rPr>
              <a:t>）的信息量度量：</a:t>
            </a:r>
            <a:br>
              <a:rPr kumimoji="1" lang="zh-CN" altLang="en-US" sz="2600" b="1">
                <a:latin typeface="Tahoma" pitchFamily="34" charset="0"/>
              </a:rPr>
            </a:br>
            <a:r>
              <a:rPr kumimoji="1" lang="zh-CN" altLang="en-US" sz="2600" b="1">
                <a:latin typeface="Tahoma" pitchFamily="34" charset="0"/>
              </a:rPr>
              <a:t>（</a:t>
            </a:r>
            <a:r>
              <a:rPr kumimoji="1" lang="en-US" altLang="zh-CN" sz="2600" b="1">
                <a:latin typeface="Tahoma" pitchFamily="34" charset="0"/>
              </a:rPr>
              <a:t>1</a:t>
            </a:r>
            <a:r>
              <a:rPr kumimoji="1" lang="zh-CN" altLang="en-US" sz="2600" b="1">
                <a:latin typeface="Tahoma" pitchFamily="34" charset="0"/>
              </a:rPr>
              <a:t>）信源符号      的自信息量定义为：</a:t>
            </a:r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894561"/>
              </p:ext>
            </p:extLst>
          </p:nvPr>
        </p:nvGraphicFramePr>
        <p:xfrm>
          <a:off x="2555875" y="3068910"/>
          <a:ext cx="3886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Equation" r:id="rId3" imgW="1155600" imgH="228600" progId="Equation.3">
                  <p:embed/>
                </p:oleObj>
              </mc:Choice>
              <mc:Fallback>
                <p:oleObj name="Equation" r:id="rId3" imgW="1155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068910"/>
                        <a:ext cx="3886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1619250" y="3716610"/>
            <a:ext cx="7138988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Aft>
                <a:spcPct val="20000"/>
              </a:spcAft>
            </a:pPr>
            <a:r>
              <a:rPr kumimoji="1" lang="en-US" altLang="zh-CN" sz="2600" b="1">
                <a:latin typeface="Times New Roman" pitchFamily="18" charset="0"/>
              </a:rPr>
              <a:t>(a)</a:t>
            </a:r>
            <a:r>
              <a:rPr kumimoji="1" lang="zh-CN" altLang="en-US" sz="2600" b="1">
                <a:latin typeface="Times New Roman" pitchFamily="18" charset="0"/>
              </a:rPr>
              <a:t>非负性；</a:t>
            </a:r>
          </a:p>
          <a:p>
            <a:pPr>
              <a:lnSpc>
                <a:spcPct val="130000"/>
              </a:lnSpc>
              <a:spcAft>
                <a:spcPct val="20000"/>
              </a:spcAft>
            </a:pPr>
            <a:r>
              <a:rPr kumimoji="1" lang="en-US" altLang="zh-CN" sz="2600" b="1">
                <a:latin typeface="Times New Roman" pitchFamily="18" charset="0"/>
              </a:rPr>
              <a:t>(b)</a:t>
            </a:r>
            <a:r>
              <a:rPr kumimoji="1" lang="zh-CN" altLang="en-US" sz="2600" b="1">
                <a:latin typeface="Times New Roman" pitchFamily="18" charset="0"/>
              </a:rPr>
              <a:t>信息量的单位：</a:t>
            </a:r>
          </a:p>
          <a:p>
            <a:pPr>
              <a:lnSpc>
                <a:spcPct val="130000"/>
              </a:lnSpc>
              <a:spcAft>
                <a:spcPct val="20000"/>
              </a:spcAft>
            </a:pPr>
            <a:r>
              <a:rPr kumimoji="1" lang="zh-CN" altLang="en-US" sz="2600" b="1">
                <a:latin typeface="Times New Roman" pitchFamily="18" charset="0"/>
              </a:rPr>
              <a:t>底为</a:t>
            </a:r>
            <a:r>
              <a:rPr kumimoji="1" lang="en-US" altLang="zh-CN" sz="2600" b="1">
                <a:latin typeface="Times New Roman" pitchFamily="18" charset="0"/>
              </a:rPr>
              <a:t>2</a:t>
            </a:r>
            <a:r>
              <a:rPr kumimoji="1" lang="zh-CN" altLang="en-US" sz="2600" b="1">
                <a:latin typeface="Times New Roman" pitchFamily="18" charset="0"/>
              </a:rPr>
              <a:t>时</a:t>
            </a:r>
            <a:r>
              <a:rPr kumimoji="1" lang="en-US" altLang="zh-CN" sz="2600" b="1">
                <a:latin typeface="Times New Roman" pitchFamily="18" charset="0"/>
              </a:rPr>
              <a:t>——</a:t>
            </a:r>
            <a:r>
              <a:rPr kumimoji="1" lang="zh-CN" altLang="en-US" sz="2600" b="1">
                <a:latin typeface="Times New Roman" pitchFamily="18" charset="0"/>
              </a:rPr>
              <a:t>单位为：比特（</a:t>
            </a:r>
            <a:r>
              <a:rPr kumimoji="1" lang="en-US" altLang="zh-CN" sz="2600" b="1">
                <a:latin typeface="Times New Roman" pitchFamily="18" charset="0"/>
              </a:rPr>
              <a:t>bit</a:t>
            </a:r>
            <a:r>
              <a:rPr kumimoji="1" lang="zh-CN" altLang="en-US" sz="2600" b="1">
                <a:latin typeface="Times New Roman" pitchFamily="18" charset="0"/>
              </a:rPr>
              <a:t>）</a:t>
            </a:r>
          </a:p>
          <a:p>
            <a:pPr>
              <a:lnSpc>
                <a:spcPct val="130000"/>
              </a:lnSpc>
              <a:spcAft>
                <a:spcPct val="20000"/>
              </a:spcAft>
            </a:pPr>
            <a:r>
              <a:rPr kumimoji="1" lang="zh-CN" altLang="en-US" sz="2600" b="1">
                <a:latin typeface="Times New Roman" pitchFamily="18" charset="0"/>
              </a:rPr>
              <a:t>底为</a:t>
            </a:r>
            <a:r>
              <a:rPr kumimoji="1" lang="en-US" altLang="zh-CN" sz="2600" b="1">
                <a:latin typeface="Times New Roman" pitchFamily="18" charset="0"/>
              </a:rPr>
              <a:t>e</a:t>
            </a:r>
            <a:r>
              <a:rPr kumimoji="1" lang="zh-CN" altLang="en-US" sz="2600" b="1">
                <a:latin typeface="Times New Roman" pitchFamily="18" charset="0"/>
              </a:rPr>
              <a:t>时</a:t>
            </a:r>
            <a:r>
              <a:rPr kumimoji="1" lang="en-US" altLang="zh-CN" sz="2600" b="1">
                <a:latin typeface="Times New Roman" pitchFamily="18" charset="0"/>
              </a:rPr>
              <a:t>——</a:t>
            </a:r>
            <a:r>
              <a:rPr kumimoji="1" lang="zh-CN" altLang="en-US" sz="2600" b="1">
                <a:latin typeface="Times New Roman" pitchFamily="18" charset="0"/>
              </a:rPr>
              <a:t>单位为：奈特（</a:t>
            </a:r>
            <a:r>
              <a:rPr kumimoji="1" lang="en-US" altLang="zh-CN" sz="2600" b="1">
                <a:latin typeface="Times New Roman" pitchFamily="18" charset="0"/>
              </a:rPr>
              <a:t>Nat</a:t>
            </a:r>
            <a:r>
              <a:rPr kumimoji="1" lang="zh-CN" altLang="en-US" sz="2600" b="1">
                <a:latin typeface="Times New Roman" pitchFamily="18" charset="0"/>
              </a:rPr>
              <a:t>）</a:t>
            </a:r>
          </a:p>
          <a:p>
            <a:pPr>
              <a:lnSpc>
                <a:spcPct val="130000"/>
              </a:lnSpc>
              <a:spcAft>
                <a:spcPct val="20000"/>
              </a:spcAft>
            </a:pPr>
            <a:r>
              <a:rPr kumimoji="1" lang="zh-CN" altLang="en-US" sz="2600" b="1">
                <a:latin typeface="Times New Roman" pitchFamily="18" charset="0"/>
              </a:rPr>
              <a:t>底为</a:t>
            </a:r>
            <a:r>
              <a:rPr kumimoji="1" lang="en-US" altLang="zh-CN" sz="2600" b="1">
                <a:latin typeface="Times New Roman" pitchFamily="18" charset="0"/>
              </a:rPr>
              <a:t>10</a:t>
            </a:r>
            <a:r>
              <a:rPr kumimoji="1" lang="zh-CN" altLang="en-US" sz="2600" b="1">
                <a:latin typeface="Times New Roman" pitchFamily="18" charset="0"/>
              </a:rPr>
              <a:t>时</a:t>
            </a:r>
            <a:r>
              <a:rPr kumimoji="1" lang="en-US" altLang="zh-CN" sz="2600" b="1">
                <a:latin typeface="Times New Roman" pitchFamily="18" charset="0"/>
              </a:rPr>
              <a:t>——</a:t>
            </a:r>
            <a:r>
              <a:rPr kumimoji="1" lang="zh-CN" altLang="en-US" sz="2600" b="1">
                <a:latin typeface="Times New Roman" pitchFamily="18" charset="0"/>
              </a:rPr>
              <a:t>单位为：哈特</a:t>
            </a:r>
          </a:p>
        </p:txBody>
      </p:sp>
      <p:graphicFrame>
        <p:nvGraphicFramePr>
          <p:cNvPr id="95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319090"/>
              </p:ext>
            </p:extLst>
          </p:nvPr>
        </p:nvGraphicFramePr>
        <p:xfrm>
          <a:off x="3132138" y="2132856"/>
          <a:ext cx="6159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5" name="Equation" r:id="rId5" imgW="152280" imgH="228600" progId="Equation.3">
                  <p:embed/>
                </p:oleObj>
              </mc:Choice>
              <mc:Fallback>
                <p:oleObj name="Equation" r:id="rId5" imgW="152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132856"/>
                        <a:ext cx="6159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711101"/>
            <a:ext cx="3960812" cy="7016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7.</a:t>
            </a:r>
            <a:r>
              <a:rPr lang="zh-CN" altLang="en-US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信息论</a:t>
            </a:r>
            <a:endParaRPr lang="zh-CN" altLang="en-US" sz="4000" b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38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539750" y="1625501"/>
            <a:ext cx="8353425" cy="158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Aft>
                <a:spcPct val="30000"/>
              </a:spcAft>
            </a:pPr>
            <a:r>
              <a:rPr kumimoji="1" lang="zh-CN" altLang="en-US" sz="2600" b="1">
                <a:latin typeface="Tahoma" pitchFamily="34" charset="0"/>
              </a:rPr>
              <a:t>（</a:t>
            </a:r>
            <a:r>
              <a:rPr kumimoji="1" lang="en-US" altLang="zh-CN" sz="2600" b="1">
                <a:latin typeface="Tahoma" pitchFamily="34" charset="0"/>
              </a:rPr>
              <a:t>2</a:t>
            </a:r>
            <a:r>
              <a:rPr kumimoji="1" lang="zh-CN" altLang="en-US" sz="2600" b="1">
                <a:latin typeface="Tahoma" pitchFamily="34" charset="0"/>
              </a:rPr>
              <a:t>）、信源平均自信息量（信息熵）</a:t>
            </a:r>
            <a:br>
              <a:rPr kumimoji="1" lang="zh-CN" altLang="en-US" sz="2600" b="1">
                <a:latin typeface="Tahoma" pitchFamily="34" charset="0"/>
              </a:rPr>
            </a:br>
            <a:r>
              <a:rPr kumimoji="1" lang="zh-CN" altLang="en-US" sz="2600" b="1">
                <a:latin typeface="Tahoma" pitchFamily="34" charset="0"/>
              </a:rPr>
              <a:t>离散无记忆信源</a:t>
            </a:r>
            <a:r>
              <a:rPr kumimoji="1" lang="en-US" altLang="zh-CN" sz="2600" b="1">
                <a:latin typeface="Tahoma" pitchFamily="34" charset="0"/>
              </a:rPr>
              <a:t>A</a:t>
            </a:r>
            <a:r>
              <a:rPr kumimoji="1" lang="zh-CN" altLang="en-US" sz="2600" b="1">
                <a:latin typeface="Tahoma" pitchFamily="34" charset="0"/>
              </a:rPr>
              <a:t>的平均自信息量（信息熵）定义为：</a:t>
            </a:r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294489"/>
              </p:ext>
            </p:extLst>
          </p:nvPr>
        </p:nvGraphicFramePr>
        <p:xfrm>
          <a:off x="2124075" y="3354288"/>
          <a:ext cx="456882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3" imgW="1358640" imgH="888840" progId="Equation.3">
                  <p:embed/>
                </p:oleObj>
              </mc:Choice>
              <mc:Fallback>
                <p:oleObj name="Equation" r:id="rId3" imgW="135864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354288"/>
                        <a:ext cx="456882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711101"/>
            <a:ext cx="3960812" cy="7016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7.</a:t>
            </a:r>
            <a:r>
              <a:rPr lang="zh-CN" altLang="en-US" sz="4000" b="1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信息论</a:t>
            </a:r>
            <a:endParaRPr lang="zh-CN" altLang="en-US" sz="4000" b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577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900113" y="1628229"/>
            <a:ext cx="777240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FontTx/>
              <a:buNone/>
            </a:pPr>
            <a:r>
              <a:rPr lang="zh-CN" altLang="en-US" sz="2600" b="1"/>
              <a:t>例 </a:t>
            </a:r>
            <a:r>
              <a:rPr lang="en-US" altLang="zh-CN" sz="2600" b="1"/>
              <a:t>:</a:t>
            </a:r>
            <a:r>
              <a:rPr lang="zh-CN" altLang="en-US" sz="2600" b="1"/>
              <a:t>设</a:t>
            </a:r>
            <a:r>
              <a:rPr lang="en-US" altLang="zh-CN" sz="2600" b="1"/>
              <a:t>8</a:t>
            </a:r>
            <a:r>
              <a:rPr lang="zh-CN" altLang="en-US" sz="2600" b="1"/>
              <a:t>个随机变量具有同等概率为</a:t>
            </a:r>
            <a:r>
              <a:rPr lang="en-US" altLang="zh-CN" sz="2600" b="1"/>
              <a:t>1</a:t>
            </a:r>
            <a:r>
              <a:rPr lang="zh-CN" altLang="en-US" sz="2600" b="1"/>
              <a:t>／</a:t>
            </a:r>
            <a:r>
              <a:rPr lang="en-US" altLang="zh-CN" sz="2600" b="1"/>
              <a:t>8</a:t>
            </a:r>
            <a:r>
              <a:rPr lang="zh-CN" altLang="en-US" sz="2600" b="1"/>
              <a:t>，计算信息熵</a:t>
            </a:r>
            <a:r>
              <a:rPr lang="en-US" altLang="zh-CN" sz="2600" b="1"/>
              <a:t>H</a:t>
            </a:r>
            <a:r>
              <a:rPr lang="zh-CN" altLang="en-US" sz="2600" b="1"/>
              <a:t>。      </a:t>
            </a:r>
          </a:p>
        </p:txBody>
      </p:sp>
      <p:sp>
        <p:nvSpPr>
          <p:cNvPr id="108549" name="Rectangle 5"/>
          <p:cNvSpPr>
            <a:spLocks noChangeArrowheads="1"/>
          </p:cNvSpPr>
          <p:nvPr/>
        </p:nvSpPr>
        <p:spPr bwMode="auto">
          <a:xfrm>
            <a:off x="1116013" y="2852191"/>
            <a:ext cx="7056437" cy="144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spcAft>
                <a:spcPct val="30000"/>
              </a:spcAft>
            </a:pPr>
            <a:r>
              <a:rPr lang="zh-CN" altLang="en-US" sz="2600" b="1" dirty="0"/>
              <a:t>解 </a:t>
            </a:r>
            <a:r>
              <a:rPr lang="en-US" altLang="zh-CN" sz="2600" b="1" dirty="0" smtClean="0"/>
              <a:t>: H=8</a:t>
            </a:r>
            <a:r>
              <a:rPr lang="en-US" altLang="zh-CN" sz="2600" b="1" dirty="0"/>
              <a:t>*[-1/8*(log</a:t>
            </a:r>
            <a:r>
              <a:rPr lang="en-US" altLang="zh-CN" sz="2600" b="1" baseline="-25000" dirty="0"/>
              <a:t>2</a:t>
            </a:r>
            <a:r>
              <a:rPr lang="en-US" altLang="zh-CN" sz="2600" b="1" dirty="0"/>
              <a:t>(1/8))=8*[-1/8*(-3)]=3</a:t>
            </a:r>
          </a:p>
        </p:txBody>
      </p:sp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684213" y="4436516"/>
            <a:ext cx="8064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259632" y="711101"/>
            <a:ext cx="3960812" cy="701675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b="1" kern="0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7.</a:t>
            </a:r>
            <a:r>
              <a:rPr lang="zh-CN" altLang="en-US" b="1" kern="0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信息论</a:t>
            </a:r>
            <a:endParaRPr lang="zh-CN" altLang="en-US" b="1" kern="0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3608" y="4176604"/>
            <a:ext cx="7273057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ct val="30000"/>
              </a:spcAft>
            </a:pPr>
            <a:r>
              <a:rPr lang="zh-CN" altLang="en-US" sz="2400" b="1" dirty="0"/>
              <a:t>图像熵指该图像的平均信息量，即表示图像中各个灰度级比特数的统计平均值，等概率事件的熵最大。</a:t>
            </a:r>
          </a:p>
        </p:txBody>
      </p:sp>
    </p:spTree>
    <p:extLst>
      <p:ext uri="{BB962C8B-B14F-4D97-AF65-F5344CB8AC3E}">
        <p14:creationId xmlns:p14="http://schemas.microsoft.com/office/powerpoint/2010/main" val="177355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/>
      <p:bldP spid="10854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2"/>
          <p:cNvGrpSpPr>
            <a:grpSpLocks/>
          </p:cNvGrpSpPr>
          <p:nvPr/>
        </p:nvGrpSpPr>
        <p:grpSpPr bwMode="auto">
          <a:xfrm>
            <a:off x="900113" y="1942306"/>
            <a:ext cx="7812087" cy="3790950"/>
            <a:chOff x="521" y="1207"/>
            <a:chExt cx="4921" cy="2388"/>
          </a:xfrm>
        </p:grpSpPr>
        <p:sp>
          <p:nvSpPr>
            <p:cNvPr id="114691" name="Text Box 3"/>
            <p:cNvSpPr txBox="1">
              <a:spLocks noChangeArrowheads="1"/>
            </p:cNvSpPr>
            <p:nvPr/>
          </p:nvSpPr>
          <p:spPr bwMode="auto">
            <a:xfrm>
              <a:off x="3515" y="2432"/>
              <a:ext cx="192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>
                  <a:latin typeface="华文新魏" pitchFamily="2" charset="-122"/>
                  <a:ea typeface="华文新魏" pitchFamily="2" charset="-122"/>
                </a:rPr>
                <a:t>预测编码</a:t>
              </a:r>
            </a:p>
          </p:txBody>
        </p:sp>
        <p:sp>
          <p:nvSpPr>
            <p:cNvPr id="114692" name="Text Box 4"/>
            <p:cNvSpPr txBox="1">
              <a:spLocks noChangeArrowheads="1"/>
            </p:cNvSpPr>
            <p:nvPr/>
          </p:nvSpPr>
          <p:spPr bwMode="auto">
            <a:xfrm>
              <a:off x="521" y="2251"/>
              <a:ext cx="1271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3000">
                  <a:latin typeface="华文新魏" pitchFamily="2" charset="-122"/>
                  <a:ea typeface="华文新魏" pitchFamily="2" charset="-122"/>
                </a:rPr>
                <a:t>图像编码</a:t>
              </a:r>
            </a:p>
          </p:txBody>
        </p:sp>
        <p:sp>
          <p:nvSpPr>
            <p:cNvPr id="114693" name="AutoShape 5"/>
            <p:cNvSpPr>
              <a:spLocks/>
            </p:cNvSpPr>
            <p:nvPr/>
          </p:nvSpPr>
          <p:spPr bwMode="auto">
            <a:xfrm>
              <a:off x="1609" y="1752"/>
              <a:ext cx="182" cy="1361"/>
            </a:xfrm>
            <a:prstGeom prst="leftBrace">
              <a:avLst>
                <a:gd name="adj1" fmla="val 6231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94" name="Text Box 6"/>
            <p:cNvSpPr txBox="1">
              <a:spLocks noChangeArrowheads="1"/>
            </p:cNvSpPr>
            <p:nvPr/>
          </p:nvSpPr>
          <p:spPr bwMode="auto">
            <a:xfrm>
              <a:off x="1746" y="1616"/>
              <a:ext cx="1633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>
                  <a:latin typeface="华文新魏" pitchFamily="2" charset="-122"/>
                  <a:ea typeface="华文新魏" pitchFamily="2" charset="-122"/>
                </a:rPr>
                <a:t>无损压缩编码</a:t>
              </a:r>
            </a:p>
          </p:txBody>
        </p:sp>
        <p:sp>
          <p:nvSpPr>
            <p:cNvPr id="114695" name="Text Box 7"/>
            <p:cNvSpPr txBox="1">
              <a:spLocks noChangeArrowheads="1"/>
            </p:cNvSpPr>
            <p:nvPr/>
          </p:nvSpPr>
          <p:spPr bwMode="auto">
            <a:xfrm>
              <a:off x="1791" y="2886"/>
              <a:ext cx="1723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>
                  <a:latin typeface="华文新魏" pitchFamily="2" charset="-122"/>
                  <a:ea typeface="华文新魏" pitchFamily="2" charset="-122"/>
                </a:rPr>
                <a:t>有损压缩编码</a:t>
              </a:r>
            </a:p>
          </p:txBody>
        </p:sp>
        <p:sp>
          <p:nvSpPr>
            <p:cNvPr id="114696" name="AutoShape 8"/>
            <p:cNvSpPr>
              <a:spLocks/>
            </p:cNvSpPr>
            <p:nvPr/>
          </p:nvSpPr>
          <p:spPr bwMode="auto">
            <a:xfrm>
              <a:off x="3334" y="1344"/>
              <a:ext cx="188" cy="841"/>
            </a:xfrm>
            <a:prstGeom prst="leftBrace">
              <a:avLst>
                <a:gd name="adj1" fmla="val 3727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97" name="AutoShape 9"/>
            <p:cNvSpPr>
              <a:spLocks/>
            </p:cNvSpPr>
            <p:nvPr/>
          </p:nvSpPr>
          <p:spPr bwMode="auto">
            <a:xfrm>
              <a:off x="3333" y="2568"/>
              <a:ext cx="188" cy="865"/>
            </a:xfrm>
            <a:prstGeom prst="leftBrace">
              <a:avLst>
                <a:gd name="adj1" fmla="val 3834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98" name="Text Box 10"/>
            <p:cNvSpPr txBox="1">
              <a:spLocks noChangeArrowheads="1"/>
            </p:cNvSpPr>
            <p:nvPr/>
          </p:nvSpPr>
          <p:spPr bwMode="auto">
            <a:xfrm>
              <a:off x="3560" y="1207"/>
              <a:ext cx="149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>
                  <a:solidFill>
                    <a:srgbClr val="FF0000"/>
                  </a:solidFill>
                  <a:latin typeface="华文新魏" pitchFamily="2" charset="-122"/>
                  <a:ea typeface="华文新魏" pitchFamily="2" charset="-122"/>
                </a:rPr>
                <a:t>哈夫曼编码</a:t>
              </a:r>
            </a:p>
          </p:txBody>
        </p:sp>
        <p:sp>
          <p:nvSpPr>
            <p:cNvPr id="114699" name="Text Box 11"/>
            <p:cNvSpPr txBox="1">
              <a:spLocks noChangeArrowheads="1"/>
            </p:cNvSpPr>
            <p:nvPr/>
          </p:nvSpPr>
          <p:spPr bwMode="auto">
            <a:xfrm>
              <a:off x="3515" y="1978"/>
              <a:ext cx="1542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>
                  <a:latin typeface="华文新魏" pitchFamily="2" charset="-122"/>
                  <a:ea typeface="华文新魏" pitchFamily="2" charset="-122"/>
                </a:rPr>
                <a:t>行程编码</a:t>
              </a:r>
            </a:p>
          </p:txBody>
        </p:sp>
        <p:sp>
          <p:nvSpPr>
            <p:cNvPr id="114700" name="Text Box 12"/>
            <p:cNvSpPr txBox="1">
              <a:spLocks noChangeArrowheads="1"/>
            </p:cNvSpPr>
            <p:nvPr/>
          </p:nvSpPr>
          <p:spPr bwMode="auto">
            <a:xfrm>
              <a:off x="3515" y="1616"/>
              <a:ext cx="163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000">
                  <a:latin typeface="华文新魏" pitchFamily="2" charset="-122"/>
                  <a:ea typeface="华文新魏" pitchFamily="2" charset="-122"/>
                </a:rPr>
                <a:t>算术编码</a:t>
              </a:r>
            </a:p>
          </p:txBody>
        </p:sp>
        <p:sp>
          <p:nvSpPr>
            <p:cNvPr id="114701" name="Text Box 13"/>
            <p:cNvSpPr txBox="1">
              <a:spLocks noChangeArrowheads="1"/>
            </p:cNvSpPr>
            <p:nvPr/>
          </p:nvSpPr>
          <p:spPr bwMode="auto">
            <a:xfrm>
              <a:off x="3469" y="2841"/>
              <a:ext cx="16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>
                  <a:latin typeface="华文新魏" pitchFamily="2" charset="-122"/>
                  <a:ea typeface="华文新魏" pitchFamily="2" charset="-122"/>
                </a:rPr>
                <a:t> </a:t>
              </a:r>
              <a:r>
                <a:rPr lang="zh-CN" altLang="en-US" sz="3000">
                  <a:latin typeface="华文新魏" pitchFamily="2" charset="-122"/>
                  <a:ea typeface="华文新魏" pitchFamily="2" charset="-122"/>
                </a:rPr>
                <a:t>频率域方法</a:t>
              </a:r>
            </a:p>
          </p:txBody>
        </p:sp>
        <p:sp>
          <p:nvSpPr>
            <p:cNvPr id="114702" name="Text Box 14"/>
            <p:cNvSpPr txBox="1">
              <a:spLocks noChangeArrowheads="1"/>
            </p:cNvSpPr>
            <p:nvPr/>
          </p:nvSpPr>
          <p:spPr bwMode="auto">
            <a:xfrm>
              <a:off x="3424" y="3249"/>
              <a:ext cx="1780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000">
                  <a:latin typeface="华文新魏" pitchFamily="2" charset="-122"/>
                  <a:ea typeface="华文新魏" pitchFamily="2" charset="-122"/>
                </a:rPr>
                <a:t> </a:t>
              </a:r>
              <a:r>
                <a:rPr lang="zh-CN" altLang="en-US" sz="3000">
                  <a:latin typeface="华文新魏" pitchFamily="2" charset="-122"/>
                  <a:ea typeface="华文新魏" pitchFamily="2" charset="-122"/>
                </a:rPr>
                <a:t>其他编码方法</a:t>
              </a:r>
            </a:p>
          </p:txBody>
        </p:sp>
      </p:grpSp>
      <p:sp>
        <p:nvSpPr>
          <p:cNvPr id="114703" name="Rectangle 15"/>
          <p:cNvSpPr>
            <a:spLocks noChangeArrowheads="1"/>
          </p:cNvSpPr>
          <p:nvPr/>
        </p:nvSpPr>
        <p:spPr bwMode="auto">
          <a:xfrm>
            <a:off x="990178" y="711101"/>
            <a:ext cx="653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CC6600"/>
                </a:solidFill>
                <a:latin typeface="隶书" pitchFamily="49" charset="-122"/>
                <a:ea typeface="隶书" pitchFamily="49" charset="-122"/>
              </a:rPr>
              <a:t>二</a:t>
            </a:r>
            <a:r>
              <a:rPr lang="en-US" altLang="zh-CN" sz="4000" dirty="0">
                <a:solidFill>
                  <a:srgbClr val="CC6600"/>
                </a:solidFill>
                <a:latin typeface="隶书" pitchFamily="49" charset="-122"/>
                <a:ea typeface="隶书" pitchFamily="49" charset="-122"/>
              </a:rPr>
              <a:t>.</a:t>
            </a:r>
            <a:r>
              <a:rPr lang="zh-CN" altLang="en-US" sz="4000" dirty="0">
                <a:solidFill>
                  <a:srgbClr val="CC6600"/>
                </a:solidFill>
                <a:latin typeface="隶书" pitchFamily="49" charset="-122"/>
                <a:ea typeface="隶书" pitchFamily="49" charset="-122"/>
              </a:rPr>
              <a:t>常用的图像压缩编码方法</a:t>
            </a:r>
          </a:p>
        </p:txBody>
      </p:sp>
    </p:spTree>
    <p:extLst>
      <p:ext uri="{BB962C8B-B14F-4D97-AF65-F5344CB8AC3E}">
        <p14:creationId xmlns:p14="http://schemas.microsoft.com/office/powerpoint/2010/main" val="285611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468313" y="1341884"/>
            <a:ext cx="8316912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600" b="1" dirty="0">
                <a:latin typeface="宋体" pitchFamily="2" charset="-122"/>
              </a:rPr>
              <a:t> ※  </a:t>
            </a:r>
            <a:r>
              <a:rPr lang="zh-CN" altLang="en-US" sz="2600" b="1" dirty="0">
                <a:solidFill>
                  <a:schemeClr val="tx1"/>
                </a:solidFill>
                <a:latin typeface="宋体" pitchFamily="2" charset="-122"/>
              </a:rPr>
              <a:t>无损压缩算法中删除的仅仅是图像数据中冗余的信息，因此在解压缩时能精确恢复原图像，无损压缩的压缩比很少有能超过</a:t>
            </a:r>
            <a:r>
              <a:rPr lang="en-US" altLang="zh-CN" sz="2600" b="1" dirty="0">
                <a:solidFill>
                  <a:schemeClr val="tx1"/>
                </a:solidFill>
                <a:latin typeface="宋体" pitchFamily="2" charset="-122"/>
              </a:rPr>
              <a:t>3</a:t>
            </a:r>
            <a:r>
              <a:rPr lang="zh-CN" altLang="en-US" sz="2600" b="1" dirty="0">
                <a:solidFill>
                  <a:schemeClr val="tx1"/>
                </a:solidFill>
                <a:latin typeface="宋体" pitchFamily="2" charset="-122"/>
              </a:rPr>
              <a:t>：</a:t>
            </a:r>
            <a:r>
              <a:rPr lang="en-US" altLang="zh-CN" sz="2600" b="1" dirty="0">
                <a:solidFill>
                  <a:schemeClr val="tx1"/>
                </a:solidFill>
                <a:latin typeface="宋体" pitchFamily="2" charset="-122"/>
              </a:rPr>
              <a:t>1</a:t>
            </a:r>
            <a:r>
              <a:rPr lang="zh-CN" altLang="en-US" sz="2600" b="1" dirty="0">
                <a:solidFill>
                  <a:schemeClr val="tx1"/>
                </a:solidFill>
                <a:latin typeface="宋体" pitchFamily="2" charset="-122"/>
              </a:rPr>
              <a:t>的</a:t>
            </a:r>
            <a:r>
              <a:rPr lang="en-US" altLang="zh-CN" sz="2600" b="1" dirty="0">
                <a:solidFill>
                  <a:schemeClr val="tx1"/>
                </a:solidFill>
                <a:latin typeface="宋体" pitchFamily="2" charset="-122"/>
              </a:rPr>
              <a:t>,</a:t>
            </a:r>
            <a:r>
              <a:rPr lang="zh-CN" altLang="en-US" sz="2600" b="1" dirty="0">
                <a:solidFill>
                  <a:schemeClr val="tx1"/>
                </a:solidFill>
                <a:latin typeface="宋体" pitchFamily="2" charset="-122"/>
              </a:rPr>
              <a:t>常用于要求高的场合。</a:t>
            </a:r>
          </a:p>
        </p:txBody>
      </p:sp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263156"/>
            <a:ext cx="6542088" cy="347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1068958" y="711101"/>
            <a:ext cx="3575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1.</a:t>
            </a:r>
            <a:r>
              <a:rPr lang="zh-CN" altLang="en-US" sz="40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无损压缩编码</a:t>
            </a:r>
          </a:p>
        </p:txBody>
      </p:sp>
    </p:spTree>
    <p:extLst>
      <p:ext uri="{BB962C8B-B14F-4D97-AF65-F5344CB8AC3E}">
        <p14:creationId xmlns:p14="http://schemas.microsoft.com/office/powerpoint/2010/main" val="103185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414783" y="1558280"/>
            <a:ext cx="8621713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 algn="just">
              <a:lnSpc>
                <a:spcPct val="120000"/>
              </a:lnSpc>
              <a:buFontTx/>
              <a:buNone/>
            </a:pPr>
            <a:r>
              <a:rPr lang="en-US" altLang="zh-CN" sz="2600" b="1" dirty="0">
                <a:latin typeface="宋体" pitchFamily="2" charset="-122"/>
              </a:rPr>
              <a:t>※</a:t>
            </a:r>
            <a:r>
              <a:rPr lang="zh-CN" altLang="en-US" sz="2600" b="1" dirty="0">
                <a:latin typeface="宋体" pitchFamily="2" charset="-122"/>
              </a:rPr>
              <a:t>有损压缩是通过牺牲图像的准确率以实现较大的压缩率，如果容许解压图像有一定的误差，则压缩率可显著提高。有损压缩在压缩比大于</a:t>
            </a:r>
            <a:r>
              <a:rPr lang="en-US" altLang="zh-CN" sz="2600" b="1" dirty="0">
                <a:latin typeface="宋体" pitchFamily="2" charset="-122"/>
              </a:rPr>
              <a:t>30</a:t>
            </a:r>
            <a:r>
              <a:rPr lang="zh-CN" altLang="en-US" sz="2600" b="1" dirty="0">
                <a:latin typeface="宋体" pitchFamily="2" charset="-122"/>
              </a:rPr>
              <a:t>：</a:t>
            </a:r>
            <a:r>
              <a:rPr lang="en-US" altLang="zh-CN" sz="2600" b="1" dirty="0">
                <a:latin typeface="宋体" pitchFamily="2" charset="-122"/>
              </a:rPr>
              <a:t>1</a:t>
            </a:r>
            <a:r>
              <a:rPr lang="zh-CN" altLang="en-US" sz="2600" b="1" dirty="0">
                <a:latin typeface="宋体" pitchFamily="2" charset="-122"/>
              </a:rPr>
              <a:t>时仍然可重构图像，而如果压缩比为</a:t>
            </a:r>
            <a:r>
              <a:rPr lang="en-US" altLang="zh-CN" sz="2600" b="1" dirty="0">
                <a:latin typeface="宋体" pitchFamily="2" charset="-122"/>
              </a:rPr>
              <a:t>10:1</a:t>
            </a:r>
            <a:r>
              <a:rPr lang="zh-CN" altLang="en-US" sz="2600" b="1" dirty="0">
                <a:latin typeface="宋体" pitchFamily="2" charset="-122"/>
              </a:rPr>
              <a:t>到</a:t>
            </a:r>
            <a:r>
              <a:rPr lang="en-US" altLang="zh-CN" sz="2600" b="1" dirty="0">
                <a:latin typeface="宋体" pitchFamily="2" charset="-122"/>
              </a:rPr>
              <a:t>20:1</a:t>
            </a:r>
            <a:r>
              <a:rPr lang="zh-CN" altLang="en-US" sz="2600" b="1" dirty="0">
                <a:latin typeface="宋体" pitchFamily="2" charset="-122"/>
              </a:rPr>
              <a:t>，则重构的图像与原图几乎没有差别</a:t>
            </a:r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851101"/>
            <a:ext cx="655320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1140966" y="783109"/>
            <a:ext cx="35750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2.</a:t>
            </a:r>
            <a:r>
              <a:rPr lang="zh-CN" altLang="en-US" sz="40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有损压缩编码</a:t>
            </a:r>
          </a:p>
        </p:txBody>
      </p:sp>
    </p:spTree>
    <p:extLst>
      <p:ext uri="{BB962C8B-B14F-4D97-AF65-F5344CB8AC3E}">
        <p14:creationId xmlns:p14="http://schemas.microsoft.com/office/powerpoint/2010/main" val="92022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938336" y="1531392"/>
            <a:ext cx="8137525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600" b="1" dirty="0"/>
              <a:t>等长码：对于一个消息集合中的不同消息，用相同长度的不同码字表示，</a:t>
            </a:r>
            <a:r>
              <a:rPr lang="zh-CN" altLang="en-US" sz="2600" b="1" dirty="0">
                <a:solidFill>
                  <a:srgbClr val="FF0000"/>
                </a:solidFill>
              </a:rPr>
              <a:t>编解码简单，编码效率不高</a:t>
            </a:r>
            <a:r>
              <a:rPr lang="zh-CN" altLang="en-US" sz="2600" b="1" dirty="0"/>
              <a:t>。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938336" y="2539454"/>
            <a:ext cx="7777163" cy="152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600" b="1"/>
              <a:t>变长码：与等长码相对应，对于一个消息集合中的不同消息，也可以用不同长度的码字表示，</a:t>
            </a:r>
            <a:r>
              <a:rPr lang="zh-CN" altLang="en-US" sz="2600" b="1">
                <a:solidFill>
                  <a:srgbClr val="FF0000"/>
                </a:solidFill>
              </a:rPr>
              <a:t>编码效率高，编码解码复杂。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938336" y="4123779"/>
            <a:ext cx="84582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>
                <a:latin typeface="宋体" pitchFamily="2" charset="-122"/>
                <a:ea typeface="华文新魏" pitchFamily="2" charset="-122"/>
              </a:rPr>
              <a:t>   </a:t>
            </a:r>
            <a:r>
              <a:rPr kumimoji="1" lang="zh-CN" altLang="en-US" sz="3200">
                <a:latin typeface="宋体" pitchFamily="2" charset="-122"/>
                <a:ea typeface="华文新魏" pitchFamily="2" charset="-122"/>
              </a:rPr>
              <a:t>哈夫曼编码是一种利用信息符号概率分布特性的</a:t>
            </a:r>
            <a:r>
              <a:rPr kumimoji="1" lang="zh-CN" altLang="en-US" sz="3200">
                <a:solidFill>
                  <a:srgbClr val="FF0000"/>
                </a:solidFill>
                <a:latin typeface="宋体" pitchFamily="2" charset="-122"/>
                <a:ea typeface="华文新魏" pitchFamily="2" charset="-122"/>
              </a:rPr>
              <a:t>变字长</a:t>
            </a:r>
            <a:r>
              <a:rPr kumimoji="1" lang="zh-CN" altLang="en-US" sz="3200">
                <a:latin typeface="宋体" pitchFamily="2" charset="-122"/>
                <a:ea typeface="华文新魏" pitchFamily="2" charset="-122"/>
              </a:rPr>
              <a:t>的编码方法。</a:t>
            </a:r>
            <a:r>
              <a:rPr kumimoji="1" lang="zh-CN" altLang="en-US" sz="3200">
                <a:latin typeface="华文新魏" pitchFamily="2" charset="-122"/>
                <a:ea typeface="华文新魏" pitchFamily="2" charset="-122"/>
              </a:rPr>
              <a:t>对于出现概率大的信息符号编以短字长的码，对于出现概率小的信息符号编以长字长的码。</a:t>
            </a:r>
            <a:r>
              <a:rPr kumimoji="1" lang="zh-CN" altLang="en-US" sz="2800">
                <a:latin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482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467544" y="2131899"/>
            <a:ext cx="856830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9525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14097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8669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23241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0" hangingPunct="0">
              <a:lnSpc>
                <a:spcPct val="120000"/>
              </a:lnSpc>
              <a:spcAft>
                <a:spcPct val="30000"/>
              </a:spcAft>
              <a:buFontTx/>
              <a:buAutoNum type="romanUcPeriod"/>
            </a:pPr>
            <a:r>
              <a:rPr kumimoji="1" lang="zh-CN" altLang="en-US" sz="2400" b="1" dirty="0" smtClean="0">
                <a:latin typeface="宋体" pitchFamily="2" charset="-122"/>
              </a:rPr>
              <a:t>将</a:t>
            </a:r>
            <a:r>
              <a:rPr kumimoji="1" lang="zh-CN" altLang="en-US" sz="2400" b="1" dirty="0">
                <a:latin typeface="宋体" pitchFamily="2" charset="-122"/>
              </a:rPr>
              <a:t>信源符号按出现概率从大到小排成一列，然后把最末两个符号的概率相加，合成一个概率。</a:t>
            </a:r>
          </a:p>
          <a:p>
            <a:pPr>
              <a:lnSpc>
                <a:spcPct val="120000"/>
              </a:lnSpc>
              <a:spcAft>
                <a:spcPct val="30000"/>
              </a:spcAft>
              <a:buFontTx/>
              <a:buAutoNum type="romanUcPeriod"/>
            </a:pPr>
            <a:r>
              <a:rPr kumimoji="1" lang="zh-CN" altLang="en-US" sz="2400" b="1" dirty="0">
                <a:latin typeface="宋体" pitchFamily="2" charset="-122"/>
              </a:rPr>
              <a:t>把这个符号的概率与其余符号的概率按从大到小排列，然后再把最末两个符号的概率加起来，合成一个概率。 </a:t>
            </a:r>
          </a:p>
          <a:p>
            <a:pPr>
              <a:lnSpc>
                <a:spcPct val="120000"/>
              </a:lnSpc>
              <a:spcAft>
                <a:spcPct val="30000"/>
              </a:spcAft>
              <a:buFontTx/>
              <a:buAutoNum type="romanUcPeriod"/>
            </a:pPr>
            <a:r>
              <a:rPr kumimoji="1" lang="zh-CN" altLang="en-US" sz="2400" b="1" dirty="0">
                <a:latin typeface="宋体" pitchFamily="2" charset="-122"/>
              </a:rPr>
              <a:t>重复上述做法，直到最后剩下两个概率为止。</a:t>
            </a:r>
          </a:p>
          <a:p>
            <a:pPr>
              <a:lnSpc>
                <a:spcPct val="120000"/>
              </a:lnSpc>
              <a:spcAft>
                <a:spcPct val="30000"/>
              </a:spcAft>
              <a:buFontTx/>
              <a:buAutoNum type="romanUcPeriod"/>
            </a:pPr>
            <a:r>
              <a:rPr kumimoji="1" lang="zh-CN" altLang="en-US" sz="2400" b="1" dirty="0">
                <a:latin typeface="宋体" pitchFamily="2" charset="-122"/>
              </a:rPr>
              <a:t>从最后一步剩下的两个概率开始逐步向前进行编码。每步只需对两个分支各赋予一个二进制码，如对概率大的赋予码</a:t>
            </a:r>
            <a:r>
              <a:rPr kumimoji="1" lang="en-US" altLang="zh-CN" sz="2400" b="1" dirty="0">
                <a:latin typeface="宋体" pitchFamily="2" charset="-122"/>
              </a:rPr>
              <a:t>0</a:t>
            </a:r>
            <a:r>
              <a:rPr kumimoji="1" lang="zh-CN" altLang="en-US" sz="2400" b="1" dirty="0">
                <a:latin typeface="宋体" pitchFamily="2" charset="-122"/>
              </a:rPr>
              <a:t>，对概率小的赋予码</a:t>
            </a:r>
            <a:r>
              <a:rPr kumimoji="1" lang="en-US" altLang="zh-CN" sz="2400" b="1" dirty="0">
                <a:latin typeface="宋体" pitchFamily="2" charset="-122"/>
              </a:rPr>
              <a:t>1</a:t>
            </a:r>
            <a:r>
              <a:rPr kumimoji="1"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395288" y="2565400"/>
            <a:ext cx="84978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495300" indent="-4953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9525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14097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8669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23241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0" hangingPunct="0"/>
            <a:endParaRPr kumimoji="1" lang="en-US" altLang="zh-CN" sz="2800"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itchFamily="2" charset="-122"/>
              <a:ea typeface="华文新魏" pitchFamily="2" charset="-122"/>
            </a:endParaRPr>
          </a:p>
          <a:p>
            <a:pPr algn="just" eaLnBrk="0" hangingPunct="0">
              <a:buFontTx/>
              <a:buAutoNum type="romanLcPeriod" startAt="2"/>
            </a:pPr>
            <a:endParaRPr kumimoji="1" lang="en-US" altLang="zh-CN" sz="280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246602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uild="p" autoUpdateAnimBg="0" advAuto="0"/>
      <p:bldP spid="11267" grpId="0" build="p" autoUpdateAnimBg="0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755650" y="1700213"/>
            <a:ext cx="9969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1908175" y="1700213"/>
            <a:ext cx="18097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29481520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utoUpdateAnimBg="0"/>
      <p:bldP spid="1229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746125" y="1630363"/>
            <a:ext cx="9969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908175" y="1628775"/>
            <a:ext cx="18097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3533775" y="1628775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13321" name="Group 9"/>
          <p:cNvGrpSpPr>
            <a:grpSpLocks/>
          </p:cNvGrpSpPr>
          <p:nvPr/>
        </p:nvGrpSpPr>
        <p:grpSpPr bwMode="auto">
          <a:xfrm>
            <a:off x="3260725" y="4371975"/>
            <a:ext cx="685800" cy="457200"/>
            <a:chOff x="2064" y="3024"/>
            <a:chExt cx="432" cy="288"/>
          </a:xfrm>
        </p:grpSpPr>
        <p:sp>
          <p:nvSpPr>
            <p:cNvPr id="13322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3323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28319678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962025" y="1558925"/>
            <a:ext cx="9969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835150" y="1557338"/>
            <a:ext cx="18097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3460750" y="1557338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14345" name="Group 9"/>
          <p:cNvGrpSpPr>
            <a:grpSpLocks/>
          </p:cNvGrpSpPr>
          <p:nvPr/>
        </p:nvGrpSpPr>
        <p:grpSpPr bwMode="auto">
          <a:xfrm>
            <a:off x="3187700" y="4300538"/>
            <a:ext cx="685800" cy="457200"/>
            <a:chOff x="2064" y="3024"/>
            <a:chExt cx="432" cy="288"/>
          </a:xfrm>
        </p:grpSpPr>
        <p:sp>
          <p:nvSpPr>
            <p:cNvPr id="14346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347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4603750" y="1557338"/>
            <a:ext cx="1403350" cy="252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4349" name="Group 13"/>
          <p:cNvGrpSpPr>
            <a:grpSpLocks/>
          </p:cNvGrpSpPr>
          <p:nvPr/>
        </p:nvGrpSpPr>
        <p:grpSpPr bwMode="auto">
          <a:xfrm>
            <a:off x="4406900" y="3309938"/>
            <a:ext cx="685800" cy="990600"/>
            <a:chOff x="2832" y="2400"/>
            <a:chExt cx="432" cy="624"/>
          </a:xfrm>
        </p:grpSpPr>
        <p:sp>
          <p:nvSpPr>
            <p:cNvPr id="14350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1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2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53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13662139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962025" y="1558925"/>
            <a:ext cx="9969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1835150" y="1557338"/>
            <a:ext cx="18097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3460750" y="1557338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15369" name="Group 9"/>
          <p:cNvGrpSpPr>
            <a:grpSpLocks/>
          </p:cNvGrpSpPr>
          <p:nvPr/>
        </p:nvGrpSpPr>
        <p:grpSpPr bwMode="auto">
          <a:xfrm>
            <a:off x="3187700" y="4300538"/>
            <a:ext cx="685800" cy="457200"/>
            <a:chOff x="2064" y="3024"/>
            <a:chExt cx="432" cy="288"/>
          </a:xfrm>
        </p:grpSpPr>
        <p:sp>
          <p:nvSpPr>
            <p:cNvPr id="15370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5371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4603750" y="1557338"/>
            <a:ext cx="1403350" cy="252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5373" name="Group 13"/>
          <p:cNvGrpSpPr>
            <a:grpSpLocks/>
          </p:cNvGrpSpPr>
          <p:nvPr/>
        </p:nvGrpSpPr>
        <p:grpSpPr bwMode="auto">
          <a:xfrm>
            <a:off x="4406900" y="3309938"/>
            <a:ext cx="685800" cy="990600"/>
            <a:chOff x="2832" y="2400"/>
            <a:chExt cx="432" cy="624"/>
          </a:xfrm>
        </p:grpSpPr>
        <p:sp>
          <p:nvSpPr>
            <p:cNvPr id="15374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5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76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77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5746750" y="1557338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5379" name="Group 19"/>
          <p:cNvGrpSpPr>
            <a:grpSpLocks/>
          </p:cNvGrpSpPr>
          <p:nvPr/>
        </p:nvGrpSpPr>
        <p:grpSpPr bwMode="auto">
          <a:xfrm>
            <a:off x="5549900" y="3309938"/>
            <a:ext cx="685800" cy="457200"/>
            <a:chOff x="2064" y="3024"/>
            <a:chExt cx="432" cy="288"/>
          </a:xfrm>
        </p:grpSpPr>
        <p:sp>
          <p:nvSpPr>
            <p:cNvPr id="15380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5381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34603863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065213" y="1630363"/>
            <a:ext cx="9969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938338" y="1628775"/>
            <a:ext cx="18097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3563938" y="1628775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16393" name="Group 9"/>
          <p:cNvGrpSpPr>
            <a:grpSpLocks/>
          </p:cNvGrpSpPr>
          <p:nvPr/>
        </p:nvGrpSpPr>
        <p:grpSpPr bwMode="auto">
          <a:xfrm>
            <a:off x="3290888" y="4371975"/>
            <a:ext cx="685800" cy="457200"/>
            <a:chOff x="2064" y="3024"/>
            <a:chExt cx="432" cy="288"/>
          </a:xfrm>
        </p:grpSpPr>
        <p:sp>
          <p:nvSpPr>
            <p:cNvPr id="16394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6395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4706938" y="1628775"/>
            <a:ext cx="140335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6397" name="Group 13"/>
          <p:cNvGrpSpPr>
            <a:grpSpLocks/>
          </p:cNvGrpSpPr>
          <p:nvPr/>
        </p:nvGrpSpPr>
        <p:grpSpPr bwMode="auto">
          <a:xfrm>
            <a:off x="4510088" y="3381375"/>
            <a:ext cx="685800" cy="990600"/>
            <a:chOff x="2832" y="2400"/>
            <a:chExt cx="432" cy="624"/>
          </a:xfrm>
        </p:grpSpPr>
        <p:sp>
          <p:nvSpPr>
            <p:cNvPr id="16398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9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00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01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5849938" y="1628775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6403" name="Group 19"/>
          <p:cNvGrpSpPr>
            <a:grpSpLocks/>
          </p:cNvGrpSpPr>
          <p:nvPr/>
        </p:nvGrpSpPr>
        <p:grpSpPr bwMode="auto">
          <a:xfrm>
            <a:off x="5653088" y="3381375"/>
            <a:ext cx="685800" cy="457200"/>
            <a:chOff x="2064" y="3024"/>
            <a:chExt cx="432" cy="288"/>
          </a:xfrm>
        </p:grpSpPr>
        <p:sp>
          <p:nvSpPr>
            <p:cNvPr id="16404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6405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6992938" y="1628775"/>
            <a:ext cx="1403350" cy="187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第四步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0.6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6407" name="Group 23"/>
          <p:cNvGrpSpPr>
            <a:grpSpLocks/>
          </p:cNvGrpSpPr>
          <p:nvPr/>
        </p:nvGrpSpPr>
        <p:grpSpPr bwMode="auto">
          <a:xfrm>
            <a:off x="6796088" y="2390775"/>
            <a:ext cx="685800" cy="990600"/>
            <a:chOff x="2832" y="2400"/>
            <a:chExt cx="432" cy="624"/>
          </a:xfrm>
        </p:grpSpPr>
        <p:sp>
          <p:nvSpPr>
            <p:cNvPr id="16408" name="AutoShape 2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9" name="Line 2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0" name="Line 2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1" name="Line 2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40919791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8229600" cy="838200"/>
          </a:xfrm>
        </p:spPr>
        <p:txBody>
          <a:bodyPr/>
          <a:lstStyle/>
          <a:p>
            <a:r>
              <a:rPr lang="en-US" altLang="zh-CN">
                <a:solidFill>
                  <a:srgbClr val="CC3300"/>
                </a:solidFill>
                <a:ea typeface="华文新魏" pitchFamily="2" charset="-122"/>
              </a:rPr>
              <a:t>Huffman</a:t>
            </a:r>
            <a:r>
              <a:rPr lang="zh-CN" altLang="en-US">
                <a:solidFill>
                  <a:srgbClr val="CC3300"/>
                </a:solidFill>
                <a:latin typeface="华文新魏" pitchFamily="2" charset="-122"/>
                <a:ea typeface="华文新魏" pitchFamily="2" charset="-122"/>
              </a:rPr>
              <a:t>编码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1042988" y="404813"/>
            <a:ext cx="763587" cy="763587"/>
            <a:chOff x="815" y="1104"/>
            <a:chExt cx="481" cy="481"/>
          </a:xfrm>
        </p:grpSpPr>
        <p:sp>
          <p:nvSpPr>
            <p:cNvPr id="17412" name="Oval 4"/>
            <p:cNvSpPr>
              <a:spLocks noChangeArrowheads="1"/>
            </p:cNvSpPr>
            <p:nvPr/>
          </p:nvSpPr>
          <p:spPr bwMode="auto">
            <a:xfrm>
              <a:off x="815" y="1104"/>
              <a:ext cx="481" cy="48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3" name="WordArt 5"/>
            <p:cNvSpPr>
              <a:spLocks noChangeArrowheads="1" noChangeShapeType="1" noTextEdit="1"/>
            </p:cNvSpPr>
            <p:nvPr/>
          </p:nvSpPr>
          <p:spPr bwMode="auto">
            <a:xfrm>
              <a:off x="912" y="1200"/>
              <a:ext cx="288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EAEAEA"/>
                    </a:solidFill>
                    <a:round/>
                    <a:headEnd/>
                    <a:tailEnd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/>
                    </a:outerShdw>
                  </a:effectLst>
                  <a:latin typeface="华文新魏"/>
                  <a:ea typeface="华文新魏"/>
                </a:rPr>
                <a:t>例</a:t>
              </a:r>
            </a:p>
          </p:txBody>
        </p:sp>
      </p:grp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819150" y="1630363"/>
            <a:ext cx="9969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692275" y="1628775"/>
            <a:ext cx="18097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317875" y="1628775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17417" name="Group 9"/>
          <p:cNvGrpSpPr>
            <a:grpSpLocks/>
          </p:cNvGrpSpPr>
          <p:nvPr/>
        </p:nvGrpSpPr>
        <p:grpSpPr bwMode="auto">
          <a:xfrm>
            <a:off x="3044825" y="4371975"/>
            <a:ext cx="685800" cy="457200"/>
            <a:chOff x="2064" y="3024"/>
            <a:chExt cx="432" cy="288"/>
          </a:xfrm>
        </p:grpSpPr>
        <p:sp>
          <p:nvSpPr>
            <p:cNvPr id="17418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7419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4460875" y="1628775"/>
            <a:ext cx="140335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7421" name="Group 13"/>
          <p:cNvGrpSpPr>
            <a:grpSpLocks/>
          </p:cNvGrpSpPr>
          <p:nvPr/>
        </p:nvGrpSpPr>
        <p:grpSpPr bwMode="auto">
          <a:xfrm>
            <a:off x="4264025" y="3381375"/>
            <a:ext cx="685800" cy="990600"/>
            <a:chOff x="2832" y="2400"/>
            <a:chExt cx="432" cy="624"/>
          </a:xfrm>
        </p:grpSpPr>
        <p:sp>
          <p:nvSpPr>
            <p:cNvPr id="17422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5603875" y="1628775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7427" name="Group 19"/>
          <p:cNvGrpSpPr>
            <a:grpSpLocks/>
          </p:cNvGrpSpPr>
          <p:nvPr/>
        </p:nvGrpSpPr>
        <p:grpSpPr bwMode="auto">
          <a:xfrm>
            <a:off x="5407025" y="3381375"/>
            <a:ext cx="685800" cy="457200"/>
            <a:chOff x="2064" y="3024"/>
            <a:chExt cx="432" cy="288"/>
          </a:xfrm>
        </p:grpSpPr>
        <p:sp>
          <p:nvSpPr>
            <p:cNvPr id="17428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7429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6746875" y="1628775"/>
            <a:ext cx="1403350" cy="187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第四步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0.6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7431" name="Group 23"/>
          <p:cNvGrpSpPr>
            <a:grpSpLocks/>
          </p:cNvGrpSpPr>
          <p:nvPr/>
        </p:nvGrpSpPr>
        <p:grpSpPr bwMode="auto">
          <a:xfrm>
            <a:off x="6550025" y="2390775"/>
            <a:ext cx="685800" cy="990600"/>
            <a:chOff x="2832" y="2400"/>
            <a:chExt cx="432" cy="624"/>
          </a:xfrm>
        </p:grpSpPr>
        <p:sp>
          <p:nvSpPr>
            <p:cNvPr id="17432" name="AutoShape 2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Line 2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4" name="Line 2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35" name="Line 2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3028950" y="40671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4257675" y="3609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5400675" y="30765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6619875" y="26193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7839075" y="2085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845867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7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7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10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15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20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7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7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400"/>
                            </p:stCondLst>
                            <p:childTnLst>
                              <p:par>
                                <p:cTn id="25" presetID="23" presetClass="entr" presetSubtype="3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7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7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6" grpId="0" autoUpdateAnimBg="0"/>
      <p:bldP spid="17437" grpId="0" autoUpdateAnimBg="0"/>
      <p:bldP spid="17438" grpId="0" autoUpdateAnimBg="0"/>
      <p:bldP spid="17439" grpId="0" autoUpdateAnimBg="0"/>
      <p:bldP spid="17440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074738" y="1701800"/>
            <a:ext cx="9969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1947863" y="1700213"/>
            <a:ext cx="18097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573463" y="1700213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18441" name="Group 9"/>
          <p:cNvGrpSpPr>
            <a:grpSpLocks/>
          </p:cNvGrpSpPr>
          <p:nvPr/>
        </p:nvGrpSpPr>
        <p:grpSpPr bwMode="auto">
          <a:xfrm>
            <a:off x="3300413" y="4443413"/>
            <a:ext cx="685800" cy="457200"/>
            <a:chOff x="2064" y="3024"/>
            <a:chExt cx="432" cy="288"/>
          </a:xfrm>
        </p:grpSpPr>
        <p:sp>
          <p:nvSpPr>
            <p:cNvPr id="18442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8443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4716463" y="1700213"/>
            <a:ext cx="1403350" cy="252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8445" name="Group 13"/>
          <p:cNvGrpSpPr>
            <a:grpSpLocks/>
          </p:cNvGrpSpPr>
          <p:nvPr/>
        </p:nvGrpSpPr>
        <p:grpSpPr bwMode="auto">
          <a:xfrm>
            <a:off x="4519613" y="3452813"/>
            <a:ext cx="685800" cy="990600"/>
            <a:chOff x="2832" y="2400"/>
            <a:chExt cx="432" cy="624"/>
          </a:xfrm>
        </p:grpSpPr>
        <p:sp>
          <p:nvSpPr>
            <p:cNvPr id="18446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5859463" y="1700213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8451" name="Group 19"/>
          <p:cNvGrpSpPr>
            <a:grpSpLocks/>
          </p:cNvGrpSpPr>
          <p:nvPr/>
        </p:nvGrpSpPr>
        <p:grpSpPr bwMode="auto">
          <a:xfrm>
            <a:off x="5662613" y="3452813"/>
            <a:ext cx="685800" cy="457200"/>
            <a:chOff x="2064" y="3024"/>
            <a:chExt cx="432" cy="288"/>
          </a:xfrm>
        </p:grpSpPr>
        <p:sp>
          <p:nvSpPr>
            <p:cNvPr id="18452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8453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7002463" y="1700213"/>
            <a:ext cx="1403350" cy="187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第四步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0.6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8455" name="Group 23"/>
          <p:cNvGrpSpPr>
            <a:grpSpLocks/>
          </p:cNvGrpSpPr>
          <p:nvPr/>
        </p:nvGrpSpPr>
        <p:grpSpPr bwMode="auto">
          <a:xfrm>
            <a:off x="6805613" y="2462213"/>
            <a:ext cx="685800" cy="990600"/>
            <a:chOff x="2832" y="2400"/>
            <a:chExt cx="432" cy="624"/>
          </a:xfrm>
        </p:grpSpPr>
        <p:sp>
          <p:nvSpPr>
            <p:cNvPr id="18456" name="AutoShape 2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7" name="Line 2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8" name="Line 2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59" name="Line 2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3284538" y="41386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4513263" y="36814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5656263" y="31480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6875463" y="26908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8094663" y="21574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7110413" y="5205413"/>
            <a:ext cx="974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=1</a:t>
            </a:r>
          </a:p>
        </p:txBody>
      </p:sp>
      <p:grpSp>
        <p:nvGrpSpPr>
          <p:cNvPr id="18466" name="Group 34"/>
          <p:cNvGrpSpPr>
            <a:grpSpLocks/>
          </p:cNvGrpSpPr>
          <p:nvPr/>
        </p:nvGrpSpPr>
        <p:grpSpPr bwMode="auto">
          <a:xfrm>
            <a:off x="2081213" y="2386013"/>
            <a:ext cx="6019800" cy="609600"/>
            <a:chOff x="1296" y="1728"/>
            <a:chExt cx="3792" cy="384"/>
          </a:xfrm>
        </p:grpSpPr>
        <p:sp>
          <p:nvSpPr>
            <p:cNvPr id="18467" name="Line 35"/>
            <p:cNvSpPr>
              <a:spLocks noChangeShapeType="1"/>
            </p:cNvSpPr>
            <p:nvPr/>
          </p:nvSpPr>
          <p:spPr bwMode="auto">
            <a:xfrm flipH="1">
              <a:off x="1296" y="1728"/>
              <a:ext cx="321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68" name="Line 36"/>
            <p:cNvSpPr>
              <a:spLocks noChangeShapeType="1"/>
            </p:cNvSpPr>
            <p:nvPr/>
          </p:nvSpPr>
          <p:spPr bwMode="auto">
            <a:xfrm>
              <a:off x="4512" y="1728"/>
              <a:ext cx="0" cy="384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69" name="Line 37"/>
            <p:cNvSpPr>
              <a:spLocks noChangeShapeType="1"/>
            </p:cNvSpPr>
            <p:nvPr/>
          </p:nvSpPr>
          <p:spPr bwMode="auto">
            <a:xfrm>
              <a:off x="4512" y="2112"/>
              <a:ext cx="5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23134192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035050" y="1630363"/>
            <a:ext cx="9969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1908175" y="1628775"/>
            <a:ext cx="18097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3533775" y="1628775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19465" name="Group 9"/>
          <p:cNvGrpSpPr>
            <a:grpSpLocks/>
          </p:cNvGrpSpPr>
          <p:nvPr/>
        </p:nvGrpSpPr>
        <p:grpSpPr bwMode="auto">
          <a:xfrm>
            <a:off x="3260725" y="4371975"/>
            <a:ext cx="685800" cy="457200"/>
            <a:chOff x="2064" y="3024"/>
            <a:chExt cx="432" cy="288"/>
          </a:xfrm>
        </p:grpSpPr>
        <p:sp>
          <p:nvSpPr>
            <p:cNvPr id="19466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9467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4676775" y="1628775"/>
            <a:ext cx="140335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9469" name="Group 13"/>
          <p:cNvGrpSpPr>
            <a:grpSpLocks/>
          </p:cNvGrpSpPr>
          <p:nvPr/>
        </p:nvGrpSpPr>
        <p:grpSpPr bwMode="auto">
          <a:xfrm>
            <a:off x="4479925" y="3381375"/>
            <a:ext cx="685800" cy="990600"/>
            <a:chOff x="2832" y="2400"/>
            <a:chExt cx="432" cy="624"/>
          </a:xfrm>
        </p:grpSpPr>
        <p:sp>
          <p:nvSpPr>
            <p:cNvPr id="19470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1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2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73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9474" name="Text Box 18"/>
          <p:cNvSpPr txBox="1">
            <a:spLocks noChangeArrowheads="1"/>
          </p:cNvSpPr>
          <p:nvPr/>
        </p:nvSpPr>
        <p:spPr bwMode="auto">
          <a:xfrm>
            <a:off x="5819775" y="1628775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9475" name="Group 19"/>
          <p:cNvGrpSpPr>
            <a:grpSpLocks/>
          </p:cNvGrpSpPr>
          <p:nvPr/>
        </p:nvGrpSpPr>
        <p:grpSpPr bwMode="auto">
          <a:xfrm>
            <a:off x="5622925" y="3381375"/>
            <a:ext cx="685800" cy="457200"/>
            <a:chOff x="2064" y="3024"/>
            <a:chExt cx="432" cy="288"/>
          </a:xfrm>
        </p:grpSpPr>
        <p:sp>
          <p:nvSpPr>
            <p:cNvPr id="19476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9477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6962775" y="1628775"/>
            <a:ext cx="1403350" cy="187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第四步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0.6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19479" name="Group 23"/>
          <p:cNvGrpSpPr>
            <a:grpSpLocks/>
          </p:cNvGrpSpPr>
          <p:nvPr/>
        </p:nvGrpSpPr>
        <p:grpSpPr bwMode="auto">
          <a:xfrm>
            <a:off x="6765925" y="2390775"/>
            <a:ext cx="685800" cy="990600"/>
            <a:chOff x="2832" y="2400"/>
            <a:chExt cx="432" cy="624"/>
          </a:xfrm>
        </p:grpSpPr>
        <p:sp>
          <p:nvSpPr>
            <p:cNvPr id="19480" name="AutoShape 2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1" name="Line 2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2" name="Line 2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83" name="Line 2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3244850" y="40671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4473575" y="3609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5616575" y="30765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9487" name="Text Box 31"/>
          <p:cNvSpPr txBox="1">
            <a:spLocks noChangeArrowheads="1"/>
          </p:cNvSpPr>
          <p:nvPr/>
        </p:nvSpPr>
        <p:spPr bwMode="auto">
          <a:xfrm>
            <a:off x="6835775" y="26193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8054975" y="2085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19489" name="Text Box 33"/>
          <p:cNvSpPr txBox="1">
            <a:spLocks noChangeArrowheads="1"/>
          </p:cNvSpPr>
          <p:nvPr/>
        </p:nvSpPr>
        <p:spPr bwMode="auto">
          <a:xfrm>
            <a:off x="7070725" y="5133975"/>
            <a:ext cx="1177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=00</a:t>
            </a:r>
          </a:p>
        </p:txBody>
      </p:sp>
      <p:grpSp>
        <p:nvGrpSpPr>
          <p:cNvPr id="19490" name="Group 34"/>
          <p:cNvGrpSpPr>
            <a:grpSpLocks/>
          </p:cNvGrpSpPr>
          <p:nvPr/>
        </p:nvGrpSpPr>
        <p:grpSpPr bwMode="auto">
          <a:xfrm>
            <a:off x="2041525" y="2314575"/>
            <a:ext cx="6019800" cy="609600"/>
            <a:chOff x="1296" y="1728"/>
            <a:chExt cx="3792" cy="384"/>
          </a:xfrm>
        </p:grpSpPr>
        <p:sp>
          <p:nvSpPr>
            <p:cNvPr id="19491" name="Line 35"/>
            <p:cNvSpPr>
              <a:spLocks noChangeShapeType="1"/>
            </p:cNvSpPr>
            <p:nvPr/>
          </p:nvSpPr>
          <p:spPr bwMode="auto">
            <a:xfrm flipH="1">
              <a:off x="1296" y="2112"/>
              <a:ext cx="321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92" name="Line 36"/>
            <p:cNvSpPr>
              <a:spLocks noChangeShapeType="1"/>
            </p:cNvSpPr>
            <p:nvPr/>
          </p:nvSpPr>
          <p:spPr bwMode="auto">
            <a:xfrm>
              <a:off x="4512" y="1728"/>
              <a:ext cx="0" cy="384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493" name="Line 37"/>
            <p:cNvSpPr>
              <a:spLocks noChangeShapeType="1"/>
            </p:cNvSpPr>
            <p:nvPr/>
          </p:nvSpPr>
          <p:spPr bwMode="auto">
            <a:xfrm>
              <a:off x="4512" y="1728"/>
              <a:ext cx="5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151654166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" fill="hold"/>
                                        <p:tgtEl>
                                          <p:spTgt spid="19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19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9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001713" y="1630363"/>
            <a:ext cx="9969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874838" y="1628775"/>
            <a:ext cx="18097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3500438" y="1628775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20489" name="Group 9"/>
          <p:cNvGrpSpPr>
            <a:grpSpLocks/>
          </p:cNvGrpSpPr>
          <p:nvPr/>
        </p:nvGrpSpPr>
        <p:grpSpPr bwMode="auto">
          <a:xfrm>
            <a:off x="3227388" y="4371975"/>
            <a:ext cx="685800" cy="457200"/>
            <a:chOff x="2064" y="3024"/>
            <a:chExt cx="432" cy="288"/>
          </a:xfrm>
        </p:grpSpPr>
        <p:sp>
          <p:nvSpPr>
            <p:cNvPr id="20490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0491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4643438" y="1628775"/>
            <a:ext cx="140335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0493" name="Group 13"/>
          <p:cNvGrpSpPr>
            <a:grpSpLocks/>
          </p:cNvGrpSpPr>
          <p:nvPr/>
        </p:nvGrpSpPr>
        <p:grpSpPr bwMode="auto">
          <a:xfrm>
            <a:off x="4446588" y="3381375"/>
            <a:ext cx="685800" cy="990600"/>
            <a:chOff x="2832" y="2400"/>
            <a:chExt cx="432" cy="624"/>
          </a:xfrm>
        </p:grpSpPr>
        <p:sp>
          <p:nvSpPr>
            <p:cNvPr id="20494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5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496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497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5786438" y="1628775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0499" name="Group 19"/>
          <p:cNvGrpSpPr>
            <a:grpSpLocks/>
          </p:cNvGrpSpPr>
          <p:nvPr/>
        </p:nvGrpSpPr>
        <p:grpSpPr bwMode="auto">
          <a:xfrm>
            <a:off x="5589588" y="3381375"/>
            <a:ext cx="685800" cy="457200"/>
            <a:chOff x="2064" y="3024"/>
            <a:chExt cx="432" cy="288"/>
          </a:xfrm>
        </p:grpSpPr>
        <p:sp>
          <p:nvSpPr>
            <p:cNvPr id="20500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0501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6961188" y="1628775"/>
            <a:ext cx="1403350" cy="187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第四步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0.6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0503" name="Group 23"/>
          <p:cNvGrpSpPr>
            <a:grpSpLocks/>
          </p:cNvGrpSpPr>
          <p:nvPr/>
        </p:nvGrpSpPr>
        <p:grpSpPr bwMode="auto">
          <a:xfrm>
            <a:off x="6732588" y="2390775"/>
            <a:ext cx="685800" cy="990600"/>
            <a:chOff x="2832" y="2400"/>
            <a:chExt cx="432" cy="624"/>
          </a:xfrm>
        </p:grpSpPr>
        <p:sp>
          <p:nvSpPr>
            <p:cNvPr id="20504" name="AutoShape 2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5" name="Line 2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06" name="Line 2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07" name="Line 2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0508" name="Text Box 28"/>
          <p:cNvSpPr txBox="1">
            <a:spLocks noChangeArrowheads="1"/>
          </p:cNvSpPr>
          <p:nvPr/>
        </p:nvSpPr>
        <p:spPr bwMode="auto">
          <a:xfrm>
            <a:off x="3211513" y="40671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4440238" y="3609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5583238" y="30765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0511" name="Text Box 31"/>
          <p:cNvSpPr txBox="1">
            <a:spLocks noChangeArrowheads="1"/>
          </p:cNvSpPr>
          <p:nvPr/>
        </p:nvSpPr>
        <p:spPr bwMode="auto">
          <a:xfrm>
            <a:off x="6802438" y="26193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8021638" y="2085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0513" name="Text Box 33"/>
          <p:cNvSpPr txBox="1">
            <a:spLocks noChangeArrowheads="1"/>
          </p:cNvSpPr>
          <p:nvPr/>
        </p:nvSpPr>
        <p:spPr bwMode="auto">
          <a:xfrm>
            <a:off x="7037388" y="5133975"/>
            <a:ext cx="1381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=011</a:t>
            </a:r>
          </a:p>
        </p:txBody>
      </p:sp>
      <p:grpSp>
        <p:nvGrpSpPr>
          <p:cNvPr id="20514" name="Group 34"/>
          <p:cNvGrpSpPr>
            <a:grpSpLocks/>
          </p:cNvGrpSpPr>
          <p:nvPr/>
        </p:nvGrpSpPr>
        <p:grpSpPr bwMode="auto">
          <a:xfrm>
            <a:off x="2008188" y="2314575"/>
            <a:ext cx="6019800" cy="1524000"/>
            <a:chOff x="1296" y="1728"/>
            <a:chExt cx="3792" cy="960"/>
          </a:xfrm>
        </p:grpSpPr>
        <p:sp>
          <p:nvSpPr>
            <p:cNvPr id="20515" name="Line 35"/>
            <p:cNvSpPr>
              <a:spLocks noChangeShapeType="1"/>
            </p:cNvSpPr>
            <p:nvPr/>
          </p:nvSpPr>
          <p:spPr bwMode="auto">
            <a:xfrm flipH="1">
              <a:off x="1296" y="2400"/>
              <a:ext cx="17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16" name="Line 36"/>
            <p:cNvSpPr>
              <a:spLocks noChangeShapeType="1"/>
            </p:cNvSpPr>
            <p:nvPr/>
          </p:nvSpPr>
          <p:spPr bwMode="auto">
            <a:xfrm>
              <a:off x="4512" y="1728"/>
              <a:ext cx="0" cy="624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17" name="Line 37"/>
            <p:cNvSpPr>
              <a:spLocks noChangeShapeType="1"/>
            </p:cNvSpPr>
            <p:nvPr/>
          </p:nvSpPr>
          <p:spPr bwMode="auto">
            <a:xfrm>
              <a:off x="4512" y="1728"/>
              <a:ext cx="5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18" name="Line 38"/>
            <p:cNvSpPr>
              <a:spLocks noChangeShapeType="1"/>
            </p:cNvSpPr>
            <p:nvPr/>
          </p:nvSpPr>
          <p:spPr bwMode="auto">
            <a:xfrm flipH="1">
              <a:off x="3744" y="2352"/>
              <a:ext cx="768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19" name="Line 39"/>
            <p:cNvSpPr>
              <a:spLocks noChangeShapeType="1"/>
            </p:cNvSpPr>
            <p:nvPr/>
          </p:nvSpPr>
          <p:spPr bwMode="auto">
            <a:xfrm>
              <a:off x="3744" y="2352"/>
              <a:ext cx="0" cy="336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20" name="Line 40"/>
            <p:cNvSpPr>
              <a:spLocks noChangeShapeType="1"/>
            </p:cNvSpPr>
            <p:nvPr/>
          </p:nvSpPr>
          <p:spPr bwMode="auto">
            <a:xfrm flipH="1">
              <a:off x="3072" y="2688"/>
              <a:ext cx="672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21" name="Line 41"/>
            <p:cNvSpPr>
              <a:spLocks noChangeShapeType="1"/>
            </p:cNvSpPr>
            <p:nvPr/>
          </p:nvSpPr>
          <p:spPr bwMode="auto">
            <a:xfrm>
              <a:off x="3072" y="2400"/>
              <a:ext cx="0" cy="288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4789944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" fill="hold"/>
                                        <p:tgtEl>
                                          <p:spTgt spid="20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20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962025" y="1630363"/>
            <a:ext cx="9969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1835150" y="1628775"/>
            <a:ext cx="18097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3460750" y="1628775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21513" name="Group 9"/>
          <p:cNvGrpSpPr>
            <a:grpSpLocks/>
          </p:cNvGrpSpPr>
          <p:nvPr/>
        </p:nvGrpSpPr>
        <p:grpSpPr bwMode="auto">
          <a:xfrm>
            <a:off x="3187700" y="4371975"/>
            <a:ext cx="685800" cy="457200"/>
            <a:chOff x="2064" y="3024"/>
            <a:chExt cx="432" cy="288"/>
          </a:xfrm>
        </p:grpSpPr>
        <p:sp>
          <p:nvSpPr>
            <p:cNvPr id="21514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1515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4603750" y="1628775"/>
            <a:ext cx="140335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1517" name="Group 13"/>
          <p:cNvGrpSpPr>
            <a:grpSpLocks/>
          </p:cNvGrpSpPr>
          <p:nvPr/>
        </p:nvGrpSpPr>
        <p:grpSpPr bwMode="auto">
          <a:xfrm>
            <a:off x="4406900" y="3381375"/>
            <a:ext cx="685800" cy="990600"/>
            <a:chOff x="2832" y="2400"/>
            <a:chExt cx="432" cy="624"/>
          </a:xfrm>
        </p:grpSpPr>
        <p:sp>
          <p:nvSpPr>
            <p:cNvPr id="21518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9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20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21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5746750" y="1628775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1523" name="Group 19"/>
          <p:cNvGrpSpPr>
            <a:grpSpLocks/>
          </p:cNvGrpSpPr>
          <p:nvPr/>
        </p:nvGrpSpPr>
        <p:grpSpPr bwMode="auto">
          <a:xfrm>
            <a:off x="5549900" y="3381375"/>
            <a:ext cx="685800" cy="457200"/>
            <a:chOff x="2064" y="3024"/>
            <a:chExt cx="432" cy="288"/>
          </a:xfrm>
        </p:grpSpPr>
        <p:sp>
          <p:nvSpPr>
            <p:cNvPr id="21524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1525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6889750" y="1628775"/>
            <a:ext cx="1403350" cy="187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第四步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0.6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1527" name="Group 23"/>
          <p:cNvGrpSpPr>
            <a:grpSpLocks/>
          </p:cNvGrpSpPr>
          <p:nvPr/>
        </p:nvGrpSpPr>
        <p:grpSpPr bwMode="auto">
          <a:xfrm>
            <a:off x="6692900" y="2390775"/>
            <a:ext cx="685800" cy="990600"/>
            <a:chOff x="2832" y="2400"/>
            <a:chExt cx="432" cy="624"/>
          </a:xfrm>
        </p:grpSpPr>
        <p:sp>
          <p:nvSpPr>
            <p:cNvPr id="21528" name="AutoShape 2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9" name="Line 2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30" name="Line 2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31" name="Line 2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3171825" y="40671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4400550" y="3609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5543550" y="30765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6762750" y="26193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1536" name="Text Box 32"/>
          <p:cNvSpPr txBox="1">
            <a:spLocks noChangeArrowheads="1"/>
          </p:cNvSpPr>
          <p:nvPr/>
        </p:nvSpPr>
        <p:spPr bwMode="auto">
          <a:xfrm>
            <a:off x="7981950" y="2085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1537" name="Text Box 33"/>
          <p:cNvSpPr txBox="1">
            <a:spLocks noChangeArrowheads="1"/>
          </p:cNvSpPr>
          <p:nvPr/>
        </p:nvSpPr>
        <p:spPr bwMode="auto">
          <a:xfrm>
            <a:off x="6997700" y="5133975"/>
            <a:ext cx="1584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=0100</a:t>
            </a:r>
          </a:p>
        </p:txBody>
      </p:sp>
      <p:grpSp>
        <p:nvGrpSpPr>
          <p:cNvPr id="21538" name="Group 34"/>
          <p:cNvGrpSpPr>
            <a:grpSpLocks/>
          </p:cNvGrpSpPr>
          <p:nvPr/>
        </p:nvGrpSpPr>
        <p:grpSpPr bwMode="auto">
          <a:xfrm>
            <a:off x="1968500" y="2314575"/>
            <a:ext cx="6019800" cy="1600200"/>
            <a:chOff x="1296" y="1728"/>
            <a:chExt cx="3792" cy="1008"/>
          </a:xfrm>
        </p:grpSpPr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 flipH="1">
              <a:off x="1296" y="2736"/>
              <a:ext cx="17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0" name="Line 36"/>
            <p:cNvSpPr>
              <a:spLocks noChangeShapeType="1"/>
            </p:cNvSpPr>
            <p:nvPr/>
          </p:nvSpPr>
          <p:spPr bwMode="auto">
            <a:xfrm>
              <a:off x="4512" y="1728"/>
              <a:ext cx="0" cy="624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1" name="Line 37"/>
            <p:cNvSpPr>
              <a:spLocks noChangeShapeType="1"/>
            </p:cNvSpPr>
            <p:nvPr/>
          </p:nvSpPr>
          <p:spPr bwMode="auto">
            <a:xfrm>
              <a:off x="4512" y="1728"/>
              <a:ext cx="5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2" name="Line 38"/>
            <p:cNvSpPr>
              <a:spLocks noChangeShapeType="1"/>
            </p:cNvSpPr>
            <p:nvPr/>
          </p:nvSpPr>
          <p:spPr bwMode="auto">
            <a:xfrm flipH="1">
              <a:off x="3072" y="2352"/>
              <a:ext cx="1440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43" name="Line 39"/>
            <p:cNvSpPr>
              <a:spLocks noChangeShapeType="1"/>
            </p:cNvSpPr>
            <p:nvPr/>
          </p:nvSpPr>
          <p:spPr bwMode="auto">
            <a:xfrm>
              <a:off x="3072" y="2352"/>
              <a:ext cx="0" cy="384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1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416992050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7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962025" y="1701800"/>
            <a:ext cx="9969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1835150" y="1700213"/>
            <a:ext cx="18097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460750" y="1700213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22537" name="Group 9"/>
          <p:cNvGrpSpPr>
            <a:grpSpLocks/>
          </p:cNvGrpSpPr>
          <p:nvPr/>
        </p:nvGrpSpPr>
        <p:grpSpPr bwMode="auto">
          <a:xfrm>
            <a:off x="3187700" y="4443413"/>
            <a:ext cx="685800" cy="457200"/>
            <a:chOff x="2064" y="3024"/>
            <a:chExt cx="432" cy="288"/>
          </a:xfrm>
        </p:grpSpPr>
        <p:sp>
          <p:nvSpPr>
            <p:cNvPr id="22538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2539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4603750" y="1700213"/>
            <a:ext cx="1403350" cy="252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2541" name="Group 13"/>
          <p:cNvGrpSpPr>
            <a:grpSpLocks/>
          </p:cNvGrpSpPr>
          <p:nvPr/>
        </p:nvGrpSpPr>
        <p:grpSpPr bwMode="auto">
          <a:xfrm>
            <a:off x="4406900" y="3452813"/>
            <a:ext cx="685800" cy="990600"/>
            <a:chOff x="2832" y="2400"/>
            <a:chExt cx="432" cy="624"/>
          </a:xfrm>
        </p:grpSpPr>
        <p:sp>
          <p:nvSpPr>
            <p:cNvPr id="22542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3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4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5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5746750" y="1700213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2547" name="Group 19"/>
          <p:cNvGrpSpPr>
            <a:grpSpLocks/>
          </p:cNvGrpSpPr>
          <p:nvPr/>
        </p:nvGrpSpPr>
        <p:grpSpPr bwMode="auto">
          <a:xfrm>
            <a:off x="5549900" y="3452813"/>
            <a:ext cx="685800" cy="457200"/>
            <a:chOff x="2064" y="3024"/>
            <a:chExt cx="432" cy="288"/>
          </a:xfrm>
        </p:grpSpPr>
        <p:sp>
          <p:nvSpPr>
            <p:cNvPr id="22548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2549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6889750" y="1700213"/>
            <a:ext cx="1403350" cy="187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第四步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0.6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2551" name="Group 23"/>
          <p:cNvGrpSpPr>
            <a:grpSpLocks/>
          </p:cNvGrpSpPr>
          <p:nvPr/>
        </p:nvGrpSpPr>
        <p:grpSpPr bwMode="auto">
          <a:xfrm>
            <a:off x="6692900" y="2462213"/>
            <a:ext cx="685800" cy="990600"/>
            <a:chOff x="2832" y="2400"/>
            <a:chExt cx="432" cy="624"/>
          </a:xfrm>
        </p:grpSpPr>
        <p:sp>
          <p:nvSpPr>
            <p:cNvPr id="22552" name="AutoShape 2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3" name="Line 2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4" name="Line 2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5" name="Line 2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3171825" y="41386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4400550" y="36814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>
            <a:off x="5543550" y="31480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6762750" y="26908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2560" name="Text Box 32"/>
          <p:cNvSpPr txBox="1">
            <a:spLocks noChangeArrowheads="1"/>
          </p:cNvSpPr>
          <p:nvPr/>
        </p:nvSpPr>
        <p:spPr bwMode="auto">
          <a:xfrm>
            <a:off x="7981950" y="2157413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2561" name="Text Box 33"/>
          <p:cNvSpPr txBox="1">
            <a:spLocks noChangeArrowheads="1"/>
          </p:cNvSpPr>
          <p:nvPr/>
        </p:nvSpPr>
        <p:spPr bwMode="auto">
          <a:xfrm>
            <a:off x="6997700" y="5205413"/>
            <a:ext cx="1787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=01010</a:t>
            </a:r>
          </a:p>
        </p:txBody>
      </p:sp>
      <p:grpSp>
        <p:nvGrpSpPr>
          <p:cNvPr id="22562" name="Group 34"/>
          <p:cNvGrpSpPr>
            <a:grpSpLocks/>
          </p:cNvGrpSpPr>
          <p:nvPr/>
        </p:nvGrpSpPr>
        <p:grpSpPr bwMode="auto">
          <a:xfrm>
            <a:off x="1968500" y="2386013"/>
            <a:ext cx="6019800" cy="2133600"/>
            <a:chOff x="1296" y="1728"/>
            <a:chExt cx="3792" cy="1344"/>
          </a:xfrm>
        </p:grpSpPr>
        <p:sp>
          <p:nvSpPr>
            <p:cNvPr id="22563" name="Line 35"/>
            <p:cNvSpPr>
              <a:spLocks noChangeShapeType="1"/>
            </p:cNvSpPr>
            <p:nvPr/>
          </p:nvSpPr>
          <p:spPr bwMode="auto">
            <a:xfrm flipH="1">
              <a:off x="1296" y="3072"/>
              <a:ext cx="17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4" name="Line 36"/>
            <p:cNvSpPr>
              <a:spLocks noChangeShapeType="1"/>
            </p:cNvSpPr>
            <p:nvPr/>
          </p:nvSpPr>
          <p:spPr bwMode="auto">
            <a:xfrm>
              <a:off x="4512" y="1728"/>
              <a:ext cx="0" cy="624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5" name="Line 37"/>
            <p:cNvSpPr>
              <a:spLocks noChangeShapeType="1"/>
            </p:cNvSpPr>
            <p:nvPr/>
          </p:nvSpPr>
          <p:spPr bwMode="auto">
            <a:xfrm>
              <a:off x="4512" y="1728"/>
              <a:ext cx="5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6" name="Line 38"/>
            <p:cNvSpPr>
              <a:spLocks noChangeShapeType="1"/>
            </p:cNvSpPr>
            <p:nvPr/>
          </p:nvSpPr>
          <p:spPr bwMode="auto">
            <a:xfrm flipH="1">
              <a:off x="3072" y="2352"/>
              <a:ext cx="1440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67" name="Line 39"/>
            <p:cNvSpPr>
              <a:spLocks noChangeShapeType="1"/>
            </p:cNvSpPr>
            <p:nvPr/>
          </p:nvSpPr>
          <p:spPr bwMode="auto">
            <a:xfrm>
              <a:off x="3072" y="2352"/>
              <a:ext cx="0" cy="72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1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21278872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6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890588" y="1630363"/>
            <a:ext cx="996950" cy="35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3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4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5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endParaRPr kumimoji="1" lang="en-US" altLang="zh-CN" sz="32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1763713" y="1628775"/>
            <a:ext cx="1809750" cy="35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输入概率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0.06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0.04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3389313" y="1628775"/>
            <a:ext cx="1403350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第一步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</a:p>
        </p:txBody>
      </p:sp>
      <p:grpSp>
        <p:nvGrpSpPr>
          <p:cNvPr id="23561" name="Group 9"/>
          <p:cNvGrpSpPr>
            <a:grpSpLocks/>
          </p:cNvGrpSpPr>
          <p:nvPr/>
        </p:nvGrpSpPr>
        <p:grpSpPr bwMode="auto">
          <a:xfrm>
            <a:off x="3116263" y="4371975"/>
            <a:ext cx="685800" cy="457200"/>
            <a:chOff x="2064" y="3024"/>
            <a:chExt cx="432" cy="288"/>
          </a:xfrm>
        </p:grpSpPr>
        <p:sp>
          <p:nvSpPr>
            <p:cNvPr id="23562" name="AutoShape 1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3563" name="AutoShape 1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4532313" y="1628775"/>
            <a:ext cx="140335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第二步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0.2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0.1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3565" name="Group 13"/>
          <p:cNvGrpSpPr>
            <a:grpSpLocks/>
          </p:cNvGrpSpPr>
          <p:nvPr/>
        </p:nvGrpSpPr>
        <p:grpSpPr bwMode="auto">
          <a:xfrm>
            <a:off x="4335463" y="3381375"/>
            <a:ext cx="685800" cy="990600"/>
            <a:chOff x="2832" y="2400"/>
            <a:chExt cx="432" cy="624"/>
          </a:xfrm>
        </p:grpSpPr>
        <p:sp>
          <p:nvSpPr>
            <p:cNvPr id="23566" name="AutoShape 1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Line 1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68" name="Line 1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69" name="Line 1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5675313" y="1628775"/>
            <a:ext cx="140335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第三步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0.3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3571" name="Group 19"/>
          <p:cNvGrpSpPr>
            <a:grpSpLocks/>
          </p:cNvGrpSpPr>
          <p:nvPr/>
        </p:nvGrpSpPr>
        <p:grpSpPr bwMode="auto">
          <a:xfrm>
            <a:off x="5478463" y="3381375"/>
            <a:ext cx="685800" cy="457200"/>
            <a:chOff x="2064" y="3024"/>
            <a:chExt cx="432" cy="288"/>
          </a:xfrm>
        </p:grpSpPr>
        <p:sp>
          <p:nvSpPr>
            <p:cNvPr id="23572" name="AutoShape 20"/>
            <p:cNvSpPr>
              <a:spLocks/>
            </p:cNvSpPr>
            <p:nvPr/>
          </p:nvSpPr>
          <p:spPr bwMode="auto">
            <a:xfrm>
              <a:off x="2064" y="3024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3573" name="AutoShape 21"/>
            <p:cNvCxnSpPr>
              <a:cxnSpLocks noChangeShapeType="1"/>
            </p:cNvCxnSpPr>
            <p:nvPr/>
          </p:nvCxnSpPr>
          <p:spPr bwMode="auto">
            <a:xfrm flipV="1">
              <a:off x="2112" y="3024"/>
              <a:ext cx="384" cy="145"/>
            </a:xfrm>
            <a:prstGeom prst="bent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6818313" y="1628775"/>
            <a:ext cx="1403350" cy="187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3200">
                <a:latin typeface="Times New Roman" pitchFamily="18" charset="0"/>
                <a:ea typeface="华文新魏" pitchFamily="2" charset="-122"/>
              </a:rPr>
              <a:t>第四步</a:t>
            </a: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0.6</a:t>
            </a:r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  <a:p>
            <a:pPr algn="ctr"/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0.4</a:t>
            </a:r>
          </a:p>
          <a:p>
            <a:pPr algn="ctr"/>
            <a:endParaRPr kumimoji="1" lang="en-US" altLang="zh-CN" sz="3200" baseline="-25000"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3575" name="Group 23"/>
          <p:cNvGrpSpPr>
            <a:grpSpLocks/>
          </p:cNvGrpSpPr>
          <p:nvPr/>
        </p:nvGrpSpPr>
        <p:grpSpPr bwMode="auto">
          <a:xfrm>
            <a:off x="6621463" y="2390775"/>
            <a:ext cx="685800" cy="990600"/>
            <a:chOff x="2832" y="2400"/>
            <a:chExt cx="432" cy="624"/>
          </a:xfrm>
        </p:grpSpPr>
        <p:sp>
          <p:nvSpPr>
            <p:cNvPr id="23576" name="AutoShape 24"/>
            <p:cNvSpPr>
              <a:spLocks/>
            </p:cNvSpPr>
            <p:nvPr/>
          </p:nvSpPr>
          <p:spPr bwMode="auto">
            <a:xfrm>
              <a:off x="2832" y="2736"/>
              <a:ext cx="48" cy="288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7" name="Line 25"/>
            <p:cNvSpPr>
              <a:spLocks noChangeShapeType="1"/>
            </p:cNvSpPr>
            <p:nvPr/>
          </p:nvSpPr>
          <p:spPr bwMode="auto">
            <a:xfrm>
              <a:off x="2880" y="2880"/>
              <a:ext cx="24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78" name="Line 26"/>
            <p:cNvSpPr>
              <a:spLocks noChangeShapeType="1"/>
            </p:cNvSpPr>
            <p:nvPr/>
          </p:nvSpPr>
          <p:spPr bwMode="auto">
            <a:xfrm flipV="1">
              <a:off x="3120" y="2400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79" name="Line 27"/>
            <p:cNvSpPr>
              <a:spLocks noChangeShapeType="1"/>
            </p:cNvSpPr>
            <p:nvPr/>
          </p:nvSpPr>
          <p:spPr bwMode="auto">
            <a:xfrm flipV="1">
              <a:off x="3120" y="2400"/>
              <a:ext cx="14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3580" name="Text Box 28"/>
          <p:cNvSpPr txBox="1">
            <a:spLocks noChangeArrowheads="1"/>
          </p:cNvSpPr>
          <p:nvPr/>
        </p:nvSpPr>
        <p:spPr bwMode="auto">
          <a:xfrm>
            <a:off x="3100388" y="40671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3581" name="Text Box 29"/>
          <p:cNvSpPr txBox="1">
            <a:spLocks noChangeArrowheads="1"/>
          </p:cNvSpPr>
          <p:nvPr/>
        </p:nvSpPr>
        <p:spPr bwMode="auto">
          <a:xfrm>
            <a:off x="4329113" y="3609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3582" name="Text Box 30"/>
          <p:cNvSpPr txBox="1">
            <a:spLocks noChangeArrowheads="1"/>
          </p:cNvSpPr>
          <p:nvPr/>
        </p:nvSpPr>
        <p:spPr bwMode="auto">
          <a:xfrm>
            <a:off x="5472113" y="30765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3583" name="Text Box 31"/>
          <p:cNvSpPr txBox="1">
            <a:spLocks noChangeArrowheads="1"/>
          </p:cNvSpPr>
          <p:nvPr/>
        </p:nvSpPr>
        <p:spPr bwMode="auto">
          <a:xfrm>
            <a:off x="6691313" y="26193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3584" name="Text Box 32"/>
          <p:cNvSpPr txBox="1">
            <a:spLocks noChangeArrowheads="1"/>
          </p:cNvSpPr>
          <p:nvPr/>
        </p:nvSpPr>
        <p:spPr bwMode="auto">
          <a:xfrm>
            <a:off x="7910513" y="2085975"/>
            <a:ext cx="3873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0</a:t>
            </a:r>
          </a:p>
          <a:p>
            <a:r>
              <a:rPr kumimoji="1" lang="en-US" altLang="zh-CN" sz="320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1</a:t>
            </a:r>
          </a:p>
        </p:txBody>
      </p:sp>
      <p:sp>
        <p:nvSpPr>
          <p:cNvPr id="23585" name="Text Box 33"/>
          <p:cNvSpPr txBox="1">
            <a:spLocks noChangeArrowheads="1"/>
          </p:cNvSpPr>
          <p:nvPr/>
        </p:nvSpPr>
        <p:spPr bwMode="auto">
          <a:xfrm>
            <a:off x="6926263" y="5133975"/>
            <a:ext cx="1787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S</a:t>
            </a:r>
            <a:r>
              <a:rPr kumimoji="1" lang="en-US" altLang="zh-CN" sz="3200" baseline="-25000">
                <a:latin typeface="Times New Roman" pitchFamily="18" charset="0"/>
                <a:ea typeface="华文新魏" pitchFamily="2" charset="-122"/>
              </a:rPr>
              <a:t>6</a:t>
            </a:r>
            <a:r>
              <a:rPr kumimoji="1" lang="en-US" altLang="zh-CN" sz="3200">
                <a:latin typeface="Times New Roman" pitchFamily="18" charset="0"/>
                <a:ea typeface="华文新魏" pitchFamily="2" charset="-122"/>
              </a:rPr>
              <a:t>=01011</a:t>
            </a:r>
          </a:p>
        </p:txBody>
      </p:sp>
      <p:grpSp>
        <p:nvGrpSpPr>
          <p:cNvPr id="23586" name="Group 34"/>
          <p:cNvGrpSpPr>
            <a:grpSpLocks/>
          </p:cNvGrpSpPr>
          <p:nvPr/>
        </p:nvGrpSpPr>
        <p:grpSpPr bwMode="auto">
          <a:xfrm>
            <a:off x="1820863" y="2314575"/>
            <a:ext cx="6096000" cy="2590800"/>
            <a:chOff x="1248" y="1728"/>
            <a:chExt cx="3840" cy="1632"/>
          </a:xfrm>
        </p:grpSpPr>
        <p:sp>
          <p:nvSpPr>
            <p:cNvPr id="23587" name="Line 35"/>
            <p:cNvSpPr>
              <a:spLocks noChangeShapeType="1"/>
            </p:cNvSpPr>
            <p:nvPr/>
          </p:nvSpPr>
          <p:spPr bwMode="auto">
            <a:xfrm flipH="1">
              <a:off x="1248" y="3360"/>
              <a:ext cx="1104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88" name="Line 36"/>
            <p:cNvSpPr>
              <a:spLocks noChangeShapeType="1"/>
            </p:cNvSpPr>
            <p:nvPr/>
          </p:nvSpPr>
          <p:spPr bwMode="auto">
            <a:xfrm>
              <a:off x="4512" y="1728"/>
              <a:ext cx="0" cy="624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89" name="Line 37"/>
            <p:cNvSpPr>
              <a:spLocks noChangeShapeType="1"/>
            </p:cNvSpPr>
            <p:nvPr/>
          </p:nvSpPr>
          <p:spPr bwMode="auto">
            <a:xfrm>
              <a:off x="4512" y="1728"/>
              <a:ext cx="576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0" name="Line 38"/>
            <p:cNvSpPr>
              <a:spLocks noChangeShapeType="1"/>
            </p:cNvSpPr>
            <p:nvPr/>
          </p:nvSpPr>
          <p:spPr bwMode="auto">
            <a:xfrm flipH="1">
              <a:off x="3072" y="2352"/>
              <a:ext cx="1440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1" name="Line 39"/>
            <p:cNvSpPr>
              <a:spLocks noChangeShapeType="1"/>
            </p:cNvSpPr>
            <p:nvPr/>
          </p:nvSpPr>
          <p:spPr bwMode="auto">
            <a:xfrm>
              <a:off x="3072" y="2352"/>
              <a:ext cx="0" cy="72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2" name="Line 40"/>
            <p:cNvSpPr>
              <a:spLocks noChangeShapeType="1"/>
            </p:cNvSpPr>
            <p:nvPr/>
          </p:nvSpPr>
          <p:spPr bwMode="auto">
            <a:xfrm flipH="1">
              <a:off x="2352" y="3072"/>
              <a:ext cx="720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93" name="Line 41"/>
            <p:cNvSpPr>
              <a:spLocks noChangeShapeType="1"/>
            </p:cNvSpPr>
            <p:nvPr/>
          </p:nvSpPr>
          <p:spPr bwMode="auto">
            <a:xfrm>
              <a:off x="2352" y="3072"/>
              <a:ext cx="0" cy="288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5155261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" fill="hold"/>
                                        <p:tgtEl>
                                          <p:spTgt spid="23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23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5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1862112"/>
            <a:ext cx="3581400" cy="609600"/>
          </a:xfrm>
        </p:spPr>
        <p:txBody>
          <a:bodyPr/>
          <a:lstStyle/>
          <a:p>
            <a:r>
              <a:rPr lang="zh-CN" altLang="en-US" b="1"/>
              <a:t>哈夫曼编码效率</a:t>
            </a:r>
          </a:p>
        </p:txBody>
      </p:sp>
      <p:sp>
        <p:nvSpPr>
          <p:cNvPr id="128003" name="Text Box 3"/>
          <p:cNvSpPr txBox="1">
            <a:spLocks noChangeArrowheads="1"/>
          </p:cNvSpPr>
          <p:nvPr/>
        </p:nvSpPr>
        <p:spPr bwMode="auto">
          <a:xfrm>
            <a:off x="611188" y="2581250"/>
            <a:ext cx="81534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ahoma" pitchFamily="34" charset="0"/>
              </a:rPr>
              <a:t>信源熵为：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ahoma" pitchFamily="34" charset="0"/>
              </a:rPr>
              <a:t>H=-∑P</a:t>
            </a:r>
            <a:r>
              <a:rPr kumimoji="1" lang="en-US" altLang="zh-CN" sz="2400" b="1" baseline="-25000">
                <a:latin typeface="Tahoma" pitchFamily="34" charset="0"/>
              </a:rPr>
              <a:t>i</a:t>
            </a:r>
            <a:r>
              <a:rPr kumimoji="1" lang="en-US" altLang="zh-CN" sz="2400" b="1">
                <a:latin typeface="Tahoma" pitchFamily="34" charset="0"/>
              </a:rPr>
              <a:t>log</a:t>
            </a:r>
            <a:r>
              <a:rPr kumimoji="1" lang="en-US" altLang="zh-CN" sz="2400" b="1" baseline="-25000">
                <a:latin typeface="Tahoma" pitchFamily="34" charset="0"/>
              </a:rPr>
              <a:t>2</a:t>
            </a:r>
            <a:r>
              <a:rPr kumimoji="1" lang="en-US" altLang="zh-CN" sz="2400" b="1">
                <a:latin typeface="Tahoma" pitchFamily="34" charset="0"/>
              </a:rPr>
              <a:t>P</a:t>
            </a:r>
            <a:r>
              <a:rPr kumimoji="1" lang="en-US" altLang="zh-CN" sz="2400" b="1" baseline="-25000">
                <a:latin typeface="Tahoma" pitchFamily="34" charset="0"/>
              </a:rPr>
              <a:t>i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ahoma" pitchFamily="34" charset="0"/>
              </a:rPr>
              <a:t>=-(0.4log</a:t>
            </a:r>
            <a:r>
              <a:rPr kumimoji="1" lang="en-US" altLang="zh-CN" sz="2400" b="1" baseline="-25000">
                <a:latin typeface="Tahoma" pitchFamily="34" charset="0"/>
              </a:rPr>
              <a:t>2</a:t>
            </a:r>
            <a:r>
              <a:rPr kumimoji="1" lang="en-US" altLang="zh-CN" sz="2400" b="1">
                <a:latin typeface="Tahoma" pitchFamily="34" charset="0"/>
              </a:rPr>
              <a:t>0.4+0.3log</a:t>
            </a:r>
            <a:r>
              <a:rPr kumimoji="1" lang="en-US" altLang="zh-CN" sz="2400" b="1" baseline="-25000">
                <a:latin typeface="Tahoma" pitchFamily="34" charset="0"/>
              </a:rPr>
              <a:t>2</a:t>
            </a:r>
            <a:r>
              <a:rPr kumimoji="1" lang="en-US" altLang="zh-CN" sz="2400" b="1">
                <a:latin typeface="Tahoma" pitchFamily="34" charset="0"/>
              </a:rPr>
              <a:t>0.3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ahoma" pitchFamily="34" charset="0"/>
              </a:rPr>
              <a:t>+2*0.1log</a:t>
            </a:r>
            <a:r>
              <a:rPr kumimoji="1" lang="en-US" altLang="zh-CN" sz="2400" b="1" baseline="-25000">
                <a:latin typeface="Tahoma" pitchFamily="34" charset="0"/>
              </a:rPr>
              <a:t>2</a:t>
            </a:r>
            <a:r>
              <a:rPr kumimoji="1" lang="en-US" altLang="zh-CN" sz="2400" b="1">
                <a:latin typeface="Tahoma" pitchFamily="34" charset="0"/>
              </a:rPr>
              <a:t>0.1+0.06log</a:t>
            </a:r>
            <a:r>
              <a:rPr kumimoji="1" lang="en-US" altLang="zh-CN" sz="2400" b="1" baseline="-25000">
                <a:latin typeface="Tahoma" pitchFamily="34" charset="0"/>
              </a:rPr>
              <a:t>2</a:t>
            </a:r>
            <a:r>
              <a:rPr kumimoji="1" lang="en-US" altLang="zh-CN" sz="2400" b="1">
                <a:latin typeface="Tahoma" pitchFamily="34" charset="0"/>
              </a:rPr>
              <a:t>0.06+0.04log</a:t>
            </a:r>
            <a:r>
              <a:rPr kumimoji="1" lang="en-US" altLang="zh-CN" sz="2400" b="1" baseline="-25000">
                <a:latin typeface="Tahoma" pitchFamily="34" charset="0"/>
              </a:rPr>
              <a:t>2</a:t>
            </a:r>
            <a:r>
              <a:rPr kumimoji="1" lang="en-US" altLang="zh-CN" sz="2400" b="1">
                <a:latin typeface="Tahoma" pitchFamily="34" charset="0"/>
              </a:rPr>
              <a:t>0.04)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ahoma" pitchFamily="34" charset="0"/>
              </a:rPr>
              <a:t>=2.14</a:t>
            </a:r>
            <a:r>
              <a:rPr kumimoji="1" lang="zh-CN" altLang="en-US" sz="2400" b="1">
                <a:latin typeface="Tahoma" pitchFamily="34" charset="0"/>
              </a:rPr>
              <a:t>比特</a:t>
            </a:r>
            <a:r>
              <a:rPr kumimoji="1" lang="en-US" altLang="zh-CN" sz="2400" b="1">
                <a:latin typeface="Tahoma" pitchFamily="34" charset="0"/>
              </a:rPr>
              <a:t>/</a:t>
            </a:r>
            <a:r>
              <a:rPr kumimoji="1" lang="zh-CN" altLang="en-US" sz="2400" b="1">
                <a:latin typeface="Tahoma" pitchFamily="34" charset="0"/>
              </a:rPr>
              <a:t>符号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77789" y="783109"/>
            <a:ext cx="3278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3.</a:t>
            </a:r>
            <a:r>
              <a:rPr lang="zh-CN" altLang="en-US" sz="4000" b="1" dirty="0">
                <a:solidFill>
                  <a:srgbClr val="CC3300"/>
                </a:solidFill>
                <a:latin typeface="Verdana" pitchFamily="34" charset="0"/>
                <a:ea typeface="隶书" pitchFamily="49" charset="-122"/>
              </a:rPr>
              <a:t>哈夫曼编码</a:t>
            </a:r>
          </a:p>
        </p:txBody>
      </p:sp>
    </p:spTree>
    <p:extLst>
      <p:ext uri="{BB962C8B-B14F-4D97-AF65-F5344CB8AC3E}">
        <p14:creationId xmlns:p14="http://schemas.microsoft.com/office/powerpoint/2010/main" val="44299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827088" y="476250"/>
            <a:ext cx="3311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CC3300"/>
                </a:solidFill>
                <a:latin typeface="Times New Roman" pitchFamily="18" charset="0"/>
                <a:ea typeface="隶书" pitchFamily="49" charset="-122"/>
              </a:rPr>
              <a:t>编码举例</a:t>
            </a:r>
          </a:p>
        </p:txBody>
      </p:sp>
      <p:sp>
        <p:nvSpPr>
          <p:cNvPr id="130051" name="Rectangle 3"/>
          <p:cNvSpPr>
            <a:spLocks noChangeArrowheads="1"/>
          </p:cNvSpPr>
          <p:nvPr/>
        </p:nvSpPr>
        <p:spPr bwMode="auto">
          <a:xfrm>
            <a:off x="439738" y="4505325"/>
            <a:ext cx="720725" cy="33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800" i="1">
                <a:latin typeface="Times New Roman" pitchFamily="18" charset="0"/>
              </a:rPr>
              <a:t>c</a:t>
            </a:r>
            <a:endParaRPr kumimoji="1" lang="en-US" altLang="zh-CN" sz="1400">
              <a:latin typeface="Times New Roman" pitchFamily="18" charset="0"/>
            </a:endParaRPr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396875" y="3776663"/>
            <a:ext cx="842963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800" i="1">
                <a:latin typeface="Times New Roman" pitchFamily="18" charset="0"/>
              </a:rPr>
              <a:t>b</a:t>
            </a:r>
            <a:endParaRPr kumimoji="1" lang="en-US" altLang="zh-CN" sz="1400" i="1">
              <a:latin typeface="Times New Roman" pitchFamily="18" charset="0"/>
            </a:endParaRPr>
          </a:p>
        </p:txBody>
      </p:sp>
      <p:sp>
        <p:nvSpPr>
          <p:cNvPr id="130053" name="Rectangle 5"/>
          <p:cNvSpPr>
            <a:spLocks noChangeArrowheads="1"/>
          </p:cNvSpPr>
          <p:nvPr/>
        </p:nvSpPr>
        <p:spPr bwMode="auto">
          <a:xfrm>
            <a:off x="496888" y="3014663"/>
            <a:ext cx="647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800" i="1">
                <a:latin typeface="Times New Roman" pitchFamily="18" charset="0"/>
              </a:rPr>
              <a:t>a</a:t>
            </a:r>
            <a:endParaRPr kumimoji="1" lang="en-US" altLang="zh-CN" sz="1400">
              <a:latin typeface="Times New Roman" pitchFamily="18" charset="0"/>
            </a:endParaRPr>
          </a:p>
        </p:txBody>
      </p:sp>
      <p:sp>
        <p:nvSpPr>
          <p:cNvPr id="130054" name="Rectangle 6"/>
          <p:cNvSpPr>
            <a:spLocks noChangeArrowheads="1"/>
          </p:cNvSpPr>
          <p:nvPr/>
        </p:nvSpPr>
        <p:spPr bwMode="auto">
          <a:xfrm>
            <a:off x="554038" y="1687513"/>
            <a:ext cx="647700" cy="33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400" i="1">
                <a:latin typeface="Times New Roman" pitchFamily="18" charset="0"/>
              </a:rPr>
              <a:t>f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30055" name="Rectangle 7"/>
          <p:cNvSpPr>
            <a:spLocks noChangeArrowheads="1"/>
          </p:cNvSpPr>
          <p:nvPr/>
        </p:nvSpPr>
        <p:spPr bwMode="auto">
          <a:xfrm>
            <a:off x="452438" y="2320925"/>
            <a:ext cx="720725" cy="33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800" i="1">
                <a:latin typeface="Times New Roman" pitchFamily="18" charset="0"/>
              </a:rPr>
              <a:t>e</a:t>
            </a:r>
            <a:endParaRPr kumimoji="1" lang="en-US" altLang="zh-CN" sz="1400">
              <a:latin typeface="Times New Roman" pitchFamily="18" charset="0"/>
            </a:endParaRPr>
          </a:p>
        </p:txBody>
      </p:sp>
      <p:sp>
        <p:nvSpPr>
          <p:cNvPr id="130056" name="Oval 8"/>
          <p:cNvSpPr>
            <a:spLocks noChangeArrowheads="1"/>
          </p:cNvSpPr>
          <p:nvPr/>
        </p:nvSpPr>
        <p:spPr bwMode="auto">
          <a:xfrm>
            <a:off x="1130300" y="1514475"/>
            <a:ext cx="1003300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7/22</a:t>
            </a:r>
          </a:p>
        </p:txBody>
      </p:sp>
      <p:sp>
        <p:nvSpPr>
          <p:cNvPr id="130057" name="Oval 9"/>
          <p:cNvSpPr>
            <a:spLocks noChangeArrowheads="1"/>
          </p:cNvSpPr>
          <p:nvPr/>
        </p:nvSpPr>
        <p:spPr bwMode="auto">
          <a:xfrm>
            <a:off x="1130300" y="2290763"/>
            <a:ext cx="1003300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5/22</a:t>
            </a:r>
          </a:p>
        </p:txBody>
      </p:sp>
      <p:sp>
        <p:nvSpPr>
          <p:cNvPr id="130058" name="Oval 10"/>
          <p:cNvSpPr>
            <a:spLocks noChangeArrowheads="1"/>
          </p:cNvSpPr>
          <p:nvPr/>
        </p:nvSpPr>
        <p:spPr bwMode="auto">
          <a:xfrm>
            <a:off x="1130300" y="3014663"/>
            <a:ext cx="1079500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4/22</a:t>
            </a:r>
          </a:p>
        </p:txBody>
      </p:sp>
      <p:sp>
        <p:nvSpPr>
          <p:cNvPr id="130059" name="Oval 11"/>
          <p:cNvSpPr>
            <a:spLocks noChangeArrowheads="1"/>
          </p:cNvSpPr>
          <p:nvPr/>
        </p:nvSpPr>
        <p:spPr bwMode="auto">
          <a:xfrm>
            <a:off x="1125538" y="4470400"/>
            <a:ext cx="1008062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2/22</a:t>
            </a:r>
          </a:p>
        </p:txBody>
      </p:sp>
      <p:cxnSp>
        <p:nvCxnSpPr>
          <p:cNvPr id="130060" name="AutoShape 12"/>
          <p:cNvCxnSpPr>
            <a:cxnSpLocks noChangeShapeType="1"/>
          </p:cNvCxnSpPr>
          <p:nvPr/>
        </p:nvCxnSpPr>
        <p:spPr bwMode="auto">
          <a:xfrm>
            <a:off x="2038350" y="4625975"/>
            <a:ext cx="1588" cy="736600"/>
          </a:xfrm>
          <a:prstGeom prst="bentConnector3">
            <a:avLst>
              <a:gd name="adj1" fmla="val 309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061" name="AutoShape 13"/>
          <p:cNvCxnSpPr>
            <a:cxnSpLocks noChangeShapeType="1"/>
            <a:stCxn id="130056" idx="6"/>
          </p:cNvCxnSpPr>
          <p:nvPr/>
        </p:nvCxnSpPr>
        <p:spPr bwMode="auto">
          <a:xfrm>
            <a:off x="2133600" y="1730375"/>
            <a:ext cx="3530600" cy="2649538"/>
          </a:xfrm>
          <a:prstGeom prst="bentConnector3">
            <a:avLst>
              <a:gd name="adj1" fmla="val 11416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062" name="Rectangle 14"/>
          <p:cNvSpPr>
            <a:spLocks noChangeArrowheads="1"/>
          </p:cNvSpPr>
          <p:nvPr/>
        </p:nvSpPr>
        <p:spPr bwMode="auto">
          <a:xfrm>
            <a:off x="6746875" y="2451100"/>
            <a:ext cx="465138" cy="16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endParaRPr kumimoji="1" lang="en-US" altLang="zh-CN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30063" name="Rectangle 15"/>
          <p:cNvSpPr>
            <a:spLocks noChangeArrowheads="1"/>
          </p:cNvSpPr>
          <p:nvPr/>
        </p:nvSpPr>
        <p:spPr bwMode="auto">
          <a:xfrm>
            <a:off x="7280275" y="2997200"/>
            <a:ext cx="463550" cy="16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 dirty="0" smtClean="0">
                <a:solidFill>
                  <a:srgbClr val="33CC33"/>
                </a:solidFill>
                <a:latin typeface="Times New Roman" pitchFamily="18" charset="0"/>
              </a:rPr>
              <a:t>0</a:t>
            </a:r>
            <a:endParaRPr kumimoji="1" lang="en-US" altLang="zh-CN" b="1" i="1" dirty="0">
              <a:solidFill>
                <a:srgbClr val="33CC33"/>
              </a:solidFill>
              <a:latin typeface="Times New Roman" pitchFamily="18" charset="0"/>
            </a:endParaRPr>
          </a:p>
        </p:txBody>
      </p:sp>
      <p:sp>
        <p:nvSpPr>
          <p:cNvPr id="130064" name="Text Box 16"/>
          <p:cNvSpPr txBox="1">
            <a:spLocks noChangeArrowheads="1"/>
          </p:cNvSpPr>
          <p:nvPr/>
        </p:nvSpPr>
        <p:spPr bwMode="auto">
          <a:xfrm>
            <a:off x="2667000" y="5775325"/>
            <a:ext cx="592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90000"/>
              <a:buFont typeface="Symbol" pitchFamily="18" charset="2"/>
              <a:buNone/>
            </a:pPr>
            <a:r>
              <a:rPr kumimoji="1" lang="en-US" altLang="zh-CN" sz="2400" b="1" dirty="0" smtClean="0">
                <a:latin typeface="Times New Roman" pitchFamily="18" charset="0"/>
              </a:rPr>
              <a:t>f=</a:t>
            </a:r>
            <a:r>
              <a:rPr kumimoji="1" lang="en-US" altLang="zh-CN" sz="2400" b="1" dirty="0">
                <a:latin typeface="Times New Roman" pitchFamily="18" charset="0"/>
              </a:rPr>
              <a:t>0</a:t>
            </a:r>
            <a:r>
              <a:rPr kumimoji="1" lang="en-US" altLang="zh-CN" sz="2400" b="1" dirty="0" smtClean="0">
                <a:latin typeface="Times New Roman" pitchFamily="18" charset="0"/>
              </a:rPr>
              <a:t>0   e=</a:t>
            </a:r>
            <a:r>
              <a:rPr kumimoji="1" lang="en-US" altLang="zh-CN" sz="2400" b="1" dirty="0">
                <a:latin typeface="Times New Roman" pitchFamily="18" charset="0"/>
              </a:rPr>
              <a:t>1</a:t>
            </a:r>
            <a:r>
              <a:rPr kumimoji="1" lang="en-US" altLang="zh-CN" sz="2400" b="1" dirty="0" smtClean="0">
                <a:latin typeface="Times New Roman" pitchFamily="18" charset="0"/>
              </a:rPr>
              <a:t>0   a=</a:t>
            </a:r>
            <a:r>
              <a:rPr kumimoji="1" lang="en-US" altLang="zh-CN" sz="2400" b="1" dirty="0">
                <a:latin typeface="Times New Roman" pitchFamily="18" charset="0"/>
              </a:rPr>
              <a:t>1</a:t>
            </a:r>
            <a:r>
              <a:rPr kumimoji="1" lang="en-US" altLang="zh-CN" sz="2400" b="1" dirty="0" smtClean="0">
                <a:latin typeface="Times New Roman" pitchFamily="18" charset="0"/>
              </a:rPr>
              <a:t>1   b=</a:t>
            </a:r>
            <a:r>
              <a:rPr kumimoji="1" lang="en-US" altLang="zh-CN" sz="2400" b="1" dirty="0">
                <a:latin typeface="Times New Roman" pitchFamily="18" charset="0"/>
              </a:rPr>
              <a:t>0</a:t>
            </a:r>
            <a:r>
              <a:rPr kumimoji="1" lang="en-US" altLang="zh-CN" sz="2400" b="1" dirty="0" smtClean="0">
                <a:latin typeface="Times New Roman" pitchFamily="18" charset="0"/>
              </a:rPr>
              <a:t>10    </a:t>
            </a:r>
            <a:r>
              <a:rPr kumimoji="1" lang="en-US" altLang="zh-CN" sz="2400" b="1" dirty="0">
                <a:latin typeface="Times New Roman" pitchFamily="18" charset="0"/>
              </a:rPr>
              <a:t>c=0110   d=0111</a:t>
            </a:r>
          </a:p>
        </p:txBody>
      </p:sp>
      <p:sp>
        <p:nvSpPr>
          <p:cNvPr id="130065" name="Rectangle 17"/>
          <p:cNvSpPr>
            <a:spLocks noChangeArrowheads="1"/>
          </p:cNvSpPr>
          <p:nvPr/>
        </p:nvSpPr>
        <p:spPr bwMode="auto">
          <a:xfrm>
            <a:off x="439738" y="5202238"/>
            <a:ext cx="720725" cy="33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800" i="1">
                <a:latin typeface="Times New Roman" pitchFamily="18" charset="0"/>
              </a:rPr>
              <a:t>d</a:t>
            </a:r>
            <a:endParaRPr kumimoji="1" lang="en-US" altLang="zh-CN" sz="1400">
              <a:latin typeface="Times New Roman" pitchFamily="18" charset="0"/>
            </a:endParaRPr>
          </a:p>
        </p:txBody>
      </p:sp>
      <p:sp>
        <p:nvSpPr>
          <p:cNvPr id="130066" name="Oval 18"/>
          <p:cNvSpPr>
            <a:spLocks noChangeArrowheads="1"/>
          </p:cNvSpPr>
          <p:nvPr/>
        </p:nvSpPr>
        <p:spPr bwMode="auto">
          <a:xfrm>
            <a:off x="1146175" y="5186363"/>
            <a:ext cx="987425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1/22</a:t>
            </a:r>
          </a:p>
        </p:txBody>
      </p:sp>
      <p:sp>
        <p:nvSpPr>
          <p:cNvPr id="130067" name="Line 19"/>
          <p:cNvSpPr>
            <a:spLocks noChangeShapeType="1"/>
          </p:cNvSpPr>
          <p:nvPr/>
        </p:nvSpPr>
        <p:spPr bwMode="auto">
          <a:xfrm>
            <a:off x="2571750" y="4970463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0068" name="Oval 20"/>
          <p:cNvSpPr>
            <a:spLocks noChangeArrowheads="1"/>
          </p:cNvSpPr>
          <p:nvPr/>
        </p:nvSpPr>
        <p:spPr bwMode="auto">
          <a:xfrm>
            <a:off x="2971800" y="4708525"/>
            <a:ext cx="863600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3/22</a:t>
            </a:r>
          </a:p>
        </p:txBody>
      </p:sp>
      <p:cxnSp>
        <p:nvCxnSpPr>
          <p:cNvPr id="130069" name="AutoShape 21"/>
          <p:cNvCxnSpPr>
            <a:cxnSpLocks noChangeShapeType="1"/>
            <a:stCxn id="130080" idx="6"/>
          </p:cNvCxnSpPr>
          <p:nvPr/>
        </p:nvCxnSpPr>
        <p:spPr bwMode="auto">
          <a:xfrm>
            <a:off x="2133600" y="3962400"/>
            <a:ext cx="1838325" cy="977900"/>
          </a:xfrm>
          <a:prstGeom prst="bentConnector3">
            <a:avLst>
              <a:gd name="adj1" fmla="val 12504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070" name="Line 22"/>
          <p:cNvSpPr>
            <a:spLocks noChangeShapeType="1"/>
          </p:cNvSpPr>
          <p:nvPr/>
        </p:nvSpPr>
        <p:spPr bwMode="auto">
          <a:xfrm>
            <a:off x="4298950" y="4394200"/>
            <a:ext cx="303213" cy="15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0071" name="Oval 23"/>
          <p:cNvSpPr>
            <a:spLocks noChangeArrowheads="1"/>
          </p:cNvSpPr>
          <p:nvPr/>
        </p:nvSpPr>
        <p:spPr bwMode="auto">
          <a:xfrm>
            <a:off x="4659313" y="4178300"/>
            <a:ext cx="979487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6/22</a:t>
            </a:r>
          </a:p>
        </p:txBody>
      </p:sp>
      <p:cxnSp>
        <p:nvCxnSpPr>
          <p:cNvPr id="130072" name="AutoShape 24"/>
          <p:cNvCxnSpPr>
            <a:cxnSpLocks noChangeShapeType="1"/>
          </p:cNvCxnSpPr>
          <p:nvPr/>
        </p:nvCxnSpPr>
        <p:spPr bwMode="auto">
          <a:xfrm>
            <a:off x="2066925" y="2451100"/>
            <a:ext cx="1588" cy="736600"/>
          </a:xfrm>
          <a:prstGeom prst="bentConnector3">
            <a:avLst>
              <a:gd name="adj1" fmla="val 60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073" name="Line 25"/>
          <p:cNvSpPr>
            <a:spLocks noChangeShapeType="1"/>
          </p:cNvSpPr>
          <p:nvPr/>
        </p:nvSpPr>
        <p:spPr bwMode="auto">
          <a:xfrm>
            <a:off x="3017838" y="269557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0074" name="Line 26"/>
          <p:cNvSpPr>
            <a:spLocks noChangeShapeType="1"/>
          </p:cNvSpPr>
          <p:nvPr/>
        </p:nvSpPr>
        <p:spPr bwMode="auto">
          <a:xfrm>
            <a:off x="6027738" y="3314700"/>
            <a:ext cx="43021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30075" name="AutoShape 27"/>
          <p:cNvCxnSpPr>
            <a:cxnSpLocks noChangeShapeType="1"/>
          </p:cNvCxnSpPr>
          <p:nvPr/>
        </p:nvCxnSpPr>
        <p:spPr bwMode="auto">
          <a:xfrm>
            <a:off x="4198938" y="2667000"/>
            <a:ext cx="3109912" cy="560388"/>
          </a:xfrm>
          <a:prstGeom prst="bentConnector3">
            <a:avLst>
              <a:gd name="adj1" fmla="val 11153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076" name="Oval 28"/>
          <p:cNvSpPr>
            <a:spLocks noChangeArrowheads="1"/>
          </p:cNvSpPr>
          <p:nvPr/>
        </p:nvSpPr>
        <p:spPr bwMode="auto">
          <a:xfrm>
            <a:off x="8077200" y="2651125"/>
            <a:ext cx="863600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22/22</a:t>
            </a:r>
          </a:p>
        </p:txBody>
      </p:sp>
      <p:sp>
        <p:nvSpPr>
          <p:cNvPr id="130077" name="Line 29"/>
          <p:cNvSpPr>
            <a:spLocks noChangeShapeType="1"/>
          </p:cNvSpPr>
          <p:nvPr/>
        </p:nvSpPr>
        <p:spPr bwMode="auto">
          <a:xfrm>
            <a:off x="7683500" y="2882900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0078" name="Oval 30"/>
          <p:cNvSpPr>
            <a:spLocks noChangeArrowheads="1"/>
          </p:cNvSpPr>
          <p:nvPr/>
        </p:nvSpPr>
        <p:spPr bwMode="auto">
          <a:xfrm>
            <a:off x="6416675" y="3025775"/>
            <a:ext cx="1050925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13/22</a:t>
            </a:r>
          </a:p>
        </p:txBody>
      </p:sp>
      <p:sp>
        <p:nvSpPr>
          <p:cNvPr id="130079" name="Oval 31"/>
          <p:cNvSpPr>
            <a:spLocks noChangeArrowheads="1"/>
          </p:cNvSpPr>
          <p:nvPr/>
        </p:nvSpPr>
        <p:spPr bwMode="auto">
          <a:xfrm>
            <a:off x="3305175" y="2465388"/>
            <a:ext cx="962025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9/22</a:t>
            </a:r>
          </a:p>
        </p:txBody>
      </p:sp>
      <p:sp>
        <p:nvSpPr>
          <p:cNvPr id="130080" name="Oval 32"/>
          <p:cNvSpPr>
            <a:spLocks noChangeArrowheads="1"/>
          </p:cNvSpPr>
          <p:nvPr/>
        </p:nvSpPr>
        <p:spPr bwMode="auto">
          <a:xfrm>
            <a:off x="1130300" y="3746500"/>
            <a:ext cx="1003300" cy="431800"/>
          </a:xfrm>
          <a:prstGeom prst="ellipse">
            <a:avLst/>
          </a:prstGeom>
          <a:solidFill>
            <a:srgbClr val="0000FF"/>
          </a:solidFill>
          <a:ln w="9525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0000FF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/>
            <a:r>
              <a:rPr kumimoji="1" lang="en-US" altLang="zh-CN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3/22</a:t>
            </a:r>
          </a:p>
        </p:txBody>
      </p:sp>
      <p:sp>
        <p:nvSpPr>
          <p:cNvPr id="130081" name="Rectangle 33"/>
          <p:cNvSpPr>
            <a:spLocks noChangeArrowheads="1"/>
          </p:cNvSpPr>
          <p:nvPr/>
        </p:nvSpPr>
        <p:spPr bwMode="auto">
          <a:xfrm>
            <a:off x="4227513" y="1514475"/>
            <a:ext cx="465137" cy="16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>
                <a:solidFill>
                  <a:srgbClr val="FF0000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130082" name="Rectangle 34"/>
          <p:cNvSpPr>
            <a:spLocks noChangeArrowheads="1"/>
          </p:cNvSpPr>
          <p:nvPr/>
        </p:nvSpPr>
        <p:spPr bwMode="auto">
          <a:xfrm>
            <a:off x="5581650" y="4121150"/>
            <a:ext cx="463550" cy="16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>
                <a:solidFill>
                  <a:srgbClr val="33CC33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30083" name="Rectangle 35"/>
          <p:cNvSpPr>
            <a:spLocks noChangeArrowheads="1"/>
          </p:cNvSpPr>
          <p:nvPr/>
        </p:nvSpPr>
        <p:spPr bwMode="auto">
          <a:xfrm>
            <a:off x="2211388" y="2205038"/>
            <a:ext cx="465137" cy="16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>
                <a:solidFill>
                  <a:srgbClr val="FF0000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130084" name="Rectangle 36"/>
          <p:cNvSpPr>
            <a:spLocks noChangeArrowheads="1"/>
          </p:cNvSpPr>
          <p:nvPr/>
        </p:nvSpPr>
        <p:spPr bwMode="auto">
          <a:xfrm>
            <a:off x="2181225" y="2982913"/>
            <a:ext cx="463550" cy="16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>
                <a:solidFill>
                  <a:srgbClr val="33CC33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30085" name="Rectangle 37"/>
          <p:cNvSpPr>
            <a:spLocks noChangeArrowheads="1"/>
          </p:cNvSpPr>
          <p:nvPr/>
        </p:nvSpPr>
        <p:spPr bwMode="auto">
          <a:xfrm>
            <a:off x="3074988" y="3746500"/>
            <a:ext cx="465137" cy="16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>
                <a:solidFill>
                  <a:srgbClr val="FF0000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130086" name="Rectangle 38"/>
          <p:cNvSpPr>
            <a:spLocks noChangeArrowheads="1"/>
          </p:cNvSpPr>
          <p:nvPr/>
        </p:nvSpPr>
        <p:spPr bwMode="auto">
          <a:xfrm>
            <a:off x="3795713" y="4683125"/>
            <a:ext cx="463550" cy="16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>
                <a:solidFill>
                  <a:srgbClr val="33CC33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30087" name="Rectangle 39"/>
          <p:cNvSpPr>
            <a:spLocks noChangeArrowheads="1"/>
          </p:cNvSpPr>
          <p:nvPr/>
        </p:nvSpPr>
        <p:spPr bwMode="auto">
          <a:xfrm>
            <a:off x="1995488" y="4394200"/>
            <a:ext cx="465137" cy="16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>
                <a:solidFill>
                  <a:srgbClr val="FF0000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130088" name="Rectangle 40"/>
          <p:cNvSpPr>
            <a:spLocks noChangeArrowheads="1"/>
          </p:cNvSpPr>
          <p:nvPr/>
        </p:nvSpPr>
        <p:spPr bwMode="auto">
          <a:xfrm>
            <a:off x="2066925" y="5186363"/>
            <a:ext cx="463550" cy="16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b="1" i="1">
                <a:solidFill>
                  <a:srgbClr val="33CC33"/>
                </a:solidFill>
                <a:latin typeface="Times New Roman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801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3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130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/>
      <p:bldP spid="130052" grpId="0"/>
      <p:bldP spid="130053" grpId="0"/>
      <p:bldP spid="130054" grpId="0"/>
      <p:bldP spid="130055" grpId="0"/>
      <p:bldP spid="130056" grpId="0" animBg="1" autoUpdateAnimBg="0"/>
      <p:bldP spid="130057" grpId="0" animBg="1" autoUpdateAnimBg="0"/>
      <p:bldP spid="130058" grpId="0" animBg="1" autoUpdateAnimBg="0"/>
      <p:bldP spid="130059" grpId="0" animBg="1" autoUpdateAnimBg="0"/>
      <p:bldP spid="130062" grpId="0" autoUpdateAnimBg="0"/>
      <p:bldP spid="130063" grpId="0" autoUpdateAnimBg="0"/>
      <p:bldP spid="130064" grpId="0"/>
      <p:bldP spid="130065" grpId="0"/>
      <p:bldP spid="130066" grpId="0" animBg="1" autoUpdateAnimBg="0"/>
      <p:bldP spid="130067" grpId="0" animBg="1"/>
      <p:bldP spid="130068" grpId="0" animBg="1" autoUpdateAnimBg="0"/>
      <p:bldP spid="130070" grpId="0" animBg="1"/>
      <p:bldP spid="130071" grpId="0" animBg="1" autoUpdateAnimBg="0"/>
      <p:bldP spid="130073" grpId="0" animBg="1"/>
      <p:bldP spid="130074" grpId="0" animBg="1"/>
      <p:bldP spid="130076" grpId="0" animBg="1" autoUpdateAnimBg="0"/>
      <p:bldP spid="130077" grpId="0" animBg="1"/>
      <p:bldP spid="130078" grpId="0" animBg="1" autoUpdateAnimBg="0"/>
      <p:bldP spid="130079" grpId="0" animBg="1" autoUpdateAnimBg="0"/>
      <p:bldP spid="130080" grpId="0" animBg="1" autoUpdateAnimBg="0"/>
      <p:bldP spid="130081" grpId="0" autoUpdateAnimBg="0"/>
      <p:bldP spid="130082" grpId="0" autoUpdateAnimBg="0"/>
      <p:bldP spid="130083" grpId="0" autoUpdateAnimBg="0"/>
      <p:bldP spid="130084" grpId="0" autoUpdateAnimBg="0"/>
      <p:bldP spid="130085" grpId="0" autoUpdateAnimBg="0"/>
      <p:bldP spid="130086" grpId="0" autoUpdateAnimBg="0"/>
      <p:bldP spid="130087" grpId="0" autoUpdateAnimBg="0"/>
      <p:bldP spid="13008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88975"/>
            <a:ext cx="5715000" cy="1139825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4. </a:t>
            </a:r>
            <a:r>
              <a:rPr lang="zh-CN" altLang="en-US" b="1" dirty="0">
                <a:solidFill>
                  <a:srgbClr val="FF0000"/>
                </a:solidFill>
              </a:rPr>
              <a:t>算术编码 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31242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从理论上分析，采用哈夫曼编码可以获得最佳信源字符编码效果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实际应用中，由于信源字符出现的概率并非满足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的负幂次方，因此往往无法达到理论上的编码效率和信息压缩比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4635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565920"/>
            <a:ext cx="8229600" cy="1143000"/>
          </a:xfrm>
        </p:spPr>
        <p:txBody>
          <a:bodyPr/>
          <a:lstStyle/>
          <a:p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以信源字符序列</a:t>
            </a:r>
            <a:r>
              <a:rPr lang="en-US" altLang="zh-CN" sz="3600" dirty="0">
                <a:latin typeface="楷体_GB2312" pitchFamily="49" charset="-122"/>
                <a:ea typeface="楷体_GB2312" pitchFamily="49" charset="-122"/>
              </a:rPr>
              <a:t>{x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600" dirty="0">
                <a:latin typeface="楷体_GB2312" pitchFamily="49" charset="-122"/>
                <a:ea typeface="楷体_GB2312" pitchFamily="49" charset="-122"/>
              </a:rPr>
              <a:t>y}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为例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655019"/>
            <a:ext cx="8229600" cy="190023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设字符序列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{x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y}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对应的概率为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{1/3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2/3}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dirty="0" err="1">
                <a:latin typeface="楷体_GB2312" pitchFamily="49" charset="-122"/>
                <a:ea typeface="楷体_GB2312" pitchFamily="49" charset="-122"/>
              </a:rPr>
              <a:t>Nx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1" dirty="0" err="1">
                <a:latin typeface="楷体_GB2312" pitchFamily="49" charset="-122"/>
                <a:ea typeface="楷体_GB2312" pitchFamily="49" charset="-122"/>
              </a:rPr>
              <a:t>Ny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分别表示字符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的最佳码长，则根据信息论有：</a:t>
            </a:r>
          </a:p>
        </p:txBody>
      </p:sp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0" y="375515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2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524097"/>
              </p:ext>
            </p:extLst>
          </p:nvPr>
        </p:nvGraphicFramePr>
        <p:xfrm>
          <a:off x="2339975" y="4598119"/>
          <a:ext cx="3733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4" name="公式" r:id="rId3" imgW="1384300" imgH="393700" progId="Equation.3">
                  <p:embed/>
                </p:oleObj>
              </mc:Choice>
              <mc:Fallback>
                <p:oleObj name="公式" r:id="rId3" imgW="1384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598119"/>
                        <a:ext cx="37338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0" y="375515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2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12114"/>
              </p:ext>
            </p:extLst>
          </p:nvPr>
        </p:nvGraphicFramePr>
        <p:xfrm>
          <a:off x="2339975" y="5534744"/>
          <a:ext cx="3505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公式" r:id="rId5" imgW="1485900" imgH="393700" progId="Equation.3">
                  <p:embed/>
                </p:oleObj>
              </mc:Choice>
              <mc:Fallback>
                <p:oleObj name="公式" r:id="rId5" imgW="14859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534744"/>
                        <a:ext cx="3505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295400" y="488975"/>
            <a:ext cx="57150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b="1" kern="0" dirty="0" smtClean="0">
                <a:solidFill>
                  <a:srgbClr val="FF0000"/>
                </a:solidFill>
              </a:rPr>
              <a:t>4. </a:t>
            </a:r>
            <a:r>
              <a:rPr lang="zh-CN" altLang="en-US" b="1" kern="0" dirty="0" smtClean="0">
                <a:solidFill>
                  <a:srgbClr val="FF0000"/>
                </a:solidFill>
              </a:rPr>
              <a:t>算术编码 </a:t>
            </a:r>
            <a:endParaRPr lang="zh-CN" altLang="en-US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4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557486"/>
            <a:ext cx="8064500" cy="489585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字符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的最佳码长分别为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1.58bit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0.588bi;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这表明，要获得最佳编码效果，需要采用小数码字长度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这是不可能实现的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即采用哈夫曼方法对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{x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y}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的码字分别为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，也就是两个符号信息的编码长度都为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。对于出现概率大的字符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y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并未能赋予较短的码字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实际编码效果往往不能达到理论效率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为提高编码效率，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Elias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等人提出了算术编码算法。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295400" y="488975"/>
            <a:ext cx="57150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b="1" kern="0" dirty="0" smtClean="0">
                <a:solidFill>
                  <a:srgbClr val="FF0000"/>
                </a:solidFill>
              </a:rPr>
              <a:t>4. </a:t>
            </a:r>
            <a:r>
              <a:rPr lang="zh-CN" altLang="en-US" b="1" kern="0" dirty="0" smtClean="0">
                <a:solidFill>
                  <a:srgbClr val="FF0000"/>
                </a:solidFill>
              </a:rPr>
              <a:t>算术编码 </a:t>
            </a:r>
            <a:endParaRPr lang="zh-CN" altLang="en-US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88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295400" y="488975"/>
            <a:ext cx="57150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b="1" kern="0" dirty="0" smtClean="0">
                <a:solidFill>
                  <a:srgbClr val="FF0000"/>
                </a:solidFill>
              </a:rPr>
              <a:t>4. </a:t>
            </a:r>
            <a:r>
              <a:rPr lang="zh-CN" altLang="en-US" b="1" kern="0" dirty="0" smtClean="0">
                <a:solidFill>
                  <a:srgbClr val="FF0000"/>
                </a:solidFill>
              </a:rPr>
              <a:t>算术编码 </a:t>
            </a:r>
            <a:endParaRPr lang="zh-CN" altLang="en-US" b="1" kern="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3429000" y="6248400"/>
            <a:ext cx="838200" cy="457200"/>
          </a:xfrm>
        </p:spPr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51</a:t>
            </a:fld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511995"/>
            <a:ext cx="7092972" cy="5229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848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ChangeArrowheads="1"/>
          </p:cNvSpPr>
          <p:nvPr/>
        </p:nvSpPr>
        <p:spPr bwMode="auto">
          <a:xfrm>
            <a:off x="1115616" y="704890"/>
            <a:ext cx="275588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5.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行程编码</a:t>
            </a:r>
          </a:p>
        </p:txBody>
      </p:sp>
      <p:sp>
        <p:nvSpPr>
          <p:cNvPr id="197635" name="Rectangle 3"/>
          <p:cNvSpPr>
            <a:spLocks noChangeArrowheads="1"/>
          </p:cNvSpPr>
          <p:nvPr/>
        </p:nvSpPr>
        <p:spPr bwMode="auto">
          <a:xfrm>
            <a:off x="899592" y="1556792"/>
            <a:ext cx="8229600" cy="547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RLE 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编码</a:t>
            </a:r>
            <a:r>
              <a:rPr lang="en-US" altLang="zh-CN" b="1" dirty="0">
                <a:solidFill>
                  <a:srgbClr val="FF0000"/>
                </a:solidFill>
                <a:latin typeface="Arial"/>
                <a:ea typeface="楷体_GB2312" pitchFamily="49" charset="-122"/>
              </a:rPr>
              <a:t>——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Run Length Encoding</a:t>
            </a:r>
            <a:endParaRPr lang="en-US" altLang="zh-CN" sz="4000" b="1" dirty="0">
              <a:latin typeface="楷体_GB2312" pitchFamily="49" charset="-122"/>
              <a:ea typeface="楷体_GB2312" pitchFamily="49" charset="-122"/>
            </a:endParaRPr>
          </a:p>
          <a:p>
            <a:pPr lvl="1" algn="just">
              <a:lnSpc>
                <a:spcPct val="11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概念：</a:t>
            </a:r>
          </a:p>
          <a:p>
            <a:pPr lvl="2" algn="just">
              <a:lnSpc>
                <a:spcPct val="110000"/>
              </a:lnSpc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行程：具有相同灰度值的像素序列。</a:t>
            </a:r>
          </a:p>
          <a:p>
            <a:pPr lvl="1" algn="just">
              <a:lnSpc>
                <a:spcPct val="11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编码思想：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去除像素冗余。        </a:t>
            </a:r>
          </a:p>
          <a:p>
            <a:pPr lvl="2" algn="just">
              <a:lnSpc>
                <a:spcPct val="110000"/>
              </a:lnSpc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用行程的灰度和行程的长度代替行程本身</a:t>
            </a:r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631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ChangeArrowheads="1"/>
          </p:cNvSpPr>
          <p:nvPr/>
        </p:nvSpPr>
        <p:spPr bwMode="auto">
          <a:xfrm>
            <a:off x="1115616" y="704890"/>
            <a:ext cx="275588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5.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行程编码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3284339" y="6356176"/>
            <a:ext cx="838200" cy="457200"/>
          </a:xfrm>
        </p:spPr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53</a:t>
            </a:fld>
            <a:endParaRPr lang="zh-CN" altLang="en-US"/>
          </a:p>
        </p:txBody>
      </p:sp>
      <p:graphicFrame>
        <p:nvGraphicFramePr>
          <p:cNvPr id="5" name="Objec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8442226"/>
              </p:ext>
            </p:extLst>
          </p:nvPr>
        </p:nvGraphicFramePr>
        <p:xfrm>
          <a:off x="1115616" y="1880592"/>
          <a:ext cx="7488187" cy="1584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位图图像" r:id="rId3" imgW="6240240" imgH="944280" progId="PBrush">
                  <p:embed/>
                </p:oleObj>
              </mc:Choice>
              <mc:Fallback>
                <p:oleObj name="位图图像" r:id="rId3" imgW="6240240" imgH="944280" progId="PBrush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880592"/>
                        <a:ext cx="7488187" cy="1584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116136" y="3680792"/>
            <a:ext cx="7559675" cy="22812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>
            <a:spAutoFit/>
          </a:bodyPr>
          <a:lstStyle/>
          <a:p>
            <a:pPr eaLnBrk="0" hangingPunct="0"/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的游程： （</a:t>
            </a:r>
            <a:r>
              <a:rPr kumimoji="1" lang="en-US" altLang="zh-CN" sz="2400" b="1" dirty="0"/>
              <a:t>2,2</a:t>
            </a:r>
            <a:r>
              <a:rPr kumimoji="1" lang="zh-CN" altLang="en-US" sz="2400" b="1" dirty="0"/>
              <a:t>）（</a:t>
            </a:r>
            <a:r>
              <a:rPr kumimoji="1" lang="en-US" altLang="zh-CN" sz="2400" b="1" dirty="0"/>
              <a:t>6,3</a:t>
            </a:r>
            <a:r>
              <a:rPr kumimoji="1" lang="zh-CN" altLang="en-US" sz="2400" b="1" dirty="0"/>
              <a:t>）（</a:t>
            </a:r>
            <a:r>
              <a:rPr kumimoji="1" lang="en-US" altLang="zh-CN" sz="2400" b="1" dirty="0"/>
              <a:t>13,6</a:t>
            </a:r>
            <a:r>
              <a:rPr kumimoji="1" lang="zh-CN" altLang="en-US" sz="2400" b="1" dirty="0"/>
              <a:t>）（</a:t>
            </a:r>
            <a:r>
              <a:rPr kumimoji="1" lang="en-US" altLang="zh-CN" sz="2400" b="1" dirty="0"/>
              <a:t>20,1</a:t>
            </a:r>
            <a:r>
              <a:rPr kumimoji="1" lang="zh-CN" altLang="en-US" sz="2400" b="1" dirty="0"/>
              <a:t>）</a:t>
            </a:r>
          </a:p>
          <a:p>
            <a:pPr eaLnBrk="0" hangingPunct="0"/>
            <a:r>
              <a:rPr kumimoji="1" lang="zh-CN" altLang="en-US" sz="2400" b="1" dirty="0"/>
              <a:t>                  （</a:t>
            </a:r>
            <a:r>
              <a:rPr kumimoji="1" lang="en-US" altLang="zh-CN" sz="2400" b="1" dirty="0"/>
              <a:t>4,6</a:t>
            </a:r>
            <a:r>
              <a:rPr kumimoji="1" lang="zh-CN" altLang="en-US" sz="2400" b="1" dirty="0"/>
              <a:t>）（</a:t>
            </a:r>
            <a:r>
              <a:rPr kumimoji="1" lang="en-US" altLang="zh-CN" sz="2400" b="1" dirty="0"/>
              <a:t>11,10</a:t>
            </a:r>
            <a:r>
              <a:rPr kumimoji="1" lang="zh-CN" altLang="en-US" sz="2400" b="1" dirty="0"/>
              <a:t>）</a:t>
            </a:r>
          </a:p>
          <a:p>
            <a:pPr eaLnBrk="0" hangingPunct="0"/>
            <a:r>
              <a:rPr kumimoji="1" lang="zh-CN" altLang="en-US" sz="2400" b="1" dirty="0"/>
              <a:t>                  （</a:t>
            </a:r>
            <a:r>
              <a:rPr kumimoji="1" lang="en-US" altLang="zh-CN" sz="2400" b="1" dirty="0"/>
              <a:t>1,5 </a:t>
            </a:r>
            <a:r>
              <a:rPr kumimoji="1" lang="zh-CN" altLang="en-US" sz="2400" b="1" dirty="0"/>
              <a:t>）（</a:t>
            </a:r>
            <a:r>
              <a:rPr kumimoji="1" lang="en-US" altLang="zh-CN" sz="2400" b="1" dirty="0"/>
              <a:t>11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）（</a:t>
            </a:r>
            <a:r>
              <a:rPr kumimoji="1" lang="en-US" altLang="zh-CN" sz="2400" b="1" dirty="0"/>
              <a:t>17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4</a:t>
            </a:r>
            <a:r>
              <a:rPr kumimoji="1" lang="zh-CN" altLang="en-US" sz="2400" b="1" dirty="0"/>
              <a:t>）</a:t>
            </a:r>
          </a:p>
          <a:p>
            <a:pPr eaLnBrk="0" hangingPunct="0"/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和</a:t>
            </a:r>
            <a:r>
              <a:rPr kumimoji="1" lang="en-US" altLang="zh-CN" sz="2400" b="1" dirty="0"/>
              <a:t>0</a:t>
            </a:r>
            <a:r>
              <a:rPr kumimoji="1" lang="zh-CN" altLang="en-US" sz="2400" b="1" dirty="0"/>
              <a:t>的游程长度： </a:t>
            </a:r>
            <a:r>
              <a:rPr kumimoji="1" lang="en-US" altLang="zh-CN" sz="2400" b="1" dirty="0"/>
              <a:t>0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1,   2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2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3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4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6</a:t>
            </a:r>
            <a:r>
              <a:rPr kumimoji="1" lang="zh-CN" altLang="en-US" sz="2400" b="1" dirty="0"/>
              <a:t>， 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1 </a:t>
            </a:r>
          </a:p>
          <a:p>
            <a:pPr eaLnBrk="0" hangingPunct="0"/>
            <a:r>
              <a:rPr kumimoji="1" lang="en-US" altLang="zh-CN" sz="2400" b="1" dirty="0"/>
              <a:t>	                    0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3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6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10 </a:t>
            </a:r>
          </a:p>
          <a:p>
            <a:pPr eaLnBrk="0" hangingPunct="0"/>
            <a:r>
              <a:rPr kumimoji="1" lang="en-US" altLang="zh-CN" sz="2400" b="1" dirty="0"/>
              <a:t>                               1,  5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5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1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5</a:t>
            </a:r>
            <a:r>
              <a:rPr kumimoji="1" lang="zh-CN" altLang="en-US" sz="2400" b="1" dirty="0"/>
              <a:t>，</a:t>
            </a:r>
            <a:r>
              <a:rPr kumimoji="1" lang="en-US" altLang="zh-CN" sz="24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3548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ChangeArrowheads="1"/>
          </p:cNvSpPr>
          <p:nvPr/>
        </p:nvSpPr>
        <p:spPr bwMode="auto">
          <a:xfrm>
            <a:off x="0" y="2060848"/>
            <a:ext cx="8893175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 algn="just">
              <a:lnSpc>
                <a:spcPct val="120000"/>
              </a:lnSpc>
            </a:pPr>
            <a:r>
              <a:rPr lang="zh-CN" altLang="en-US" sz="3200" b="1" dirty="0">
                <a:ea typeface="华文新魏" pitchFamily="2" charset="-122"/>
              </a:rPr>
              <a:t>分析：</a:t>
            </a:r>
            <a:endParaRPr lang="zh-CN" altLang="en-US" sz="3600" b="1" dirty="0">
              <a:ea typeface="华文新魏" pitchFamily="2" charset="-122"/>
            </a:endParaRPr>
          </a:p>
          <a:p>
            <a:pPr lvl="2" algn="just">
              <a:lnSpc>
                <a:spcPct val="120000"/>
              </a:lnSpc>
            </a:pPr>
            <a:r>
              <a:rPr lang="zh-CN" altLang="en-US" sz="3200" b="1" dirty="0">
                <a:ea typeface="华文新魏" pitchFamily="2" charset="-122"/>
              </a:rPr>
              <a:t>对于有大面积色块的图像，压缩效果很好</a:t>
            </a:r>
          </a:p>
          <a:p>
            <a:pPr lvl="2" algn="just">
              <a:lnSpc>
                <a:spcPct val="120000"/>
              </a:lnSpc>
            </a:pP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直观，经济</a:t>
            </a:r>
            <a:r>
              <a:rPr lang="en-US" altLang="zh-CN" sz="3200" b="1" dirty="0">
                <a:latin typeface="华文新魏" pitchFamily="2" charset="-122"/>
                <a:ea typeface="华文新魏" pitchFamily="2" charset="-122"/>
              </a:rPr>
              <a:t>,</a:t>
            </a: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是一种无损压缩</a:t>
            </a:r>
          </a:p>
          <a:p>
            <a:pPr lvl="2" algn="just">
              <a:lnSpc>
                <a:spcPct val="120000"/>
              </a:lnSpc>
            </a:pPr>
            <a:r>
              <a:rPr lang="zh-CN" altLang="en-US" sz="3200" b="1" dirty="0">
                <a:ea typeface="华文新魏" pitchFamily="2" charset="-122"/>
              </a:rPr>
              <a:t>对于纷杂的图像，压缩效果不好，最坏情况下，会加倍图像</a:t>
            </a:r>
          </a:p>
          <a:p>
            <a:pPr lvl="1">
              <a:lnSpc>
                <a:spcPct val="120000"/>
              </a:lnSpc>
            </a:pPr>
            <a:endParaRPr lang="en-US" altLang="zh-CN" sz="3200" b="1" dirty="0">
              <a:ea typeface="华文新魏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15616" y="704890"/>
            <a:ext cx="275588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5.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行程编码</a:t>
            </a:r>
          </a:p>
        </p:txBody>
      </p:sp>
    </p:spTree>
    <p:extLst>
      <p:ext uri="{BB962C8B-B14F-4D97-AF65-F5344CB8AC3E}">
        <p14:creationId xmlns:p14="http://schemas.microsoft.com/office/powerpoint/2010/main" val="314284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7C45B5-40BF-4963-BFE1-9EEBC035B2AD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03012" y="704890"/>
            <a:ext cx="37850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6. </a:t>
            </a:r>
            <a:r>
              <a:rPr lang="zh-CN" altLang="en-US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无损预测编码</a:t>
            </a:r>
            <a:endParaRPr lang="zh-CN" altLang="en-US" sz="4000" b="1" dirty="0">
              <a:solidFill>
                <a:srgbClr val="FF0000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51520" y="1844824"/>
            <a:ext cx="8893175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zh-CN" altLang="en-US" sz="2400" b="1" dirty="0">
                <a:latin typeface="楷体_GB2312"/>
              </a:rPr>
              <a:t>无损预测编码</a:t>
            </a:r>
          </a:p>
          <a:p>
            <a:pPr lvl="1" algn="just">
              <a:lnSpc>
                <a:spcPct val="110000"/>
              </a:lnSpc>
              <a:buNone/>
            </a:pPr>
            <a:r>
              <a:rPr lang="en-US" altLang="zh-CN" sz="2400" b="1" dirty="0">
                <a:latin typeface="楷体_GB2312"/>
              </a:rPr>
              <a:t>1.</a:t>
            </a:r>
            <a:r>
              <a:rPr lang="zh-CN" altLang="en-US" sz="2400" b="1" dirty="0">
                <a:latin typeface="楷体_GB2312"/>
              </a:rPr>
              <a:t>编码思想</a:t>
            </a:r>
          </a:p>
          <a:p>
            <a:pPr lvl="2" algn="just">
              <a:lnSpc>
                <a:spcPct val="110000"/>
              </a:lnSpc>
              <a:buNone/>
            </a:pPr>
            <a:r>
              <a:rPr lang="en-US" altLang="zh-CN" b="1" dirty="0">
                <a:latin typeface="楷体_GB2312"/>
              </a:rPr>
              <a:t>1)</a:t>
            </a:r>
            <a:r>
              <a:rPr lang="zh-CN" altLang="en-US" b="1" dirty="0">
                <a:latin typeface="楷体_GB2312"/>
              </a:rPr>
              <a:t>去除像素冗余。</a:t>
            </a:r>
          </a:p>
          <a:p>
            <a:pPr lvl="2" algn="just">
              <a:lnSpc>
                <a:spcPct val="110000"/>
              </a:lnSpc>
              <a:buNone/>
            </a:pPr>
            <a:r>
              <a:rPr lang="en-US" altLang="zh-CN" b="1" dirty="0">
                <a:latin typeface="楷体_GB2312"/>
              </a:rPr>
              <a:t>2)</a:t>
            </a:r>
            <a:r>
              <a:rPr lang="zh-CN" altLang="en-US" b="1" dirty="0">
                <a:latin typeface="楷体_GB2312"/>
              </a:rPr>
              <a:t>认为相邻像素的信息有冗余。当前像素值可以用以前的像素值来获得。</a:t>
            </a:r>
          </a:p>
          <a:p>
            <a:pPr lvl="2" algn="just">
              <a:lnSpc>
                <a:spcPct val="110000"/>
              </a:lnSpc>
              <a:buNone/>
            </a:pPr>
            <a:r>
              <a:rPr lang="en-US" altLang="zh-CN" b="1" dirty="0">
                <a:latin typeface="楷体_GB2312"/>
              </a:rPr>
              <a:t>3)</a:t>
            </a:r>
            <a:r>
              <a:rPr lang="zh-CN" altLang="en-US" b="1" dirty="0">
                <a:latin typeface="楷体_GB2312"/>
              </a:rPr>
              <a:t>当前像素</a:t>
            </a:r>
            <a:r>
              <a:rPr lang="zh-CN" altLang="en-US" b="1" dirty="0" smtClean="0">
                <a:latin typeface="楷体_GB2312"/>
              </a:rPr>
              <a:t>值</a:t>
            </a:r>
            <a:r>
              <a:rPr lang="en-US" altLang="zh-CN" b="1" i="1" dirty="0" err="1" smtClean="0">
                <a:latin typeface="楷体_GB2312"/>
              </a:rPr>
              <a:t>f</a:t>
            </a:r>
            <a:r>
              <a:rPr lang="en-US" altLang="zh-CN" b="1" i="1" baseline="-25000" dirty="0" err="1" smtClean="0">
                <a:latin typeface="楷体_GB2312"/>
              </a:rPr>
              <a:t>n</a:t>
            </a:r>
            <a:r>
              <a:rPr lang="zh-CN" altLang="en-US" b="1" dirty="0" smtClean="0">
                <a:latin typeface="楷体_GB2312"/>
              </a:rPr>
              <a:t>，</a:t>
            </a:r>
            <a:r>
              <a:rPr lang="zh-CN" altLang="en-US" b="1" dirty="0">
                <a:latin typeface="楷体_GB2312"/>
              </a:rPr>
              <a:t>通过预测器得到一个预测值   </a:t>
            </a:r>
            <a:r>
              <a:rPr lang="zh-CN" altLang="en-US" b="1" baseline="30000" dirty="0">
                <a:latin typeface="楷体_GB2312"/>
              </a:rPr>
              <a:t> </a:t>
            </a:r>
            <a:r>
              <a:rPr lang="zh-CN" altLang="en-US" b="1" dirty="0">
                <a:latin typeface="楷体_GB2312"/>
              </a:rPr>
              <a:t>，对当前值和预测值求差，</a:t>
            </a:r>
            <a:r>
              <a:rPr lang="zh-CN" altLang="en-US" b="1" dirty="0" smtClean="0">
                <a:latin typeface="楷体_GB2312"/>
              </a:rPr>
              <a:t>对残差编码</a:t>
            </a:r>
            <a:r>
              <a:rPr lang="zh-CN" altLang="en-US" b="1" dirty="0">
                <a:latin typeface="楷体_GB2312"/>
              </a:rPr>
              <a:t>，作为压缩数据流中的下一个元素。</a:t>
            </a:r>
            <a:r>
              <a:rPr lang="zh-CN" altLang="en-US" b="1" dirty="0" smtClean="0">
                <a:latin typeface="楷体_GB2312"/>
              </a:rPr>
              <a:t>由于残差比</a:t>
            </a:r>
            <a:r>
              <a:rPr lang="zh-CN" altLang="en-US" b="1" dirty="0">
                <a:latin typeface="楷体_GB2312"/>
              </a:rPr>
              <a:t>原数据要小，因而编码要小，可用变长编码。大多数情况下</a:t>
            </a:r>
            <a:r>
              <a:rPr lang="zh-CN" altLang="en-US" b="1" dirty="0" smtClean="0">
                <a:latin typeface="楷体_GB2312"/>
              </a:rPr>
              <a:t>，</a:t>
            </a:r>
            <a:r>
              <a:rPr lang="en-US" altLang="zh-CN" b="1" i="1" dirty="0" err="1" smtClean="0">
                <a:latin typeface="楷体_GB2312"/>
              </a:rPr>
              <a:t>f</a:t>
            </a:r>
            <a:r>
              <a:rPr lang="en-US" altLang="zh-CN" b="1" i="1" baseline="-25000" dirty="0" err="1" smtClean="0">
                <a:latin typeface="楷体_GB2312"/>
              </a:rPr>
              <a:t>n</a:t>
            </a:r>
            <a:r>
              <a:rPr lang="en-US" altLang="zh-CN" b="1" i="1" baseline="-25000" dirty="0" smtClean="0">
                <a:latin typeface="楷体_GB2312"/>
              </a:rPr>
              <a:t> </a:t>
            </a:r>
            <a:r>
              <a:rPr lang="zh-CN" altLang="en-US" b="1" dirty="0">
                <a:latin typeface="楷体_GB2312"/>
              </a:rPr>
              <a:t>的预测是通过</a:t>
            </a:r>
            <a:r>
              <a:rPr lang="en-US" altLang="zh-CN" b="1" dirty="0">
                <a:latin typeface="楷体_GB2312"/>
              </a:rPr>
              <a:t>m</a:t>
            </a:r>
            <a:r>
              <a:rPr lang="zh-CN" altLang="en-US" b="1" dirty="0">
                <a:latin typeface="楷体_GB2312"/>
              </a:rPr>
              <a:t>个以前像素的线性组合来生成</a:t>
            </a:r>
            <a:r>
              <a:rPr lang="zh-CN" altLang="en-US" b="1" dirty="0" smtClean="0">
                <a:latin typeface="楷体_GB2312"/>
              </a:rPr>
              <a:t>的。</a:t>
            </a:r>
            <a:endParaRPr lang="en-US" altLang="zh-CN" b="1" dirty="0">
              <a:latin typeface="楷体_GB2312"/>
            </a:endParaRPr>
          </a:p>
          <a:p>
            <a:pPr lvl="1">
              <a:lnSpc>
                <a:spcPct val="120000"/>
              </a:lnSpc>
            </a:pPr>
            <a:endParaRPr lang="en-US" altLang="zh-CN" sz="3200" b="1" dirty="0">
              <a:ea typeface="华文新魏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542427"/>
              </p:ext>
            </p:extLst>
          </p:nvPr>
        </p:nvGraphicFramePr>
        <p:xfrm>
          <a:off x="7668344" y="4149080"/>
          <a:ext cx="28575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Formula" r:id="rId3" imgW="118439" imgH="166833" progId="Equation.Ribbit">
                  <p:embed/>
                </p:oleObj>
              </mc:Choice>
              <mc:Fallback>
                <p:oleObj name="Formula" r:id="rId3" imgW="118439" imgH="166833" progId="Equation.Ribbit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4149080"/>
                        <a:ext cx="28575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344213" y="3244334"/>
            <a:ext cx="455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 err="1">
                <a:latin typeface="楷体_GB2312"/>
              </a:rPr>
              <a:t>f</a:t>
            </a:r>
            <a:r>
              <a:rPr lang="en-US" altLang="zh-CN" b="1" i="1" baseline="-25000" dirty="0" err="1">
                <a:latin typeface="楷体_GB2312"/>
              </a:rPr>
              <a:t>n</a:t>
            </a:r>
            <a:r>
              <a:rPr lang="en-US" altLang="zh-CN" b="1" i="1" baseline="-25000" dirty="0">
                <a:latin typeface="楷体_GB2312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449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7C45B5-40BF-4963-BFE1-9EEBC035B2AD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03012" y="704890"/>
            <a:ext cx="37850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6. </a:t>
            </a:r>
            <a:r>
              <a:rPr lang="zh-CN" altLang="en-US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无损预测编码</a:t>
            </a:r>
            <a:endParaRPr lang="zh-CN" altLang="en-US" sz="4000" b="1" dirty="0">
              <a:solidFill>
                <a:srgbClr val="FF0000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51520" y="1844824"/>
            <a:ext cx="8893175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zh-CN" altLang="en-US" sz="2400" b="1" dirty="0">
                <a:latin typeface="楷体_GB2312"/>
              </a:rPr>
              <a:t>无损</a:t>
            </a:r>
            <a:r>
              <a:rPr lang="zh-CN" altLang="en-US" sz="2400" b="1" dirty="0" smtClean="0">
                <a:latin typeface="楷体_GB2312"/>
              </a:rPr>
              <a:t>预测编码步骤</a:t>
            </a:r>
            <a:endParaRPr lang="zh-CN" altLang="en-US" sz="2400" b="1" dirty="0">
              <a:latin typeface="楷体_GB2312"/>
            </a:endParaRPr>
          </a:p>
          <a:p>
            <a:pPr lvl="1" algn="just">
              <a:lnSpc>
                <a:spcPct val="110000"/>
              </a:lnSpc>
              <a:buNone/>
            </a:pPr>
            <a:endParaRPr lang="en-US" altLang="zh-CN" sz="2400" b="1" dirty="0" smtClean="0">
              <a:latin typeface="楷体_GB2312"/>
            </a:endParaRPr>
          </a:p>
          <a:p>
            <a:pPr lvl="1" algn="just">
              <a:lnSpc>
                <a:spcPct val="110000"/>
              </a:lnSpc>
              <a:buNone/>
            </a:pPr>
            <a:r>
              <a:rPr lang="zh-CN" altLang="en-US" sz="2400" b="1" dirty="0" smtClean="0">
                <a:latin typeface="楷体_GB2312"/>
              </a:rPr>
              <a:t>第一</a:t>
            </a:r>
            <a:r>
              <a:rPr lang="zh-CN" altLang="en-US" sz="2400" b="1" dirty="0">
                <a:latin typeface="楷体_GB2312"/>
              </a:rPr>
              <a:t>步：压缩头处理</a:t>
            </a:r>
          </a:p>
          <a:p>
            <a:pPr lvl="1" algn="just">
              <a:lnSpc>
                <a:spcPct val="110000"/>
              </a:lnSpc>
              <a:buNone/>
            </a:pPr>
            <a:r>
              <a:rPr lang="zh-CN" altLang="en-US" sz="2400" b="1" dirty="0">
                <a:latin typeface="楷体_GB2312"/>
              </a:rPr>
              <a:t>第二步：对每一个</a:t>
            </a:r>
            <a:r>
              <a:rPr lang="zh-CN" altLang="en-US" sz="2400" b="1" dirty="0" smtClean="0">
                <a:latin typeface="楷体_GB2312"/>
              </a:rPr>
              <a:t>符号     ，</a:t>
            </a:r>
            <a:r>
              <a:rPr lang="zh-CN" altLang="en-US" sz="2400" b="1" dirty="0">
                <a:latin typeface="楷体_GB2312"/>
              </a:rPr>
              <a:t>通过预测器求出预测值</a:t>
            </a:r>
          </a:p>
          <a:p>
            <a:pPr lvl="1" algn="just">
              <a:lnSpc>
                <a:spcPct val="110000"/>
              </a:lnSpc>
              <a:buNone/>
            </a:pPr>
            <a:r>
              <a:rPr lang="zh-CN" altLang="en-US" sz="2400" b="1" dirty="0">
                <a:latin typeface="楷体_GB2312"/>
              </a:rPr>
              <a:t>第三步：求出预测误差 </a:t>
            </a:r>
          </a:p>
          <a:p>
            <a:pPr lvl="1" algn="just">
              <a:lnSpc>
                <a:spcPct val="110000"/>
              </a:lnSpc>
              <a:buNone/>
            </a:pPr>
            <a:r>
              <a:rPr lang="zh-CN" altLang="en-US" sz="2400" b="1" dirty="0">
                <a:latin typeface="楷体_GB2312"/>
              </a:rPr>
              <a:t>		</a:t>
            </a:r>
          </a:p>
          <a:p>
            <a:pPr lvl="1" algn="just">
              <a:lnSpc>
                <a:spcPct val="110000"/>
              </a:lnSpc>
              <a:buNone/>
            </a:pPr>
            <a:endParaRPr lang="zh-CN" altLang="en-US" sz="2400" b="1" dirty="0">
              <a:latin typeface="楷体_GB2312"/>
            </a:endParaRPr>
          </a:p>
          <a:p>
            <a:pPr lvl="1" algn="just">
              <a:lnSpc>
                <a:spcPct val="110000"/>
              </a:lnSpc>
              <a:buNone/>
            </a:pPr>
            <a:r>
              <a:rPr lang="zh-CN" altLang="en-US" sz="2400" b="1" dirty="0">
                <a:latin typeface="楷体_GB2312"/>
              </a:rPr>
              <a:t>第四步：对误差</a:t>
            </a:r>
            <a:r>
              <a:rPr lang="en-US" altLang="zh-CN" sz="2400" b="1" dirty="0">
                <a:latin typeface="楷体_GB2312"/>
              </a:rPr>
              <a:t>e(</a:t>
            </a:r>
            <a:r>
              <a:rPr lang="en-US" altLang="zh-CN" sz="2400" b="1" dirty="0" err="1">
                <a:latin typeface="楷体_GB2312"/>
              </a:rPr>
              <a:t>x,y</a:t>
            </a:r>
            <a:r>
              <a:rPr lang="en-US" altLang="zh-CN" sz="2400" b="1" dirty="0">
                <a:latin typeface="楷体_GB2312"/>
              </a:rPr>
              <a:t>)</a:t>
            </a:r>
            <a:r>
              <a:rPr lang="zh-CN" altLang="en-US" sz="2400" b="1" dirty="0">
                <a:latin typeface="楷体_GB2312"/>
              </a:rPr>
              <a:t>编码，作为压缩值。</a:t>
            </a:r>
          </a:p>
          <a:p>
            <a:pPr lvl="1" algn="just">
              <a:lnSpc>
                <a:spcPct val="110000"/>
              </a:lnSpc>
              <a:buNone/>
            </a:pPr>
            <a:r>
              <a:rPr lang="zh-CN" altLang="en-US" sz="2400" b="1" dirty="0">
                <a:latin typeface="楷体_GB2312"/>
              </a:rPr>
              <a:t>重复二、三、四步</a:t>
            </a:r>
          </a:p>
          <a:p>
            <a:pPr lvl="1">
              <a:lnSpc>
                <a:spcPct val="120000"/>
              </a:lnSpc>
            </a:pPr>
            <a:endParaRPr lang="en-US" altLang="zh-CN" sz="3200" b="1" dirty="0">
              <a:ea typeface="华文新魏" pitchFamily="2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886523"/>
              </p:ext>
            </p:extLst>
          </p:nvPr>
        </p:nvGraphicFramePr>
        <p:xfrm>
          <a:off x="8181850" y="3265611"/>
          <a:ext cx="78263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3" name="Formula" r:id="rId3" imgW="395519" imgH="190765" progId="Equation.Ribbit">
                  <p:embed/>
                </p:oleObj>
              </mc:Choice>
              <mc:Fallback>
                <p:oleObj name="Formula" r:id="rId3" imgW="395519" imgH="190765" progId="Equation.Ribbit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1850" y="3265611"/>
                        <a:ext cx="78263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731874"/>
              </p:ext>
            </p:extLst>
          </p:nvPr>
        </p:nvGraphicFramePr>
        <p:xfrm>
          <a:off x="2339752" y="4365104"/>
          <a:ext cx="32591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Formula" r:id="rId5" imgW="1537970" imgH="201930" progId="Equation.Ribbit">
                  <p:embed/>
                </p:oleObj>
              </mc:Choice>
              <mc:Fallback>
                <p:oleObj name="Formula" r:id="rId5" imgW="1537970" imgH="201930" progId="Equation.Ribbit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365104"/>
                        <a:ext cx="325913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865924"/>
              </p:ext>
            </p:extLst>
          </p:nvPr>
        </p:nvGraphicFramePr>
        <p:xfrm>
          <a:off x="3851920" y="3322761"/>
          <a:ext cx="7826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Formula" r:id="rId7" imgW="395519" imgH="161514" progId="Equation.Ribbit">
                  <p:embed/>
                </p:oleObj>
              </mc:Choice>
              <mc:Fallback>
                <p:oleObj name="Formula" r:id="rId7" imgW="395519" imgH="161514" progId="Equation.Ribbit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3322761"/>
                        <a:ext cx="782638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713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03012" y="704890"/>
            <a:ext cx="37850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6. </a:t>
            </a:r>
            <a:r>
              <a:rPr lang="zh-CN" altLang="en-US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无损预测编码</a:t>
            </a:r>
            <a:endParaRPr lang="zh-CN" altLang="en-US" sz="4000" b="1" dirty="0">
              <a:solidFill>
                <a:srgbClr val="FF0000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99591" y="1700808"/>
            <a:ext cx="4315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无损预测编码流程示意图</a:t>
            </a:r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6417" y="2492896"/>
            <a:ext cx="7803214" cy="389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001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03013" y="704890"/>
            <a:ext cx="37850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7.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有</a:t>
            </a:r>
            <a:r>
              <a:rPr lang="zh-CN" altLang="en-US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损预测编码</a:t>
            </a:r>
            <a:endParaRPr lang="zh-CN" altLang="en-US" sz="4000" b="1" dirty="0">
              <a:solidFill>
                <a:srgbClr val="FF0000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99591" y="1700808"/>
            <a:ext cx="4315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有损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预测编码流程示意图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420888"/>
            <a:ext cx="7200800" cy="3667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5805264"/>
            <a:ext cx="1944216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2512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03013" y="704890"/>
            <a:ext cx="37850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7.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有</a:t>
            </a:r>
            <a:r>
              <a:rPr lang="zh-CN" altLang="en-US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损预测编码</a:t>
            </a:r>
            <a:endParaRPr lang="zh-CN" altLang="en-US" sz="4000" b="1" dirty="0">
              <a:solidFill>
                <a:srgbClr val="FF0000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99591" y="1700808"/>
            <a:ext cx="1430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zh-CN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Δ</a:t>
            </a: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调制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9329" y="2348880"/>
            <a:ext cx="6575040" cy="4433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455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03013" y="704890"/>
            <a:ext cx="378501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7.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有</a:t>
            </a:r>
            <a:r>
              <a:rPr lang="zh-CN" altLang="en-US" sz="4000" b="1" dirty="0" smtClean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损预测编码</a:t>
            </a:r>
            <a:endParaRPr lang="zh-CN" altLang="en-US" sz="4000" b="1" dirty="0">
              <a:solidFill>
                <a:srgbClr val="FF0000"/>
              </a:solidFill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99591" y="1700808"/>
            <a:ext cx="14302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熵调制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3" y="2318999"/>
            <a:ext cx="6840761" cy="4062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53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304800" y="2018878"/>
            <a:ext cx="8370888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图像标准的制定：</a:t>
            </a:r>
          </a:p>
          <a:p>
            <a:pPr lvl="1" algn="just">
              <a:lnSpc>
                <a:spcPct val="120000"/>
              </a:lnSpc>
              <a:buFontTx/>
              <a:buNone/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ISO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CCITT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（国际电报电话咨询委员会）联合制定</a:t>
            </a:r>
          </a:p>
          <a:p>
            <a:pPr algn="just">
              <a:lnSpc>
                <a:spcPct val="12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标准的类型：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连续图像压缩标准：</a:t>
            </a:r>
          </a:p>
          <a:p>
            <a:pPr lvl="2" algn="just">
              <a:lnSpc>
                <a:spcPct val="120000"/>
              </a:lnSpc>
              <a:buFontTx/>
              <a:buNone/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静止帧黑白、彩色压缩：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面向静止的单幅图像－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JPEG</a:t>
            </a:r>
          </a:p>
          <a:p>
            <a:pPr lvl="2" algn="just">
              <a:lnSpc>
                <a:spcPct val="120000"/>
              </a:lnSpc>
              <a:buFontTx/>
              <a:buNone/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连续帧黑白、彩色压缩：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面向连续的视频影像－</a:t>
            </a:r>
            <a:r>
              <a:rPr lang="en-US" altLang="zh-CN" sz="2600" b="1" dirty="0">
                <a:latin typeface="楷体_GB2312" pitchFamily="49" charset="-122"/>
                <a:ea typeface="楷体_GB2312" pitchFamily="49" charset="-122"/>
              </a:rPr>
              <a:t>MPEG</a:t>
            </a: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-382588" y="-200025"/>
            <a:ext cx="611188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685800" y="560874"/>
            <a:ext cx="81499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4000" b="1" dirty="0">
                <a:solidFill>
                  <a:srgbClr val="FF0000"/>
                </a:solidFill>
                <a:latin typeface="Verdana" pitchFamily="34" charset="0"/>
                <a:ea typeface="隶书" pitchFamily="49" charset="-122"/>
              </a:rPr>
              <a:t> </a:t>
            </a:r>
            <a:r>
              <a:rPr lang="zh-CN" altLang="en-US" sz="4000" b="1" dirty="0" smtClean="0">
                <a:solidFill>
                  <a:srgbClr val="FF0000"/>
                </a:solidFill>
                <a:latin typeface="Verdana" pitchFamily="34" charset="0"/>
                <a:ea typeface="隶书" pitchFamily="49" charset="-122"/>
              </a:rPr>
              <a:t>三</a:t>
            </a:r>
            <a:r>
              <a:rPr lang="en-US" altLang="zh-CN" sz="4000" b="1" dirty="0" smtClean="0">
                <a:solidFill>
                  <a:srgbClr val="FF0000"/>
                </a:solidFill>
                <a:latin typeface="Verdana" pitchFamily="34" charset="0"/>
                <a:ea typeface="隶书" pitchFamily="49" charset="-122"/>
              </a:rPr>
              <a:t>.</a:t>
            </a:r>
            <a:r>
              <a:rPr lang="zh-CN" altLang="en-US" sz="4000" b="1" dirty="0">
                <a:solidFill>
                  <a:srgbClr val="FF0000"/>
                </a:solidFill>
                <a:latin typeface="Verdana" pitchFamily="34" charset="0"/>
                <a:ea typeface="隶书" pitchFamily="49" charset="-122"/>
              </a:rPr>
              <a:t>静止图像压缩编码标准－</a:t>
            </a:r>
            <a:r>
              <a:rPr lang="en-US" altLang="zh-CN" sz="4000" b="1" dirty="0">
                <a:solidFill>
                  <a:srgbClr val="FF0000"/>
                </a:solidFill>
                <a:latin typeface="Verdana" pitchFamily="34" charset="0"/>
                <a:ea typeface="隶书" pitchFamily="49" charset="-122"/>
              </a:rPr>
              <a:t>JPEG</a:t>
            </a:r>
          </a:p>
        </p:txBody>
      </p:sp>
    </p:spTree>
    <p:extLst>
      <p:ext uri="{BB962C8B-B14F-4D97-AF65-F5344CB8AC3E}">
        <p14:creationId xmlns:p14="http://schemas.microsoft.com/office/powerpoint/2010/main" val="196535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611188" y="654968"/>
            <a:ext cx="6096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JPEG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标准简述</a:t>
            </a: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-287338" y="0"/>
            <a:ext cx="611188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539750" y="1593676"/>
            <a:ext cx="8015288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    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由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ISO/IEC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与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CCITT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联合发起的联合图像专家组，在过去十几年图像编码研究成果的基础上于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20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世纪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90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年代初制定了静止图像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(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包括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8bit/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像素的灰度图像与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24bit/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像素的彩色图像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)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的编码标准。</a:t>
            </a:r>
          </a:p>
          <a:p>
            <a:pPr>
              <a:lnSpc>
                <a:spcPct val="120000"/>
              </a:lnSpc>
            </a:pPr>
            <a:endParaRPr kumimoji="1" lang="zh-CN" altLang="en-US" sz="2800" b="1" dirty="0">
              <a:latin typeface="隶书" pitchFamily="49" charset="-122"/>
              <a:ea typeface="隶书" pitchFamily="49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    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JPEG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标准在较低的计算复杂度下，能提供较高的压缩比与保真度。在视觉效果不受到严重损失的前提下，算法可以达到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15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到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20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的压缩比。如果在图像质量上稍微牺牲一点的话，可以达到</a:t>
            </a:r>
            <a:r>
              <a:rPr kumimoji="1" lang="en-US" altLang="zh-CN" sz="2800" b="1" dirty="0">
                <a:latin typeface="隶书" pitchFamily="49" charset="-122"/>
                <a:ea typeface="隶书" pitchFamily="49" charset="-122"/>
              </a:rPr>
              <a:t>40:1</a:t>
            </a:r>
            <a:r>
              <a:rPr kumimoji="1" lang="zh-CN" altLang="en-US" sz="2800" b="1" dirty="0">
                <a:latin typeface="隶书" pitchFamily="49" charset="-122"/>
                <a:ea typeface="隶书" pitchFamily="49" charset="-122"/>
              </a:rPr>
              <a:t>或更高的压缩比。</a:t>
            </a:r>
          </a:p>
        </p:txBody>
      </p:sp>
    </p:spTree>
    <p:extLst>
      <p:ext uri="{BB962C8B-B14F-4D97-AF65-F5344CB8AC3E}">
        <p14:creationId xmlns:p14="http://schemas.microsoft.com/office/powerpoint/2010/main" val="43595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467494" y="1791897"/>
            <a:ext cx="8208962" cy="242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   JPEG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定义了一个基本系统，一个符合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JPEG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标准的编解码器至少要满足基本系统的技术指标。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JPEG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基本系统其核心</a:t>
            </a: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属于</a:t>
            </a:r>
            <a:r>
              <a:rPr kumimoji="1" lang="zh-CN" altLang="en-US" sz="26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分块</a:t>
            </a:r>
            <a:r>
              <a:rPr kumimoji="1" lang="zh-CN" altLang="en-US" sz="26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变换</a:t>
            </a:r>
            <a:r>
              <a:rPr kumimoji="1" lang="zh-CN" altLang="en-US" sz="26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编码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JPFG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编码时，对原始图像的每一个分量首先分割成互不重叠的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8×8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像素块，然后对每个像素块的编码过程可分为二维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DCT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变换</a:t>
            </a: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kumimoji="1" lang="zh-CN" altLang="en-US" sz="26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11188" y="654968"/>
            <a:ext cx="6096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JPEG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标准简述</a:t>
            </a:r>
          </a:p>
        </p:txBody>
      </p:sp>
      <p:sp>
        <p:nvSpPr>
          <p:cNvPr id="2" name="矩形 1"/>
          <p:cNvSpPr/>
          <p:nvPr/>
        </p:nvSpPr>
        <p:spPr>
          <a:xfrm>
            <a:off x="1961202" y="5108666"/>
            <a:ext cx="55402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2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为什么要进行分块</a:t>
            </a:r>
            <a:r>
              <a:rPr kumimoji="1" lang="zh-CN" altLang="en-US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变换</a:t>
            </a:r>
            <a:r>
              <a:rPr kumimoji="1" lang="zh-CN" altLang="en-US" sz="32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编码？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0466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467494" y="1791897"/>
            <a:ext cx="8208962" cy="242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   JPEG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定义了一个基本系统，一个符合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JPEG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标准的编解码器至少要满足基本系统的技术指标。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JPEG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基本系统其核心</a:t>
            </a: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属于</a:t>
            </a:r>
            <a:r>
              <a:rPr kumimoji="1" lang="zh-CN" altLang="en-US" sz="26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分块</a:t>
            </a:r>
            <a:r>
              <a:rPr kumimoji="1" lang="zh-CN" altLang="en-US" sz="26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变换</a:t>
            </a:r>
            <a:r>
              <a:rPr kumimoji="1" lang="zh-CN" altLang="en-US" sz="26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编码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。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JPFG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编码时，对原始图像的每一个分量首先分割成互不重叠的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8×8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像素块，然后对每个像素块的编码过程可分为二维</a:t>
            </a:r>
            <a:r>
              <a:rPr kumimoji="1" lang="en-US" altLang="zh-CN" sz="2600" b="1" dirty="0">
                <a:latin typeface="楷体_GB2312" pitchFamily="49" charset="-122"/>
                <a:ea typeface="楷体_GB2312" pitchFamily="49" charset="-122"/>
              </a:rPr>
              <a:t>DCT</a:t>
            </a:r>
            <a:r>
              <a:rPr kumimoji="1" lang="zh-CN" altLang="en-US" sz="2600" b="1" dirty="0">
                <a:latin typeface="楷体_GB2312" pitchFamily="49" charset="-122"/>
                <a:ea typeface="楷体_GB2312" pitchFamily="49" charset="-122"/>
              </a:rPr>
              <a:t>变换</a:t>
            </a: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。</a:t>
            </a:r>
            <a:endParaRPr kumimoji="1" lang="zh-CN" altLang="en-US" sz="26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11188" y="654968"/>
            <a:ext cx="6096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lvl="1">
              <a:buFont typeface="Wingdings" pitchFamily="2" charset="2"/>
              <a:buChar char="Ø"/>
            </a:pP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JPEG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标准简述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95536" y="4248378"/>
            <a:ext cx="8208962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zh-CN" altLang="en-US" sz="26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分块变换编码的优势：</a:t>
            </a:r>
            <a:endParaRPr kumimoji="1" lang="en-US" altLang="zh-CN" sz="2600" b="1" dirty="0" smtClean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600" b="1" dirty="0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）使得图像信号的能量更加集中；</a:t>
            </a:r>
            <a:endParaRPr kumimoji="1" lang="en-US" altLang="zh-CN" sz="2600" b="1" dirty="0" smtClean="0"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600" b="1" dirty="0" smtClean="0"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）利用了人类视觉心理冗余性</a:t>
            </a:r>
            <a:endParaRPr kumimoji="1" lang="en-US" altLang="zh-CN" sz="2600" b="1" dirty="0" smtClean="0"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20000"/>
              </a:lnSpc>
            </a:pP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600" b="1" dirty="0" smtClean="0"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）分块变换使得图像的</a:t>
            </a:r>
            <a:r>
              <a:rPr kumimoji="1" lang="en-US" altLang="zh-CN" sz="2600" b="1" dirty="0" smtClean="0">
                <a:latin typeface="楷体_GB2312" pitchFamily="49" charset="-122"/>
                <a:ea typeface="楷体_GB2312" pitchFamily="49" charset="-122"/>
              </a:rPr>
              <a:t>artifact</a:t>
            </a:r>
            <a:r>
              <a:rPr kumimoji="1" lang="zh-CN" altLang="en-US" sz="2600" b="1" dirty="0" smtClean="0">
                <a:latin typeface="楷体_GB2312" pitchFamily="49" charset="-122"/>
                <a:ea typeface="楷体_GB2312" pitchFamily="49" charset="-122"/>
              </a:rPr>
              <a:t>不会扩展到整幅图像，保证了图像编码质量。</a:t>
            </a:r>
            <a:endParaRPr kumimoji="1" lang="zh-CN" altLang="en-US" sz="2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095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分块变换</a:t>
            </a:r>
            <a:r>
              <a:rPr lang="zh-CN" altLang="en-US" sz="3600" b="1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编码通用框架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65</a:t>
            </a:fld>
            <a:endParaRPr lang="zh-CN" alt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1281" y="2276872"/>
            <a:ext cx="8499623" cy="3354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变换编码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700808"/>
            <a:ext cx="7762013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67</a:t>
            </a:fld>
            <a:endParaRPr lang="zh-CN" alt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5" y="2492896"/>
            <a:ext cx="8385659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187624" y="1700808"/>
            <a:ext cx="32592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/>
              <a:t>Other basis sets:</a:t>
            </a:r>
            <a:endParaRPr lang="zh-CN" altLang="en-US" sz="3200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变换编码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离散余弦变换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68</a:t>
            </a:fld>
            <a:endParaRPr lang="zh-CN" altLang="en-US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823" y="2348880"/>
            <a:ext cx="8454649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离散余弦变换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69</a:t>
            </a:fld>
            <a:endParaRPr lang="zh-CN" altLang="en-US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660203"/>
            <a:ext cx="7237850" cy="4865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离散余弦变换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70</a:t>
            </a:fld>
            <a:endParaRPr lang="zh-CN" altLang="en-US"/>
          </a:p>
        </p:txBody>
      </p:sp>
      <p:pic>
        <p:nvPicPr>
          <p:cNvPr id="5" name="图片 4" descr="350px-Dandelion_clock_quarter_dft_dc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27784" y="1556792"/>
            <a:ext cx="4099201" cy="5129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JPEG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71</a:t>
            </a:fld>
            <a:endParaRPr lang="zh-CN" altLang="en-US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852936"/>
            <a:ext cx="6743700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988840"/>
            <a:ext cx="541972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305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JPEG </a:t>
            </a:r>
            <a:r>
              <a:rPr lang="zh-CN" altLang="en-US" b="1" dirty="0" smtClean="0">
                <a:solidFill>
                  <a:srgbClr val="FF0000"/>
                </a:solidFill>
              </a:rPr>
              <a:t>编码流程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72</a:t>
            </a:fld>
            <a:endParaRPr lang="zh-CN" alt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132856"/>
            <a:ext cx="7840304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0343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JPEG Baseline Process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73</a:t>
            </a:fld>
            <a:endParaRPr lang="zh-CN" alt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204864"/>
            <a:ext cx="842544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413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标准测试图像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74</a:t>
            </a:fld>
            <a:endParaRPr lang="zh-CN" altLang="en-US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527989"/>
            <a:ext cx="7344816" cy="5141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821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颜色转换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75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63863" y="1628800"/>
            <a:ext cx="25923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/>
              <a:t>RGB → </a:t>
            </a:r>
            <a:r>
              <a:rPr lang="en-US" altLang="zh-CN" sz="2800" dirty="0" err="1" smtClean="0"/>
              <a:t>YCbCr</a:t>
            </a:r>
            <a:endParaRPr lang="en-US" altLang="zh-CN" sz="2800" dirty="0" smtClean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1515" y="2204864"/>
            <a:ext cx="74009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4437112"/>
            <a:ext cx="690183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507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颜色通道下采样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76</a:t>
            </a:fld>
            <a:endParaRPr lang="zh-CN" altLang="en-US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7584" y="2099190"/>
            <a:ext cx="7992888" cy="449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8820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各个通道分割成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8×8 </a:t>
            </a:r>
            <a:r>
              <a:rPr lang="zh-CN" altLang="en-US" sz="3600" b="1" dirty="0" smtClean="0">
                <a:solidFill>
                  <a:srgbClr val="FF0000"/>
                </a:solidFill>
              </a:rPr>
              <a:t>小块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77</a:t>
            </a:fld>
            <a:endParaRPr lang="zh-CN" altLang="en-US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556792"/>
            <a:ext cx="5472608" cy="5227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39646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为离散余弦变换进行预处理</a:t>
            </a:r>
            <a:endParaRPr lang="zh-CN" altLang="en-US" sz="36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78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888" y="2276872"/>
            <a:ext cx="829258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710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离散余弦变换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79</a:t>
            </a:fld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99" y="1768599"/>
            <a:ext cx="7771411" cy="4252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372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离散余弦变换的基函数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80</a:t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71600" y="1700807"/>
            <a:ext cx="7488832" cy="4495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191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离散余弦变换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81</a:t>
            </a:fld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204864"/>
            <a:ext cx="8496944" cy="3997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865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离散余弦变换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82</a:t>
            </a:fld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3568" y="2132856"/>
            <a:ext cx="7932415" cy="4080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173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离散余弦变换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83</a:t>
            </a:fld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1560" y="1772816"/>
            <a:ext cx="7997698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604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离散余弦变换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84</a:t>
            </a:fld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7831" y="1700808"/>
            <a:ext cx="8054609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0539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例子：离散余弦变换的量化表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85</a:t>
            </a:fld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844824"/>
            <a:ext cx="7289278" cy="4378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464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离散余弦变换的量化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86</a:t>
            </a:fld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943" y="2060848"/>
            <a:ext cx="8571537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392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图像直流成分</a:t>
            </a:r>
            <a:r>
              <a:rPr lang="fr-FR" altLang="zh-CN" sz="3200" b="1" dirty="0" smtClean="0">
                <a:solidFill>
                  <a:srgbClr val="FF0000"/>
                </a:solidFill>
              </a:rPr>
              <a:t>(8×8 constant blocks)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87</a:t>
            </a:fld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204864"/>
            <a:ext cx="7967522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9645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722784"/>
            <a:ext cx="7543800" cy="762000"/>
          </a:xfrm>
        </p:spPr>
        <p:txBody>
          <a:bodyPr/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直流成分编码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(DPCM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差分脉冲编码调制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)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88</a:t>
            </a:fld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132856"/>
            <a:ext cx="8424936" cy="4173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331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89</a:t>
            </a:fld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916831"/>
            <a:ext cx="771979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219200" y="722784"/>
            <a:ext cx="7543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200" b="1" kern="0" smtClean="0">
                <a:solidFill>
                  <a:srgbClr val="FF0000"/>
                </a:solidFill>
              </a:rPr>
              <a:t>直流成分编码</a:t>
            </a:r>
            <a:r>
              <a:rPr lang="en-US" altLang="zh-CN" sz="3200" b="1" kern="0" smtClean="0">
                <a:solidFill>
                  <a:srgbClr val="FF0000"/>
                </a:solidFill>
              </a:rPr>
              <a:t>(DPCM</a:t>
            </a:r>
            <a:r>
              <a:rPr lang="zh-CN" altLang="en-US" sz="3200" b="1" kern="0" smtClean="0">
                <a:solidFill>
                  <a:srgbClr val="FF0000"/>
                </a:solidFill>
              </a:rPr>
              <a:t>差分脉冲编码调制</a:t>
            </a:r>
            <a:r>
              <a:rPr lang="en-US" altLang="zh-CN" sz="3200" b="1" kern="0" smtClean="0">
                <a:solidFill>
                  <a:srgbClr val="FF0000"/>
                </a:solidFill>
              </a:rPr>
              <a:t>)</a:t>
            </a:r>
            <a:endParaRPr lang="zh-CN" altLang="en-US" sz="3200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02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交流成分熵编码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90</a:t>
            </a:fld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276872"/>
            <a:ext cx="7765911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579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91</a:t>
            </a:fld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628800"/>
            <a:ext cx="6408712" cy="446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371600" y="762000"/>
            <a:ext cx="7543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600" b="1" kern="0" smtClean="0">
                <a:solidFill>
                  <a:srgbClr val="FF0000"/>
                </a:solidFill>
              </a:rPr>
              <a:t>交流成分熵编码</a:t>
            </a:r>
            <a:endParaRPr lang="zh-CN" altLang="en-US" sz="3600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88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92</a:t>
            </a:fld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556792"/>
            <a:ext cx="6858422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371600" y="762000"/>
            <a:ext cx="7543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>
                <a:solidFill>
                  <a:srgbClr val="340068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3600" b="1" kern="0" smtClean="0">
                <a:solidFill>
                  <a:srgbClr val="FF0000"/>
                </a:solidFill>
              </a:rPr>
              <a:t>交流成分熵编码</a:t>
            </a:r>
            <a:endParaRPr lang="zh-CN" altLang="en-US" sz="3600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14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效果展示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E1859-598D-4001-8269-61C428827EE7}" type="slidenum">
              <a:rPr lang="zh-CN" altLang="en-US" smtClean="0"/>
              <a:pPr>
                <a:defRPr/>
              </a:pPr>
              <a:t>93</a:t>
            </a:fld>
            <a:endParaRPr lang="zh-CN" alt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461" y="2276872"/>
            <a:ext cx="8814035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19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1">
  <a:themeElements>
    <a:clrScheme name="默认设计模板 8">
      <a:dk1>
        <a:srgbClr val="3333FF"/>
      </a:dk1>
      <a:lt1>
        <a:srgbClr val="FFFFFF"/>
      </a:lt1>
      <a:dk2>
        <a:srgbClr val="FF9900"/>
      </a:dk2>
      <a:lt2>
        <a:srgbClr val="808080"/>
      </a:lt2>
      <a:accent1>
        <a:srgbClr val="00CCFF"/>
      </a:accent1>
      <a:accent2>
        <a:srgbClr val="3333CC"/>
      </a:accent2>
      <a:accent3>
        <a:srgbClr val="FFFFFF"/>
      </a:accent3>
      <a:accent4>
        <a:srgbClr val="2A2ADA"/>
      </a:accent4>
      <a:accent5>
        <a:srgbClr val="AAE2FF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hlink"/>
          </a:solidFill>
          <a:prstDash val="solid"/>
          <a:round/>
          <a:headEnd type="triangl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hlink"/>
          </a:solidFill>
          <a:prstDash val="solid"/>
          <a:round/>
          <a:headEnd type="triangl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rgbClr val="003366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3333FF"/>
        </a:dk1>
        <a:lt1>
          <a:srgbClr val="FFFFFF"/>
        </a:lt1>
        <a:dk2>
          <a:srgbClr val="FF9900"/>
        </a:dk2>
        <a:lt2>
          <a:srgbClr val="808080"/>
        </a:lt2>
        <a:accent1>
          <a:srgbClr val="00CCFF"/>
        </a:accent1>
        <a:accent2>
          <a:srgbClr val="3333CC"/>
        </a:accent2>
        <a:accent3>
          <a:srgbClr val="FFFFFF"/>
        </a:accent3>
        <a:accent4>
          <a:srgbClr val="2A2ADA"/>
        </a:accent4>
        <a:accent5>
          <a:srgbClr val="AAE2FF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教材母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教材母版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教材母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教材母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教材母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教材母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教材母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教材母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教材母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6378</TotalTime>
  <Words>3756</Words>
  <Application>Microsoft Office PowerPoint</Application>
  <PresentationFormat>全屏显示(4:3)</PresentationFormat>
  <Paragraphs>789</Paragraphs>
  <Slides>93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93</vt:i4>
      </vt:variant>
    </vt:vector>
  </HeadingPairs>
  <TitlesOfParts>
    <vt:vector size="115" baseType="lpstr">
      <vt:lpstr>方正大黑简体</vt:lpstr>
      <vt:lpstr>黑体</vt:lpstr>
      <vt:lpstr>华文新魏</vt:lpstr>
      <vt:lpstr>楷体</vt:lpstr>
      <vt:lpstr>楷体_GB2312</vt:lpstr>
      <vt:lpstr>隶书</vt:lpstr>
      <vt:lpstr>宋体</vt:lpstr>
      <vt:lpstr>微软雅黑</vt:lpstr>
      <vt:lpstr>Arial</vt:lpstr>
      <vt:lpstr>Calibri</vt:lpstr>
      <vt:lpstr>Haettenschweiler</vt:lpstr>
      <vt:lpstr>Symbol</vt:lpstr>
      <vt:lpstr>Tahoma</vt:lpstr>
      <vt:lpstr>Times New Roman</vt:lpstr>
      <vt:lpstr>Verdana</vt:lpstr>
      <vt:lpstr>Wingdings</vt:lpstr>
      <vt:lpstr>主题1</vt:lpstr>
      <vt:lpstr>教材母版</vt:lpstr>
      <vt:lpstr>Equation</vt:lpstr>
      <vt:lpstr>公式</vt:lpstr>
      <vt:lpstr>位图图像</vt:lpstr>
      <vt:lpstr>Formula</vt:lpstr>
      <vt:lpstr>信号与图像处理基础</vt:lpstr>
      <vt:lpstr>图像压缩编码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7.信息论</vt:lpstr>
      <vt:lpstr>7.信息论</vt:lpstr>
      <vt:lpstr>7.信息论</vt:lpstr>
      <vt:lpstr>7.信息论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Huffman编码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算术编码 </vt:lpstr>
      <vt:lpstr>以信源字符序列{x，y}为例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分块变换编码通用框架</vt:lpstr>
      <vt:lpstr>变换编码</vt:lpstr>
      <vt:lpstr>变换编码</vt:lpstr>
      <vt:lpstr>离散余弦变换</vt:lpstr>
      <vt:lpstr>离散余弦变换</vt:lpstr>
      <vt:lpstr>离散余弦变换</vt:lpstr>
      <vt:lpstr>JPEG </vt:lpstr>
      <vt:lpstr>JPEG 编码流程</vt:lpstr>
      <vt:lpstr>JPEG Baseline Process</vt:lpstr>
      <vt:lpstr>标准测试图像</vt:lpstr>
      <vt:lpstr>颜色转换</vt:lpstr>
      <vt:lpstr>颜色通道下采样</vt:lpstr>
      <vt:lpstr>各个通道分割成8×8 小块</vt:lpstr>
      <vt:lpstr>为离散余弦变换进行预处理</vt:lpstr>
      <vt:lpstr>离散余弦变换</vt:lpstr>
      <vt:lpstr>离散余弦变换的基函数</vt:lpstr>
      <vt:lpstr>离散余弦变换</vt:lpstr>
      <vt:lpstr>离散余弦变换</vt:lpstr>
      <vt:lpstr>离散余弦变换</vt:lpstr>
      <vt:lpstr>离散余弦变换</vt:lpstr>
      <vt:lpstr>例子：离散余弦变换的量化表</vt:lpstr>
      <vt:lpstr>离散余弦变换的量化</vt:lpstr>
      <vt:lpstr>图像直流成分(8×8 constant blocks)</vt:lpstr>
      <vt:lpstr>直流成分编码(DPCM差分脉冲编码调制)</vt:lpstr>
      <vt:lpstr>PowerPoint 演示文稿</vt:lpstr>
      <vt:lpstr>交流成分熵编码</vt:lpstr>
      <vt:lpstr>PowerPoint 演示文稿</vt:lpstr>
      <vt:lpstr>PowerPoint 演示文稿</vt:lpstr>
      <vt:lpstr>效果展示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基于彩色和深度信息融合的  车辆形状检测</dc:title>
  <dc:creator>Administrator</dc:creator>
  <cp:lastModifiedBy>曹 洋</cp:lastModifiedBy>
  <cp:revision>402</cp:revision>
  <dcterms:modified xsi:type="dcterms:W3CDTF">2019-04-29T14:28:14Z</dcterms:modified>
</cp:coreProperties>
</file>
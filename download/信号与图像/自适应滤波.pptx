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2" r:id="rId1"/>
  </p:sldMasterIdLst>
  <p:notesMasterIdLst>
    <p:notesMasterId r:id="rId44"/>
  </p:notesMasterIdLst>
  <p:handoutMasterIdLst>
    <p:handoutMasterId r:id="rId45"/>
  </p:handoutMasterIdLst>
  <p:sldIdLst>
    <p:sldId id="256" r:id="rId2"/>
    <p:sldId id="275" r:id="rId3"/>
    <p:sldId id="257" r:id="rId4"/>
    <p:sldId id="334" r:id="rId5"/>
    <p:sldId id="277" r:id="rId6"/>
    <p:sldId id="335" r:id="rId7"/>
    <p:sldId id="279" r:id="rId8"/>
    <p:sldId id="280" r:id="rId9"/>
    <p:sldId id="352" r:id="rId10"/>
    <p:sldId id="281" r:id="rId11"/>
    <p:sldId id="351" r:id="rId12"/>
    <p:sldId id="282" r:id="rId13"/>
    <p:sldId id="350" r:id="rId14"/>
    <p:sldId id="349" r:id="rId15"/>
    <p:sldId id="348" r:id="rId16"/>
    <p:sldId id="346" r:id="rId17"/>
    <p:sldId id="347" r:id="rId18"/>
    <p:sldId id="283" r:id="rId19"/>
    <p:sldId id="285" r:id="rId20"/>
    <p:sldId id="287" r:id="rId21"/>
    <p:sldId id="288" r:id="rId22"/>
    <p:sldId id="284" r:id="rId23"/>
    <p:sldId id="289" r:id="rId24"/>
    <p:sldId id="290" r:id="rId25"/>
    <p:sldId id="375" r:id="rId26"/>
    <p:sldId id="353" r:id="rId27"/>
    <p:sldId id="354" r:id="rId28"/>
    <p:sldId id="355" r:id="rId29"/>
    <p:sldId id="376" r:id="rId30"/>
    <p:sldId id="356" r:id="rId31"/>
    <p:sldId id="370" r:id="rId32"/>
    <p:sldId id="371" r:id="rId33"/>
    <p:sldId id="372" r:id="rId34"/>
    <p:sldId id="373" r:id="rId35"/>
    <p:sldId id="374" r:id="rId36"/>
    <p:sldId id="357" r:id="rId37"/>
    <p:sldId id="358" r:id="rId38"/>
    <p:sldId id="359" r:id="rId39"/>
    <p:sldId id="377" r:id="rId40"/>
    <p:sldId id="378" r:id="rId41"/>
    <p:sldId id="379" r:id="rId42"/>
    <p:sldId id="380" r:id="rId43"/>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0" autoAdjust="0"/>
    <p:restoredTop sz="88700" autoAdjust="0"/>
  </p:normalViewPr>
  <p:slideViewPr>
    <p:cSldViewPr>
      <p:cViewPr varScale="1">
        <p:scale>
          <a:sx n="62" d="100"/>
          <a:sy n="62" d="100"/>
        </p:scale>
        <p:origin x="-1584" y="-90"/>
      </p:cViewPr>
      <p:guideLst>
        <p:guide orient="horz" pos="2160"/>
        <p:guide pos="2880"/>
      </p:guideLst>
    </p:cSldViewPr>
  </p:slideViewPr>
  <p:outlineViewPr>
    <p:cViewPr>
      <p:scale>
        <a:sx n="33" d="100"/>
        <a:sy n="33" d="100"/>
      </p:scale>
      <p:origin x="0" y="13518"/>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2A9C7F97-1A74-482B-973F-6C1CCFCE1F38}" type="datetimeFigureOut">
              <a:rPr lang="zh-CN" altLang="en-US"/>
              <a:pPr>
                <a:defRPr/>
              </a:pPr>
              <a:t>2018/4/18</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AD4E7935-FA5F-47F3-8C57-E7DD45889E7C}" type="slidenum">
              <a:rPr lang="zh-CN" altLang="en-US"/>
              <a:pPr>
                <a:defRPr/>
              </a:pPr>
              <a:t>‹#›</a:t>
            </a:fld>
            <a:endParaRPr lang="zh-CN" altLang="en-US"/>
          </a:p>
        </p:txBody>
      </p:sp>
    </p:spTree>
    <p:extLst>
      <p:ext uri="{BB962C8B-B14F-4D97-AF65-F5344CB8AC3E}">
        <p14:creationId xmlns:p14="http://schemas.microsoft.com/office/powerpoint/2010/main" val="84810019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605597A9-92FB-469D-A4B9-AAD2696EED39}" type="datetimeFigureOut">
              <a:rPr lang="zh-CN" altLang="en-US"/>
              <a:pPr>
                <a:defRPr/>
              </a:pPr>
              <a:t>2018/4/18</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endParaRPr lang="zh-CN" altLang="en-US" noProof="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55E1AE82-BC5C-4F61-AC9E-67E0204F36A0}" type="slidenum">
              <a:rPr lang="zh-CN" altLang="en-US"/>
              <a:pPr>
                <a:defRPr/>
              </a:pPr>
              <a:t>‹#›</a:t>
            </a:fld>
            <a:endParaRPr lang="zh-CN" altLang="en-US"/>
          </a:p>
        </p:txBody>
      </p:sp>
    </p:spTree>
    <p:extLst>
      <p:ext uri="{BB962C8B-B14F-4D97-AF65-F5344CB8AC3E}">
        <p14:creationId xmlns:p14="http://schemas.microsoft.com/office/powerpoint/2010/main" val="2032708236"/>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p:cNvSpPr>
            <a:spLocks noGrp="1" noRot="1" noChangeAspect="1" noTextEdit="1"/>
          </p:cNvSpPr>
          <p:nvPr>
            <p:ph type="sldImg"/>
          </p:nvPr>
        </p:nvSpPr>
        <p:spPr bwMode="auto">
          <a:noFill/>
          <a:ln>
            <a:solidFill>
              <a:srgbClr val="000000"/>
            </a:solidFill>
            <a:miter lim="800000"/>
            <a:headEnd/>
            <a:tailEnd/>
          </a:ln>
        </p:spPr>
      </p:sp>
      <p:sp>
        <p:nvSpPr>
          <p:cNvPr id="34819"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38916" name="灯片编号占位符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824DA9D3-1921-4761-B1C6-D2B145759AB8}" type="slidenum">
              <a:rPr lang="zh-CN" altLang="en-US" smtClean="0"/>
              <a:pPr fontAlgn="base">
                <a:spcBef>
                  <a:spcPct val="0"/>
                </a:spcBef>
                <a:spcAft>
                  <a:spcPct val="0"/>
                </a:spcAft>
                <a:defRPr/>
              </a:pPr>
              <a:t>1</a:t>
            </a:fld>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均衡技术是指在数字通信系统中，由于多径传输、信道衰落等影响，在接收端会产生严重的码间干扰（</a:t>
            </a:r>
            <a:r>
              <a:rPr lang="en-US" altLang="zh-CN" dirty="0" smtClean="0"/>
              <a:t>Inter Symbol Interference</a:t>
            </a:r>
            <a:r>
              <a:rPr lang="zh-CN" altLang="en-US" dirty="0" smtClean="0"/>
              <a:t>，简称</a:t>
            </a:r>
            <a:r>
              <a:rPr lang="en-US" altLang="zh-CN" dirty="0" smtClean="0"/>
              <a:t>ISI</a:t>
            </a:r>
            <a:r>
              <a:rPr lang="zh-CN" altLang="en-US" dirty="0" smtClean="0"/>
              <a:t>），增大误码率。为了克服码间干扰，提高通信系统的性能，在接收端需采用均衡技术。均衡是指对信道特性的均衡，即接收端的均衡器产生与信道特性相反的特性，用来减小或消除因信道的时变多径传播特性引起的码间干扰。</a:t>
            </a:r>
            <a:endParaRPr lang="zh-CN" altLang="en-US" dirty="0"/>
          </a:p>
        </p:txBody>
      </p:sp>
      <p:sp>
        <p:nvSpPr>
          <p:cNvPr id="4" name="灯片编号占位符 3"/>
          <p:cNvSpPr>
            <a:spLocks noGrp="1"/>
          </p:cNvSpPr>
          <p:nvPr>
            <p:ph type="sldNum" sz="quarter" idx="10"/>
          </p:nvPr>
        </p:nvSpPr>
        <p:spPr/>
        <p:txBody>
          <a:bodyPr/>
          <a:lstStyle/>
          <a:p>
            <a:pPr>
              <a:defRPr/>
            </a:pPr>
            <a:fld id="{55E1AE82-BC5C-4F61-AC9E-67E0204F36A0}" type="slidenum">
              <a:rPr lang="zh-CN" altLang="en-US" smtClean="0"/>
              <a:pPr>
                <a:defRPr/>
              </a:pPr>
              <a:t>8</a:t>
            </a:fld>
            <a:endParaRPr lang="zh-CN" altLang="en-US"/>
          </a:p>
        </p:txBody>
      </p:sp>
    </p:spTree>
    <p:extLst>
      <p:ext uri="{BB962C8B-B14F-4D97-AF65-F5344CB8AC3E}">
        <p14:creationId xmlns:p14="http://schemas.microsoft.com/office/powerpoint/2010/main" val="28051613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均衡技术是指在数字通信系统中，由于多径传输、信道衰落等影响，在接收端会产生严重的码间干扰（</a:t>
            </a:r>
            <a:r>
              <a:rPr lang="en-US" altLang="zh-CN" dirty="0" smtClean="0"/>
              <a:t>Inter Symbol Interference</a:t>
            </a:r>
            <a:r>
              <a:rPr lang="zh-CN" altLang="en-US" dirty="0" smtClean="0"/>
              <a:t>，简称</a:t>
            </a:r>
            <a:r>
              <a:rPr lang="en-US" altLang="zh-CN" dirty="0" smtClean="0"/>
              <a:t>ISI</a:t>
            </a:r>
            <a:r>
              <a:rPr lang="zh-CN" altLang="en-US" dirty="0" smtClean="0"/>
              <a:t>），增大误码率。为了克服码间干扰，提高通信系统的性能，在接收端需采用均衡技术。均衡是指对信道特性的均衡，即接收端的均衡器产生与信道特性相反的特性，用来减小或消除因信道的时变多径传播特性引起的码间干扰。</a:t>
            </a:r>
            <a:endParaRPr lang="zh-CN" altLang="en-US" dirty="0"/>
          </a:p>
        </p:txBody>
      </p:sp>
      <p:sp>
        <p:nvSpPr>
          <p:cNvPr id="4" name="灯片编号占位符 3"/>
          <p:cNvSpPr>
            <a:spLocks noGrp="1"/>
          </p:cNvSpPr>
          <p:nvPr>
            <p:ph type="sldNum" sz="quarter" idx="10"/>
          </p:nvPr>
        </p:nvSpPr>
        <p:spPr/>
        <p:txBody>
          <a:bodyPr/>
          <a:lstStyle/>
          <a:p>
            <a:pPr>
              <a:defRPr/>
            </a:pPr>
            <a:fld id="{55E1AE82-BC5C-4F61-AC9E-67E0204F36A0}" type="slidenum">
              <a:rPr lang="zh-CN" altLang="en-US" smtClean="0"/>
              <a:pPr>
                <a:defRPr/>
              </a:pPr>
              <a:t>9</a:t>
            </a:fld>
            <a:endParaRPr lang="zh-CN" altLang="en-US"/>
          </a:p>
        </p:txBody>
      </p:sp>
    </p:spTree>
    <p:extLst>
      <p:ext uri="{BB962C8B-B14F-4D97-AF65-F5344CB8AC3E}">
        <p14:creationId xmlns:p14="http://schemas.microsoft.com/office/powerpoint/2010/main" val="28051613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一个时间离散线性系统输出的样本可以用其输入样本和过去的输出样本的线性组合，即线性预测值来逼近。通过使实际输出值和线性预测值之间差的均方值最小的方法能够确定唯一的一组预测器系数。这些系数就是线性组合中所用的加权系数。</a:t>
            </a:r>
            <a:endParaRPr lang="zh-CN" altLang="en-US" dirty="0"/>
          </a:p>
        </p:txBody>
      </p:sp>
      <p:sp>
        <p:nvSpPr>
          <p:cNvPr id="4" name="灯片编号占位符 3"/>
          <p:cNvSpPr>
            <a:spLocks noGrp="1"/>
          </p:cNvSpPr>
          <p:nvPr>
            <p:ph type="sldNum" sz="quarter" idx="10"/>
          </p:nvPr>
        </p:nvSpPr>
        <p:spPr/>
        <p:txBody>
          <a:bodyPr/>
          <a:lstStyle/>
          <a:p>
            <a:pPr>
              <a:defRPr/>
            </a:pPr>
            <a:fld id="{55E1AE82-BC5C-4F61-AC9E-67E0204F36A0}" type="slidenum">
              <a:rPr lang="zh-CN" altLang="en-US" smtClean="0"/>
              <a:pPr>
                <a:defRPr/>
              </a:pPr>
              <a:t>10</a:t>
            </a:fld>
            <a:endParaRPr lang="zh-CN" altLang="en-US"/>
          </a:p>
        </p:txBody>
      </p:sp>
    </p:spTree>
    <p:extLst>
      <p:ext uri="{BB962C8B-B14F-4D97-AF65-F5344CB8AC3E}">
        <p14:creationId xmlns:p14="http://schemas.microsoft.com/office/powerpoint/2010/main" val="1987775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一个时间离散线性系统输出的样本可以用其输入样本和过去的输出样本的线性组合，即线性预测值来逼近。通过使实际输出值和线性预测值之间差的均方值最小的方法能够确定唯一的一组预测器系数。这些系数就是线性组合中所用的加权系数。</a:t>
            </a:r>
            <a:endParaRPr lang="zh-CN" altLang="en-US" dirty="0"/>
          </a:p>
        </p:txBody>
      </p:sp>
      <p:sp>
        <p:nvSpPr>
          <p:cNvPr id="4" name="灯片编号占位符 3"/>
          <p:cNvSpPr>
            <a:spLocks noGrp="1"/>
          </p:cNvSpPr>
          <p:nvPr>
            <p:ph type="sldNum" sz="quarter" idx="10"/>
          </p:nvPr>
        </p:nvSpPr>
        <p:spPr/>
        <p:txBody>
          <a:bodyPr/>
          <a:lstStyle/>
          <a:p>
            <a:pPr>
              <a:defRPr/>
            </a:pPr>
            <a:fld id="{55E1AE82-BC5C-4F61-AC9E-67E0204F36A0}" type="slidenum">
              <a:rPr lang="zh-CN" altLang="en-US" smtClean="0"/>
              <a:pPr>
                <a:defRPr/>
              </a:pPr>
              <a:t>11</a:t>
            </a:fld>
            <a:endParaRPr lang="zh-CN" altLang="en-US"/>
          </a:p>
        </p:txBody>
      </p:sp>
    </p:spTree>
    <p:extLst>
      <p:ext uri="{BB962C8B-B14F-4D97-AF65-F5344CB8AC3E}">
        <p14:creationId xmlns:p14="http://schemas.microsoft.com/office/powerpoint/2010/main" val="19877757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1026" descr="顶部"/>
          <p:cNvPicPr>
            <a:picLocks noChangeAspect="1" noChangeArrowheads="1"/>
          </p:cNvPicPr>
          <p:nvPr/>
        </p:nvPicPr>
        <p:blipFill>
          <a:blip r:embed="rId2" cstate="print"/>
          <a:srcRect/>
          <a:stretch>
            <a:fillRect/>
          </a:stretch>
        </p:blipFill>
        <p:spPr bwMode="auto">
          <a:xfrm>
            <a:off x="0" y="0"/>
            <a:ext cx="9144000" cy="887413"/>
          </a:xfrm>
          <a:prstGeom prst="rect">
            <a:avLst/>
          </a:prstGeom>
          <a:noFill/>
          <a:ln w="9525">
            <a:noFill/>
            <a:miter lim="800000"/>
            <a:headEnd/>
            <a:tailEnd/>
          </a:ln>
        </p:spPr>
      </p:pic>
      <p:sp>
        <p:nvSpPr>
          <p:cNvPr id="5" name="Line 1033"/>
          <p:cNvSpPr>
            <a:spLocks noChangeShapeType="1"/>
          </p:cNvSpPr>
          <p:nvPr/>
        </p:nvSpPr>
        <p:spPr bwMode="auto">
          <a:xfrm>
            <a:off x="1023938" y="2743200"/>
            <a:ext cx="7086600" cy="0"/>
          </a:xfrm>
          <a:prstGeom prst="line">
            <a:avLst/>
          </a:prstGeom>
          <a:noFill/>
          <a:ln w="19050">
            <a:solidFill>
              <a:srgbClr val="000066"/>
            </a:solidFill>
            <a:round/>
            <a:headEnd/>
            <a:tailEnd/>
          </a:ln>
          <a:effectLst/>
        </p:spPr>
        <p:txBody>
          <a:bodyPr/>
          <a:lstStyle/>
          <a:p>
            <a:pPr fontAlgn="auto">
              <a:spcBef>
                <a:spcPts val="0"/>
              </a:spcBef>
              <a:spcAft>
                <a:spcPts val="0"/>
              </a:spcAft>
              <a:defRPr/>
            </a:pPr>
            <a:endParaRPr lang="zh-CN" altLang="en-US">
              <a:latin typeface="+mn-lt"/>
              <a:ea typeface="+mn-ea"/>
            </a:endParaRPr>
          </a:p>
        </p:txBody>
      </p:sp>
      <p:sp>
        <p:nvSpPr>
          <p:cNvPr id="6" name="Rectangle 1042"/>
          <p:cNvSpPr>
            <a:spLocks noChangeArrowheads="1"/>
          </p:cNvSpPr>
          <p:nvPr/>
        </p:nvSpPr>
        <p:spPr bwMode="auto">
          <a:xfrm>
            <a:off x="2209800" y="5791200"/>
            <a:ext cx="4876800" cy="76200"/>
          </a:xfrm>
          <a:prstGeom prst="rect">
            <a:avLst/>
          </a:prstGeom>
          <a:solidFill>
            <a:srgbClr val="E7F6FF">
              <a:alpha val="50000"/>
            </a:srgbClr>
          </a:solidFill>
          <a:ln w="19050">
            <a:noFill/>
            <a:miter lim="800000"/>
            <a:headEnd/>
            <a:tailEnd/>
          </a:ln>
          <a:effectLst/>
        </p:spPr>
        <p:txBody>
          <a:bodyPr wrap="none" anchor="ctr"/>
          <a:lstStyle/>
          <a:p>
            <a:pPr fontAlgn="auto">
              <a:spcBef>
                <a:spcPts val="0"/>
              </a:spcBef>
              <a:spcAft>
                <a:spcPts val="0"/>
              </a:spcAft>
              <a:defRPr/>
            </a:pPr>
            <a:r>
              <a:rPr lang="en-US" altLang="zh-CN">
                <a:solidFill>
                  <a:schemeClr val="tx2"/>
                </a:solidFill>
                <a:latin typeface="Haettenschweiler" pitchFamily="34" charset="0"/>
                <a:ea typeface="+mn-ea"/>
              </a:rPr>
              <a:t>U</a:t>
            </a:r>
            <a:r>
              <a:rPr lang="en-US" altLang="zh-CN" sz="2000">
                <a:solidFill>
                  <a:srgbClr val="000066"/>
                </a:solidFill>
                <a:latin typeface="Haettenschweiler" pitchFamily="34" charset="0"/>
                <a:ea typeface="+mn-ea"/>
              </a:rPr>
              <a:t>niversity    of    </a:t>
            </a:r>
            <a:r>
              <a:rPr lang="en-US" altLang="zh-CN">
                <a:solidFill>
                  <a:schemeClr val="tx2"/>
                </a:solidFill>
                <a:latin typeface="Haettenschweiler" pitchFamily="34" charset="0"/>
                <a:ea typeface="+mn-ea"/>
              </a:rPr>
              <a:t>S</a:t>
            </a:r>
            <a:r>
              <a:rPr lang="en-US" altLang="zh-CN" sz="2000">
                <a:solidFill>
                  <a:srgbClr val="000066"/>
                </a:solidFill>
                <a:latin typeface="Haettenschweiler" pitchFamily="34" charset="0"/>
                <a:ea typeface="+mn-ea"/>
              </a:rPr>
              <a:t>cience    and    </a:t>
            </a:r>
            <a:r>
              <a:rPr lang="en-US" altLang="zh-CN">
                <a:solidFill>
                  <a:schemeClr val="tx2"/>
                </a:solidFill>
                <a:latin typeface="Haettenschweiler" pitchFamily="34" charset="0"/>
                <a:ea typeface="+mn-ea"/>
              </a:rPr>
              <a:t>T</a:t>
            </a:r>
            <a:r>
              <a:rPr lang="en-US" altLang="zh-CN" sz="2000">
                <a:solidFill>
                  <a:srgbClr val="000066"/>
                </a:solidFill>
                <a:latin typeface="Haettenschweiler" pitchFamily="34" charset="0"/>
                <a:ea typeface="+mn-ea"/>
              </a:rPr>
              <a:t>echnology    of    </a:t>
            </a:r>
            <a:r>
              <a:rPr lang="en-US" altLang="zh-CN">
                <a:solidFill>
                  <a:schemeClr val="tx2"/>
                </a:solidFill>
                <a:latin typeface="Haettenschweiler" pitchFamily="34" charset="0"/>
                <a:ea typeface="+mn-ea"/>
              </a:rPr>
              <a:t>C</a:t>
            </a:r>
            <a:r>
              <a:rPr lang="en-US" altLang="zh-CN" sz="2000">
                <a:solidFill>
                  <a:srgbClr val="000066"/>
                </a:solidFill>
                <a:latin typeface="Haettenschweiler" pitchFamily="34" charset="0"/>
                <a:ea typeface="+mn-ea"/>
              </a:rPr>
              <a:t>hina</a:t>
            </a:r>
          </a:p>
        </p:txBody>
      </p:sp>
      <p:pic>
        <p:nvPicPr>
          <p:cNvPr id="7" name="Picture 1044"/>
          <p:cNvPicPr>
            <a:picLocks noChangeAspect="1" noChangeArrowheads="1"/>
          </p:cNvPicPr>
          <p:nvPr/>
        </p:nvPicPr>
        <p:blipFill>
          <a:blip r:embed="rId3" cstate="print"/>
          <a:srcRect/>
          <a:stretch>
            <a:fillRect/>
          </a:stretch>
        </p:blipFill>
        <p:spPr bwMode="auto">
          <a:xfrm>
            <a:off x="0" y="5638800"/>
            <a:ext cx="9144000" cy="1219200"/>
          </a:xfrm>
          <a:prstGeom prst="rect">
            <a:avLst/>
          </a:prstGeom>
          <a:noFill/>
          <a:ln w="9525">
            <a:noFill/>
            <a:miter lim="800000"/>
            <a:headEnd/>
            <a:tailEnd/>
          </a:ln>
        </p:spPr>
      </p:pic>
      <p:sp>
        <p:nvSpPr>
          <p:cNvPr id="4099" name="Rectangle 1027"/>
          <p:cNvSpPr>
            <a:spLocks noGrp="1" noChangeArrowheads="1"/>
          </p:cNvSpPr>
          <p:nvPr>
            <p:ph type="ctrTitle"/>
          </p:nvPr>
        </p:nvSpPr>
        <p:spPr>
          <a:xfrm>
            <a:off x="990600" y="990600"/>
            <a:ext cx="7086600" cy="1676400"/>
          </a:xfrm>
        </p:spPr>
        <p:txBody>
          <a:bodyPr/>
          <a:lstStyle>
            <a:lvl1pPr algn="ctr">
              <a:defRPr sz="4400"/>
            </a:lvl1pPr>
          </a:lstStyle>
          <a:p>
            <a:r>
              <a:rPr lang="zh-CN" altLang="en-US" smtClean="0"/>
              <a:t>单击此处编辑母版标题样式</a:t>
            </a:r>
            <a:endParaRPr lang="zh-CN" altLang="en-US"/>
          </a:p>
        </p:txBody>
      </p:sp>
      <p:sp>
        <p:nvSpPr>
          <p:cNvPr id="4100" name="Rectangle 1028"/>
          <p:cNvSpPr>
            <a:spLocks noGrp="1" noChangeArrowheads="1"/>
          </p:cNvSpPr>
          <p:nvPr>
            <p:ph type="subTitle" idx="1"/>
          </p:nvPr>
        </p:nvSpPr>
        <p:spPr>
          <a:xfrm>
            <a:off x="1295400" y="2971800"/>
            <a:ext cx="6400800" cy="1752600"/>
          </a:xfrm>
        </p:spPr>
        <p:txBody>
          <a:bodyPr/>
          <a:lstStyle>
            <a:lvl1pPr marL="0" indent="0" algn="ctr">
              <a:buFontTx/>
              <a:buNone/>
              <a:defRPr/>
            </a:lvl1pPr>
          </a:lstStyle>
          <a:p>
            <a:r>
              <a:rPr lang="zh-CN" altLang="en-US" smtClean="0"/>
              <a:t>单击此处编辑母版副标题样式</a:t>
            </a:r>
            <a:endParaRPr lang="zh-CN" altLang="en-US"/>
          </a:p>
        </p:txBody>
      </p:sp>
      <p:sp>
        <p:nvSpPr>
          <p:cNvPr id="8" name="Rectangle 1029"/>
          <p:cNvSpPr>
            <a:spLocks noGrp="1" noChangeArrowheads="1"/>
          </p:cNvSpPr>
          <p:nvPr>
            <p:ph type="dt" sz="half" idx="10"/>
          </p:nvPr>
        </p:nvSpPr>
        <p:spPr>
          <a:xfrm>
            <a:off x="838200" y="6172200"/>
            <a:ext cx="1905000" cy="457200"/>
          </a:xfrm>
        </p:spPr>
        <p:txBody>
          <a:bodyPr/>
          <a:lstStyle>
            <a:lvl1pPr>
              <a:defRPr/>
            </a:lvl1pPr>
          </a:lstStyle>
          <a:p>
            <a:pPr>
              <a:defRPr/>
            </a:pPr>
            <a:fld id="{B861807C-189D-4C54-A574-22C8733EA269}" type="datetime1">
              <a:rPr lang="zh-CN" altLang="en-US"/>
              <a:pPr>
                <a:defRPr/>
              </a:pPr>
              <a:t>2018/4/18</a:t>
            </a:fld>
            <a:endParaRPr lang="zh-CN" altLang="en-US"/>
          </a:p>
        </p:txBody>
      </p:sp>
      <p:sp>
        <p:nvSpPr>
          <p:cNvPr id="9" name="Rectangle 1030"/>
          <p:cNvSpPr>
            <a:spLocks noGrp="1" noChangeArrowheads="1"/>
          </p:cNvSpPr>
          <p:nvPr>
            <p:ph type="ftr" sz="quarter" idx="11"/>
          </p:nvPr>
        </p:nvSpPr>
        <p:spPr>
          <a:xfrm>
            <a:off x="3276600" y="6172200"/>
            <a:ext cx="2895600" cy="457200"/>
          </a:xfrm>
        </p:spPr>
        <p:txBody>
          <a:bodyPr/>
          <a:lstStyle>
            <a:lvl1pPr>
              <a:defRPr/>
            </a:lvl1pPr>
          </a:lstStyle>
          <a:p>
            <a:pPr>
              <a:defRPr/>
            </a:pPr>
            <a:endParaRPr lang="zh-CN" altLang="en-US"/>
          </a:p>
        </p:txBody>
      </p:sp>
      <p:sp>
        <p:nvSpPr>
          <p:cNvPr id="10" name="Rectangle 1031"/>
          <p:cNvSpPr>
            <a:spLocks noGrp="1" noChangeArrowheads="1"/>
          </p:cNvSpPr>
          <p:nvPr>
            <p:ph type="sldNum" sz="quarter" idx="12"/>
          </p:nvPr>
        </p:nvSpPr>
        <p:spPr>
          <a:xfrm>
            <a:off x="6705600" y="6172200"/>
            <a:ext cx="1905000" cy="457200"/>
          </a:xfrm>
        </p:spPr>
        <p:txBody>
          <a:bodyPr/>
          <a:lstStyle>
            <a:lvl1pPr>
              <a:defRPr/>
            </a:lvl1pPr>
          </a:lstStyle>
          <a:p>
            <a:pPr>
              <a:defRPr/>
            </a:pPr>
            <a:fld id="{CA12C882-902D-4D39-9AF6-701719165639}" type="slidenum">
              <a:rPr lang="zh-CN" altLang="en-US"/>
              <a:pPr>
                <a:defRPr/>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fld id="{1DFDA137-1B48-48F0-A0D4-5116DED243D0}" type="datetime1">
              <a:rPr lang="zh-CN" altLang="en-US"/>
              <a:pPr>
                <a:defRPr/>
              </a:pPr>
              <a:t>2018/4/18</a:t>
            </a:fld>
            <a:endParaRPr lang="zh-CN"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zh-CN" altLang="en-US"/>
          </a:p>
        </p:txBody>
      </p:sp>
      <p:sp>
        <p:nvSpPr>
          <p:cNvPr id="6" name="Rectangle 6"/>
          <p:cNvSpPr>
            <a:spLocks noGrp="1" noChangeArrowheads="1"/>
          </p:cNvSpPr>
          <p:nvPr>
            <p:ph type="sldNum" sz="quarter" idx="12"/>
          </p:nvPr>
        </p:nvSpPr>
        <p:spPr>
          <a:ln/>
        </p:spPr>
        <p:txBody>
          <a:bodyPr/>
          <a:lstStyle>
            <a:lvl1pPr>
              <a:defRPr/>
            </a:lvl1pPr>
          </a:lstStyle>
          <a:p>
            <a:pPr>
              <a:defRPr/>
            </a:pPr>
            <a:fld id="{3ACE1859-598D-4001-8269-61C428827EE7}" type="slidenum">
              <a:rPr lang="zh-CN" altLang="en-US"/>
              <a:pPr>
                <a:defRPr/>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fld id="{20C8F14F-EA21-4DA0-A208-DC7A3FCD0639}" type="datetime1">
              <a:rPr lang="zh-CN" altLang="en-US"/>
              <a:pPr>
                <a:defRPr/>
              </a:pPr>
              <a:t>2018/4/18</a:t>
            </a:fld>
            <a:endParaRPr lang="zh-CN"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zh-CN" altLang="en-US"/>
          </a:p>
        </p:txBody>
      </p:sp>
      <p:sp>
        <p:nvSpPr>
          <p:cNvPr id="6" name="Rectangle 6"/>
          <p:cNvSpPr>
            <a:spLocks noGrp="1" noChangeArrowheads="1"/>
          </p:cNvSpPr>
          <p:nvPr>
            <p:ph type="sldNum" sz="quarter" idx="12"/>
          </p:nvPr>
        </p:nvSpPr>
        <p:spPr>
          <a:ln/>
        </p:spPr>
        <p:txBody>
          <a:bodyPr/>
          <a:lstStyle>
            <a:lvl1pPr>
              <a:defRPr/>
            </a:lvl1pPr>
          </a:lstStyle>
          <a:p>
            <a:pPr>
              <a:defRPr/>
            </a:pPr>
            <a:fld id="{878A44A8-4D4D-4772-912C-CDABAD834569}" type="slidenum">
              <a:rPr lang="zh-CN" altLang="en-US"/>
              <a:pPr>
                <a:defRPr/>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219200" y="1828800"/>
            <a:ext cx="3657600"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5029200" y="1828800"/>
            <a:ext cx="3657600"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fld id="{D69DCDEB-4A47-4AA7-9863-73A8D7C972E4}" type="datetime1">
              <a:rPr lang="zh-CN" altLang="en-US"/>
              <a:pPr>
                <a:defRPr/>
              </a:pPr>
              <a:t>2018/4/18</a:t>
            </a:fld>
            <a:endParaRPr lang="zh-CN"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zh-CN" altLang="en-US"/>
          </a:p>
        </p:txBody>
      </p:sp>
      <p:sp>
        <p:nvSpPr>
          <p:cNvPr id="7" name="Rectangle 6"/>
          <p:cNvSpPr>
            <a:spLocks noGrp="1" noChangeArrowheads="1"/>
          </p:cNvSpPr>
          <p:nvPr>
            <p:ph type="sldNum" sz="quarter" idx="12"/>
          </p:nvPr>
        </p:nvSpPr>
        <p:spPr>
          <a:ln/>
        </p:spPr>
        <p:txBody>
          <a:bodyPr/>
          <a:lstStyle>
            <a:lvl1pPr>
              <a:defRPr/>
            </a:lvl1pPr>
          </a:lstStyle>
          <a:p>
            <a:pPr>
              <a:defRPr/>
            </a:pPr>
            <a:fld id="{6B537BAA-C7C2-4C71-BC7D-777AD870ADC2}" type="slidenum">
              <a:rPr lang="zh-CN" altLang="en-US"/>
              <a:pPr>
                <a:defRPr/>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fld id="{DF52DE0E-ED30-4273-9CEA-769F77F57178}" type="datetime1">
              <a:rPr lang="zh-CN" altLang="en-US"/>
              <a:pPr>
                <a:defRPr/>
              </a:pPr>
              <a:t>2018/4/18</a:t>
            </a:fld>
            <a:endParaRPr lang="zh-CN" alt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zh-CN" altLang="en-US"/>
          </a:p>
        </p:txBody>
      </p:sp>
      <p:sp>
        <p:nvSpPr>
          <p:cNvPr id="9" name="Rectangle 6"/>
          <p:cNvSpPr>
            <a:spLocks noGrp="1" noChangeArrowheads="1"/>
          </p:cNvSpPr>
          <p:nvPr>
            <p:ph type="sldNum" sz="quarter" idx="12"/>
          </p:nvPr>
        </p:nvSpPr>
        <p:spPr>
          <a:ln/>
        </p:spPr>
        <p:txBody>
          <a:bodyPr/>
          <a:lstStyle>
            <a:lvl1pPr>
              <a:defRPr/>
            </a:lvl1pPr>
          </a:lstStyle>
          <a:p>
            <a:pPr>
              <a:defRPr/>
            </a:pPr>
            <a:fld id="{06EE130F-5574-4839-B8E4-852662D4B1B2}" type="slidenum">
              <a:rPr lang="zh-CN" altLang="en-US"/>
              <a:pPr>
                <a:defRPr/>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fld id="{4E727CF5-B7AC-4051-8F94-0575F4251A54}" type="datetime1">
              <a:rPr lang="zh-CN" altLang="en-US"/>
              <a:pPr>
                <a:defRPr/>
              </a:pPr>
              <a:t>2018/4/18</a:t>
            </a:fld>
            <a:endParaRPr lang="zh-CN" alt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zh-CN" altLang="en-US"/>
          </a:p>
        </p:txBody>
      </p:sp>
      <p:sp>
        <p:nvSpPr>
          <p:cNvPr id="5" name="Rectangle 6"/>
          <p:cNvSpPr>
            <a:spLocks noGrp="1" noChangeArrowheads="1"/>
          </p:cNvSpPr>
          <p:nvPr>
            <p:ph type="sldNum" sz="quarter" idx="12"/>
          </p:nvPr>
        </p:nvSpPr>
        <p:spPr>
          <a:ln/>
        </p:spPr>
        <p:txBody>
          <a:bodyPr/>
          <a:lstStyle>
            <a:lvl1pPr>
              <a:defRPr/>
            </a:lvl1pPr>
          </a:lstStyle>
          <a:p>
            <a:pPr>
              <a:defRPr/>
            </a:pPr>
            <a:fld id="{32693432-9A51-4B9D-9577-E77B27BEB24C}" type="slidenum">
              <a:rPr lang="zh-CN" altLang="en-US"/>
              <a:pPr>
                <a:defRPr/>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4A9D96B5-FFE4-4A6D-AC76-CEBFA9ED705C}" type="datetime1">
              <a:rPr lang="zh-CN" altLang="en-US"/>
              <a:pPr>
                <a:defRPr/>
              </a:pPr>
              <a:t>2018/4/18</a:t>
            </a:fld>
            <a:endParaRPr lang="zh-CN" alt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zh-CN" altLang="en-US"/>
          </a:p>
        </p:txBody>
      </p:sp>
      <p:sp>
        <p:nvSpPr>
          <p:cNvPr id="4" name="Rectangle 6"/>
          <p:cNvSpPr>
            <a:spLocks noGrp="1" noChangeArrowheads="1"/>
          </p:cNvSpPr>
          <p:nvPr>
            <p:ph type="sldNum" sz="quarter" idx="12"/>
          </p:nvPr>
        </p:nvSpPr>
        <p:spPr>
          <a:ln/>
        </p:spPr>
        <p:txBody>
          <a:bodyPr/>
          <a:lstStyle>
            <a:lvl1pPr>
              <a:defRPr/>
            </a:lvl1pPr>
          </a:lstStyle>
          <a:p>
            <a:pPr>
              <a:defRPr/>
            </a:pPr>
            <a:fld id="{A67C45B5-40BF-4963-BFE1-9EEBC035B2AD}" type="slidenum">
              <a:rPr lang="zh-CN" altLang="en-US"/>
              <a:pPr>
                <a:defRPr/>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6EB87D0B-115D-402C-80B1-AAF934A70C1F}" type="datetime1">
              <a:rPr lang="zh-CN" altLang="en-US"/>
              <a:pPr>
                <a:defRPr/>
              </a:pPr>
              <a:t>2018/4/18</a:t>
            </a:fld>
            <a:endParaRPr lang="zh-CN"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zh-CN" altLang="en-US"/>
          </a:p>
        </p:txBody>
      </p:sp>
      <p:sp>
        <p:nvSpPr>
          <p:cNvPr id="7" name="Rectangle 6"/>
          <p:cNvSpPr>
            <a:spLocks noGrp="1" noChangeArrowheads="1"/>
          </p:cNvSpPr>
          <p:nvPr>
            <p:ph type="sldNum" sz="quarter" idx="12"/>
          </p:nvPr>
        </p:nvSpPr>
        <p:spPr>
          <a:ln/>
        </p:spPr>
        <p:txBody>
          <a:bodyPr/>
          <a:lstStyle>
            <a:lvl1pPr>
              <a:defRPr/>
            </a:lvl1pPr>
          </a:lstStyle>
          <a:p>
            <a:pPr>
              <a:defRPr/>
            </a:pPr>
            <a:fld id="{5B43BD87-10B5-4295-81E5-D0AFE99A115F}" type="slidenum">
              <a:rPr lang="zh-CN" altLang="en-US"/>
              <a:pPr>
                <a:defRPr/>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A22426C6-3AFC-4AFB-A995-BEA65AA7AB6A}" type="datetime1">
              <a:rPr lang="zh-CN" altLang="en-US"/>
              <a:pPr>
                <a:defRPr/>
              </a:pPr>
              <a:t>2018/4/18</a:t>
            </a:fld>
            <a:endParaRPr lang="zh-CN"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zh-CN" altLang="en-US"/>
          </a:p>
        </p:txBody>
      </p:sp>
      <p:sp>
        <p:nvSpPr>
          <p:cNvPr id="7" name="Rectangle 6"/>
          <p:cNvSpPr>
            <a:spLocks noGrp="1" noChangeArrowheads="1"/>
          </p:cNvSpPr>
          <p:nvPr>
            <p:ph type="sldNum" sz="quarter" idx="12"/>
          </p:nvPr>
        </p:nvSpPr>
        <p:spPr>
          <a:ln/>
        </p:spPr>
        <p:txBody>
          <a:bodyPr/>
          <a:lstStyle>
            <a:lvl1pPr>
              <a:defRPr/>
            </a:lvl1pPr>
          </a:lstStyle>
          <a:p>
            <a:pPr>
              <a:defRPr/>
            </a:pPr>
            <a:fld id="{C9E72D7A-753B-4D5D-8096-02799A4A029F}" type="slidenum">
              <a:rPr lang="zh-CN" altLang="en-US"/>
              <a:pPr>
                <a:defRPr/>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fld id="{37AE4966-BA02-4EB0-9824-502E614FBF0B}" type="datetime1">
              <a:rPr lang="zh-CN" altLang="en-US"/>
              <a:pPr>
                <a:defRPr/>
              </a:pPr>
              <a:t>2018/4/18</a:t>
            </a:fld>
            <a:endParaRPr lang="zh-CN"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zh-CN" altLang="en-US"/>
          </a:p>
        </p:txBody>
      </p:sp>
      <p:sp>
        <p:nvSpPr>
          <p:cNvPr id="6" name="Rectangle 6"/>
          <p:cNvSpPr>
            <a:spLocks noGrp="1" noChangeArrowheads="1"/>
          </p:cNvSpPr>
          <p:nvPr>
            <p:ph type="sldNum" sz="quarter" idx="12"/>
          </p:nvPr>
        </p:nvSpPr>
        <p:spPr>
          <a:ln/>
        </p:spPr>
        <p:txBody>
          <a:bodyPr/>
          <a:lstStyle>
            <a:lvl1pPr>
              <a:defRPr/>
            </a:lvl1pPr>
          </a:lstStyle>
          <a:p>
            <a:pPr>
              <a:defRPr/>
            </a:pPr>
            <a:fld id="{8F01FA2D-8F00-4F02-B42B-78A2424BC32F}" type="slidenum">
              <a:rPr lang="zh-CN" altLang="en-US"/>
              <a:pPr>
                <a:defRPr/>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77050" y="609600"/>
            <a:ext cx="1885950" cy="5257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219200" y="609600"/>
            <a:ext cx="5505450" cy="52578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fld id="{32F68A72-4FA7-4D02-B921-94EC4F0D0EDC}" type="datetime1">
              <a:rPr lang="zh-CN" altLang="en-US"/>
              <a:pPr>
                <a:defRPr/>
              </a:pPr>
              <a:t>2018/4/18</a:t>
            </a:fld>
            <a:endParaRPr lang="zh-CN"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zh-CN" altLang="en-US"/>
          </a:p>
        </p:txBody>
      </p:sp>
      <p:sp>
        <p:nvSpPr>
          <p:cNvPr id="6" name="Rectangle 6"/>
          <p:cNvSpPr>
            <a:spLocks noGrp="1" noChangeArrowheads="1"/>
          </p:cNvSpPr>
          <p:nvPr>
            <p:ph type="sldNum" sz="quarter" idx="12"/>
          </p:nvPr>
        </p:nvSpPr>
        <p:spPr>
          <a:ln/>
        </p:spPr>
        <p:txBody>
          <a:bodyPr/>
          <a:lstStyle>
            <a:lvl1pPr>
              <a:defRPr/>
            </a:lvl1pPr>
          </a:lstStyle>
          <a:p>
            <a:pPr>
              <a:defRPr/>
            </a:pPr>
            <a:fld id="{BBE6BA74-CFE5-4CA2-BE3B-97BDE2549ED8}" type="slidenum">
              <a:rPr lang="zh-CN" altLang="en-US"/>
              <a:pPr>
                <a:defRPr/>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verTx" preserve="1">
  <p:cSld name="标题和内容在文本之上">
    <p:spTree>
      <p:nvGrpSpPr>
        <p:cNvPr id="1" name=""/>
        <p:cNvGrpSpPr/>
        <p:nvPr/>
      </p:nvGrpSpPr>
      <p:grpSpPr>
        <a:xfrm>
          <a:off x="0" y="0"/>
          <a:ext cx="0" cy="0"/>
          <a:chOff x="0" y="0"/>
          <a:chExt cx="0" cy="0"/>
        </a:xfrm>
      </p:grpSpPr>
      <p:sp>
        <p:nvSpPr>
          <p:cNvPr id="2" name="标题 1"/>
          <p:cNvSpPr>
            <a:spLocks noGrp="1"/>
          </p:cNvSpPr>
          <p:nvPr>
            <p:ph type="title"/>
          </p:nvPr>
        </p:nvSpPr>
        <p:spPr>
          <a:xfrm>
            <a:off x="1219200" y="609600"/>
            <a:ext cx="7543800" cy="762000"/>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219200" y="1828800"/>
            <a:ext cx="7467600" cy="19431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1219200" y="3924300"/>
            <a:ext cx="7467600" cy="19431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fld id="{BC492D88-5646-488A-8EA5-61B2713CEF93}" type="datetime1">
              <a:rPr lang="zh-CN" altLang="en-US"/>
              <a:pPr>
                <a:defRPr/>
              </a:pPr>
              <a:t>2018/4/18</a:t>
            </a:fld>
            <a:endParaRPr lang="zh-CN"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zh-CN" altLang="en-US"/>
          </a:p>
        </p:txBody>
      </p:sp>
      <p:sp>
        <p:nvSpPr>
          <p:cNvPr id="7" name="Rectangle 6"/>
          <p:cNvSpPr>
            <a:spLocks noGrp="1" noChangeArrowheads="1"/>
          </p:cNvSpPr>
          <p:nvPr>
            <p:ph type="sldNum" sz="quarter" idx="12"/>
          </p:nvPr>
        </p:nvSpPr>
        <p:spPr>
          <a:ln/>
        </p:spPr>
        <p:txBody>
          <a:bodyPr/>
          <a:lstStyle>
            <a:lvl1pPr>
              <a:defRPr/>
            </a:lvl1pPr>
          </a:lstStyle>
          <a:p>
            <a:pPr>
              <a:defRPr/>
            </a:pPr>
            <a:fld id="{BF1C4C85-D2A1-45E8-B5EF-AAEDE3E50648}" type="slidenum">
              <a:rPr lang="zh-CN" altLang="en-US"/>
              <a:pPr>
                <a:defRPr/>
              </a:pPr>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219200" y="609600"/>
            <a:ext cx="7543800" cy="762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1219200" y="1828800"/>
            <a:ext cx="3657600" cy="40386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5029200" y="1828800"/>
            <a:ext cx="3657600" cy="40386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fld id="{1AED3E7E-8543-425F-AD63-788A6C2B6197}" type="datetime1">
              <a:rPr lang="zh-CN" altLang="en-US"/>
              <a:pPr>
                <a:defRPr/>
              </a:pPr>
              <a:t>2018/4/18</a:t>
            </a:fld>
            <a:endParaRPr lang="zh-CN"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zh-CN" altLang="en-US"/>
          </a:p>
        </p:txBody>
      </p:sp>
      <p:sp>
        <p:nvSpPr>
          <p:cNvPr id="7" name="Rectangle 6"/>
          <p:cNvSpPr>
            <a:spLocks noGrp="1" noChangeArrowheads="1"/>
          </p:cNvSpPr>
          <p:nvPr>
            <p:ph type="sldNum" sz="quarter" idx="12"/>
          </p:nvPr>
        </p:nvSpPr>
        <p:spPr>
          <a:ln/>
        </p:spPr>
        <p:txBody>
          <a:bodyPr/>
          <a:lstStyle>
            <a:lvl1pPr>
              <a:defRPr/>
            </a:lvl1pPr>
          </a:lstStyle>
          <a:p>
            <a:pPr>
              <a:defRPr/>
            </a:pPr>
            <a:fld id="{537A88B7-3763-482E-9868-A47900EF2B0D}" type="slidenum">
              <a:rPr lang="zh-CN" altLang="en-US"/>
              <a:pPr>
                <a:defRPr/>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1" name="Picture 33" descr="顶部"/>
          <p:cNvPicPr>
            <a:picLocks noChangeAspect="1" noChangeArrowheads="1"/>
          </p:cNvPicPr>
          <p:nvPr/>
        </p:nvPicPr>
        <p:blipFill>
          <a:blip r:embed="rId15" cstate="print"/>
          <a:srcRect/>
          <a:stretch>
            <a:fillRect/>
          </a:stretch>
        </p:blipFill>
        <p:spPr bwMode="auto">
          <a:xfrm>
            <a:off x="0" y="0"/>
            <a:ext cx="9144000" cy="404813"/>
          </a:xfrm>
          <a:prstGeom prst="rect">
            <a:avLst/>
          </a:prstGeom>
          <a:noFill/>
          <a:ln w="9525">
            <a:noFill/>
            <a:miter lim="800000"/>
            <a:headEnd/>
            <a:tailEnd/>
          </a:ln>
        </p:spPr>
      </p:pic>
      <p:sp>
        <p:nvSpPr>
          <p:cNvPr id="2052" name="Rectangle 2"/>
          <p:cNvSpPr>
            <a:spLocks noGrp="1" noChangeArrowheads="1"/>
          </p:cNvSpPr>
          <p:nvPr>
            <p:ph type="title"/>
          </p:nvPr>
        </p:nvSpPr>
        <p:spPr bwMode="auto">
          <a:xfrm>
            <a:off x="1219200" y="609600"/>
            <a:ext cx="7543800" cy="76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2053" name="Rectangle 3"/>
          <p:cNvSpPr>
            <a:spLocks noGrp="1" noChangeArrowheads="1"/>
          </p:cNvSpPr>
          <p:nvPr>
            <p:ph type="body" idx="1"/>
          </p:nvPr>
        </p:nvSpPr>
        <p:spPr bwMode="auto">
          <a:xfrm>
            <a:off x="1219200" y="1828800"/>
            <a:ext cx="7467600" cy="403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1835150" y="6248400"/>
            <a:ext cx="990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fontAlgn="auto">
              <a:spcBef>
                <a:spcPts val="0"/>
              </a:spcBef>
              <a:spcAft>
                <a:spcPts val="0"/>
              </a:spcAft>
              <a:defRPr sz="1400" b="0">
                <a:solidFill>
                  <a:srgbClr val="2B2B83"/>
                </a:solidFill>
                <a:latin typeface="+mn-lt"/>
                <a:ea typeface="+mn-ea"/>
              </a:defRPr>
            </a:lvl1pPr>
          </a:lstStyle>
          <a:p>
            <a:pPr>
              <a:defRPr/>
            </a:pPr>
            <a:fld id="{82713081-FF5F-4428-BB92-6F111173B23A}" type="datetime1">
              <a:rPr lang="zh-CN" altLang="en-US"/>
              <a:pPr>
                <a:defRPr/>
              </a:pPr>
              <a:t>2018/4/18</a:t>
            </a:fld>
            <a:endParaRPr lang="zh-CN" altLang="en-US"/>
          </a:p>
        </p:txBody>
      </p:sp>
      <p:sp>
        <p:nvSpPr>
          <p:cNvPr id="1029" name="Rectangle 5"/>
          <p:cNvSpPr>
            <a:spLocks noGrp="1" noChangeArrowheads="1"/>
          </p:cNvSpPr>
          <p:nvPr>
            <p:ph type="ftr" sz="quarter" idx="3"/>
          </p:nvPr>
        </p:nvSpPr>
        <p:spPr bwMode="auto">
          <a:xfrm>
            <a:off x="4535488" y="5943600"/>
            <a:ext cx="4573587"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fontAlgn="auto">
              <a:spcBef>
                <a:spcPts val="0"/>
              </a:spcBef>
              <a:spcAft>
                <a:spcPts val="0"/>
              </a:spcAft>
              <a:defRPr sz="1400" b="0">
                <a:solidFill>
                  <a:srgbClr val="2B2B83"/>
                </a:solidFill>
                <a:latin typeface="+mn-lt"/>
                <a:ea typeface="+mn-ea"/>
              </a:defRPr>
            </a:lvl1pPr>
          </a:lstStyle>
          <a:p>
            <a:pPr>
              <a:defRPr/>
            </a:pPr>
            <a:endParaRPr lang="zh-CN" altLang="en-US"/>
          </a:p>
        </p:txBody>
      </p:sp>
      <p:sp>
        <p:nvSpPr>
          <p:cNvPr id="1030" name="Rectangle 6"/>
          <p:cNvSpPr>
            <a:spLocks noGrp="1" noChangeArrowheads="1"/>
          </p:cNvSpPr>
          <p:nvPr>
            <p:ph type="sldNum" sz="quarter" idx="4"/>
          </p:nvPr>
        </p:nvSpPr>
        <p:spPr bwMode="auto">
          <a:xfrm>
            <a:off x="3429000" y="6248400"/>
            <a:ext cx="8382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fontAlgn="auto">
              <a:spcBef>
                <a:spcPts val="0"/>
              </a:spcBef>
              <a:spcAft>
                <a:spcPts val="0"/>
              </a:spcAft>
              <a:defRPr sz="1400" b="0">
                <a:solidFill>
                  <a:srgbClr val="2B2B83"/>
                </a:solidFill>
                <a:latin typeface="+mn-lt"/>
                <a:ea typeface="+mn-ea"/>
              </a:defRPr>
            </a:lvl1pPr>
          </a:lstStyle>
          <a:p>
            <a:pPr>
              <a:defRPr/>
            </a:pPr>
            <a:fld id="{131D4168-1200-42B7-BDAA-E68C97E470FF}" type="slidenum">
              <a:rPr lang="zh-CN" altLang="en-US"/>
              <a:pPr>
                <a:defRPr/>
              </a:pPr>
              <a:t>‹#›</a:t>
            </a:fld>
            <a:endParaRPr lang="zh-CN" altLang="en-US"/>
          </a:p>
        </p:txBody>
      </p:sp>
      <p:sp>
        <p:nvSpPr>
          <p:cNvPr id="1059" name="Line 35"/>
          <p:cNvSpPr>
            <a:spLocks noChangeShapeType="1"/>
          </p:cNvSpPr>
          <p:nvPr/>
        </p:nvSpPr>
        <p:spPr bwMode="auto">
          <a:xfrm>
            <a:off x="1219200" y="1447800"/>
            <a:ext cx="7543800" cy="0"/>
          </a:xfrm>
          <a:prstGeom prst="line">
            <a:avLst/>
          </a:prstGeom>
          <a:noFill/>
          <a:ln w="19050">
            <a:solidFill>
              <a:srgbClr val="000066"/>
            </a:solidFill>
            <a:round/>
            <a:headEnd/>
            <a:tailEnd/>
          </a:ln>
          <a:effectLst/>
        </p:spPr>
        <p:txBody>
          <a:bodyPr/>
          <a:lstStyle/>
          <a:p>
            <a:pPr fontAlgn="auto">
              <a:spcBef>
                <a:spcPts val="0"/>
              </a:spcBef>
              <a:spcAft>
                <a:spcPts val="0"/>
              </a:spcAft>
              <a:defRPr/>
            </a:pPr>
            <a:endParaRPr lang="zh-CN" altLang="en-US">
              <a:latin typeface="+mn-lt"/>
              <a:ea typeface="+mn-ea"/>
            </a:endParaRPr>
          </a:p>
        </p:txBody>
      </p:sp>
      <p:pic>
        <p:nvPicPr>
          <p:cNvPr id="10" name="Picture 22" descr="main1"/>
          <p:cNvPicPr>
            <a:picLocks noChangeAspect="1" noChangeArrowheads="1"/>
          </p:cNvPicPr>
          <p:nvPr userDrawn="1"/>
        </p:nvPicPr>
        <p:blipFill>
          <a:blip r:embed="rId16" cstate="print"/>
          <a:srcRect/>
          <a:stretch>
            <a:fillRect/>
          </a:stretch>
        </p:blipFill>
        <p:spPr bwMode="auto">
          <a:xfrm>
            <a:off x="0" y="404813"/>
            <a:ext cx="1204913" cy="17557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801"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8" r:id="rId11"/>
    <p:sldLayoutId id="2147483799" r:id="rId12"/>
    <p:sldLayoutId id="2147483800" r:id="rId13"/>
  </p:sldLayoutIdLst>
  <p:hf hdr="0" ftr="0" dt="0"/>
  <p:txStyles>
    <p:titleStyle>
      <a:lvl1pPr algn="l" rtl="0" eaLnBrk="0" fontAlgn="base" hangingPunct="0">
        <a:spcBef>
          <a:spcPct val="0"/>
        </a:spcBef>
        <a:spcAft>
          <a:spcPct val="0"/>
        </a:spcAft>
        <a:defRPr kumimoji="1" sz="4000">
          <a:solidFill>
            <a:srgbClr val="340068"/>
          </a:solidFill>
          <a:latin typeface="+mj-lt"/>
          <a:ea typeface="+mj-ea"/>
          <a:cs typeface="+mj-cs"/>
        </a:defRPr>
      </a:lvl1pPr>
      <a:lvl2pPr algn="l" rtl="0" eaLnBrk="0" fontAlgn="base" hangingPunct="0">
        <a:spcBef>
          <a:spcPct val="0"/>
        </a:spcBef>
        <a:spcAft>
          <a:spcPct val="0"/>
        </a:spcAft>
        <a:defRPr kumimoji="1" sz="4000">
          <a:solidFill>
            <a:srgbClr val="340068"/>
          </a:solidFill>
          <a:latin typeface="Times New Roman" pitchFamily="18" charset="0"/>
          <a:ea typeface="宋体" pitchFamily="2" charset="-122"/>
        </a:defRPr>
      </a:lvl2pPr>
      <a:lvl3pPr algn="l" rtl="0" eaLnBrk="0" fontAlgn="base" hangingPunct="0">
        <a:spcBef>
          <a:spcPct val="0"/>
        </a:spcBef>
        <a:spcAft>
          <a:spcPct val="0"/>
        </a:spcAft>
        <a:defRPr kumimoji="1" sz="4000">
          <a:solidFill>
            <a:srgbClr val="340068"/>
          </a:solidFill>
          <a:latin typeface="Times New Roman" pitchFamily="18" charset="0"/>
          <a:ea typeface="宋体" pitchFamily="2" charset="-122"/>
        </a:defRPr>
      </a:lvl3pPr>
      <a:lvl4pPr algn="l" rtl="0" eaLnBrk="0" fontAlgn="base" hangingPunct="0">
        <a:spcBef>
          <a:spcPct val="0"/>
        </a:spcBef>
        <a:spcAft>
          <a:spcPct val="0"/>
        </a:spcAft>
        <a:defRPr kumimoji="1" sz="4000">
          <a:solidFill>
            <a:srgbClr val="340068"/>
          </a:solidFill>
          <a:latin typeface="Times New Roman" pitchFamily="18" charset="0"/>
          <a:ea typeface="宋体" pitchFamily="2" charset="-122"/>
        </a:defRPr>
      </a:lvl4pPr>
      <a:lvl5pPr algn="l" rtl="0" eaLnBrk="0" fontAlgn="base" hangingPunct="0">
        <a:spcBef>
          <a:spcPct val="0"/>
        </a:spcBef>
        <a:spcAft>
          <a:spcPct val="0"/>
        </a:spcAft>
        <a:defRPr kumimoji="1" sz="4000">
          <a:solidFill>
            <a:srgbClr val="340068"/>
          </a:solidFill>
          <a:latin typeface="Times New Roman" pitchFamily="18" charset="0"/>
          <a:ea typeface="宋体" pitchFamily="2" charset="-122"/>
        </a:defRPr>
      </a:lvl5pPr>
      <a:lvl6pPr marL="457200" algn="l" rtl="0" eaLnBrk="1" fontAlgn="base" hangingPunct="1">
        <a:spcBef>
          <a:spcPct val="0"/>
        </a:spcBef>
        <a:spcAft>
          <a:spcPct val="0"/>
        </a:spcAft>
        <a:defRPr kumimoji="1" sz="4000">
          <a:solidFill>
            <a:srgbClr val="340068"/>
          </a:solidFill>
          <a:latin typeface="Times New Roman" pitchFamily="18" charset="0"/>
          <a:ea typeface="宋体" pitchFamily="2" charset="-122"/>
        </a:defRPr>
      </a:lvl6pPr>
      <a:lvl7pPr marL="914400" algn="l" rtl="0" eaLnBrk="1" fontAlgn="base" hangingPunct="1">
        <a:spcBef>
          <a:spcPct val="0"/>
        </a:spcBef>
        <a:spcAft>
          <a:spcPct val="0"/>
        </a:spcAft>
        <a:defRPr kumimoji="1" sz="4000">
          <a:solidFill>
            <a:srgbClr val="340068"/>
          </a:solidFill>
          <a:latin typeface="Times New Roman" pitchFamily="18" charset="0"/>
          <a:ea typeface="宋体" pitchFamily="2" charset="-122"/>
        </a:defRPr>
      </a:lvl7pPr>
      <a:lvl8pPr marL="1371600" algn="l" rtl="0" eaLnBrk="1" fontAlgn="base" hangingPunct="1">
        <a:spcBef>
          <a:spcPct val="0"/>
        </a:spcBef>
        <a:spcAft>
          <a:spcPct val="0"/>
        </a:spcAft>
        <a:defRPr kumimoji="1" sz="4000">
          <a:solidFill>
            <a:srgbClr val="340068"/>
          </a:solidFill>
          <a:latin typeface="Times New Roman" pitchFamily="18" charset="0"/>
          <a:ea typeface="宋体" pitchFamily="2" charset="-122"/>
        </a:defRPr>
      </a:lvl8pPr>
      <a:lvl9pPr marL="1828800" algn="l" rtl="0" eaLnBrk="1" fontAlgn="base" hangingPunct="1">
        <a:spcBef>
          <a:spcPct val="0"/>
        </a:spcBef>
        <a:spcAft>
          <a:spcPct val="0"/>
        </a:spcAft>
        <a:defRPr kumimoji="1" sz="4000">
          <a:solidFill>
            <a:srgbClr val="340068"/>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lr>
          <a:srgbClr val="002346"/>
        </a:buClr>
        <a:buChar char="•"/>
        <a:defRPr kumimoji="1" sz="3200">
          <a:solidFill>
            <a:srgbClr val="1D1D57"/>
          </a:solidFill>
          <a:latin typeface="+mn-lt"/>
          <a:ea typeface="+mn-ea"/>
          <a:cs typeface="+mn-cs"/>
        </a:defRPr>
      </a:lvl1pPr>
      <a:lvl2pPr marL="742950" indent="-285750" algn="l" rtl="0" eaLnBrk="0" fontAlgn="base" hangingPunct="0">
        <a:spcBef>
          <a:spcPct val="20000"/>
        </a:spcBef>
        <a:spcAft>
          <a:spcPct val="0"/>
        </a:spcAft>
        <a:buClr>
          <a:srgbClr val="1C3870"/>
        </a:buClr>
        <a:buChar char="•"/>
        <a:defRPr kumimoji="1" sz="2800">
          <a:solidFill>
            <a:srgbClr val="1D1D57"/>
          </a:solidFill>
          <a:latin typeface="+mj-lt"/>
          <a:ea typeface="+mn-ea"/>
        </a:defRPr>
      </a:lvl2pPr>
      <a:lvl3pPr marL="1143000" indent="-228600" algn="l" rtl="0" eaLnBrk="0" fontAlgn="base" hangingPunct="0">
        <a:spcBef>
          <a:spcPct val="20000"/>
        </a:spcBef>
        <a:spcAft>
          <a:spcPct val="0"/>
        </a:spcAft>
        <a:buClr>
          <a:srgbClr val="0064C8"/>
        </a:buClr>
        <a:buChar char="•"/>
        <a:defRPr kumimoji="1" sz="2400">
          <a:solidFill>
            <a:srgbClr val="1D1D57"/>
          </a:solidFill>
          <a:latin typeface="+mj-lt"/>
          <a:ea typeface="+mn-ea"/>
        </a:defRPr>
      </a:lvl3pPr>
      <a:lvl4pPr marL="1600200" indent="-228600" algn="l" rtl="0" eaLnBrk="0" fontAlgn="base" hangingPunct="0">
        <a:spcBef>
          <a:spcPct val="20000"/>
        </a:spcBef>
        <a:spcAft>
          <a:spcPct val="0"/>
        </a:spcAft>
        <a:buClr>
          <a:srgbClr val="0783FF"/>
        </a:buClr>
        <a:buChar char="•"/>
        <a:defRPr kumimoji="1" sz="2000">
          <a:solidFill>
            <a:srgbClr val="1D1D57"/>
          </a:solidFill>
          <a:latin typeface="+mj-lt"/>
          <a:ea typeface="+mn-ea"/>
        </a:defRPr>
      </a:lvl4pPr>
      <a:lvl5pPr marL="2057400" indent="-228600" algn="l" rtl="0" eaLnBrk="0" fontAlgn="base" hangingPunct="0">
        <a:spcBef>
          <a:spcPct val="20000"/>
        </a:spcBef>
        <a:spcAft>
          <a:spcPct val="0"/>
        </a:spcAft>
        <a:buClr>
          <a:srgbClr val="87C3FF"/>
        </a:buClr>
        <a:buChar char="•"/>
        <a:defRPr kumimoji="1" sz="2000">
          <a:solidFill>
            <a:srgbClr val="1D1D57"/>
          </a:solidFill>
          <a:latin typeface="+mj-lt"/>
          <a:ea typeface="+mn-ea"/>
        </a:defRPr>
      </a:lvl5pPr>
      <a:lvl6pPr marL="2514600" indent="-228600" algn="l" rtl="0" eaLnBrk="1" fontAlgn="base" hangingPunct="1">
        <a:spcBef>
          <a:spcPct val="20000"/>
        </a:spcBef>
        <a:spcAft>
          <a:spcPct val="0"/>
        </a:spcAft>
        <a:buClr>
          <a:srgbClr val="87C3FF"/>
        </a:buClr>
        <a:buChar char="•"/>
        <a:defRPr kumimoji="1" sz="2000">
          <a:solidFill>
            <a:srgbClr val="1D1D57"/>
          </a:solidFill>
          <a:latin typeface="+mj-lt"/>
          <a:ea typeface="+mn-ea"/>
        </a:defRPr>
      </a:lvl6pPr>
      <a:lvl7pPr marL="2971800" indent="-228600" algn="l" rtl="0" eaLnBrk="1" fontAlgn="base" hangingPunct="1">
        <a:spcBef>
          <a:spcPct val="20000"/>
        </a:spcBef>
        <a:spcAft>
          <a:spcPct val="0"/>
        </a:spcAft>
        <a:buClr>
          <a:srgbClr val="87C3FF"/>
        </a:buClr>
        <a:buChar char="•"/>
        <a:defRPr kumimoji="1" sz="2000">
          <a:solidFill>
            <a:srgbClr val="1D1D57"/>
          </a:solidFill>
          <a:latin typeface="+mj-lt"/>
          <a:ea typeface="+mn-ea"/>
        </a:defRPr>
      </a:lvl7pPr>
      <a:lvl8pPr marL="3429000" indent="-228600" algn="l" rtl="0" eaLnBrk="1" fontAlgn="base" hangingPunct="1">
        <a:spcBef>
          <a:spcPct val="20000"/>
        </a:spcBef>
        <a:spcAft>
          <a:spcPct val="0"/>
        </a:spcAft>
        <a:buClr>
          <a:srgbClr val="87C3FF"/>
        </a:buClr>
        <a:buChar char="•"/>
        <a:defRPr kumimoji="1" sz="2000">
          <a:solidFill>
            <a:srgbClr val="1D1D57"/>
          </a:solidFill>
          <a:latin typeface="+mj-lt"/>
          <a:ea typeface="+mn-ea"/>
        </a:defRPr>
      </a:lvl8pPr>
      <a:lvl9pPr marL="3886200" indent="-228600" algn="l" rtl="0" eaLnBrk="1" fontAlgn="base" hangingPunct="1">
        <a:spcBef>
          <a:spcPct val="20000"/>
        </a:spcBef>
        <a:spcAft>
          <a:spcPct val="0"/>
        </a:spcAft>
        <a:buClr>
          <a:srgbClr val="87C3FF"/>
        </a:buClr>
        <a:buChar char="•"/>
        <a:defRPr kumimoji="1" sz="2000">
          <a:solidFill>
            <a:srgbClr val="1D1D57"/>
          </a:solidFill>
          <a:latin typeface="+mj-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44.wmf"/><Relationship Id="rId5" Type="http://schemas.openxmlformats.org/officeDocument/2006/relationships/oleObject" Target="../embeddings/oleObject1.bin"/><Relationship Id="rId4" Type="http://schemas.openxmlformats.org/officeDocument/2006/relationships/image" Target="../media/image46.png"/></Relationships>
</file>

<file path=ppt/slides/_rels/slide3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44.wmf"/><Relationship Id="rId4" Type="http://schemas.openxmlformats.org/officeDocument/2006/relationships/oleObject" Target="../embeddings/oleObject2.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ctrTitle"/>
          </p:nvPr>
        </p:nvSpPr>
        <p:spPr>
          <a:xfrm>
            <a:off x="642938" y="1386656"/>
            <a:ext cx="7772400" cy="1538288"/>
          </a:xfrm>
        </p:spPr>
        <p:txBody>
          <a:bodyPr/>
          <a:lstStyle/>
          <a:p>
            <a:pPr eaLnBrk="1" hangingPunct="1"/>
            <a:r>
              <a:rPr lang="zh-CN" altLang="en-US" b="1" dirty="0" smtClean="0"/>
              <a:t>信号与图像处理基础</a:t>
            </a:r>
          </a:p>
        </p:txBody>
      </p:sp>
      <p:sp>
        <p:nvSpPr>
          <p:cNvPr id="4" name="副标题 3"/>
          <p:cNvSpPr>
            <a:spLocks noGrp="1"/>
          </p:cNvSpPr>
          <p:nvPr>
            <p:ph type="subTitle" idx="1"/>
          </p:nvPr>
        </p:nvSpPr>
        <p:spPr>
          <a:xfrm>
            <a:off x="1547664" y="3645024"/>
            <a:ext cx="6400800" cy="1966912"/>
          </a:xfrm>
        </p:spPr>
        <p:txBody>
          <a:bodyPr>
            <a:normAutofit/>
          </a:bodyPr>
          <a:lstStyle/>
          <a:p>
            <a:pPr eaLnBrk="1" hangingPunct="1">
              <a:defRPr/>
            </a:pPr>
            <a:r>
              <a:rPr lang="zh-CN" altLang="en-US" sz="2600" b="1" dirty="0" smtClean="0"/>
              <a:t>中国科学技术大学  自动化系</a:t>
            </a:r>
            <a:endParaRPr lang="en-US" altLang="zh-CN" sz="2600" b="1" dirty="0" smtClean="0"/>
          </a:p>
          <a:p>
            <a:pPr eaLnBrk="1" hangingPunct="1">
              <a:defRPr/>
            </a:pPr>
            <a:r>
              <a:rPr lang="zh-CN" altLang="en-US" sz="2600" b="1" dirty="0" smtClean="0"/>
              <a:t>曹  洋</a:t>
            </a:r>
            <a:endParaRPr lang="en-US" altLang="zh-CN" sz="2600" b="1" dirty="0" smtClean="0"/>
          </a:p>
        </p:txBody>
      </p:sp>
      <p:sp>
        <p:nvSpPr>
          <p:cNvPr id="4100" name="Rectangle 1"/>
          <p:cNvSpPr>
            <a:spLocks noChangeArrowheads="1"/>
          </p:cNvSpPr>
          <p:nvPr/>
        </p:nvSpPr>
        <p:spPr bwMode="auto">
          <a:xfrm>
            <a:off x="500063" y="2700209"/>
            <a:ext cx="8335962" cy="584775"/>
          </a:xfrm>
          <a:prstGeom prst="rect">
            <a:avLst/>
          </a:prstGeom>
          <a:noFill/>
          <a:ln w="9525">
            <a:noFill/>
            <a:miter lim="800000"/>
            <a:headEnd/>
            <a:tailEnd/>
          </a:ln>
        </p:spPr>
        <p:txBody>
          <a:bodyPr anchor="ctr">
            <a:spAutoFit/>
          </a:bodyPr>
          <a:lstStyle/>
          <a:p>
            <a:pPr algn="ctr" fontAlgn="t"/>
            <a:r>
              <a:rPr lang="en-US" altLang="zh-CN" sz="3200" b="1" dirty="0" smtClean="0">
                <a:solidFill>
                  <a:srgbClr val="000000"/>
                </a:solidFill>
                <a:latin typeface="Calibri" pitchFamily="34" charset="0"/>
                <a:cs typeface="Arial" charset="0"/>
              </a:rPr>
              <a:t>Adaptive</a:t>
            </a:r>
            <a:r>
              <a:rPr lang="zh-CN" altLang="en-US" sz="3200" b="1" dirty="0" smtClean="0">
                <a:solidFill>
                  <a:srgbClr val="000000"/>
                </a:solidFill>
                <a:latin typeface="Calibri" pitchFamily="34" charset="0"/>
                <a:cs typeface="Arial" charset="0"/>
              </a:rPr>
              <a:t> </a:t>
            </a:r>
            <a:r>
              <a:rPr lang="en-US" altLang="zh-CN" sz="3200" b="1" dirty="0" smtClean="0">
                <a:solidFill>
                  <a:srgbClr val="000000"/>
                </a:solidFill>
                <a:latin typeface="Calibri" pitchFamily="34" charset="0"/>
                <a:cs typeface="Arial" charset="0"/>
              </a:rPr>
              <a:t>Filter</a:t>
            </a:r>
            <a:r>
              <a:rPr lang="zh-CN" altLang="en-US" sz="3200" b="1" dirty="0" smtClean="0">
                <a:solidFill>
                  <a:srgbClr val="000000"/>
                </a:solidFill>
                <a:latin typeface="Calibri" pitchFamily="34" charset="0"/>
                <a:cs typeface="Arial" charset="0"/>
              </a:rPr>
              <a:t> </a:t>
            </a:r>
            <a:endParaRPr lang="en-US" altLang="zh-CN" sz="3200" b="1" dirty="0">
              <a:solidFill>
                <a:srgbClr val="000000"/>
              </a:solidFill>
              <a:latin typeface="Calibri" pitchFamily="34" charset="0"/>
              <a:cs typeface="Arial" charset="0"/>
            </a:endParaRPr>
          </a:p>
        </p:txBody>
      </p:sp>
    </p:spTree>
  </p:cSld>
  <p:clrMapOvr>
    <a:masterClrMapping/>
  </p:clrMapOvr>
  <p:transition spd="med" advTm="15"/>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t>主要内容</a:t>
            </a:r>
            <a:endParaRPr lang="zh-CN" altLang="en-US" b="1" dirty="0"/>
          </a:p>
        </p:txBody>
      </p:sp>
      <p:sp>
        <p:nvSpPr>
          <p:cNvPr id="3" name="内容占位符 2"/>
          <p:cNvSpPr>
            <a:spLocks noGrp="1"/>
          </p:cNvSpPr>
          <p:nvPr>
            <p:ph idx="1"/>
          </p:nvPr>
        </p:nvSpPr>
        <p:spPr/>
        <p:txBody>
          <a:bodyPr/>
          <a:lstStyle/>
          <a:p>
            <a:r>
              <a:rPr lang="zh-CN" altLang="en-US" b="1" dirty="0" smtClean="0"/>
              <a:t>综述</a:t>
            </a:r>
            <a:endParaRPr lang="en-US" altLang="zh-CN" b="1" dirty="0" smtClean="0"/>
          </a:p>
          <a:p>
            <a:endParaRPr lang="en-US" altLang="zh-CN" b="1" dirty="0" smtClean="0"/>
          </a:p>
          <a:p>
            <a:r>
              <a:rPr lang="zh-CN" altLang="en-US" b="1" dirty="0" smtClean="0"/>
              <a:t>维纳滤波</a:t>
            </a:r>
            <a:endParaRPr lang="en-US" altLang="zh-CN" b="1" dirty="0" smtClean="0"/>
          </a:p>
          <a:p>
            <a:endParaRPr lang="en-US" altLang="zh-CN" b="1" dirty="0" smtClean="0"/>
          </a:p>
          <a:p>
            <a:r>
              <a:rPr lang="zh-CN" altLang="en-US" b="1" dirty="0" smtClean="0"/>
              <a:t>最小二乘滤波</a:t>
            </a:r>
            <a:endParaRPr lang="zh-CN" altLang="en-US" b="1" dirty="0"/>
          </a:p>
        </p:txBody>
      </p:sp>
      <p:sp>
        <p:nvSpPr>
          <p:cNvPr id="4" name="灯片编号占位符 3"/>
          <p:cNvSpPr>
            <a:spLocks noGrp="1"/>
          </p:cNvSpPr>
          <p:nvPr>
            <p:ph type="sldNum" sz="quarter" idx="12"/>
          </p:nvPr>
        </p:nvSpPr>
        <p:spPr/>
        <p:txBody>
          <a:bodyPr/>
          <a:lstStyle/>
          <a:p>
            <a:pPr>
              <a:defRPr/>
            </a:pPr>
            <a:fld id="{3ACE1859-598D-4001-8269-61C428827EE7}" type="slidenum">
              <a:rPr lang="zh-CN" altLang="en-US" smtClean="0"/>
              <a:pPr>
                <a:defRPr/>
              </a:pPr>
              <a:t>2</a:t>
            </a:fld>
            <a:endParaRPr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187624" y="2204864"/>
            <a:ext cx="7812360" cy="3539430"/>
          </a:xfrm>
          <a:prstGeom prst="rect">
            <a:avLst/>
          </a:prstGeom>
        </p:spPr>
        <p:txBody>
          <a:bodyPr wrap="square">
            <a:spAutoFit/>
          </a:bodyPr>
          <a:lstStyle/>
          <a:p>
            <a:pPr lvl="1"/>
            <a:r>
              <a:rPr lang="zh-CN" altLang="en-US" sz="2400" b="1" dirty="0" smtClean="0">
                <a:ea typeface="宋体" charset="-122"/>
              </a:rPr>
              <a:t>在信号与图像处理领域，滤波器主要有三种应用</a:t>
            </a:r>
            <a:endParaRPr lang="en-US" altLang="zh-CN" sz="2400" b="1" dirty="0" smtClean="0">
              <a:ea typeface="宋体" charset="-122"/>
            </a:endParaRPr>
          </a:p>
          <a:p>
            <a:pPr lvl="1"/>
            <a:endParaRPr lang="en-US" altLang="zh-CN" sz="2000" dirty="0">
              <a:ea typeface="宋体" charset="-122"/>
            </a:endParaRPr>
          </a:p>
          <a:p>
            <a:pPr lvl="1"/>
            <a:r>
              <a:rPr lang="zh-CN" altLang="en-US" sz="2000" b="1" dirty="0" smtClean="0">
                <a:ea typeface="宋体" charset="-122"/>
              </a:rPr>
              <a:t>滤波去噪</a:t>
            </a:r>
            <a:endParaRPr lang="en-US" altLang="zh-CN" sz="2000" b="1" dirty="0" smtClean="0">
              <a:ea typeface="宋体" charset="-122"/>
            </a:endParaRPr>
          </a:p>
          <a:p>
            <a:pPr lvl="1"/>
            <a:endParaRPr lang="en-US" altLang="zh-CN" sz="2000" dirty="0" smtClean="0">
              <a:ea typeface="宋体" charset="-122"/>
            </a:endParaRPr>
          </a:p>
          <a:p>
            <a:pPr lvl="1"/>
            <a:endParaRPr lang="en-US" altLang="zh-CN" sz="2000" dirty="0" smtClean="0">
              <a:ea typeface="宋体" charset="-122"/>
            </a:endParaRPr>
          </a:p>
          <a:p>
            <a:pPr lvl="1"/>
            <a:endParaRPr lang="en-US" altLang="zh-CN" sz="2000" dirty="0" smtClean="0">
              <a:ea typeface="宋体" charset="-122"/>
            </a:endParaRPr>
          </a:p>
          <a:p>
            <a:pPr lvl="1"/>
            <a:r>
              <a:rPr lang="zh-CN" altLang="en-US" sz="2000" b="1" dirty="0" smtClean="0">
                <a:ea typeface="宋体" charset="-122"/>
              </a:rPr>
              <a:t>平滑内插</a:t>
            </a:r>
            <a:endParaRPr lang="en-US" altLang="zh-CN" sz="2000" b="1" dirty="0" smtClean="0">
              <a:ea typeface="宋体" charset="-122"/>
            </a:endParaRPr>
          </a:p>
          <a:p>
            <a:pPr lvl="1"/>
            <a:endParaRPr lang="en-US" altLang="zh-CN" sz="2000" dirty="0" smtClean="0">
              <a:ea typeface="宋体" charset="-122"/>
            </a:endParaRPr>
          </a:p>
          <a:p>
            <a:pPr lvl="1"/>
            <a:endParaRPr lang="en-US" altLang="zh-CN" sz="2000" dirty="0" smtClean="0">
              <a:ea typeface="宋体" charset="-122"/>
            </a:endParaRPr>
          </a:p>
          <a:p>
            <a:pPr lvl="1"/>
            <a:endParaRPr lang="en-US" altLang="zh-CN" sz="2000" dirty="0" smtClean="0">
              <a:ea typeface="宋体" charset="-122"/>
            </a:endParaRPr>
          </a:p>
          <a:p>
            <a:pPr lvl="1"/>
            <a:r>
              <a:rPr lang="zh-CN" altLang="en-US" sz="2000" b="1" dirty="0" smtClean="0">
                <a:ea typeface="宋体" charset="-122"/>
              </a:rPr>
              <a:t>预测估计</a:t>
            </a:r>
            <a:endParaRPr lang="en-US" altLang="zh-CN" sz="2000" b="1" dirty="0">
              <a:ea typeface="宋体" charset="-122"/>
            </a:endParaRPr>
          </a:p>
        </p:txBody>
      </p:sp>
      <p:sp>
        <p:nvSpPr>
          <p:cNvPr id="2" name="标题 1"/>
          <p:cNvSpPr>
            <a:spLocks noGrp="1"/>
          </p:cNvSpPr>
          <p:nvPr>
            <p:ph type="title"/>
          </p:nvPr>
        </p:nvSpPr>
        <p:spPr/>
        <p:txBody>
          <a:bodyPr/>
          <a:lstStyle/>
          <a:p>
            <a:r>
              <a:rPr lang="en-US" altLang="zh-CN" b="1" dirty="0" smtClean="0"/>
              <a:t>4.1 </a:t>
            </a:r>
            <a:r>
              <a:rPr lang="zh-CN" altLang="en-US" b="1" dirty="0" smtClean="0"/>
              <a:t>自适应滤波综述</a:t>
            </a:r>
            <a:endParaRPr lang="zh-CN" altLang="en-US" b="1" dirty="0"/>
          </a:p>
        </p:txBody>
      </p:sp>
      <p:sp>
        <p:nvSpPr>
          <p:cNvPr id="4" name="灯片编号占位符 3"/>
          <p:cNvSpPr>
            <a:spLocks noGrp="1"/>
          </p:cNvSpPr>
          <p:nvPr>
            <p:ph type="sldNum" sz="quarter" idx="12"/>
          </p:nvPr>
        </p:nvSpPr>
        <p:spPr/>
        <p:txBody>
          <a:bodyPr/>
          <a:lstStyle/>
          <a:p>
            <a:pPr>
              <a:defRPr/>
            </a:pPr>
            <a:fld id="{3ACE1859-598D-4001-8269-61C428827EE7}" type="slidenum">
              <a:rPr lang="zh-CN" altLang="en-US" smtClean="0"/>
              <a:pPr>
                <a:defRPr/>
              </a:pPr>
              <a:t>3</a:t>
            </a:fld>
            <a:endParaRPr lang="zh-CN" altLang="en-US"/>
          </a:p>
        </p:txBody>
      </p:sp>
      <p:sp>
        <p:nvSpPr>
          <p:cNvPr id="6" name="矩形 5"/>
          <p:cNvSpPr/>
          <p:nvPr/>
        </p:nvSpPr>
        <p:spPr>
          <a:xfrm>
            <a:off x="1187624" y="1628800"/>
            <a:ext cx="2040943" cy="461665"/>
          </a:xfrm>
          <a:prstGeom prst="rect">
            <a:avLst/>
          </a:prstGeom>
        </p:spPr>
        <p:txBody>
          <a:bodyPr wrap="none">
            <a:spAutoFit/>
          </a:bodyPr>
          <a:lstStyle/>
          <a:p>
            <a:r>
              <a:rPr lang="zh-CN" altLang="en-US" sz="2400" b="1" dirty="0" smtClean="0"/>
              <a:t>滤波与滤波器</a:t>
            </a:r>
            <a:endParaRPr lang="zh-CN" altLang="en-US" sz="2400" b="1" dirty="0"/>
          </a:p>
        </p:txBody>
      </p:sp>
      <p:pic>
        <p:nvPicPr>
          <p:cNvPr id="7" name="Picture 4"/>
          <p:cNvPicPr>
            <a:picLocks noChangeAspect="1" noChangeArrowheads="1"/>
          </p:cNvPicPr>
          <p:nvPr/>
        </p:nvPicPr>
        <p:blipFill>
          <a:blip r:embed="rId2" cstate="print"/>
          <a:srcRect/>
          <a:stretch>
            <a:fillRect/>
          </a:stretch>
        </p:blipFill>
        <p:spPr bwMode="auto">
          <a:xfrm>
            <a:off x="2971378" y="2780928"/>
            <a:ext cx="4552950" cy="971550"/>
          </a:xfrm>
          <a:prstGeom prst="rect">
            <a:avLst/>
          </a:prstGeom>
          <a:noFill/>
          <a:ln w="9525">
            <a:noFill/>
            <a:miter lim="800000"/>
            <a:headEnd/>
            <a:tailEnd/>
          </a:ln>
          <a:effectLst/>
        </p:spPr>
      </p:pic>
      <p:pic>
        <p:nvPicPr>
          <p:cNvPr id="8" name="Picture 5"/>
          <p:cNvPicPr>
            <a:picLocks noChangeAspect="1" noChangeArrowheads="1"/>
          </p:cNvPicPr>
          <p:nvPr/>
        </p:nvPicPr>
        <p:blipFill>
          <a:blip r:embed="rId3" cstate="print"/>
          <a:srcRect/>
          <a:stretch>
            <a:fillRect/>
          </a:stretch>
        </p:blipFill>
        <p:spPr bwMode="auto">
          <a:xfrm>
            <a:off x="2987824" y="3920852"/>
            <a:ext cx="4467225" cy="876300"/>
          </a:xfrm>
          <a:prstGeom prst="rect">
            <a:avLst/>
          </a:prstGeom>
          <a:noFill/>
          <a:ln w="9525">
            <a:noFill/>
            <a:miter lim="800000"/>
            <a:headEnd/>
            <a:tailEnd/>
          </a:ln>
          <a:effectLst/>
        </p:spPr>
      </p:pic>
      <p:pic>
        <p:nvPicPr>
          <p:cNvPr id="9" name="Picture 6"/>
          <p:cNvPicPr>
            <a:picLocks noChangeAspect="1" noChangeArrowheads="1"/>
          </p:cNvPicPr>
          <p:nvPr/>
        </p:nvPicPr>
        <p:blipFill>
          <a:blip r:embed="rId4" cstate="print"/>
          <a:srcRect/>
          <a:stretch>
            <a:fillRect/>
          </a:stretch>
        </p:blipFill>
        <p:spPr bwMode="auto">
          <a:xfrm>
            <a:off x="3009478" y="5150321"/>
            <a:ext cx="4514850" cy="9429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5576" y="1988840"/>
            <a:ext cx="7941568" cy="4597152"/>
          </a:xfrm>
        </p:spPr>
        <p:txBody>
          <a:bodyPr/>
          <a:lstStyle/>
          <a:p>
            <a:pPr algn="just"/>
            <a:r>
              <a:rPr lang="zh-CN" altLang="en-US" sz="2400" b="1" dirty="0" smtClean="0"/>
              <a:t>信号或者噪声的特性并不是一成不变的，为了取得更好的滤波效果，滤波器的参数应该也随之调整。</a:t>
            </a:r>
            <a:endParaRPr lang="en-US" altLang="zh-CN" sz="2400" b="1" dirty="0" smtClean="0"/>
          </a:p>
          <a:p>
            <a:pPr algn="just"/>
            <a:endParaRPr lang="en-US" sz="2400" b="1" dirty="0" smtClean="0"/>
          </a:p>
          <a:p>
            <a:pPr algn="just"/>
            <a:r>
              <a:rPr lang="zh-CN" altLang="en-US" sz="2400" b="1" dirty="0" smtClean="0"/>
              <a:t>自适应滤波器包含有一种参数自适应调整的机制，即能够对处理的信号进行监控，据此调整滤波器的参数。</a:t>
            </a:r>
            <a:endParaRPr lang="en-US" altLang="zh-CN" sz="2400" b="1" dirty="0" smtClean="0"/>
          </a:p>
          <a:p>
            <a:pPr algn="just"/>
            <a:endParaRPr lang="en-US" sz="2400" b="1" dirty="0" smtClean="0"/>
          </a:p>
          <a:p>
            <a:pPr algn="just"/>
            <a:r>
              <a:rPr lang="zh-CN" altLang="en-US" sz="2400" b="1" dirty="0" smtClean="0"/>
              <a:t>自适应滤波器还包含有一种最优机制，</a:t>
            </a:r>
            <a:r>
              <a:rPr lang="zh-CN" altLang="en-US" sz="2400" b="1" dirty="0"/>
              <a:t>即根据实际获取的</a:t>
            </a:r>
            <a:r>
              <a:rPr lang="zh-CN" altLang="en-US" sz="2400" b="1" dirty="0" smtClean="0"/>
              <a:t>信号，对滤波器结构和参数进行设计，以取得最优的滤波效果。</a:t>
            </a:r>
            <a:endParaRPr lang="en-US" sz="2400" b="1" dirty="0" smtClean="0"/>
          </a:p>
          <a:p>
            <a:endParaRPr lang="en-US" sz="2400" dirty="0"/>
          </a:p>
        </p:txBody>
      </p:sp>
      <p:sp>
        <p:nvSpPr>
          <p:cNvPr id="5" name="标题 1"/>
          <p:cNvSpPr>
            <a:spLocks noGrp="1"/>
          </p:cNvSpPr>
          <p:nvPr>
            <p:ph type="title"/>
          </p:nvPr>
        </p:nvSpPr>
        <p:spPr/>
        <p:txBody>
          <a:bodyPr/>
          <a:lstStyle/>
          <a:p>
            <a:r>
              <a:rPr lang="zh-CN" altLang="en-US" b="1" dirty="0" smtClean="0"/>
              <a:t>自适应滤波</a:t>
            </a:r>
            <a:endParaRPr lang="zh-CN" altLang="en-US" b="1" dirty="0"/>
          </a:p>
        </p:txBody>
      </p:sp>
    </p:spTree>
    <p:extLst>
      <p:ext uri="{BB962C8B-B14F-4D97-AF65-F5344CB8AC3E}">
        <p14:creationId xmlns:p14="http://schemas.microsoft.com/office/powerpoint/2010/main" val="12813679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自适应滤波</a:t>
            </a:r>
          </a:p>
        </p:txBody>
      </p:sp>
      <p:sp>
        <p:nvSpPr>
          <p:cNvPr id="3" name="内容占位符 2"/>
          <p:cNvSpPr>
            <a:spLocks noGrp="1"/>
          </p:cNvSpPr>
          <p:nvPr>
            <p:ph idx="1"/>
          </p:nvPr>
        </p:nvSpPr>
        <p:spPr/>
        <p:txBody>
          <a:bodyPr/>
          <a:lstStyle/>
          <a:p>
            <a:r>
              <a:rPr lang="zh-CN" altLang="en-US" sz="2800" b="1" dirty="0" smtClean="0">
                <a:solidFill>
                  <a:schemeClr val="tx1"/>
                </a:solidFill>
                <a:ea typeface="宋体" charset="-122"/>
              </a:rPr>
              <a:t>需要给定一个优化目标</a:t>
            </a:r>
            <a:endParaRPr lang="en-US" altLang="zh-CN" sz="2800" dirty="0" smtClean="0">
              <a:solidFill>
                <a:schemeClr val="tx1"/>
              </a:solidFill>
              <a:ea typeface="宋体" charset="-122"/>
            </a:endParaRPr>
          </a:p>
          <a:p>
            <a:pPr lvl="1"/>
            <a:r>
              <a:rPr lang="zh-CN" altLang="en-US" sz="2400" dirty="0" smtClean="0">
                <a:ea typeface="宋体" charset="-122"/>
              </a:rPr>
              <a:t>需要关于信号或者噪声的先验信息</a:t>
            </a:r>
            <a:endParaRPr lang="en-US" altLang="zh-CN" sz="2400" dirty="0" smtClean="0">
              <a:ea typeface="宋体" charset="-122"/>
            </a:endParaRPr>
          </a:p>
          <a:p>
            <a:r>
              <a:rPr lang="zh-CN" altLang="en-US" sz="2800" b="1" dirty="0" smtClean="0">
                <a:solidFill>
                  <a:schemeClr val="tx1"/>
                </a:solidFill>
                <a:ea typeface="宋体" charset="-122"/>
              </a:rPr>
              <a:t>需要建立一种自调整机制</a:t>
            </a:r>
            <a:endParaRPr lang="en-US" altLang="zh-CN" sz="2800" dirty="0" smtClean="0">
              <a:solidFill>
                <a:schemeClr val="tx1"/>
              </a:solidFill>
              <a:ea typeface="宋体" charset="-122"/>
            </a:endParaRPr>
          </a:p>
          <a:p>
            <a:pPr lvl="1"/>
            <a:r>
              <a:rPr lang="zh-CN" altLang="en-US" sz="2400" dirty="0" smtClean="0">
                <a:ea typeface="宋体" charset="-122"/>
              </a:rPr>
              <a:t>通常是基于递归模型的，当缺少完整的先验信息时，递归模型是一种有效的手段。</a:t>
            </a:r>
            <a:endParaRPr lang="en-US" altLang="zh-CN" sz="2400" dirty="0" smtClean="0">
              <a:ea typeface="宋体" charset="-122"/>
            </a:endParaRPr>
          </a:p>
          <a:p>
            <a:endParaRPr lang="zh-CN" altLang="en-US" dirty="0"/>
          </a:p>
        </p:txBody>
      </p:sp>
      <p:sp>
        <p:nvSpPr>
          <p:cNvPr id="4" name="灯片编号占位符 3"/>
          <p:cNvSpPr>
            <a:spLocks noGrp="1"/>
          </p:cNvSpPr>
          <p:nvPr>
            <p:ph type="sldNum" sz="quarter" idx="12"/>
          </p:nvPr>
        </p:nvSpPr>
        <p:spPr/>
        <p:txBody>
          <a:bodyPr/>
          <a:lstStyle/>
          <a:p>
            <a:pPr>
              <a:defRPr/>
            </a:pPr>
            <a:fld id="{3ACE1859-598D-4001-8269-61C428827EE7}" type="slidenum">
              <a:rPr lang="zh-CN" altLang="en-US" smtClean="0"/>
              <a:pPr>
                <a:defRPr/>
              </a:pPr>
              <a:t>5</a:t>
            </a:fld>
            <a:endParaRPr lang="zh-CN" alt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2212032"/>
            <a:ext cx="7977064" cy="2441104"/>
          </a:xfrm>
        </p:spPr>
        <p:txBody>
          <a:bodyPr/>
          <a:lstStyle/>
          <a:p>
            <a:pPr algn="just"/>
            <a:r>
              <a:rPr lang="zh-CN" altLang="en-US" sz="2400" b="1" dirty="0" smtClean="0"/>
              <a:t>自适应滤波通常包含了两个阶段</a:t>
            </a:r>
            <a:r>
              <a:rPr lang="en-US" sz="2400" b="1" dirty="0" smtClean="0"/>
              <a:t> :</a:t>
            </a:r>
          </a:p>
          <a:p>
            <a:pPr algn="just"/>
            <a:endParaRPr lang="en-US" sz="2400" b="1" dirty="0" smtClean="0"/>
          </a:p>
          <a:p>
            <a:pPr algn="just">
              <a:buFontTx/>
              <a:buNone/>
            </a:pPr>
            <a:r>
              <a:rPr lang="en-US" sz="2400" b="1" dirty="0" smtClean="0"/>
              <a:t>  1. </a:t>
            </a:r>
            <a:r>
              <a:rPr lang="zh-CN" altLang="en-US" sz="2400" b="1" dirty="0" smtClean="0"/>
              <a:t>滤波过程：根据输入信号产生预定的输出信号</a:t>
            </a:r>
            <a:r>
              <a:rPr lang="en-US" sz="2400" b="1" dirty="0" smtClean="0"/>
              <a:t>.</a:t>
            </a:r>
          </a:p>
          <a:p>
            <a:pPr algn="just">
              <a:buFontTx/>
              <a:buNone/>
            </a:pPr>
            <a:r>
              <a:rPr lang="en-US" sz="2400" b="1" dirty="0" smtClean="0"/>
              <a:t>  2. </a:t>
            </a:r>
            <a:r>
              <a:rPr lang="zh-CN" altLang="en-US" sz="2400" b="1" dirty="0" smtClean="0"/>
              <a:t>自调整过程</a:t>
            </a:r>
            <a:r>
              <a:rPr lang="zh-CN" altLang="en-US" sz="2400" b="1" dirty="0"/>
              <a:t>：</a:t>
            </a:r>
            <a:r>
              <a:rPr lang="en-US" sz="2400" b="1" dirty="0" smtClean="0"/>
              <a:t> </a:t>
            </a:r>
            <a:r>
              <a:rPr lang="zh-CN" altLang="en-US" sz="2400" b="1" dirty="0" smtClean="0"/>
              <a:t>根据外界条件的变化调整滤波器的结构或者参数。</a:t>
            </a:r>
            <a:endParaRPr lang="en-US" altLang="zh-CN" sz="2400" b="1" dirty="0" smtClean="0"/>
          </a:p>
          <a:p>
            <a:pPr algn="just">
              <a:buFontTx/>
              <a:buNone/>
            </a:pPr>
            <a:endParaRPr lang="en-US" altLang="zh-CN" sz="2400" b="1" dirty="0" smtClean="0"/>
          </a:p>
        </p:txBody>
      </p:sp>
      <p:sp>
        <p:nvSpPr>
          <p:cNvPr id="4" name="标题 3"/>
          <p:cNvSpPr>
            <a:spLocks noGrp="1"/>
          </p:cNvSpPr>
          <p:nvPr>
            <p:ph type="title"/>
          </p:nvPr>
        </p:nvSpPr>
        <p:spPr/>
        <p:txBody>
          <a:bodyPr/>
          <a:lstStyle/>
          <a:p>
            <a:r>
              <a:rPr lang="zh-CN" altLang="en-US" b="1" dirty="0"/>
              <a:t>自适应滤波</a:t>
            </a:r>
            <a:endParaRPr lang="zh-CN" altLang="en-US" dirty="0"/>
          </a:p>
        </p:txBody>
      </p:sp>
      <p:sp>
        <p:nvSpPr>
          <p:cNvPr id="2" name="矩形 1"/>
          <p:cNvSpPr/>
          <p:nvPr/>
        </p:nvSpPr>
        <p:spPr>
          <a:xfrm>
            <a:off x="1547664" y="4725144"/>
            <a:ext cx="6120680" cy="830997"/>
          </a:xfrm>
          <a:prstGeom prst="rect">
            <a:avLst/>
          </a:prstGeom>
        </p:spPr>
        <p:txBody>
          <a:bodyPr wrap="square">
            <a:spAutoFit/>
          </a:bodyPr>
          <a:lstStyle/>
          <a:p>
            <a:r>
              <a:rPr lang="en-US" altLang="zh-CN" sz="2400" b="1" dirty="0"/>
              <a:t> </a:t>
            </a:r>
            <a:r>
              <a:rPr lang="zh-CN" altLang="en-US" sz="2400" b="1" dirty="0"/>
              <a:t>通常会采用信号的均方误差作为目标函数来设计滤波器</a:t>
            </a:r>
            <a:endParaRPr lang="zh-CN" altLang="en-US" sz="2400" dirty="0"/>
          </a:p>
        </p:txBody>
      </p:sp>
    </p:spTree>
    <p:extLst>
      <p:ext uri="{BB962C8B-B14F-4D97-AF65-F5344CB8AC3E}">
        <p14:creationId xmlns:p14="http://schemas.microsoft.com/office/powerpoint/2010/main" val="1661091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b="1" dirty="0" smtClean="0">
                <a:ea typeface="宋体" charset="-122"/>
              </a:rPr>
              <a:t>自适应滤波的应用：系统辨识</a:t>
            </a:r>
            <a:endParaRPr lang="zh-CN" altLang="en-US" sz="3600" b="1" dirty="0"/>
          </a:p>
        </p:txBody>
      </p:sp>
      <p:sp>
        <p:nvSpPr>
          <p:cNvPr id="3" name="内容占位符 2"/>
          <p:cNvSpPr>
            <a:spLocks noGrp="1"/>
          </p:cNvSpPr>
          <p:nvPr>
            <p:ph idx="1"/>
          </p:nvPr>
        </p:nvSpPr>
        <p:spPr>
          <a:xfrm>
            <a:off x="1219200" y="1556792"/>
            <a:ext cx="7924800" cy="4310608"/>
          </a:xfrm>
        </p:spPr>
        <p:txBody>
          <a:bodyPr/>
          <a:lstStyle/>
          <a:p>
            <a:pPr>
              <a:lnSpc>
                <a:spcPct val="90000"/>
              </a:lnSpc>
            </a:pPr>
            <a:r>
              <a:rPr lang="zh-CN" altLang="en-US" sz="2800" b="1" dirty="0" smtClean="0">
                <a:ea typeface="宋体" charset="-122"/>
              </a:rPr>
              <a:t>用于建立一个未知对象的系统模型</a:t>
            </a:r>
            <a:endParaRPr lang="en-US" altLang="zh-CN" sz="2800" b="1" dirty="0" smtClean="0">
              <a:ea typeface="宋体" charset="-122"/>
            </a:endParaRPr>
          </a:p>
          <a:p>
            <a:pPr>
              <a:lnSpc>
                <a:spcPct val="90000"/>
              </a:lnSpc>
            </a:pPr>
            <a:endParaRPr lang="en-US" altLang="zh-CN" dirty="0" smtClean="0">
              <a:ea typeface="宋体" charset="-122"/>
            </a:endParaRPr>
          </a:p>
          <a:p>
            <a:pPr>
              <a:lnSpc>
                <a:spcPct val="90000"/>
              </a:lnSpc>
            </a:pPr>
            <a:endParaRPr lang="en-US" altLang="zh-CN" dirty="0" smtClean="0">
              <a:ea typeface="宋体" charset="-122"/>
            </a:endParaRPr>
          </a:p>
          <a:p>
            <a:pPr>
              <a:lnSpc>
                <a:spcPct val="90000"/>
              </a:lnSpc>
            </a:pPr>
            <a:endParaRPr lang="en-US" altLang="zh-CN" dirty="0" smtClean="0">
              <a:ea typeface="宋体" charset="-122"/>
            </a:endParaRPr>
          </a:p>
          <a:p>
            <a:pPr>
              <a:lnSpc>
                <a:spcPct val="90000"/>
              </a:lnSpc>
            </a:pPr>
            <a:endParaRPr lang="en-US" altLang="zh-CN" sz="2400" dirty="0" smtClean="0">
              <a:ea typeface="宋体" charset="-122"/>
            </a:endParaRPr>
          </a:p>
          <a:p>
            <a:pPr>
              <a:lnSpc>
                <a:spcPct val="90000"/>
              </a:lnSpc>
            </a:pPr>
            <a:endParaRPr lang="en-US" altLang="zh-CN" sz="2400" dirty="0" smtClean="0">
              <a:ea typeface="宋体" charset="-122"/>
            </a:endParaRPr>
          </a:p>
          <a:p>
            <a:pPr>
              <a:lnSpc>
                <a:spcPct val="90000"/>
              </a:lnSpc>
            </a:pPr>
            <a:endParaRPr lang="en-US" altLang="zh-CN" sz="2400" dirty="0" smtClean="0">
              <a:ea typeface="宋体" charset="-122"/>
            </a:endParaRPr>
          </a:p>
          <a:p>
            <a:pPr>
              <a:lnSpc>
                <a:spcPct val="90000"/>
              </a:lnSpc>
            </a:pPr>
            <a:r>
              <a:rPr lang="en-US" altLang="zh-CN" sz="2400" dirty="0" smtClean="0">
                <a:ea typeface="宋体" charset="-122"/>
              </a:rPr>
              <a:t>Parameters</a:t>
            </a:r>
          </a:p>
          <a:p>
            <a:pPr lvl="1">
              <a:lnSpc>
                <a:spcPct val="90000"/>
              </a:lnSpc>
            </a:pPr>
            <a:r>
              <a:rPr lang="en-US" altLang="zh-CN" sz="2000" dirty="0" smtClean="0">
                <a:ea typeface="宋体" charset="-122"/>
              </a:rPr>
              <a:t>u=input of adaptive filter=input to plant</a:t>
            </a:r>
          </a:p>
          <a:p>
            <a:pPr lvl="1">
              <a:lnSpc>
                <a:spcPct val="90000"/>
              </a:lnSpc>
            </a:pPr>
            <a:r>
              <a:rPr lang="en-US" altLang="zh-CN" sz="2000" dirty="0" smtClean="0">
                <a:ea typeface="宋体" charset="-122"/>
              </a:rPr>
              <a:t>y=output of adaptive filter</a:t>
            </a:r>
          </a:p>
          <a:p>
            <a:pPr lvl="1">
              <a:lnSpc>
                <a:spcPct val="90000"/>
              </a:lnSpc>
            </a:pPr>
            <a:r>
              <a:rPr lang="en-US" altLang="zh-CN" sz="2000" dirty="0" smtClean="0">
                <a:ea typeface="宋体" charset="-122"/>
              </a:rPr>
              <a:t>d=desired response=output of plant</a:t>
            </a:r>
          </a:p>
          <a:p>
            <a:pPr lvl="1">
              <a:lnSpc>
                <a:spcPct val="90000"/>
              </a:lnSpc>
            </a:pPr>
            <a:r>
              <a:rPr lang="en-US" altLang="zh-CN" sz="2000" dirty="0" smtClean="0">
                <a:ea typeface="宋体" charset="-122"/>
              </a:rPr>
              <a:t>e=d-y=estimation error</a:t>
            </a:r>
          </a:p>
        </p:txBody>
      </p:sp>
      <p:sp>
        <p:nvSpPr>
          <p:cNvPr id="4" name="灯片编号占位符 3"/>
          <p:cNvSpPr>
            <a:spLocks noGrp="1"/>
          </p:cNvSpPr>
          <p:nvPr>
            <p:ph type="sldNum" sz="quarter" idx="12"/>
          </p:nvPr>
        </p:nvSpPr>
        <p:spPr/>
        <p:txBody>
          <a:bodyPr/>
          <a:lstStyle/>
          <a:p>
            <a:pPr>
              <a:defRPr/>
            </a:pPr>
            <a:fld id="{3ACE1859-598D-4001-8269-61C428827EE7}" type="slidenum">
              <a:rPr lang="zh-CN" altLang="en-US" smtClean="0"/>
              <a:pPr>
                <a:defRPr/>
              </a:pPr>
              <a:t>7</a:t>
            </a:fld>
            <a:endParaRPr lang="zh-CN" altLang="en-US"/>
          </a:p>
        </p:txBody>
      </p:sp>
      <p:pic>
        <p:nvPicPr>
          <p:cNvPr id="5" name="Picture 4"/>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971600" y="2105769"/>
            <a:ext cx="7210425" cy="26193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b="1" dirty="0">
                <a:ea typeface="宋体" charset="-122"/>
              </a:rPr>
              <a:t>自适应滤波的应用</a:t>
            </a:r>
            <a:r>
              <a:rPr lang="zh-CN" altLang="en-US" sz="3600" b="1" dirty="0" smtClean="0">
                <a:ea typeface="宋体" charset="-122"/>
              </a:rPr>
              <a:t>：信道均衡</a:t>
            </a:r>
            <a:endParaRPr lang="zh-CN" altLang="en-US" sz="3600" dirty="0"/>
          </a:p>
        </p:txBody>
      </p:sp>
      <p:sp>
        <p:nvSpPr>
          <p:cNvPr id="3" name="内容占位符 2"/>
          <p:cNvSpPr>
            <a:spLocks noGrp="1"/>
          </p:cNvSpPr>
          <p:nvPr>
            <p:ph idx="1"/>
          </p:nvPr>
        </p:nvSpPr>
        <p:spPr>
          <a:xfrm>
            <a:off x="755576" y="1988840"/>
            <a:ext cx="8388424" cy="4238600"/>
          </a:xfrm>
        </p:spPr>
        <p:txBody>
          <a:bodyPr/>
          <a:lstStyle/>
          <a:p>
            <a:r>
              <a:rPr lang="zh-CN" altLang="en-US" sz="2400" dirty="0" smtClean="0"/>
              <a:t>信道均衡</a:t>
            </a:r>
            <a:r>
              <a:rPr lang="zh-CN" altLang="en-US" sz="2400" dirty="0"/>
              <a:t>是</a:t>
            </a:r>
            <a:r>
              <a:rPr lang="zh-CN" altLang="en-US" sz="2400" dirty="0" smtClean="0"/>
              <a:t>指在接收</a:t>
            </a:r>
            <a:r>
              <a:rPr lang="zh-CN" altLang="en-US" sz="2400" dirty="0"/>
              <a:t>端的均衡器产生与信道特性相反的特性，用来减小或消除因信道的时变多径传播特性引起的码间干扰。</a:t>
            </a:r>
          </a:p>
          <a:p>
            <a:pPr>
              <a:lnSpc>
                <a:spcPct val="90000"/>
              </a:lnSpc>
            </a:pPr>
            <a:endParaRPr lang="en-US" altLang="zh-CN" dirty="0" smtClean="0">
              <a:ea typeface="宋体" charset="-122"/>
            </a:endParaRPr>
          </a:p>
          <a:p>
            <a:pPr>
              <a:lnSpc>
                <a:spcPct val="90000"/>
              </a:lnSpc>
            </a:pPr>
            <a:endParaRPr lang="en-US" altLang="zh-CN" dirty="0" smtClean="0">
              <a:ea typeface="宋体" charset="-122"/>
            </a:endParaRPr>
          </a:p>
          <a:p>
            <a:pPr>
              <a:lnSpc>
                <a:spcPct val="90000"/>
              </a:lnSpc>
              <a:buNone/>
            </a:pPr>
            <a:endParaRPr lang="en-US" altLang="zh-CN" dirty="0" smtClean="0">
              <a:ea typeface="宋体" charset="-122"/>
            </a:endParaRPr>
          </a:p>
          <a:p>
            <a:pPr>
              <a:lnSpc>
                <a:spcPct val="90000"/>
              </a:lnSpc>
            </a:pPr>
            <a:endParaRPr lang="en-US" altLang="zh-CN" dirty="0" smtClean="0">
              <a:ea typeface="宋体" charset="-122"/>
            </a:endParaRPr>
          </a:p>
          <a:p>
            <a:pPr>
              <a:lnSpc>
                <a:spcPct val="90000"/>
              </a:lnSpc>
            </a:pPr>
            <a:endParaRPr lang="en-US" altLang="zh-CN" sz="2400" dirty="0" smtClean="0">
              <a:ea typeface="宋体" charset="-122"/>
            </a:endParaRPr>
          </a:p>
          <a:p>
            <a:pPr>
              <a:lnSpc>
                <a:spcPct val="90000"/>
              </a:lnSpc>
            </a:pPr>
            <a:r>
              <a:rPr lang="en-US" altLang="zh-CN" sz="2400" dirty="0" smtClean="0">
                <a:ea typeface="宋体" charset="-122"/>
              </a:rPr>
              <a:t>Parameters</a:t>
            </a:r>
          </a:p>
          <a:p>
            <a:pPr lvl="1">
              <a:lnSpc>
                <a:spcPct val="90000"/>
              </a:lnSpc>
            </a:pPr>
            <a:r>
              <a:rPr lang="en-US" altLang="zh-CN" sz="2000" dirty="0" smtClean="0">
                <a:ea typeface="宋体" charset="-122"/>
              </a:rPr>
              <a:t>u=input of adaptive filter=output to plant</a:t>
            </a:r>
            <a:r>
              <a:rPr lang="zh-CN" altLang="en-US" sz="2000" dirty="0" smtClean="0">
                <a:ea typeface="宋体" charset="-122"/>
              </a:rPr>
              <a:t>；</a:t>
            </a:r>
            <a:r>
              <a:rPr lang="en-US" altLang="zh-CN" sz="2000" dirty="0" smtClean="0">
                <a:ea typeface="宋体" charset="-122"/>
              </a:rPr>
              <a:t>y=output of adaptive filter</a:t>
            </a:r>
            <a:r>
              <a:rPr lang="zh-CN" altLang="en-US" sz="2000" dirty="0" smtClean="0">
                <a:ea typeface="宋体" charset="-122"/>
              </a:rPr>
              <a:t>；</a:t>
            </a:r>
            <a:r>
              <a:rPr lang="en-US" altLang="zh-CN" sz="2000" dirty="0" smtClean="0">
                <a:ea typeface="宋体" charset="-122"/>
              </a:rPr>
              <a:t>d=desired response=delayed system input</a:t>
            </a:r>
            <a:r>
              <a:rPr lang="zh-CN" altLang="en-US" sz="2000" dirty="0" smtClean="0">
                <a:ea typeface="宋体" charset="-122"/>
              </a:rPr>
              <a:t>；</a:t>
            </a:r>
            <a:r>
              <a:rPr lang="en-US" altLang="zh-CN" sz="2000" dirty="0" smtClean="0">
                <a:ea typeface="宋体" charset="-122"/>
              </a:rPr>
              <a:t>e=d-y=estimation error</a:t>
            </a:r>
          </a:p>
          <a:p>
            <a:endParaRPr lang="zh-CN" altLang="en-US" dirty="0"/>
          </a:p>
        </p:txBody>
      </p:sp>
      <p:sp>
        <p:nvSpPr>
          <p:cNvPr id="4" name="灯片编号占位符 3"/>
          <p:cNvSpPr>
            <a:spLocks noGrp="1"/>
          </p:cNvSpPr>
          <p:nvPr>
            <p:ph type="sldNum" sz="quarter" idx="12"/>
          </p:nvPr>
        </p:nvSpPr>
        <p:spPr/>
        <p:txBody>
          <a:bodyPr/>
          <a:lstStyle/>
          <a:p>
            <a:pPr>
              <a:defRPr/>
            </a:pPr>
            <a:fld id="{3ACE1859-598D-4001-8269-61C428827EE7}" type="slidenum">
              <a:rPr lang="zh-CN" altLang="en-US" smtClean="0"/>
              <a:pPr>
                <a:defRPr/>
              </a:pPr>
              <a:t>8</a:t>
            </a:fld>
            <a:endParaRPr lang="zh-CN" altLang="en-US"/>
          </a:p>
        </p:txBody>
      </p:sp>
      <p:pic>
        <p:nvPicPr>
          <p:cNvPr id="5" name="Picture 4"/>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664915" y="2984723"/>
            <a:ext cx="6867525" cy="26765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b="1" dirty="0">
                <a:ea typeface="宋体" charset="-122"/>
              </a:rPr>
              <a:t>自适应滤波的应用</a:t>
            </a:r>
            <a:r>
              <a:rPr lang="zh-CN" altLang="en-US" sz="3600" b="1" dirty="0" smtClean="0">
                <a:ea typeface="宋体" charset="-122"/>
              </a:rPr>
              <a:t>：信道均衡</a:t>
            </a:r>
            <a:endParaRPr lang="zh-CN" altLang="en-US" sz="3600" dirty="0"/>
          </a:p>
        </p:txBody>
      </p:sp>
      <p:pic>
        <p:nvPicPr>
          <p:cNvPr id="7" name="Picture 1" descr="slide13.jpg"/>
          <p:cNvPicPr>
            <a:picLocks noChangeAspect="1"/>
          </p:cNvPicPr>
          <p:nvPr/>
        </p:nvPicPr>
        <p:blipFill rotWithShape="1">
          <a:blip r:embed="rId3"/>
          <a:srcRect l="4513" t="21942" r="4204" b="3372"/>
          <a:stretch/>
        </p:blipFill>
        <p:spPr bwMode="auto">
          <a:xfrm>
            <a:off x="827584" y="1957660"/>
            <a:ext cx="7962900" cy="4711700"/>
          </a:xfrm>
          <a:prstGeom prst="rect">
            <a:avLst/>
          </a:prstGeom>
          <a:noFill/>
          <a:ln w="9525">
            <a:noFill/>
            <a:miter lim="800000"/>
            <a:headEnd/>
            <a:tailEnd/>
          </a:ln>
        </p:spPr>
      </p:pic>
    </p:spTree>
    <p:extLst>
      <p:ext uri="{BB962C8B-B14F-4D97-AF65-F5344CB8AC3E}">
        <p14:creationId xmlns:p14="http://schemas.microsoft.com/office/powerpoint/2010/main" val="163967117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b="1" dirty="0">
                <a:ea typeface="宋体" charset="-122"/>
              </a:rPr>
              <a:t>自适应滤波的应用</a:t>
            </a:r>
            <a:r>
              <a:rPr lang="zh-CN" altLang="en-US" sz="3600" b="1" dirty="0" smtClean="0">
                <a:ea typeface="宋体" charset="-122"/>
              </a:rPr>
              <a:t>：预测估计</a:t>
            </a:r>
            <a:endParaRPr lang="zh-CN" altLang="en-US" sz="3600" dirty="0"/>
          </a:p>
        </p:txBody>
      </p:sp>
      <p:sp>
        <p:nvSpPr>
          <p:cNvPr id="3" name="内容占位符 2"/>
          <p:cNvSpPr>
            <a:spLocks noGrp="1"/>
          </p:cNvSpPr>
          <p:nvPr>
            <p:ph idx="1"/>
          </p:nvPr>
        </p:nvSpPr>
        <p:spPr>
          <a:xfrm>
            <a:off x="1219200" y="1556792"/>
            <a:ext cx="7467600" cy="4310608"/>
          </a:xfrm>
        </p:spPr>
        <p:txBody>
          <a:bodyPr/>
          <a:lstStyle/>
          <a:p>
            <a:pPr>
              <a:lnSpc>
                <a:spcPct val="90000"/>
              </a:lnSpc>
            </a:pPr>
            <a:r>
              <a:rPr lang="zh-CN" altLang="en-US" sz="2400" dirty="0" smtClean="0">
                <a:ea typeface="宋体" charset="-122"/>
              </a:rPr>
              <a:t>基于当前随机信号预测估计未来的信号输出</a:t>
            </a:r>
            <a:endParaRPr lang="en-US" altLang="zh-CN" sz="2000" dirty="0" smtClean="0">
              <a:ea typeface="宋体" charset="-122"/>
            </a:endParaRPr>
          </a:p>
          <a:p>
            <a:pPr>
              <a:lnSpc>
                <a:spcPct val="90000"/>
              </a:lnSpc>
            </a:pPr>
            <a:endParaRPr lang="en-US" altLang="zh-CN" sz="2000" dirty="0" smtClean="0">
              <a:ea typeface="宋体" charset="-122"/>
            </a:endParaRPr>
          </a:p>
          <a:p>
            <a:pPr>
              <a:lnSpc>
                <a:spcPct val="90000"/>
              </a:lnSpc>
            </a:pPr>
            <a:endParaRPr lang="en-US" altLang="zh-CN" sz="2000" dirty="0" smtClean="0">
              <a:ea typeface="宋体" charset="-122"/>
            </a:endParaRPr>
          </a:p>
          <a:p>
            <a:pPr>
              <a:lnSpc>
                <a:spcPct val="90000"/>
              </a:lnSpc>
            </a:pPr>
            <a:endParaRPr lang="en-US" altLang="zh-CN" sz="2000" dirty="0" smtClean="0">
              <a:ea typeface="宋体" charset="-122"/>
            </a:endParaRPr>
          </a:p>
          <a:p>
            <a:pPr>
              <a:lnSpc>
                <a:spcPct val="90000"/>
              </a:lnSpc>
            </a:pPr>
            <a:endParaRPr lang="en-US" altLang="zh-CN" sz="2000" dirty="0" smtClean="0">
              <a:ea typeface="宋体" charset="-122"/>
            </a:endParaRPr>
          </a:p>
          <a:p>
            <a:pPr>
              <a:lnSpc>
                <a:spcPct val="90000"/>
              </a:lnSpc>
            </a:pPr>
            <a:endParaRPr lang="en-US" altLang="zh-CN" sz="2000" dirty="0" smtClean="0">
              <a:ea typeface="宋体" charset="-122"/>
            </a:endParaRPr>
          </a:p>
          <a:p>
            <a:pPr>
              <a:lnSpc>
                <a:spcPct val="90000"/>
              </a:lnSpc>
            </a:pPr>
            <a:endParaRPr lang="en-US" altLang="zh-CN" sz="2400" dirty="0" smtClean="0">
              <a:ea typeface="宋体" charset="-122"/>
            </a:endParaRPr>
          </a:p>
          <a:p>
            <a:pPr>
              <a:lnSpc>
                <a:spcPct val="90000"/>
              </a:lnSpc>
            </a:pPr>
            <a:endParaRPr lang="en-US" altLang="zh-CN" sz="2400" dirty="0">
              <a:ea typeface="宋体" charset="-122"/>
            </a:endParaRPr>
          </a:p>
          <a:p>
            <a:pPr>
              <a:lnSpc>
                <a:spcPct val="90000"/>
              </a:lnSpc>
            </a:pPr>
            <a:r>
              <a:rPr lang="en-US" altLang="zh-CN" sz="2400" dirty="0" smtClean="0">
                <a:ea typeface="宋体" charset="-122"/>
              </a:rPr>
              <a:t>Parameters</a:t>
            </a:r>
          </a:p>
          <a:p>
            <a:pPr lvl="1">
              <a:lnSpc>
                <a:spcPct val="90000"/>
              </a:lnSpc>
            </a:pPr>
            <a:r>
              <a:rPr lang="en-US" altLang="zh-CN" sz="2000" dirty="0" smtClean="0">
                <a:ea typeface="宋体" charset="-122"/>
              </a:rPr>
              <a:t>u=input of adaptive filter=delayed version of random signal</a:t>
            </a:r>
          </a:p>
          <a:p>
            <a:pPr lvl="1">
              <a:lnSpc>
                <a:spcPct val="90000"/>
              </a:lnSpc>
            </a:pPr>
            <a:r>
              <a:rPr lang="en-US" altLang="zh-CN" sz="2000" dirty="0" smtClean="0">
                <a:ea typeface="宋体" charset="-122"/>
              </a:rPr>
              <a:t>y=output of adaptive filter</a:t>
            </a:r>
          </a:p>
          <a:p>
            <a:pPr lvl="1">
              <a:lnSpc>
                <a:spcPct val="90000"/>
              </a:lnSpc>
            </a:pPr>
            <a:r>
              <a:rPr lang="en-US" altLang="zh-CN" sz="2000" dirty="0" smtClean="0">
                <a:ea typeface="宋体" charset="-122"/>
              </a:rPr>
              <a:t>d=desired response=random signal</a:t>
            </a:r>
          </a:p>
          <a:p>
            <a:pPr lvl="1">
              <a:lnSpc>
                <a:spcPct val="90000"/>
              </a:lnSpc>
            </a:pPr>
            <a:r>
              <a:rPr lang="en-US" altLang="zh-CN" sz="2000" dirty="0" smtClean="0">
                <a:ea typeface="宋体" charset="-122"/>
              </a:rPr>
              <a:t>e=d-y=estimation error=system output</a:t>
            </a:r>
          </a:p>
          <a:p>
            <a:endParaRPr lang="zh-CN" altLang="en-US" dirty="0"/>
          </a:p>
        </p:txBody>
      </p:sp>
      <p:sp>
        <p:nvSpPr>
          <p:cNvPr id="4" name="灯片编号占位符 3"/>
          <p:cNvSpPr>
            <a:spLocks noGrp="1"/>
          </p:cNvSpPr>
          <p:nvPr>
            <p:ph type="sldNum" sz="quarter" idx="12"/>
          </p:nvPr>
        </p:nvSpPr>
        <p:spPr/>
        <p:txBody>
          <a:bodyPr/>
          <a:lstStyle/>
          <a:p>
            <a:pPr>
              <a:defRPr/>
            </a:pPr>
            <a:fld id="{3ACE1859-598D-4001-8269-61C428827EE7}" type="slidenum">
              <a:rPr lang="zh-CN" altLang="en-US" smtClean="0"/>
              <a:pPr>
                <a:defRPr/>
              </a:pPr>
              <a:t>10</a:t>
            </a:fld>
            <a:endParaRPr lang="zh-CN" altLang="en-US"/>
          </a:p>
        </p:txBody>
      </p:sp>
      <p:pic>
        <p:nvPicPr>
          <p:cNvPr id="5" name="Picture 5"/>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475656" y="2420888"/>
            <a:ext cx="7048500" cy="20288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b="1" dirty="0">
                <a:ea typeface="宋体" charset="-122"/>
              </a:rPr>
              <a:t>自适应滤波的应用</a:t>
            </a:r>
            <a:r>
              <a:rPr lang="zh-CN" altLang="en-US" sz="3600" b="1" dirty="0" smtClean="0">
                <a:ea typeface="宋体" charset="-122"/>
              </a:rPr>
              <a:t>：预测估计</a:t>
            </a:r>
            <a:endParaRPr lang="zh-CN" altLang="en-US" sz="3600" dirty="0"/>
          </a:p>
        </p:txBody>
      </p:sp>
      <p:sp>
        <p:nvSpPr>
          <p:cNvPr id="4" name="灯片编号占位符 3"/>
          <p:cNvSpPr>
            <a:spLocks noGrp="1"/>
          </p:cNvSpPr>
          <p:nvPr>
            <p:ph type="sldNum" sz="quarter" idx="12"/>
          </p:nvPr>
        </p:nvSpPr>
        <p:spPr/>
        <p:txBody>
          <a:bodyPr/>
          <a:lstStyle/>
          <a:p>
            <a:pPr>
              <a:defRPr/>
            </a:pPr>
            <a:fld id="{3ACE1859-598D-4001-8269-61C428827EE7}" type="slidenum">
              <a:rPr lang="zh-CN" altLang="en-US" smtClean="0"/>
              <a:pPr>
                <a:defRPr/>
              </a:pPr>
              <a:t>11</a:t>
            </a:fld>
            <a:endParaRPr lang="zh-CN" altLang="en-US"/>
          </a:p>
        </p:txBody>
      </p:sp>
      <p:pic>
        <p:nvPicPr>
          <p:cNvPr id="7" name="Picture 1" descr="slide14.jpg"/>
          <p:cNvPicPr>
            <a:picLocks noChangeAspect="1"/>
          </p:cNvPicPr>
          <p:nvPr/>
        </p:nvPicPr>
        <p:blipFill rotWithShape="1">
          <a:blip r:embed="rId3"/>
          <a:srcRect l="4183" t="32270" r="3493" b="4008"/>
          <a:stretch/>
        </p:blipFill>
        <p:spPr>
          <a:xfrm>
            <a:off x="899864" y="2346920"/>
            <a:ext cx="7848600" cy="39624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524761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b="1" dirty="0">
                <a:ea typeface="宋体" charset="-122"/>
              </a:rPr>
              <a:t>自适应滤波的应用</a:t>
            </a:r>
            <a:r>
              <a:rPr lang="zh-CN" altLang="en-US" sz="3600" b="1" dirty="0" smtClean="0">
                <a:ea typeface="宋体" charset="-122"/>
              </a:rPr>
              <a:t>：消除干扰</a:t>
            </a:r>
            <a:endParaRPr lang="zh-CN" altLang="en-US" sz="3600" dirty="0"/>
          </a:p>
        </p:txBody>
      </p:sp>
      <p:sp>
        <p:nvSpPr>
          <p:cNvPr id="3" name="内容占位符 2"/>
          <p:cNvSpPr>
            <a:spLocks noGrp="1"/>
          </p:cNvSpPr>
          <p:nvPr>
            <p:ph idx="1"/>
          </p:nvPr>
        </p:nvSpPr>
        <p:spPr>
          <a:xfrm>
            <a:off x="1219200" y="1628800"/>
            <a:ext cx="7467600" cy="4238600"/>
          </a:xfrm>
        </p:spPr>
        <p:txBody>
          <a:bodyPr/>
          <a:lstStyle/>
          <a:p>
            <a:r>
              <a:rPr lang="zh-CN" altLang="en-US" sz="2400" b="1" dirty="0" smtClean="0">
                <a:ea typeface="宋体" charset="-122"/>
              </a:rPr>
              <a:t>用于消除未知的干扰信号</a:t>
            </a:r>
            <a:endParaRPr lang="en-US" altLang="zh-CN" sz="2400" b="1" dirty="0" smtClean="0">
              <a:ea typeface="宋体" charset="-122"/>
            </a:endParaRPr>
          </a:p>
          <a:p>
            <a:endParaRPr lang="en-US" altLang="zh-CN" sz="2000" dirty="0" smtClean="0">
              <a:ea typeface="宋体" charset="-122"/>
            </a:endParaRPr>
          </a:p>
          <a:p>
            <a:endParaRPr lang="en-US" altLang="zh-CN" sz="2000" dirty="0" smtClean="0">
              <a:ea typeface="宋体" charset="-122"/>
            </a:endParaRPr>
          </a:p>
          <a:p>
            <a:endParaRPr lang="en-US" altLang="zh-CN" sz="2000" dirty="0" smtClean="0">
              <a:ea typeface="宋体" charset="-122"/>
            </a:endParaRPr>
          </a:p>
          <a:p>
            <a:endParaRPr lang="en-US" altLang="zh-CN" sz="2000" dirty="0" smtClean="0">
              <a:ea typeface="宋体" charset="-122"/>
            </a:endParaRPr>
          </a:p>
          <a:p>
            <a:endParaRPr lang="en-US" altLang="zh-CN" sz="2000" dirty="0" smtClean="0">
              <a:ea typeface="宋体" charset="-122"/>
            </a:endParaRPr>
          </a:p>
          <a:p>
            <a:r>
              <a:rPr lang="en-US" altLang="zh-CN" sz="2000" dirty="0" smtClean="0">
                <a:ea typeface="宋体" charset="-122"/>
              </a:rPr>
              <a:t>Parameters</a:t>
            </a:r>
          </a:p>
          <a:p>
            <a:pPr lvl="1"/>
            <a:r>
              <a:rPr lang="en-US" altLang="zh-CN" sz="2000" dirty="0" smtClean="0">
                <a:ea typeface="宋体" charset="-122"/>
              </a:rPr>
              <a:t>u=input of adaptive filter=reference signal</a:t>
            </a:r>
          </a:p>
          <a:p>
            <a:pPr lvl="1"/>
            <a:r>
              <a:rPr lang="en-US" altLang="zh-CN" sz="2000" dirty="0" smtClean="0">
                <a:ea typeface="宋体" charset="-122"/>
              </a:rPr>
              <a:t>y=output of adaptive filter</a:t>
            </a:r>
          </a:p>
          <a:p>
            <a:pPr lvl="1"/>
            <a:r>
              <a:rPr lang="en-US" altLang="zh-CN" sz="2000" dirty="0" smtClean="0">
                <a:ea typeface="宋体" charset="-122"/>
              </a:rPr>
              <a:t>d=desired response=primary signal</a:t>
            </a:r>
          </a:p>
          <a:p>
            <a:pPr lvl="1"/>
            <a:r>
              <a:rPr lang="en-US" altLang="zh-CN" sz="2000" dirty="0" smtClean="0">
                <a:ea typeface="宋体" charset="-122"/>
              </a:rPr>
              <a:t>e=d-y=estimation error=system output</a:t>
            </a:r>
          </a:p>
          <a:p>
            <a:endParaRPr lang="zh-CN" altLang="en-US" dirty="0"/>
          </a:p>
        </p:txBody>
      </p:sp>
      <p:sp>
        <p:nvSpPr>
          <p:cNvPr id="4" name="灯片编号占位符 3"/>
          <p:cNvSpPr>
            <a:spLocks noGrp="1"/>
          </p:cNvSpPr>
          <p:nvPr>
            <p:ph type="sldNum" sz="quarter" idx="12"/>
          </p:nvPr>
        </p:nvSpPr>
        <p:spPr/>
        <p:txBody>
          <a:bodyPr/>
          <a:lstStyle/>
          <a:p>
            <a:pPr>
              <a:defRPr/>
            </a:pPr>
            <a:fld id="{3ACE1859-598D-4001-8269-61C428827EE7}" type="slidenum">
              <a:rPr lang="zh-CN" altLang="en-US" smtClean="0"/>
              <a:pPr>
                <a:defRPr/>
              </a:pPr>
              <a:t>12</a:t>
            </a:fld>
            <a:endParaRPr lang="zh-CN" altLang="en-US"/>
          </a:p>
        </p:txBody>
      </p:sp>
      <p:pic>
        <p:nvPicPr>
          <p:cNvPr id="5" name="Picture 5"/>
          <p:cNvPicPr>
            <a:picLocks noChangeAspect="1" noChangeArrowheads="1"/>
          </p:cNvPicPr>
          <p:nvPr/>
        </p:nvPicPr>
        <p:blipFill>
          <a:blip r:embed="rId2" cstate="print"/>
          <a:srcRect/>
          <a:stretch>
            <a:fillRect/>
          </a:stretch>
        </p:blipFill>
        <p:spPr bwMode="auto">
          <a:xfrm>
            <a:off x="1316682" y="2116063"/>
            <a:ext cx="7143750" cy="21050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自</a:t>
            </a:r>
            <a:r>
              <a:rPr lang="zh-CN" altLang="en-US" b="1" dirty="0" smtClean="0"/>
              <a:t>适应滤波的应用：消除噪声</a:t>
            </a:r>
            <a:endParaRPr lang="zh-CN" altLang="en-US" b="1" dirty="0"/>
          </a:p>
        </p:txBody>
      </p:sp>
      <p:sp>
        <p:nvSpPr>
          <p:cNvPr id="4" name="灯片编号占位符 3"/>
          <p:cNvSpPr>
            <a:spLocks noGrp="1"/>
          </p:cNvSpPr>
          <p:nvPr>
            <p:ph type="sldNum" sz="quarter" idx="12"/>
          </p:nvPr>
        </p:nvSpPr>
        <p:spPr/>
        <p:txBody>
          <a:bodyPr/>
          <a:lstStyle/>
          <a:p>
            <a:pPr>
              <a:defRPr/>
            </a:pPr>
            <a:fld id="{3ACE1859-598D-4001-8269-61C428827EE7}" type="slidenum">
              <a:rPr lang="zh-CN" altLang="en-US" smtClean="0"/>
              <a:pPr>
                <a:defRPr/>
              </a:pPr>
              <a:t>13</a:t>
            </a:fld>
            <a:endParaRPr lang="zh-CN" altLang="en-US"/>
          </a:p>
        </p:txBody>
      </p:sp>
      <p:pic>
        <p:nvPicPr>
          <p:cNvPr id="6" name="Picture 1" descr="slide12.jpg"/>
          <p:cNvPicPr>
            <a:picLocks noChangeAspect="1"/>
          </p:cNvPicPr>
          <p:nvPr/>
        </p:nvPicPr>
        <p:blipFill rotWithShape="1">
          <a:blip r:embed="rId2"/>
          <a:srcRect l="5586" t="30888" r="5770" b="6712"/>
          <a:stretch/>
        </p:blipFill>
        <p:spPr bwMode="auto">
          <a:xfrm>
            <a:off x="863601" y="2349501"/>
            <a:ext cx="7658100" cy="3822700"/>
          </a:xfrm>
          <a:prstGeom prst="rect">
            <a:avLst/>
          </a:prstGeom>
          <a:noFill/>
          <a:ln w="9525">
            <a:noFill/>
            <a:miter lim="800000"/>
            <a:headEnd/>
            <a:tailEnd/>
          </a:ln>
        </p:spPr>
      </p:pic>
    </p:spTree>
    <p:extLst>
      <p:ext uri="{BB962C8B-B14F-4D97-AF65-F5344CB8AC3E}">
        <p14:creationId xmlns:p14="http://schemas.microsoft.com/office/powerpoint/2010/main" val="394508836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自</a:t>
            </a:r>
            <a:r>
              <a:rPr lang="zh-CN" altLang="en-US" b="1" dirty="0" smtClean="0"/>
              <a:t>适应滤波的应用：消除噪声</a:t>
            </a:r>
            <a:endParaRPr lang="zh-CN" altLang="en-US" b="1" dirty="0"/>
          </a:p>
        </p:txBody>
      </p:sp>
      <p:sp>
        <p:nvSpPr>
          <p:cNvPr id="4" name="灯片编号占位符 3"/>
          <p:cNvSpPr>
            <a:spLocks noGrp="1"/>
          </p:cNvSpPr>
          <p:nvPr>
            <p:ph type="sldNum" sz="quarter" idx="12"/>
          </p:nvPr>
        </p:nvSpPr>
        <p:spPr/>
        <p:txBody>
          <a:bodyPr/>
          <a:lstStyle/>
          <a:p>
            <a:pPr>
              <a:defRPr/>
            </a:pPr>
            <a:fld id="{3ACE1859-598D-4001-8269-61C428827EE7}" type="slidenum">
              <a:rPr lang="zh-CN" altLang="en-US" smtClean="0"/>
              <a:pPr>
                <a:defRPr/>
              </a:pPr>
              <a:t>14</a:t>
            </a:fld>
            <a:endParaRPr lang="zh-CN" altLang="en-US"/>
          </a:p>
        </p:txBody>
      </p:sp>
      <p:pic>
        <p:nvPicPr>
          <p:cNvPr id="6" name="Picture 1" descr="slide10.jpg"/>
          <p:cNvPicPr>
            <a:picLocks noChangeAspect="1"/>
          </p:cNvPicPr>
          <p:nvPr/>
        </p:nvPicPr>
        <p:blipFill rotWithShape="1">
          <a:blip r:embed="rId2"/>
          <a:srcRect l="5439" t="23219" r="3859" b="5260"/>
          <a:stretch/>
        </p:blipFill>
        <p:spPr>
          <a:xfrm>
            <a:off x="827584" y="2215852"/>
            <a:ext cx="7835900" cy="43815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67678285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自</a:t>
            </a:r>
            <a:r>
              <a:rPr lang="zh-CN" altLang="en-US" b="1" dirty="0" smtClean="0"/>
              <a:t>适应滤波的应用：消除干扰</a:t>
            </a:r>
            <a:endParaRPr lang="zh-CN" altLang="en-US" b="1" dirty="0"/>
          </a:p>
        </p:txBody>
      </p:sp>
      <p:sp>
        <p:nvSpPr>
          <p:cNvPr id="4" name="灯片编号占位符 3"/>
          <p:cNvSpPr>
            <a:spLocks noGrp="1"/>
          </p:cNvSpPr>
          <p:nvPr>
            <p:ph type="sldNum" sz="quarter" idx="12"/>
          </p:nvPr>
        </p:nvSpPr>
        <p:spPr/>
        <p:txBody>
          <a:bodyPr/>
          <a:lstStyle/>
          <a:p>
            <a:pPr>
              <a:defRPr/>
            </a:pPr>
            <a:fld id="{3ACE1859-598D-4001-8269-61C428827EE7}" type="slidenum">
              <a:rPr lang="zh-CN" altLang="en-US" smtClean="0"/>
              <a:pPr>
                <a:defRPr/>
              </a:pPr>
              <a:t>15</a:t>
            </a:fld>
            <a:endParaRPr lang="zh-CN" altLang="en-US"/>
          </a:p>
        </p:txBody>
      </p:sp>
      <p:pic>
        <p:nvPicPr>
          <p:cNvPr id="7" name="Picture 1" descr="slide11.jpg"/>
          <p:cNvPicPr>
            <a:picLocks noChangeAspect="1"/>
          </p:cNvPicPr>
          <p:nvPr/>
        </p:nvPicPr>
        <p:blipFill rotWithShape="1">
          <a:blip r:embed="rId2"/>
          <a:srcRect l="5835" t="28389" r="6929" b="5029"/>
          <a:stretch/>
        </p:blipFill>
        <p:spPr>
          <a:xfrm>
            <a:off x="1153864" y="2241128"/>
            <a:ext cx="7594600" cy="41402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11298616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自</a:t>
            </a:r>
            <a:r>
              <a:rPr lang="zh-CN" altLang="en-US" b="1" dirty="0" smtClean="0"/>
              <a:t>适应滤波的应用：消除回声</a:t>
            </a:r>
            <a:endParaRPr lang="zh-CN" altLang="en-US" b="1" dirty="0"/>
          </a:p>
        </p:txBody>
      </p:sp>
      <p:sp>
        <p:nvSpPr>
          <p:cNvPr id="4" name="灯片编号占位符 3"/>
          <p:cNvSpPr>
            <a:spLocks noGrp="1"/>
          </p:cNvSpPr>
          <p:nvPr>
            <p:ph type="sldNum" sz="quarter" idx="12"/>
          </p:nvPr>
        </p:nvSpPr>
        <p:spPr/>
        <p:txBody>
          <a:bodyPr/>
          <a:lstStyle/>
          <a:p>
            <a:pPr>
              <a:defRPr/>
            </a:pPr>
            <a:fld id="{3ACE1859-598D-4001-8269-61C428827EE7}" type="slidenum">
              <a:rPr lang="zh-CN" altLang="en-US" smtClean="0"/>
              <a:pPr>
                <a:defRPr/>
              </a:pPr>
              <a:t>16</a:t>
            </a:fld>
            <a:endParaRPr lang="zh-CN" altLang="en-US"/>
          </a:p>
        </p:txBody>
      </p:sp>
      <p:pic>
        <p:nvPicPr>
          <p:cNvPr id="7" name="Picture 2" descr="slide8.jpg"/>
          <p:cNvPicPr>
            <a:picLocks noChangeAspect="1"/>
          </p:cNvPicPr>
          <p:nvPr/>
        </p:nvPicPr>
        <p:blipFill rotWithShape="1">
          <a:blip r:embed="rId2"/>
          <a:srcRect l="2189" t="20600" r="2465" b="2445"/>
          <a:stretch/>
        </p:blipFill>
        <p:spPr>
          <a:xfrm>
            <a:off x="899988" y="1988840"/>
            <a:ext cx="8064500" cy="47498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10299334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自</a:t>
            </a:r>
            <a:r>
              <a:rPr lang="zh-CN" altLang="en-US" b="1" dirty="0" smtClean="0"/>
              <a:t>适应滤波的应用：消除回声</a:t>
            </a:r>
            <a:endParaRPr lang="zh-CN" altLang="en-US" b="1" dirty="0"/>
          </a:p>
        </p:txBody>
      </p:sp>
      <p:sp>
        <p:nvSpPr>
          <p:cNvPr id="4" name="灯片编号占位符 3"/>
          <p:cNvSpPr>
            <a:spLocks noGrp="1"/>
          </p:cNvSpPr>
          <p:nvPr>
            <p:ph type="sldNum" sz="quarter" idx="12"/>
          </p:nvPr>
        </p:nvSpPr>
        <p:spPr/>
        <p:txBody>
          <a:bodyPr/>
          <a:lstStyle/>
          <a:p>
            <a:pPr>
              <a:defRPr/>
            </a:pPr>
            <a:fld id="{3ACE1859-598D-4001-8269-61C428827EE7}" type="slidenum">
              <a:rPr lang="zh-CN" altLang="en-US" smtClean="0"/>
              <a:pPr>
                <a:defRPr/>
              </a:pPr>
              <a:t>17</a:t>
            </a:fld>
            <a:endParaRPr lang="zh-CN" altLang="en-US"/>
          </a:p>
        </p:txBody>
      </p:sp>
      <p:pic>
        <p:nvPicPr>
          <p:cNvPr id="5" name="Picture 1" descr="slide9.jpg"/>
          <p:cNvPicPr>
            <a:picLocks noChangeAspect="1"/>
          </p:cNvPicPr>
          <p:nvPr/>
        </p:nvPicPr>
        <p:blipFill rotWithShape="1">
          <a:blip r:embed="rId2"/>
          <a:srcRect l="3097" t="21193" r="2950" b="18724"/>
          <a:stretch/>
        </p:blipFill>
        <p:spPr>
          <a:xfrm>
            <a:off x="571500" y="2348880"/>
            <a:ext cx="8089900" cy="37084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04597897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4.2 </a:t>
            </a:r>
            <a:r>
              <a:rPr lang="zh-CN" altLang="en-US" b="1" dirty="0" smtClean="0"/>
              <a:t>维纳滤波</a:t>
            </a:r>
            <a:endParaRPr lang="zh-CN" altLang="en-US" b="1" dirty="0"/>
          </a:p>
        </p:txBody>
      </p:sp>
      <p:sp>
        <p:nvSpPr>
          <p:cNvPr id="4" name="灯片编号占位符 3"/>
          <p:cNvSpPr>
            <a:spLocks noGrp="1"/>
          </p:cNvSpPr>
          <p:nvPr>
            <p:ph type="sldNum" sz="quarter" idx="12"/>
          </p:nvPr>
        </p:nvSpPr>
        <p:spPr/>
        <p:txBody>
          <a:bodyPr/>
          <a:lstStyle/>
          <a:p>
            <a:pPr>
              <a:defRPr/>
            </a:pPr>
            <a:fld id="{3ACE1859-598D-4001-8269-61C428827EE7}" type="slidenum">
              <a:rPr lang="zh-CN" altLang="en-US" smtClean="0"/>
              <a:pPr>
                <a:defRPr/>
              </a:pPr>
              <a:t>18</a:t>
            </a:fld>
            <a:endParaRPr lang="zh-CN" altLang="en-US"/>
          </a:p>
        </p:txBody>
      </p:sp>
      <p:pic>
        <p:nvPicPr>
          <p:cNvPr id="5" name="Picture 8" descr="C:\Bose\Bose Art\ch07\ch7f05.jpg"/>
          <p:cNvPicPr>
            <a:picLocks noGrp="1" noChangeAspect="1" noChangeArrowheads="1"/>
          </p:cNvPicPr>
          <p:nvPr>
            <p:ph idx="1"/>
          </p:nvPr>
        </p:nvPicPr>
        <p:blipFill>
          <a:blip r:embed="rId2" cstate="print"/>
          <a:srcRect/>
          <a:stretch>
            <a:fillRect/>
          </a:stretch>
        </p:blipFill>
        <p:spPr>
          <a:xfrm>
            <a:off x="1187624" y="1923311"/>
            <a:ext cx="6984776" cy="2585809"/>
          </a:xfrm>
          <a:noFill/>
          <a:ln/>
        </p:spPr>
      </p:pic>
      <p:sp>
        <p:nvSpPr>
          <p:cNvPr id="6" name="矩形 5"/>
          <p:cNvSpPr/>
          <p:nvPr/>
        </p:nvSpPr>
        <p:spPr>
          <a:xfrm>
            <a:off x="611560" y="4869160"/>
            <a:ext cx="4680520" cy="1532727"/>
          </a:xfrm>
          <a:prstGeom prst="rect">
            <a:avLst/>
          </a:prstGeom>
        </p:spPr>
        <p:txBody>
          <a:bodyPr wrap="square">
            <a:spAutoFit/>
          </a:bodyPr>
          <a:lstStyle/>
          <a:p>
            <a:pPr>
              <a:lnSpc>
                <a:spcPct val="90000"/>
              </a:lnSpc>
            </a:pPr>
            <a:r>
              <a:rPr lang="en-US" altLang="zh-CN" sz="2400" dirty="0" smtClean="0">
                <a:ea typeface="宋体" charset="-122"/>
              </a:rPr>
              <a:t>Parameters</a:t>
            </a:r>
          </a:p>
          <a:p>
            <a:pPr lvl="1">
              <a:lnSpc>
                <a:spcPct val="90000"/>
              </a:lnSpc>
            </a:pPr>
            <a:r>
              <a:rPr lang="en-US" altLang="zh-CN" sz="2000" dirty="0" smtClean="0">
                <a:ea typeface="宋体" charset="-122"/>
              </a:rPr>
              <a:t>x(n) = input of FIR filter</a:t>
            </a:r>
          </a:p>
          <a:p>
            <a:pPr lvl="1">
              <a:lnSpc>
                <a:spcPct val="90000"/>
              </a:lnSpc>
            </a:pPr>
            <a:r>
              <a:rPr lang="en-US" altLang="zh-CN" sz="2000" dirty="0" smtClean="0">
                <a:ea typeface="宋体" charset="-122"/>
              </a:rPr>
              <a:t>y(n) = output of FIR filter</a:t>
            </a:r>
          </a:p>
          <a:p>
            <a:pPr lvl="1">
              <a:lnSpc>
                <a:spcPct val="90000"/>
              </a:lnSpc>
            </a:pPr>
            <a:r>
              <a:rPr lang="en-US" altLang="zh-CN" sz="2000" dirty="0" smtClean="0">
                <a:ea typeface="宋体" charset="-122"/>
              </a:rPr>
              <a:t>d(n) = desired response </a:t>
            </a:r>
          </a:p>
          <a:p>
            <a:pPr lvl="1">
              <a:lnSpc>
                <a:spcPct val="90000"/>
              </a:lnSpc>
            </a:pPr>
            <a:r>
              <a:rPr lang="en-US" altLang="zh-CN" sz="2000" dirty="0" smtClean="0">
                <a:ea typeface="宋体" charset="-122"/>
              </a:rPr>
              <a:t>e(n)= d(n)-y(n) = estimation error</a:t>
            </a:r>
          </a:p>
        </p:txBody>
      </p:sp>
      <p:sp>
        <p:nvSpPr>
          <p:cNvPr id="7" name="矩形 6"/>
          <p:cNvSpPr/>
          <p:nvPr/>
        </p:nvSpPr>
        <p:spPr>
          <a:xfrm>
            <a:off x="4932040" y="4843026"/>
            <a:ext cx="4071949" cy="1754326"/>
          </a:xfrm>
          <a:prstGeom prst="rect">
            <a:avLst/>
          </a:prstGeom>
        </p:spPr>
        <p:txBody>
          <a:bodyPr wrap="none">
            <a:spAutoFit/>
          </a:bodyPr>
          <a:lstStyle/>
          <a:p>
            <a:pPr lvl="1">
              <a:lnSpc>
                <a:spcPct val="90000"/>
              </a:lnSpc>
            </a:pPr>
            <a:r>
              <a:rPr lang="en-US" altLang="zh-CN" sz="2000" dirty="0" smtClean="0">
                <a:ea typeface="宋体" charset="-122"/>
              </a:rPr>
              <a:t>FIR filter:</a:t>
            </a:r>
          </a:p>
          <a:p>
            <a:pPr lvl="1">
              <a:lnSpc>
                <a:spcPct val="90000"/>
              </a:lnSpc>
            </a:pPr>
            <a:r>
              <a:rPr lang="en-US" altLang="zh-CN" sz="2000" dirty="0" smtClean="0">
                <a:ea typeface="宋体" charset="-122"/>
              </a:rPr>
              <a:t>y(n) = w</a:t>
            </a:r>
            <a:r>
              <a:rPr lang="en-US" altLang="zh-CN" sz="2000" baseline="-25000" dirty="0" smtClean="0">
                <a:ea typeface="宋体" charset="-122"/>
              </a:rPr>
              <a:t>0</a:t>
            </a:r>
            <a:r>
              <a:rPr lang="en-US" altLang="zh-CN" sz="2000" dirty="0" smtClean="0">
                <a:ea typeface="宋体" charset="-122"/>
              </a:rPr>
              <a:t>x(n)+w</a:t>
            </a:r>
            <a:r>
              <a:rPr lang="en-US" altLang="zh-CN" sz="2000" baseline="-25000" dirty="0" smtClean="0">
                <a:ea typeface="宋体" charset="-122"/>
              </a:rPr>
              <a:t>1</a:t>
            </a:r>
            <a:r>
              <a:rPr lang="en-US" altLang="zh-CN" sz="2000" dirty="0" smtClean="0">
                <a:ea typeface="宋体" charset="-122"/>
              </a:rPr>
              <a:t>x(n-1)+</a:t>
            </a:r>
          </a:p>
          <a:p>
            <a:pPr lvl="1">
              <a:lnSpc>
                <a:spcPct val="90000"/>
              </a:lnSpc>
            </a:pPr>
            <a:r>
              <a:rPr lang="en-US" altLang="zh-CN" sz="2000" dirty="0" smtClean="0">
                <a:ea typeface="宋体" charset="-122"/>
              </a:rPr>
              <a:t>            …+w</a:t>
            </a:r>
            <a:r>
              <a:rPr lang="en-US" altLang="zh-CN" sz="2000" baseline="-25000" dirty="0" smtClean="0">
                <a:ea typeface="宋体" charset="-122"/>
              </a:rPr>
              <a:t>N-1</a:t>
            </a:r>
            <a:r>
              <a:rPr lang="en-US" altLang="zh-CN" sz="2000" dirty="0" smtClean="0">
                <a:ea typeface="宋体" charset="-122"/>
              </a:rPr>
              <a:t>x(n-N+1)</a:t>
            </a:r>
          </a:p>
          <a:p>
            <a:pPr lvl="1">
              <a:lnSpc>
                <a:spcPct val="90000"/>
              </a:lnSpc>
            </a:pPr>
            <a:r>
              <a:rPr lang="en-US" altLang="zh-CN" sz="2000" dirty="0" smtClean="0">
                <a:ea typeface="宋体" charset="-122"/>
              </a:rPr>
              <a:t>        = </a:t>
            </a:r>
            <a:r>
              <a:rPr lang="en-US" altLang="zh-CN" sz="2000" b="1" i="1" dirty="0" smtClean="0">
                <a:ea typeface="宋体" charset="-122"/>
              </a:rPr>
              <a:t>W</a:t>
            </a:r>
            <a:r>
              <a:rPr lang="en-US" altLang="zh-CN" sz="2000" baseline="30000" dirty="0" smtClean="0">
                <a:ea typeface="宋体" charset="-122"/>
              </a:rPr>
              <a:t>T</a:t>
            </a:r>
            <a:r>
              <a:rPr lang="en-US" altLang="zh-CN" sz="2000" b="1" i="1" dirty="0" smtClean="0">
                <a:ea typeface="宋体" charset="-122"/>
              </a:rPr>
              <a:t>X</a:t>
            </a:r>
            <a:r>
              <a:rPr lang="en-US" altLang="zh-CN" sz="2000" dirty="0" smtClean="0">
                <a:ea typeface="宋体" charset="-122"/>
              </a:rPr>
              <a:t>(n)</a:t>
            </a:r>
          </a:p>
          <a:p>
            <a:pPr lvl="1">
              <a:lnSpc>
                <a:spcPct val="90000"/>
              </a:lnSpc>
            </a:pPr>
            <a:r>
              <a:rPr lang="en-US" altLang="zh-CN" sz="2000" b="1" i="1" dirty="0" smtClean="0">
                <a:ea typeface="宋体" charset="-122"/>
              </a:rPr>
              <a:t>W</a:t>
            </a:r>
            <a:r>
              <a:rPr lang="en-US" altLang="zh-CN" sz="2000" baseline="30000" dirty="0" smtClean="0">
                <a:ea typeface="宋体" charset="-122"/>
              </a:rPr>
              <a:t>T</a:t>
            </a:r>
            <a:r>
              <a:rPr lang="en-US" altLang="zh-CN" sz="2000" dirty="0" smtClean="0">
                <a:ea typeface="宋体" charset="-122"/>
              </a:rPr>
              <a:t>=[ w</a:t>
            </a:r>
            <a:r>
              <a:rPr lang="en-US" altLang="zh-CN" sz="2000" baseline="-25000" dirty="0" smtClean="0">
                <a:ea typeface="宋体" charset="-122"/>
              </a:rPr>
              <a:t>0</a:t>
            </a:r>
            <a:r>
              <a:rPr lang="en-US" altLang="zh-CN" sz="2000" dirty="0" smtClean="0">
                <a:ea typeface="宋体" charset="-122"/>
              </a:rPr>
              <a:t> w</a:t>
            </a:r>
            <a:r>
              <a:rPr lang="en-US" altLang="zh-CN" sz="2000" baseline="-25000" dirty="0" smtClean="0">
                <a:ea typeface="宋体" charset="-122"/>
              </a:rPr>
              <a:t>1</a:t>
            </a:r>
            <a:r>
              <a:rPr lang="en-US" altLang="zh-CN" sz="2000" dirty="0" smtClean="0">
                <a:ea typeface="宋体" charset="-122"/>
              </a:rPr>
              <a:t> … w</a:t>
            </a:r>
            <a:r>
              <a:rPr lang="en-US" altLang="zh-CN" sz="2000" baseline="-25000" dirty="0" smtClean="0">
                <a:ea typeface="宋体" charset="-122"/>
              </a:rPr>
              <a:t>N-1 </a:t>
            </a:r>
            <a:r>
              <a:rPr lang="en-US" altLang="zh-CN" sz="2000" dirty="0" smtClean="0">
                <a:ea typeface="宋体" charset="-122"/>
              </a:rPr>
              <a:t>]</a:t>
            </a:r>
          </a:p>
          <a:p>
            <a:pPr lvl="1">
              <a:lnSpc>
                <a:spcPct val="90000"/>
              </a:lnSpc>
            </a:pPr>
            <a:r>
              <a:rPr lang="en-US" altLang="zh-CN" sz="2000" b="1" i="1" dirty="0" smtClean="0">
                <a:ea typeface="宋体" charset="-122"/>
              </a:rPr>
              <a:t>X</a:t>
            </a:r>
            <a:r>
              <a:rPr lang="en-US" altLang="zh-CN" sz="2000" dirty="0" smtClean="0">
                <a:ea typeface="宋体" charset="-122"/>
              </a:rPr>
              <a:t>(n)=[x(n) x(n-1)…,x(n-N+1)]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维纳滤波</a:t>
            </a:r>
          </a:p>
        </p:txBody>
      </p:sp>
      <p:sp>
        <p:nvSpPr>
          <p:cNvPr id="4" name="灯片编号占位符 3"/>
          <p:cNvSpPr>
            <a:spLocks noGrp="1"/>
          </p:cNvSpPr>
          <p:nvPr>
            <p:ph type="sldNum" sz="quarter" idx="12"/>
          </p:nvPr>
        </p:nvSpPr>
        <p:spPr/>
        <p:txBody>
          <a:bodyPr/>
          <a:lstStyle/>
          <a:p>
            <a:pPr>
              <a:defRPr/>
            </a:pPr>
            <a:fld id="{3ACE1859-598D-4001-8269-61C428827EE7}" type="slidenum">
              <a:rPr lang="zh-CN" altLang="en-US" b="1" smtClean="0"/>
              <a:pPr>
                <a:defRPr/>
              </a:pPr>
              <a:t>19</a:t>
            </a:fld>
            <a:endParaRPr lang="zh-CN" altLang="en-US" b="1"/>
          </a:p>
        </p:txBody>
      </p:sp>
      <p:sp>
        <p:nvSpPr>
          <p:cNvPr id="6" name="矩形 5"/>
          <p:cNvSpPr/>
          <p:nvPr/>
        </p:nvSpPr>
        <p:spPr>
          <a:xfrm>
            <a:off x="1187624" y="1700808"/>
            <a:ext cx="8208912" cy="461665"/>
          </a:xfrm>
          <a:prstGeom prst="rect">
            <a:avLst/>
          </a:prstGeom>
        </p:spPr>
        <p:txBody>
          <a:bodyPr wrap="square">
            <a:spAutoFit/>
          </a:bodyPr>
          <a:lstStyle/>
          <a:p>
            <a:r>
              <a:rPr lang="zh-CN" altLang="en-US" sz="2400" b="1" dirty="0" smtClean="0"/>
              <a:t>目标：找到最佳的滤波器参数使得均方误差</a:t>
            </a:r>
            <a:r>
              <a:rPr lang="en-US" altLang="zh-CN" sz="2400" b="1" dirty="0" smtClean="0"/>
              <a:t> E{e</a:t>
            </a:r>
            <a:r>
              <a:rPr lang="en-US" altLang="zh-CN" sz="2400" b="1" baseline="30000" dirty="0" smtClean="0"/>
              <a:t>2</a:t>
            </a:r>
            <a:r>
              <a:rPr lang="en-US" altLang="zh-CN" sz="2400" b="1" dirty="0" smtClean="0"/>
              <a:t>(n)}</a:t>
            </a:r>
            <a:r>
              <a:rPr lang="zh-CN" altLang="en-US" sz="2400" b="1" dirty="0" smtClean="0"/>
              <a:t>最小</a:t>
            </a:r>
            <a:endParaRPr lang="zh-CN" altLang="en-US" sz="2400" b="1" dirty="0"/>
          </a:p>
        </p:txBody>
      </p:sp>
      <p:sp>
        <p:nvSpPr>
          <p:cNvPr id="7" name="矩形 6"/>
          <p:cNvSpPr/>
          <p:nvPr/>
        </p:nvSpPr>
        <p:spPr>
          <a:xfrm>
            <a:off x="1187624" y="2276872"/>
            <a:ext cx="8208912" cy="461665"/>
          </a:xfrm>
          <a:prstGeom prst="rect">
            <a:avLst/>
          </a:prstGeom>
        </p:spPr>
        <p:txBody>
          <a:bodyPr wrap="square">
            <a:spAutoFit/>
          </a:bodyPr>
          <a:lstStyle/>
          <a:p>
            <a:r>
              <a:rPr lang="zh-CN" altLang="en-US" sz="2400" b="1" dirty="0" smtClean="0"/>
              <a:t>定义目标函数</a:t>
            </a:r>
            <a:endParaRPr lang="zh-CN" altLang="en-US" sz="2400" b="1" dirty="0"/>
          </a:p>
        </p:txBody>
      </p:sp>
      <p:sp>
        <p:nvSpPr>
          <p:cNvPr id="9" name="矩形 8"/>
          <p:cNvSpPr/>
          <p:nvPr/>
        </p:nvSpPr>
        <p:spPr>
          <a:xfrm>
            <a:off x="1187624" y="4263479"/>
            <a:ext cx="8208912" cy="461665"/>
          </a:xfrm>
          <a:prstGeom prst="rect">
            <a:avLst/>
          </a:prstGeom>
        </p:spPr>
        <p:txBody>
          <a:bodyPr wrap="square">
            <a:spAutoFit/>
          </a:bodyPr>
          <a:lstStyle/>
          <a:p>
            <a:r>
              <a:rPr lang="zh-CN" altLang="en-US" sz="2400" b="1" dirty="0" smtClean="0"/>
              <a:t>将滤波器定义代入，可得</a:t>
            </a:r>
            <a:endParaRPr lang="zh-CN" altLang="en-US" sz="2400" b="1" dirty="0"/>
          </a:p>
        </p:txBody>
      </p:sp>
      <p:pic>
        <p:nvPicPr>
          <p:cNvPr id="8194" name="Picture 2"/>
          <p:cNvPicPr>
            <a:picLocks noChangeAspect="1" noChangeArrowheads="1"/>
          </p:cNvPicPr>
          <p:nvPr/>
        </p:nvPicPr>
        <p:blipFill>
          <a:blip r:embed="rId2" cstate="print"/>
          <a:srcRect/>
          <a:stretch>
            <a:fillRect/>
          </a:stretch>
        </p:blipFill>
        <p:spPr bwMode="auto">
          <a:xfrm>
            <a:off x="2595563" y="2724150"/>
            <a:ext cx="3952875" cy="1409700"/>
          </a:xfrm>
          <a:prstGeom prst="rect">
            <a:avLst/>
          </a:prstGeom>
          <a:noFill/>
          <a:ln w="9525">
            <a:noFill/>
            <a:miter lim="800000"/>
            <a:headEnd/>
            <a:tailEnd/>
          </a:ln>
        </p:spPr>
      </p:pic>
      <p:pic>
        <p:nvPicPr>
          <p:cNvPr id="8195" name="Picture 3"/>
          <p:cNvPicPr>
            <a:picLocks noChangeAspect="1" noChangeArrowheads="1"/>
          </p:cNvPicPr>
          <p:nvPr/>
        </p:nvPicPr>
        <p:blipFill>
          <a:blip r:embed="rId3" cstate="print"/>
          <a:srcRect/>
          <a:stretch>
            <a:fillRect/>
          </a:stretch>
        </p:blipFill>
        <p:spPr bwMode="auto">
          <a:xfrm>
            <a:off x="1979712" y="4797152"/>
            <a:ext cx="5791200" cy="88582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194"/>
                                        </p:tgtEl>
                                        <p:attrNameLst>
                                          <p:attrName>style.visibility</p:attrName>
                                        </p:attrNameLst>
                                      </p:cBhvr>
                                      <p:to>
                                        <p:strVal val="visible"/>
                                      </p:to>
                                    </p:set>
                                    <p:anim calcmode="lin" valueType="num">
                                      <p:cBhvr additive="base">
                                        <p:cTn id="13" dur="500" fill="hold"/>
                                        <p:tgtEl>
                                          <p:spTgt spid="8194"/>
                                        </p:tgtEl>
                                        <p:attrNameLst>
                                          <p:attrName>ppt_x</p:attrName>
                                        </p:attrNameLst>
                                      </p:cBhvr>
                                      <p:tavLst>
                                        <p:tav tm="0">
                                          <p:val>
                                            <p:strVal val="#ppt_x"/>
                                          </p:val>
                                        </p:tav>
                                        <p:tav tm="100000">
                                          <p:val>
                                            <p:strVal val="#ppt_x"/>
                                          </p:val>
                                        </p:tav>
                                      </p:tavLst>
                                    </p:anim>
                                    <p:anim calcmode="lin" valueType="num">
                                      <p:cBhvr additive="base">
                                        <p:cTn id="14" dur="500" fill="hold"/>
                                        <p:tgtEl>
                                          <p:spTgt spid="819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195"/>
                                        </p:tgtEl>
                                        <p:attrNameLst>
                                          <p:attrName>style.visibility</p:attrName>
                                        </p:attrNameLst>
                                      </p:cBhvr>
                                      <p:to>
                                        <p:strVal val="visible"/>
                                      </p:to>
                                    </p:set>
                                    <p:anim calcmode="lin" valueType="num">
                                      <p:cBhvr additive="base">
                                        <p:cTn id="25" dur="500" fill="hold"/>
                                        <p:tgtEl>
                                          <p:spTgt spid="8195"/>
                                        </p:tgtEl>
                                        <p:attrNameLst>
                                          <p:attrName>ppt_x</p:attrName>
                                        </p:attrNameLst>
                                      </p:cBhvr>
                                      <p:tavLst>
                                        <p:tav tm="0">
                                          <p:val>
                                            <p:strVal val="#ppt_x"/>
                                          </p:val>
                                        </p:tav>
                                        <p:tav tm="100000">
                                          <p:val>
                                            <p:strVal val="#ppt_x"/>
                                          </p:val>
                                        </p:tav>
                                      </p:tavLst>
                                    </p:anim>
                                    <p:anim calcmode="lin" valueType="num">
                                      <p:cBhvr additive="base">
                                        <p:cTn id="26" dur="500" fill="hold"/>
                                        <p:tgtEl>
                                          <p:spTgt spid="819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维纳滤波</a:t>
            </a:r>
            <a:endParaRPr lang="zh-CN" altLang="en-US" dirty="0"/>
          </a:p>
        </p:txBody>
      </p:sp>
      <p:sp>
        <p:nvSpPr>
          <p:cNvPr id="4" name="灯片编号占位符 3"/>
          <p:cNvSpPr>
            <a:spLocks noGrp="1"/>
          </p:cNvSpPr>
          <p:nvPr>
            <p:ph type="sldNum" sz="quarter" idx="12"/>
          </p:nvPr>
        </p:nvSpPr>
        <p:spPr/>
        <p:txBody>
          <a:bodyPr/>
          <a:lstStyle/>
          <a:p>
            <a:pPr>
              <a:defRPr/>
            </a:pPr>
            <a:fld id="{3ACE1859-598D-4001-8269-61C428827EE7}" type="slidenum">
              <a:rPr lang="zh-CN" altLang="en-US" smtClean="0"/>
              <a:pPr>
                <a:defRPr/>
              </a:pPr>
              <a:t>20</a:t>
            </a:fld>
            <a:endParaRPr lang="zh-CN" altLang="en-US" dirty="0"/>
          </a:p>
        </p:txBody>
      </p:sp>
      <p:sp>
        <p:nvSpPr>
          <p:cNvPr id="11" name="矩形 10"/>
          <p:cNvSpPr/>
          <p:nvPr/>
        </p:nvSpPr>
        <p:spPr>
          <a:xfrm>
            <a:off x="395536" y="2895327"/>
            <a:ext cx="8568952" cy="461665"/>
          </a:xfrm>
          <a:prstGeom prst="rect">
            <a:avLst/>
          </a:prstGeom>
        </p:spPr>
        <p:txBody>
          <a:bodyPr wrap="square">
            <a:spAutoFit/>
          </a:bodyPr>
          <a:lstStyle/>
          <a:p>
            <a:r>
              <a:rPr lang="zh-CN" altLang="en-US" sz="2400" b="1" dirty="0" smtClean="0"/>
              <a:t>因为</a:t>
            </a:r>
            <a:r>
              <a:rPr lang="en-US" altLang="zh-CN" sz="2400" b="1" dirty="0" smtClean="0"/>
              <a:t>W</a:t>
            </a:r>
            <a:r>
              <a:rPr lang="zh-CN" altLang="en-US" sz="2400" b="1" dirty="0"/>
              <a:t>而是滤波器</a:t>
            </a:r>
            <a:r>
              <a:rPr lang="zh-CN" altLang="en-US" sz="2400" b="1" dirty="0" smtClean="0"/>
              <a:t>参数而不是</a:t>
            </a:r>
            <a:r>
              <a:rPr lang="zh-CN" altLang="en-US" sz="2400" b="1" dirty="0"/>
              <a:t>随机变量</a:t>
            </a:r>
            <a:r>
              <a:rPr lang="zh-CN" altLang="en-US" sz="2400" b="1" dirty="0" smtClean="0"/>
              <a:t>，所以上式可以简化为：</a:t>
            </a:r>
            <a:endParaRPr lang="zh-CN" altLang="en-US" sz="2400" b="1" dirty="0"/>
          </a:p>
        </p:txBody>
      </p:sp>
      <p:sp>
        <p:nvSpPr>
          <p:cNvPr id="13" name="矩形 12"/>
          <p:cNvSpPr/>
          <p:nvPr/>
        </p:nvSpPr>
        <p:spPr>
          <a:xfrm>
            <a:off x="323528" y="4365104"/>
            <a:ext cx="8424936" cy="830997"/>
          </a:xfrm>
          <a:prstGeom prst="rect">
            <a:avLst/>
          </a:prstGeom>
        </p:spPr>
        <p:txBody>
          <a:bodyPr wrap="square">
            <a:spAutoFit/>
          </a:bodyPr>
          <a:lstStyle/>
          <a:p>
            <a:r>
              <a:rPr lang="zh-CN" altLang="en-US" sz="2400" b="1" dirty="0" smtClean="0"/>
              <a:t>定义</a:t>
            </a:r>
            <a:r>
              <a:rPr lang="en-US" altLang="zh-CN" sz="2400" b="1" dirty="0" smtClean="0"/>
              <a:t> </a:t>
            </a:r>
            <a:r>
              <a:rPr lang="en-US" altLang="zh-CN" sz="2400" b="1" i="1" dirty="0" smtClean="0"/>
              <a:t>P = </a:t>
            </a:r>
            <a:r>
              <a:rPr lang="en-US" altLang="zh-CN" sz="2400" b="1" dirty="0" smtClean="0"/>
              <a:t>E{d(n)</a:t>
            </a:r>
            <a:r>
              <a:rPr lang="en-US" altLang="zh-CN" sz="2400" b="1" i="1" dirty="0" smtClean="0">
                <a:ea typeface="宋体" charset="-122"/>
              </a:rPr>
              <a:t> X</a:t>
            </a:r>
            <a:r>
              <a:rPr lang="en-US" altLang="zh-CN" sz="2400" b="1" dirty="0" smtClean="0">
                <a:ea typeface="宋体" charset="-122"/>
              </a:rPr>
              <a:t>(n)</a:t>
            </a:r>
            <a:r>
              <a:rPr lang="en-US" altLang="zh-CN" sz="2400" b="1" dirty="0" smtClean="0"/>
              <a:t>} </a:t>
            </a:r>
            <a:r>
              <a:rPr lang="zh-CN" altLang="en-US" sz="2400" b="1" dirty="0" smtClean="0"/>
              <a:t>为互相关矩阵，</a:t>
            </a:r>
            <a:r>
              <a:rPr lang="en-US" altLang="zh-CN" sz="2400" b="1" dirty="0" smtClean="0"/>
              <a:t> </a:t>
            </a:r>
            <a:r>
              <a:rPr lang="en-US" altLang="zh-CN" sz="2400" b="1" i="1" dirty="0" smtClean="0"/>
              <a:t>R </a:t>
            </a:r>
            <a:r>
              <a:rPr lang="en-US" altLang="zh-CN" sz="2400" b="1" dirty="0" smtClean="0"/>
              <a:t>= E{</a:t>
            </a:r>
            <a:r>
              <a:rPr lang="en-US" altLang="zh-CN" sz="2400" b="1" i="1" dirty="0" smtClean="0">
                <a:ea typeface="宋体" charset="-122"/>
              </a:rPr>
              <a:t>X</a:t>
            </a:r>
            <a:r>
              <a:rPr lang="en-US" altLang="zh-CN" sz="2400" b="1" dirty="0" smtClean="0">
                <a:ea typeface="宋体" charset="-122"/>
              </a:rPr>
              <a:t>(n)</a:t>
            </a:r>
            <a:r>
              <a:rPr lang="en-US" altLang="zh-CN" sz="2400" b="1" i="1" dirty="0" smtClean="0">
                <a:ea typeface="宋体" charset="-122"/>
              </a:rPr>
              <a:t> X</a:t>
            </a:r>
            <a:r>
              <a:rPr lang="en-US" altLang="zh-CN" sz="2400" b="1" baseline="30000" dirty="0" smtClean="0">
                <a:ea typeface="宋体" charset="-122"/>
              </a:rPr>
              <a:t>T </a:t>
            </a:r>
            <a:r>
              <a:rPr lang="en-US" altLang="zh-CN" sz="2400" b="1" dirty="0" smtClean="0">
                <a:ea typeface="宋体" charset="-122"/>
              </a:rPr>
              <a:t>(n) </a:t>
            </a:r>
            <a:r>
              <a:rPr lang="zh-CN" altLang="en-US" sz="2400" b="1" dirty="0" smtClean="0">
                <a:ea typeface="宋体" charset="-122"/>
              </a:rPr>
              <a:t>为自相关矩阵，则有</a:t>
            </a:r>
            <a:endParaRPr lang="zh-CN" altLang="en-US" sz="2400" b="1" i="1" dirty="0"/>
          </a:p>
        </p:txBody>
      </p:sp>
      <p:pic>
        <p:nvPicPr>
          <p:cNvPr id="15" name="Picture 3"/>
          <p:cNvPicPr>
            <a:picLocks noChangeAspect="1" noChangeArrowheads="1"/>
          </p:cNvPicPr>
          <p:nvPr/>
        </p:nvPicPr>
        <p:blipFill>
          <a:blip r:embed="rId2" cstate="print"/>
          <a:srcRect/>
          <a:stretch>
            <a:fillRect/>
          </a:stretch>
        </p:blipFill>
        <p:spPr bwMode="auto">
          <a:xfrm>
            <a:off x="1331640" y="1700808"/>
            <a:ext cx="6590668" cy="1008112"/>
          </a:xfrm>
          <a:prstGeom prst="rect">
            <a:avLst/>
          </a:prstGeom>
          <a:noFill/>
          <a:ln w="9525">
            <a:noFill/>
            <a:miter lim="800000"/>
            <a:headEnd/>
            <a:tailEnd/>
          </a:ln>
        </p:spPr>
      </p:pic>
      <p:pic>
        <p:nvPicPr>
          <p:cNvPr id="9218" name="Picture 2"/>
          <p:cNvPicPr>
            <a:picLocks noChangeAspect="1" noChangeArrowheads="1"/>
          </p:cNvPicPr>
          <p:nvPr/>
        </p:nvPicPr>
        <p:blipFill>
          <a:blip r:embed="rId3" cstate="print"/>
          <a:srcRect/>
          <a:stretch>
            <a:fillRect/>
          </a:stretch>
        </p:blipFill>
        <p:spPr bwMode="auto">
          <a:xfrm>
            <a:off x="1259632" y="3545349"/>
            <a:ext cx="6768752" cy="603731"/>
          </a:xfrm>
          <a:prstGeom prst="rect">
            <a:avLst/>
          </a:prstGeom>
          <a:noFill/>
          <a:ln w="9525">
            <a:noFill/>
            <a:miter lim="800000"/>
            <a:headEnd/>
            <a:tailEnd/>
          </a:ln>
        </p:spPr>
      </p:pic>
      <p:pic>
        <p:nvPicPr>
          <p:cNvPr id="9219" name="Picture 3"/>
          <p:cNvPicPr>
            <a:picLocks noChangeAspect="1" noChangeArrowheads="1"/>
          </p:cNvPicPr>
          <p:nvPr/>
        </p:nvPicPr>
        <p:blipFill>
          <a:blip r:embed="rId4" cstate="print"/>
          <a:srcRect/>
          <a:stretch>
            <a:fillRect/>
          </a:stretch>
        </p:blipFill>
        <p:spPr bwMode="auto">
          <a:xfrm>
            <a:off x="2123728" y="5229200"/>
            <a:ext cx="3891371" cy="576064"/>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218"/>
                                        </p:tgtEl>
                                        <p:attrNameLst>
                                          <p:attrName>style.visibility</p:attrName>
                                        </p:attrNameLst>
                                      </p:cBhvr>
                                      <p:to>
                                        <p:strVal val="visible"/>
                                      </p:to>
                                    </p:set>
                                    <p:anim calcmode="lin" valueType="num">
                                      <p:cBhvr additive="base">
                                        <p:cTn id="13" dur="500" fill="hold"/>
                                        <p:tgtEl>
                                          <p:spTgt spid="9218"/>
                                        </p:tgtEl>
                                        <p:attrNameLst>
                                          <p:attrName>ppt_x</p:attrName>
                                        </p:attrNameLst>
                                      </p:cBhvr>
                                      <p:tavLst>
                                        <p:tav tm="0">
                                          <p:val>
                                            <p:strVal val="#ppt_x"/>
                                          </p:val>
                                        </p:tav>
                                        <p:tav tm="100000">
                                          <p:val>
                                            <p:strVal val="#ppt_x"/>
                                          </p:val>
                                        </p:tav>
                                      </p:tavLst>
                                    </p:anim>
                                    <p:anim calcmode="lin" valueType="num">
                                      <p:cBhvr additive="base">
                                        <p:cTn id="14" dur="500" fill="hold"/>
                                        <p:tgtEl>
                                          <p:spTgt spid="921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219"/>
                                        </p:tgtEl>
                                        <p:attrNameLst>
                                          <p:attrName>style.visibility</p:attrName>
                                        </p:attrNameLst>
                                      </p:cBhvr>
                                      <p:to>
                                        <p:strVal val="visible"/>
                                      </p:to>
                                    </p:set>
                                    <p:anim calcmode="lin" valueType="num">
                                      <p:cBhvr additive="base">
                                        <p:cTn id="25" dur="500" fill="hold"/>
                                        <p:tgtEl>
                                          <p:spTgt spid="9219"/>
                                        </p:tgtEl>
                                        <p:attrNameLst>
                                          <p:attrName>ppt_x</p:attrName>
                                        </p:attrNameLst>
                                      </p:cBhvr>
                                      <p:tavLst>
                                        <p:tav tm="0">
                                          <p:val>
                                            <p:strVal val="#ppt_x"/>
                                          </p:val>
                                        </p:tav>
                                        <p:tav tm="100000">
                                          <p:val>
                                            <p:strVal val="#ppt_x"/>
                                          </p:val>
                                        </p:tav>
                                      </p:tavLst>
                                    </p:anim>
                                    <p:anim calcmode="lin" valueType="num">
                                      <p:cBhvr additive="base">
                                        <p:cTn id="26" dur="500" fill="hold"/>
                                        <p:tgtEl>
                                          <p:spTgt spid="92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维纳滤波</a:t>
            </a:r>
            <a:endParaRPr lang="zh-CN" altLang="en-US" dirty="0"/>
          </a:p>
        </p:txBody>
      </p:sp>
      <p:sp>
        <p:nvSpPr>
          <p:cNvPr id="4" name="灯片编号占位符 3"/>
          <p:cNvSpPr>
            <a:spLocks noGrp="1"/>
          </p:cNvSpPr>
          <p:nvPr>
            <p:ph type="sldNum" sz="quarter" idx="12"/>
          </p:nvPr>
        </p:nvSpPr>
        <p:spPr/>
        <p:txBody>
          <a:bodyPr/>
          <a:lstStyle/>
          <a:p>
            <a:pPr>
              <a:defRPr/>
            </a:pPr>
            <a:fld id="{3ACE1859-598D-4001-8269-61C428827EE7}" type="slidenum">
              <a:rPr lang="zh-CN" altLang="en-US" smtClean="0"/>
              <a:pPr>
                <a:defRPr/>
              </a:pPr>
              <a:t>21</a:t>
            </a:fld>
            <a:endParaRPr lang="zh-CN" altLang="en-US"/>
          </a:p>
        </p:txBody>
      </p:sp>
      <p:pic>
        <p:nvPicPr>
          <p:cNvPr id="1026" name="Picture 2"/>
          <p:cNvPicPr>
            <a:picLocks noChangeAspect="1" noChangeArrowheads="1"/>
          </p:cNvPicPr>
          <p:nvPr/>
        </p:nvPicPr>
        <p:blipFill>
          <a:blip r:embed="rId2" cstate="print"/>
          <a:srcRect/>
          <a:stretch>
            <a:fillRect/>
          </a:stretch>
        </p:blipFill>
        <p:spPr bwMode="auto">
          <a:xfrm>
            <a:off x="395536" y="2852936"/>
            <a:ext cx="8574687" cy="2304256"/>
          </a:xfrm>
          <a:prstGeom prst="rect">
            <a:avLst/>
          </a:prstGeom>
          <a:noFill/>
          <a:ln w="9525">
            <a:noFill/>
            <a:miter lim="800000"/>
            <a:headEnd/>
            <a:tailEnd/>
          </a:ln>
        </p:spPr>
      </p:pic>
      <p:sp>
        <p:nvSpPr>
          <p:cNvPr id="6" name="矩形 5"/>
          <p:cNvSpPr/>
          <p:nvPr/>
        </p:nvSpPr>
        <p:spPr>
          <a:xfrm>
            <a:off x="1259632" y="1700808"/>
            <a:ext cx="6912768" cy="461665"/>
          </a:xfrm>
          <a:prstGeom prst="rect">
            <a:avLst/>
          </a:prstGeom>
        </p:spPr>
        <p:txBody>
          <a:bodyPr wrap="square">
            <a:spAutoFit/>
          </a:bodyPr>
          <a:lstStyle/>
          <a:p>
            <a:r>
              <a:rPr lang="zh-CN" altLang="en-US" sz="2400" b="1" dirty="0" smtClean="0"/>
              <a:t>以二元维纳滤波为例，代价函数为：</a:t>
            </a:r>
            <a:endParaRPr lang="zh-CN" altLang="en-US" sz="24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26"/>
                                        </p:tgtEl>
                                        <p:attrNameLst>
                                          <p:attrName>style.visibility</p:attrName>
                                        </p:attrNameLst>
                                      </p:cBhvr>
                                      <p:to>
                                        <p:strVal val="visible"/>
                                      </p:to>
                                    </p:set>
                                    <p:anim calcmode="lin" valueType="num">
                                      <p:cBhvr additive="base">
                                        <p:cTn id="13" dur="500" fill="hold"/>
                                        <p:tgtEl>
                                          <p:spTgt spid="1026"/>
                                        </p:tgtEl>
                                        <p:attrNameLst>
                                          <p:attrName>ppt_x</p:attrName>
                                        </p:attrNameLst>
                                      </p:cBhvr>
                                      <p:tavLst>
                                        <p:tav tm="0">
                                          <p:val>
                                            <p:strVal val="#ppt_x"/>
                                          </p:val>
                                        </p:tav>
                                        <p:tav tm="100000">
                                          <p:val>
                                            <p:strVal val="#ppt_x"/>
                                          </p:val>
                                        </p:tav>
                                      </p:tavLst>
                                    </p:anim>
                                    <p:anim calcmode="lin" valueType="num">
                                      <p:cBhvr additive="base">
                                        <p:cTn id="14"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t>二次型代价函数</a:t>
            </a:r>
            <a:endParaRPr lang="zh-CN" altLang="en-US" b="1" dirty="0"/>
          </a:p>
        </p:txBody>
      </p:sp>
      <p:sp>
        <p:nvSpPr>
          <p:cNvPr id="4" name="灯片编号占位符 3"/>
          <p:cNvSpPr>
            <a:spLocks noGrp="1"/>
          </p:cNvSpPr>
          <p:nvPr>
            <p:ph type="sldNum" sz="quarter" idx="12"/>
          </p:nvPr>
        </p:nvSpPr>
        <p:spPr/>
        <p:txBody>
          <a:bodyPr/>
          <a:lstStyle/>
          <a:p>
            <a:pPr>
              <a:defRPr/>
            </a:pPr>
            <a:fld id="{3ACE1859-598D-4001-8269-61C428827EE7}" type="slidenum">
              <a:rPr lang="zh-CN" altLang="en-US" smtClean="0"/>
              <a:pPr>
                <a:defRPr/>
              </a:pPr>
              <a:t>22</a:t>
            </a:fld>
            <a:endParaRPr lang="zh-CN" altLang="en-US"/>
          </a:p>
        </p:txBody>
      </p:sp>
      <p:pic>
        <p:nvPicPr>
          <p:cNvPr id="5" name="Picture 4"/>
          <p:cNvPicPr>
            <a:picLocks noChangeAspect="1" noChangeArrowheads="1"/>
          </p:cNvPicPr>
          <p:nvPr/>
        </p:nvPicPr>
        <p:blipFill>
          <a:blip r:embed="rId2" cstate="print"/>
          <a:srcRect/>
          <a:stretch>
            <a:fillRect/>
          </a:stretch>
        </p:blipFill>
        <p:spPr bwMode="auto">
          <a:xfrm>
            <a:off x="1752600" y="1981200"/>
            <a:ext cx="5257800" cy="39433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维纳滤波</a:t>
            </a:r>
            <a:endParaRPr lang="zh-CN" altLang="en-US" dirty="0"/>
          </a:p>
        </p:txBody>
      </p:sp>
      <p:sp>
        <p:nvSpPr>
          <p:cNvPr id="4" name="灯片编号占位符 3"/>
          <p:cNvSpPr>
            <a:spLocks noGrp="1"/>
          </p:cNvSpPr>
          <p:nvPr>
            <p:ph type="sldNum" sz="quarter" idx="12"/>
          </p:nvPr>
        </p:nvSpPr>
        <p:spPr/>
        <p:txBody>
          <a:bodyPr/>
          <a:lstStyle/>
          <a:p>
            <a:pPr>
              <a:defRPr/>
            </a:pPr>
            <a:fld id="{3ACE1859-598D-4001-8269-61C428827EE7}" type="slidenum">
              <a:rPr lang="zh-CN" altLang="en-US" smtClean="0"/>
              <a:pPr>
                <a:defRPr/>
              </a:pPr>
              <a:t>23</a:t>
            </a:fld>
            <a:endParaRPr lang="zh-CN" altLang="en-US"/>
          </a:p>
        </p:txBody>
      </p:sp>
      <p:sp>
        <p:nvSpPr>
          <p:cNvPr id="5" name="矩形 4"/>
          <p:cNvSpPr/>
          <p:nvPr/>
        </p:nvSpPr>
        <p:spPr>
          <a:xfrm>
            <a:off x="1259632" y="1700808"/>
            <a:ext cx="6912768" cy="461665"/>
          </a:xfrm>
          <a:prstGeom prst="rect">
            <a:avLst/>
          </a:prstGeom>
        </p:spPr>
        <p:txBody>
          <a:bodyPr wrap="square">
            <a:spAutoFit/>
          </a:bodyPr>
          <a:lstStyle/>
          <a:p>
            <a:r>
              <a:rPr lang="zh-CN" altLang="en-US" sz="2400" b="1" dirty="0" smtClean="0"/>
              <a:t>对代价函数分别求两个权重系数的梯度</a:t>
            </a:r>
            <a:endParaRPr lang="zh-CN" altLang="en-US" sz="2400" b="1" dirty="0"/>
          </a:p>
        </p:txBody>
      </p:sp>
      <p:pic>
        <p:nvPicPr>
          <p:cNvPr id="2050" name="Picture 2"/>
          <p:cNvPicPr>
            <a:picLocks noChangeAspect="1" noChangeArrowheads="1"/>
          </p:cNvPicPr>
          <p:nvPr/>
        </p:nvPicPr>
        <p:blipFill>
          <a:blip r:embed="rId2" cstate="print"/>
          <a:srcRect/>
          <a:stretch>
            <a:fillRect/>
          </a:stretch>
        </p:blipFill>
        <p:spPr bwMode="auto">
          <a:xfrm>
            <a:off x="2505075" y="2348880"/>
            <a:ext cx="4133850" cy="1504950"/>
          </a:xfrm>
          <a:prstGeom prst="rect">
            <a:avLst/>
          </a:prstGeom>
          <a:noFill/>
          <a:ln w="9525">
            <a:noFill/>
            <a:miter lim="800000"/>
            <a:headEnd/>
            <a:tailEnd/>
          </a:ln>
        </p:spPr>
      </p:pic>
      <p:sp>
        <p:nvSpPr>
          <p:cNvPr id="7" name="矩形 6"/>
          <p:cNvSpPr/>
          <p:nvPr/>
        </p:nvSpPr>
        <p:spPr>
          <a:xfrm>
            <a:off x="1259632" y="4005064"/>
            <a:ext cx="6912768" cy="461665"/>
          </a:xfrm>
          <a:prstGeom prst="rect">
            <a:avLst/>
          </a:prstGeom>
        </p:spPr>
        <p:txBody>
          <a:bodyPr wrap="square">
            <a:spAutoFit/>
          </a:bodyPr>
          <a:lstStyle/>
          <a:p>
            <a:r>
              <a:rPr lang="zh-CN" altLang="en-US" sz="2400" b="1" dirty="0" smtClean="0"/>
              <a:t>将梯度写成矩阵形式：</a:t>
            </a:r>
            <a:endParaRPr lang="zh-CN" altLang="en-US" sz="2400" b="1" dirty="0"/>
          </a:p>
        </p:txBody>
      </p:sp>
      <p:pic>
        <p:nvPicPr>
          <p:cNvPr id="2051" name="Picture 3"/>
          <p:cNvPicPr>
            <a:picLocks noChangeAspect="1" noChangeArrowheads="1"/>
          </p:cNvPicPr>
          <p:nvPr/>
        </p:nvPicPr>
        <p:blipFill>
          <a:blip r:embed="rId3" cstate="print"/>
          <a:srcRect r="52751" b="44554"/>
          <a:stretch>
            <a:fillRect/>
          </a:stretch>
        </p:blipFill>
        <p:spPr bwMode="auto">
          <a:xfrm>
            <a:off x="1403648" y="4581128"/>
            <a:ext cx="2376264" cy="1489298"/>
          </a:xfrm>
          <a:prstGeom prst="rect">
            <a:avLst/>
          </a:prstGeom>
          <a:noFill/>
          <a:ln w="9525">
            <a:noFill/>
            <a:miter lim="800000"/>
            <a:headEnd/>
            <a:tailEnd/>
          </a:ln>
        </p:spPr>
      </p:pic>
      <p:pic>
        <p:nvPicPr>
          <p:cNvPr id="2052" name="Picture 4"/>
          <p:cNvPicPr>
            <a:picLocks noChangeAspect="1" noChangeArrowheads="1"/>
          </p:cNvPicPr>
          <p:nvPr/>
        </p:nvPicPr>
        <p:blipFill>
          <a:blip r:embed="rId4" cstate="print"/>
          <a:srcRect/>
          <a:stretch>
            <a:fillRect/>
          </a:stretch>
        </p:blipFill>
        <p:spPr bwMode="auto">
          <a:xfrm>
            <a:off x="3779912" y="4725144"/>
            <a:ext cx="3600450" cy="115252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50"/>
                                        </p:tgtEl>
                                        <p:attrNameLst>
                                          <p:attrName>style.visibility</p:attrName>
                                        </p:attrNameLst>
                                      </p:cBhvr>
                                      <p:to>
                                        <p:strVal val="visible"/>
                                      </p:to>
                                    </p:set>
                                    <p:anim calcmode="lin" valueType="num">
                                      <p:cBhvr additive="base">
                                        <p:cTn id="13" dur="500" fill="hold"/>
                                        <p:tgtEl>
                                          <p:spTgt spid="2050"/>
                                        </p:tgtEl>
                                        <p:attrNameLst>
                                          <p:attrName>ppt_x</p:attrName>
                                        </p:attrNameLst>
                                      </p:cBhvr>
                                      <p:tavLst>
                                        <p:tav tm="0">
                                          <p:val>
                                            <p:strVal val="#ppt_x"/>
                                          </p:val>
                                        </p:tav>
                                        <p:tav tm="100000">
                                          <p:val>
                                            <p:strVal val="#ppt_x"/>
                                          </p:val>
                                        </p:tav>
                                      </p:tavLst>
                                    </p:anim>
                                    <p:anim calcmode="lin" valueType="num">
                                      <p:cBhvr additive="base">
                                        <p:cTn id="14" dur="500" fill="hold"/>
                                        <p:tgtEl>
                                          <p:spTgt spid="205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051"/>
                                        </p:tgtEl>
                                        <p:attrNameLst>
                                          <p:attrName>style.visibility</p:attrName>
                                        </p:attrNameLst>
                                      </p:cBhvr>
                                      <p:to>
                                        <p:strVal val="visible"/>
                                      </p:to>
                                    </p:set>
                                    <p:anim calcmode="lin" valueType="num">
                                      <p:cBhvr additive="base">
                                        <p:cTn id="25" dur="500" fill="hold"/>
                                        <p:tgtEl>
                                          <p:spTgt spid="2051"/>
                                        </p:tgtEl>
                                        <p:attrNameLst>
                                          <p:attrName>ppt_x</p:attrName>
                                        </p:attrNameLst>
                                      </p:cBhvr>
                                      <p:tavLst>
                                        <p:tav tm="0">
                                          <p:val>
                                            <p:strVal val="#ppt_x"/>
                                          </p:val>
                                        </p:tav>
                                        <p:tav tm="100000">
                                          <p:val>
                                            <p:strVal val="#ppt_x"/>
                                          </p:val>
                                        </p:tav>
                                      </p:tavLst>
                                    </p:anim>
                                    <p:anim calcmode="lin" valueType="num">
                                      <p:cBhvr additive="base">
                                        <p:cTn id="26" dur="500" fill="hold"/>
                                        <p:tgtEl>
                                          <p:spTgt spid="2051"/>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052"/>
                                        </p:tgtEl>
                                        <p:attrNameLst>
                                          <p:attrName>style.visibility</p:attrName>
                                        </p:attrNameLst>
                                      </p:cBhvr>
                                      <p:to>
                                        <p:strVal val="visible"/>
                                      </p:to>
                                    </p:set>
                                    <p:anim calcmode="lin" valueType="num">
                                      <p:cBhvr additive="base">
                                        <p:cTn id="29" dur="500" fill="hold"/>
                                        <p:tgtEl>
                                          <p:spTgt spid="2052"/>
                                        </p:tgtEl>
                                        <p:attrNameLst>
                                          <p:attrName>ppt_x</p:attrName>
                                        </p:attrNameLst>
                                      </p:cBhvr>
                                      <p:tavLst>
                                        <p:tav tm="0">
                                          <p:val>
                                            <p:strVal val="#ppt_x"/>
                                          </p:val>
                                        </p:tav>
                                        <p:tav tm="100000">
                                          <p:val>
                                            <p:strVal val="#ppt_x"/>
                                          </p:val>
                                        </p:tav>
                                      </p:tavLst>
                                    </p:anim>
                                    <p:anim calcmode="lin" valueType="num">
                                      <p:cBhvr additive="base">
                                        <p:cTn id="30" dur="500" fill="hold"/>
                                        <p:tgtEl>
                                          <p:spTgt spid="20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维纳滤波</a:t>
            </a:r>
            <a:endParaRPr lang="zh-CN" altLang="en-US" dirty="0"/>
          </a:p>
        </p:txBody>
      </p:sp>
      <p:sp>
        <p:nvSpPr>
          <p:cNvPr id="4" name="灯片编号占位符 3"/>
          <p:cNvSpPr>
            <a:spLocks noGrp="1"/>
          </p:cNvSpPr>
          <p:nvPr>
            <p:ph type="sldNum" sz="quarter" idx="12"/>
          </p:nvPr>
        </p:nvSpPr>
        <p:spPr/>
        <p:txBody>
          <a:bodyPr/>
          <a:lstStyle/>
          <a:p>
            <a:pPr>
              <a:defRPr/>
            </a:pPr>
            <a:fld id="{3ACE1859-598D-4001-8269-61C428827EE7}" type="slidenum">
              <a:rPr lang="zh-CN" altLang="en-US" smtClean="0"/>
              <a:pPr>
                <a:defRPr/>
              </a:pPr>
              <a:t>24</a:t>
            </a:fld>
            <a:endParaRPr lang="zh-CN" altLang="en-US"/>
          </a:p>
        </p:txBody>
      </p:sp>
      <p:sp>
        <p:nvSpPr>
          <p:cNvPr id="5" name="矩形 4"/>
          <p:cNvSpPr/>
          <p:nvPr/>
        </p:nvSpPr>
        <p:spPr>
          <a:xfrm>
            <a:off x="1259632" y="1700808"/>
            <a:ext cx="6912768" cy="830997"/>
          </a:xfrm>
          <a:prstGeom prst="rect">
            <a:avLst/>
          </a:prstGeom>
        </p:spPr>
        <p:txBody>
          <a:bodyPr wrap="square">
            <a:spAutoFit/>
          </a:bodyPr>
          <a:lstStyle/>
          <a:p>
            <a:r>
              <a:rPr lang="zh-CN" altLang="en-US" sz="2400" b="1" dirty="0" smtClean="0"/>
              <a:t>对于通用的</a:t>
            </a:r>
            <a:r>
              <a:rPr lang="en-US" altLang="zh-CN" sz="2400" b="1" dirty="0" smtClean="0"/>
              <a:t>N-1</a:t>
            </a:r>
            <a:r>
              <a:rPr lang="zh-CN" altLang="en-US" sz="2400" b="1" dirty="0" smtClean="0"/>
              <a:t>元维纳滤波，</a:t>
            </a:r>
            <a:r>
              <a:rPr lang="en-US" altLang="zh-CN" sz="2400" b="1" dirty="0" smtClean="0"/>
              <a:t> </a:t>
            </a:r>
            <a:r>
              <a:rPr lang="zh-CN" altLang="en-US" sz="2400" b="1" dirty="0" smtClean="0"/>
              <a:t>可以采用类似策略来计算梯度</a:t>
            </a:r>
            <a:r>
              <a:rPr lang="en-US" altLang="zh-CN" sz="2400" b="1" dirty="0" smtClean="0"/>
              <a:t>,</a:t>
            </a:r>
            <a:endParaRPr lang="zh-CN" altLang="en-US" sz="2400" b="1" dirty="0"/>
          </a:p>
        </p:txBody>
      </p:sp>
      <p:pic>
        <p:nvPicPr>
          <p:cNvPr id="3074" name="Picture 2"/>
          <p:cNvPicPr>
            <a:picLocks noChangeAspect="1" noChangeArrowheads="1"/>
          </p:cNvPicPr>
          <p:nvPr/>
        </p:nvPicPr>
        <p:blipFill>
          <a:blip r:embed="rId2" cstate="print"/>
          <a:srcRect/>
          <a:stretch>
            <a:fillRect/>
          </a:stretch>
        </p:blipFill>
        <p:spPr bwMode="auto">
          <a:xfrm>
            <a:off x="2915817" y="2636912"/>
            <a:ext cx="3096344" cy="582841"/>
          </a:xfrm>
          <a:prstGeom prst="rect">
            <a:avLst/>
          </a:prstGeom>
          <a:noFill/>
          <a:ln w="9525">
            <a:noFill/>
            <a:miter lim="800000"/>
            <a:headEnd/>
            <a:tailEnd/>
          </a:ln>
        </p:spPr>
      </p:pic>
      <p:sp>
        <p:nvSpPr>
          <p:cNvPr id="7" name="矩形 6"/>
          <p:cNvSpPr/>
          <p:nvPr/>
        </p:nvSpPr>
        <p:spPr>
          <a:xfrm>
            <a:off x="1259632" y="3246075"/>
            <a:ext cx="6912768" cy="461665"/>
          </a:xfrm>
          <a:prstGeom prst="rect">
            <a:avLst/>
          </a:prstGeom>
        </p:spPr>
        <p:txBody>
          <a:bodyPr wrap="square">
            <a:spAutoFit/>
          </a:bodyPr>
          <a:lstStyle/>
          <a:p>
            <a:r>
              <a:rPr lang="zh-CN" altLang="en-US" sz="2400" b="1" dirty="0" smtClean="0"/>
              <a:t>通过计算上式等于</a:t>
            </a:r>
            <a:r>
              <a:rPr lang="en-US" altLang="zh-CN" sz="2400" b="1" dirty="0" smtClean="0"/>
              <a:t>0</a:t>
            </a:r>
            <a:r>
              <a:rPr lang="zh-CN" altLang="en-US" sz="2400" b="1" dirty="0" smtClean="0"/>
              <a:t>，可以得到维纳滤波的表达式：</a:t>
            </a:r>
            <a:endParaRPr lang="zh-CN" altLang="en-US" sz="2400" b="1" dirty="0"/>
          </a:p>
        </p:txBody>
      </p:sp>
      <p:pic>
        <p:nvPicPr>
          <p:cNvPr id="3075" name="Picture 3"/>
          <p:cNvPicPr>
            <a:picLocks noChangeAspect="1" noChangeArrowheads="1"/>
          </p:cNvPicPr>
          <p:nvPr/>
        </p:nvPicPr>
        <p:blipFill>
          <a:blip r:embed="rId3" cstate="print"/>
          <a:srcRect/>
          <a:stretch>
            <a:fillRect/>
          </a:stretch>
        </p:blipFill>
        <p:spPr bwMode="auto">
          <a:xfrm>
            <a:off x="3347864" y="4005064"/>
            <a:ext cx="2445272" cy="720080"/>
          </a:xfrm>
          <a:prstGeom prst="rect">
            <a:avLst/>
          </a:prstGeom>
          <a:noFill/>
          <a:ln w="9525">
            <a:noFill/>
            <a:miter lim="800000"/>
            <a:headEnd/>
            <a:tailEnd/>
          </a:ln>
        </p:spPr>
      </p:pic>
      <p:sp>
        <p:nvSpPr>
          <p:cNvPr id="8" name="矩形 7"/>
          <p:cNvSpPr/>
          <p:nvPr/>
        </p:nvSpPr>
        <p:spPr>
          <a:xfrm>
            <a:off x="1331640" y="4902259"/>
            <a:ext cx="7416824" cy="830997"/>
          </a:xfrm>
          <a:prstGeom prst="rect">
            <a:avLst/>
          </a:prstGeom>
        </p:spPr>
        <p:txBody>
          <a:bodyPr wrap="square">
            <a:spAutoFit/>
          </a:bodyPr>
          <a:lstStyle/>
          <a:p>
            <a:r>
              <a:rPr lang="zh-CN" altLang="en-US" sz="2400" b="1" dirty="0" smtClean="0"/>
              <a:t>其中，</a:t>
            </a:r>
            <a:r>
              <a:rPr lang="en-US" altLang="zh-CN" sz="2400" b="1" i="1" dirty="0" smtClean="0"/>
              <a:t>P </a:t>
            </a:r>
            <a:r>
              <a:rPr lang="en-US" altLang="zh-CN" sz="2400" b="1" i="1" dirty="0"/>
              <a:t>= </a:t>
            </a:r>
            <a:r>
              <a:rPr lang="en-US" altLang="zh-CN" sz="2400" b="1" dirty="0"/>
              <a:t>E{d(n)</a:t>
            </a:r>
            <a:r>
              <a:rPr lang="en-US" altLang="zh-CN" sz="2400" b="1" i="1" dirty="0">
                <a:ea typeface="宋体" charset="-122"/>
              </a:rPr>
              <a:t> X</a:t>
            </a:r>
            <a:r>
              <a:rPr lang="en-US" altLang="zh-CN" sz="2400" b="1" dirty="0">
                <a:ea typeface="宋体" charset="-122"/>
              </a:rPr>
              <a:t>(n)</a:t>
            </a:r>
            <a:r>
              <a:rPr lang="en-US" altLang="zh-CN" sz="2400" b="1" dirty="0"/>
              <a:t>} </a:t>
            </a:r>
            <a:r>
              <a:rPr lang="zh-CN" altLang="en-US" sz="2400" b="1" dirty="0"/>
              <a:t>为互相关矩阵，</a:t>
            </a:r>
            <a:r>
              <a:rPr lang="en-US" altLang="zh-CN" sz="2400" b="1" dirty="0"/>
              <a:t> </a:t>
            </a:r>
            <a:r>
              <a:rPr lang="en-US" altLang="zh-CN" sz="2400" b="1" i="1" dirty="0"/>
              <a:t>R </a:t>
            </a:r>
            <a:r>
              <a:rPr lang="en-US" altLang="zh-CN" sz="2400" b="1" dirty="0"/>
              <a:t>= E{</a:t>
            </a:r>
            <a:r>
              <a:rPr lang="en-US" altLang="zh-CN" sz="2400" b="1" i="1" dirty="0">
                <a:ea typeface="宋体" charset="-122"/>
              </a:rPr>
              <a:t>X</a:t>
            </a:r>
            <a:r>
              <a:rPr lang="en-US" altLang="zh-CN" sz="2400" b="1" dirty="0">
                <a:ea typeface="宋体" charset="-122"/>
              </a:rPr>
              <a:t>(n)</a:t>
            </a:r>
            <a:r>
              <a:rPr lang="en-US" altLang="zh-CN" sz="2400" b="1" i="1" dirty="0">
                <a:ea typeface="宋体" charset="-122"/>
              </a:rPr>
              <a:t> X</a:t>
            </a:r>
            <a:r>
              <a:rPr lang="en-US" altLang="zh-CN" sz="2400" b="1" baseline="30000" dirty="0">
                <a:ea typeface="宋体" charset="-122"/>
              </a:rPr>
              <a:t>T </a:t>
            </a:r>
            <a:r>
              <a:rPr lang="en-US" altLang="zh-CN" sz="2400" b="1" dirty="0">
                <a:ea typeface="宋体" charset="-122"/>
              </a:rPr>
              <a:t>(n) </a:t>
            </a:r>
            <a:r>
              <a:rPr lang="zh-CN" altLang="en-US" sz="2400" b="1" dirty="0" smtClean="0">
                <a:ea typeface="宋体" charset="-122"/>
              </a:rPr>
              <a:t>为</a:t>
            </a:r>
            <a:r>
              <a:rPr lang="zh-CN" altLang="en-US" sz="2400" b="1" dirty="0">
                <a:ea typeface="宋体" charset="-122"/>
              </a:rPr>
              <a:t>自相关矩阵</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074"/>
                                        </p:tgtEl>
                                        <p:attrNameLst>
                                          <p:attrName>style.visibility</p:attrName>
                                        </p:attrNameLst>
                                      </p:cBhvr>
                                      <p:to>
                                        <p:strVal val="visible"/>
                                      </p:to>
                                    </p:set>
                                    <p:anim calcmode="lin" valueType="num">
                                      <p:cBhvr additive="base">
                                        <p:cTn id="13" dur="500" fill="hold"/>
                                        <p:tgtEl>
                                          <p:spTgt spid="3074"/>
                                        </p:tgtEl>
                                        <p:attrNameLst>
                                          <p:attrName>ppt_x</p:attrName>
                                        </p:attrNameLst>
                                      </p:cBhvr>
                                      <p:tavLst>
                                        <p:tav tm="0">
                                          <p:val>
                                            <p:strVal val="#ppt_x"/>
                                          </p:val>
                                        </p:tav>
                                        <p:tav tm="100000">
                                          <p:val>
                                            <p:strVal val="#ppt_x"/>
                                          </p:val>
                                        </p:tav>
                                      </p:tavLst>
                                    </p:anim>
                                    <p:anim calcmode="lin" valueType="num">
                                      <p:cBhvr additive="base">
                                        <p:cTn id="14" dur="500" fill="hold"/>
                                        <p:tgtEl>
                                          <p:spTgt spid="307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075"/>
                                        </p:tgtEl>
                                        <p:attrNameLst>
                                          <p:attrName>style.visibility</p:attrName>
                                        </p:attrNameLst>
                                      </p:cBhvr>
                                      <p:to>
                                        <p:strVal val="visible"/>
                                      </p:to>
                                    </p:set>
                                    <p:anim calcmode="lin" valueType="num">
                                      <p:cBhvr additive="base">
                                        <p:cTn id="25" dur="500" fill="hold"/>
                                        <p:tgtEl>
                                          <p:spTgt spid="3075"/>
                                        </p:tgtEl>
                                        <p:attrNameLst>
                                          <p:attrName>ppt_x</p:attrName>
                                        </p:attrNameLst>
                                      </p:cBhvr>
                                      <p:tavLst>
                                        <p:tav tm="0">
                                          <p:val>
                                            <p:strVal val="#ppt_x"/>
                                          </p:val>
                                        </p:tav>
                                        <p:tav tm="100000">
                                          <p:val>
                                            <p:strVal val="#ppt_x"/>
                                          </p:val>
                                        </p:tav>
                                      </p:tavLst>
                                    </p:anim>
                                    <p:anim calcmode="lin" valueType="num">
                                      <p:cBhvr additive="base">
                                        <p:cTn id="26" dur="500" fill="hold"/>
                                        <p:tgtEl>
                                          <p:spTgt spid="307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7" grpId="0"/>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维纳滤波</a:t>
            </a:r>
            <a:endParaRPr lang="zh-CN" altLang="en-US" dirty="0"/>
          </a:p>
        </p:txBody>
      </p:sp>
      <p:sp>
        <p:nvSpPr>
          <p:cNvPr id="7" name="矩形 6"/>
          <p:cNvSpPr/>
          <p:nvPr/>
        </p:nvSpPr>
        <p:spPr>
          <a:xfrm>
            <a:off x="1259632" y="1700808"/>
            <a:ext cx="6912768" cy="461665"/>
          </a:xfrm>
          <a:prstGeom prst="rect">
            <a:avLst/>
          </a:prstGeom>
        </p:spPr>
        <p:txBody>
          <a:bodyPr wrap="square">
            <a:spAutoFit/>
          </a:bodyPr>
          <a:lstStyle/>
          <a:p>
            <a:r>
              <a:rPr lang="zh-CN" altLang="en-US" sz="2400" b="1" dirty="0" smtClean="0"/>
              <a:t>维纳滤波的表达式：</a:t>
            </a:r>
            <a:endParaRPr lang="zh-CN" altLang="en-US" sz="2400" b="1" dirty="0"/>
          </a:p>
        </p:txBody>
      </p:sp>
      <p:pic>
        <p:nvPicPr>
          <p:cNvPr id="3075" name="Picture 3"/>
          <p:cNvPicPr>
            <a:picLocks noChangeAspect="1" noChangeArrowheads="1"/>
          </p:cNvPicPr>
          <p:nvPr/>
        </p:nvPicPr>
        <p:blipFill>
          <a:blip r:embed="rId2" cstate="print"/>
          <a:srcRect/>
          <a:stretch>
            <a:fillRect/>
          </a:stretch>
        </p:blipFill>
        <p:spPr bwMode="auto">
          <a:xfrm>
            <a:off x="3347864" y="2204864"/>
            <a:ext cx="2445272" cy="720080"/>
          </a:xfrm>
          <a:prstGeom prst="rect">
            <a:avLst/>
          </a:prstGeom>
          <a:noFill/>
          <a:ln w="9525">
            <a:noFill/>
            <a:miter lim="800000"/>
            <a:headEnd/>
            <a:tailEnd/>
          </a:ln>
        </p:spPr>
      </p:pic>
      <p:sp>
        <p:nvSpPr>
          <p:cNvPr id="3" name="矩形 2"/>
          <p:cNvSpPr/>
          <p:nvPr/>
        </p:nvSpPr>
        <p:spPr>
          <a:xfrm>
            <a:off x="1259632" y="2852936"/>
            <a:ext cx="7416824" cy="830997"/>
          </a:xfrm>
          <a:prstGeom prst="rect">
            <a:avLst/>
          </a:prstGeom>
        </p:spPr>
        <p:txBody>
          <a:bodyPr wrap="square">
            <a:spAutoFit/>
          </a:bodyPr>
          <a:lstStyle/>
          <a:p>
            <a:r>
              <a:rPr lang="zh-CN" altLang="en-US" sz="2400" b="1" dirty="0" smtClean="0"/>
              <a:t>其中，</a:t>
            </a:r>
            <a:r>
              <a:rPr lang="en-US" altLang="zh-CN" sz="2400" b="1" i="1" dirty="0" smtClean="0"/>
              <a:t>P </a:t>
            </a:r>
            <a:r>
              <a:rPr lang="en-US" altLang="zh-CN" sz="2400" b="1" i="1" dirty="0"/>
              <a:t>= </a:t>
            </a:r>
            <a:r>
              <a:rPr lang="en-US" altLang="zh-CN" sz="2400" b="1" dirty="0"/>
              <a:t>E{d(n)</a:t>
            </a:r>
            <a:r>
              <a:rPr lang="en-US" altLang="zh-CN" sz="2400" b="1" i="1" dirty="0">
                <a:ea typeface="宋体" charset="-122"/>
              </a:rPr>
              <a:t> X</a:t>
            </a:r>
            <a:r>
              <a:rPr lang="en-US" altLang="zh-CN" sz="2400" b="1" dirty="0">
                <a:ea typeface="宋体" charset="-122"/>
              </a:rPr>
              <a:t>(n)</a:t>
            </a:r>
            <a:r>
              <a:rPr lang="en-US" altLang="zh-CN" sz="2400" b="1" dirty="0"/>
              <a:t>} </a:t>
            </a:r>
            <a:r>
              <a:rPr lang="zh-CN" altLang="en-US" sz="2400" b="1" dirty="0"/>
              <a:t>为互相关矩阵，</a:t>
            </a:r>
            <a:r>
              <a:rPr lang="en-US" altLang="zh-CN" sz="2400" b="1" dirty="0"/>
              <a:t> </a:t>
            </a:r>
            <a:r>
              <a:rPr lang="en-US" altLang="zh-CN" sz="2400" b="1" i="1" dirty="0"/>
              <a:t>R </a:t>
            </a:r>
            <a:r>
              <a:rPr lang="en-US" altLang="zh-CN" sz="2400" b="1" dirty="0"/>
              <a:t>= E{</a:t>
            </a:r>
            <a:r>
              <a:rPr lang="en-US" altLang="zh-CN" sz="2400" b="1" i="1" dirty="0">
                <a:ea typeface="宋体" charset="-122"/>
              </a:rPr>
              <a:t>X</a:t>
            </a:r>
            <a:r>
              <a:rPr lang="en-US" altLang="zh-CN" sz="2400" b="1" dirty="0">
                <a:ea typeface="宋体" charset="-122"/>
              </a:rPr>
              <a:t>(n)</a:t>
            </a:r>
            <a:r>
              <a:rPr lang="en-US" altLang="zh-CN" sz="2400" b="1" i="1" dirty="0">
                <a:ea typeface="宋体" charset="-122"/>
              </a:rPr>
              <a:t> X</a:t>
            </a:r>
            <a:r>
              <a:rPr lang="en-US" altLang="zh-CN" sz="2400" b="1" baseline="30000" dirty="0">
                <a:ea typeface="宋体" charset="-122"/>
              </a:rPr>
              <a:t>T </a:t>
            </a:r>
            <a:r>
              <a:rPr lang="en-US" altLang="zh-CN" sz="2400" b="1" dirty="0">
                <a:ea typeface="宋体" charset="-122"/>
              </a:rPr>
              <a:t>(n) </a:t>
            </a:r>
            <a:r>
              <a:rPr lang="zh-CN" altLang="en-US" sz="2400" b="1" dirty="0" smtClean="0">
                <a:ea typeface="宋体" charset="-122"/>
              </a:rPr>
              <a:t>为</a:t>
            </a:r>
            <a:r>
              <a:rPr lang="zh-CN" altLang="en-US" sz="2400" b="1" dirty="0">
                <a:ea typeface="宋体" charset="-122"/>
              </a:rPr>
              <a:t>自相关矩阵</a:t>
            </a:r>
            <a:endParaRPr lang="zh-CN" altLang="en-US" sz="2400" dirty="0"/>
          </a:p>
        </p:txBody>
      </p:sp>
      <p:sp>
        <p:nvSpPr>
          <p:cNvPr id="9" name="矩形 8"/>
          <p:cNvSpPr/>
          <p:nvPr/>
        </p:nvSpPr>
        <p:spPr>
          <a:xfrm>
            <a:off x="1259632" y="3861048"/>
            <a:ext cx="7344816" cy="2677656"/>
          </a:xfrm>
          <a:prstGeom prst="rect">
            <a:avLst/>
          </a:prstGeom>
        </p:spPr>
        <p:txBody>
          <a:bodyPr wrap="square">
            <a:spAutoFit/>
          </a:bodyPr>
          <a:lstStyle/>
          <a:p>
            <a:r>
              <a:rPr lang="zh-CN" altLang="en-US" sz="2400" b="1" dirty="0" smtClean="0"/>
              <a:t>性能分析：</a:t>
            </a:r>
            <a:endParaRPr lang="en-US" altLang="zh-CN" sz="2400" b="1" dirty="0" smtClean="0"/>
          </a:p>
          <a:p>
            <a:pPr marL="342900" indent="-342900">
              <a:buFont typeface="Arial" panose="020B0604020202020204" pitchFamily="34" charset="0"/>
              <a:buChar char="•"/>
            </a:pPr>
            <a:r>
              <a:rPr lang="zh-CN" altLang="en-US" sz="2400" b="1" dirty="0"/>
              <a:t>利用平稳随机过程的相关特性和</a:t>
            </a:r>
            <a:r>
              <a:rPr lang="zh-CN" altLang="en-US" sz="2400" b="1" dirty="0" smtClean="0"/>
              <a:t>频谱特性，对</a:t>
            </a:r>
            <a:r>
              <a:rPr lang="zh-CN" altLang="en-US" sz="2400" b="1" dirty="0"/>
              <a:t>混有噪声的</a:t>
            </a:r>
            <a:r>
              <a:rPr lang="zh-CN" altLang="en-US" sz="2400" b="1" dirty="0" smtClean="0"/>
              <a:t>信号进行滤波，奠定了最优滤波理论的基础。</a:t>
            </a:r>
            <a:endParaRPr lang="en-US" altLang="zh-CN" sz="2400" b="1" dirty="0" smtClean="0"/>
          </a:p>
          <a:p>
            <a:pPr marL="342900" indent="-342900">
              <a:buFont typeface="Arial" panose="020B0604020202020204" pitchFamily="34" charset="0"/>
              <a:buChar char="•"/>
            </a:pPr>
            <a:r>
              <a:rPr lang="zh-CN" altLang="en-US" sz="2400" b="1" dirty="0" smtClean="0"/>
              <a:t>当输入过程</a:t>
            </a:r>
            <a:r>
              <a:rPr lang="zh-CN" altLang="en-US" sz="2400" b="1" dirty="0"/>
              <a:t>是广义</a:t>
            </a:r>
            <a:r>
              <a:rPr lang="zh-CN" altLang="en-US" sz="2400" b="1" dirty="0" smtClean="0"/>
              <a:t>平稳的，且统计特性已知时，能够取得较好的结果。</a:t>
            </a:r>
            <a:endParaRPr lang="en-US" altLang="zh-CN" sz="2400" b="1" dirty="0" smtClean="0"/>
          </a:p>
          <a:p>
            <a:pPr marL="342900" indent="-342900">
              <a:buFont typeface="Arial" panose="020B0604020202020204" pitchFamily="34" charset="0"/>
              <a:buChar char="•"/>
            </a:pPr>
            <a:r>
              <a:rPr lang="zh-CN" altLang="en-US" sz="2400" b="1" dirty="0" smtClean="0"/>
              <a:t>但是，输入过程</a:t>
            </a:r>
            <a:r>
              <a:rPr lang="zh-CN" altLang="en-US" sz="2400" b="1" dirty="0"/>
              <a:t>取决于</a:t>
            </a:r>
            <a:r>
              <a:rPr lang="zh-CN" altLang="en-US" sz="2400" b="1" dirty="0" smtClean="0"/>
              <a:t>外界</a:t>
            </a:r>
            <a:r>
              <a:rPr lang="zh-CN" altLang="en-US" sz="2400" b="1" dirty="0"/>
              <a:t>环境</a:t>
            </a:r>
            <a:r>
              <a:rPr lang="zh-CN" altLang="en-US" sz="2400" b="1" dirty="0" smtClean="0"/>
              <a:t>的信号和干扰，其统计特性</a:t>
            </a:r>
            <a:r>
              <a:rPr lang="zh-CN" altLang="en-US" sz="2400" b="1" dirty="0"/>
              <a:t>常常是未知的、变化</a:t>
            </a:r>
            <a:r>
              <a:rPr lang="zh-CN" altLang="en-US" sz="2400" b="1" dirty="0" smtClean="0"/>
              <a:t>的。</a:t>
            </a:r>
            <a:endParaRPr lang="zh-CN" altLang="en-US" sz="2400" b="1" dirty="0"/>
          </a:p>
        </p:txBody>
      </p:sp>
      <p:sp>
        <p:nvSpPr>
          <p:cNvPr id="10" name="矩形 9"/>
          <p:cNvSpPr/>
          <p:nvPr/>
        </p:nvSpPr>
        <p:spPr>
          <a:xfrm>
            <a:off x="4570500" y="3507105"/>
            <a:ext cx="3384376" cy="707886"/>
          </a:xfrm>
          <a:prstGeom prst="rect">
            <a:avLst/>
          </a:prstGeom>
        </p:spPr>
        <p:txBody>
          <a:bodyPr wrap="square">
            <a:spAutoFit/>
          </a:bodyPr>
          <a:lstStyle/>
          <a:p>
            <a:r>
              <a:rPr lang="zh-CN" altLang="en-US" sz="4000" b="1" dirty="0" smtClean="0">
                <a:solidFill>
                  <a:srgbClr val="FF0000"/>
                </a:solidFill>
              </a:rPr>
              <a:t>自适应滤波？</a:t>
            </a:r>
            <a:endParaRPr lang="zh-CN" altLang="en-US" sz="4000" b="1" dirty="0">
              <a:solidFill>
                <a:srgbClr val="FF0000"/>
              </a:solidFill>
            </a:endParaRPr>
          </a:p>
        </p:txBody>
      </p:sp>
    </p:spTree>
    <p:extLst>
      <p:ext uri="{BB962C8B-B14F-4D97-AF65-F5344CB8AC3E}">
        <p14:creationId xmlns:p14="http://schemas.microsoft.com/office/powerpoint/2010/main" val="2838656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075"/>
                                        </p:tgtEl>
                                        <p:attrNameLst>
                                          <p:attrName>style.visibility</p:attrName>
                                        </p:attrNameLst>
                                      </p:cBhvr>
                                      <p:to>
                                        <p:strVal val="visible"/>
                                      </p:to>
                                    </p:set>
                                    <p:anim calcmode="lin" valueType="num">
                                      <p:cBhvr additive="base">
                                        <p:cTn id="11" dur="500" fill="hold"/>
                                        <p:tgtEl>
                                          <p:spTgt spid="3075"/>
                                        </p:tgtEl>
                                        <p:attrNameLst>
                                          <p:attrName>ppt_x</p:attrName>
                                        </p:attrNameLst>
                                      </p:cBhvr>
                                      <p:tavLst>
                                        <p:tav tm="0">
                                          <p:val>
                                            <p:strVal val="#ppt_x"/>
                                          </p:val>
                                        </p:tav>
                                        <p:tav tm="100000">
                                          <p:val>
                                            <p:strVal val="#ppt_x"/>
                                          </p:val>
                                        </p:tav>
                                      </p:tavLst>
                                    </p:anim>
                                    <p:anim calcmode="lin" valueType="num">
                                      <p:cBhvr additive="base">
                                        <p:cTn id="12" dur="500" fill="hold"/>
                                        <p:tgtEl>
                                          <p:spTgt spid="307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ppt_x"/>
                                          </p:val>
                                        </p:tav>
                                        <p:tav tm="100000">
                                          <p:val>
                                            <p:strVal val="#ppt_x"/>
                                          </p:val>
                                        </p:tav>
                                      </p:tavLst>
                                    </p:anim>
                                    <p:anim calcmode="lin" valueType="num">
                                      <p:cBhvr additive="base">
                                        <p:cTn id="1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ppt_x"/>
                                          </p:val>
                                        </p:tav>
                                        <p:tav tm="100000">
                                          <p:val>
                                            <p:strVal val="#ppt_x"/>
                                          </p:val>
                                        </p:tav>
                                      </p:tavLst>
                                    </p:anim>
                                    <p:anim calcmode="lin" valueType="num">
                                      <p:cBhvr additive="base">
                                        <p:cTn id="2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9" grpId="0"/>
      <p:bldP spid="1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4.3 </a:t>
            </a:r>
            <a:r>
              <a:rPr lang="zh-CN" altLang="en-US" b="1" dirty="0" smtClean="0"/>
              <a:t>最小二乘滤波（</a:t>
            </a:r>
            <a:r>
              <a:rPr lang="en-US" altLang="zh-CN" b="1" dirty="0" smtClean="0"/>
              <a:t>LMS Filter</a:t>
            </a:r>
            <a:r>
              <a:rPr lang="zh-CN" altLang="en-US" b="1" dirty="0" smtClean="0"/>
              <a:t>）</a:t>
            </a:r>
            <a:endParaRPr lang="zh-CN" altLang="en-US" b="1" dirty="0"/>
          </a:p>
        </p:txBody>
      </p:sp>
      <p:sp>
        <p:nvSpPr>
          <p:cNvPr id="3" name="内容占位符 2"/>
          <p:cNvSpPr>
            <a:spLocks noGrp="1"/>
          </p:cNvSpPr>
          <p:nvPr>
            <p:ph idx="1"/>
          </p:nvPr>
        </p:nvSpPr>
        <p:spPr>
          <a:xfrm>
            <a:off x="755576" y="2054696"/>
            <a:ext cx="8388424" cy="4038600"/>
          </a:xfrm>
        </p:spPr>
        <p:txBody>
          <a:bodyPr/>
          <a:lstStyle/>
          <a:p>
            <a:pPr>
              <a:lnSpc>
                <a:spcPct val="200000"/>
              </a:lnSpc>
            </a:pPr>
            <a:r>
              <a:rPr lang="zh-CN" altLang="en-US" sz="2800" b="1" dirty="0" smtClean="0"/>
              <a:t>梯度下降算法（</a:t>
            </a:r>
            <a:r>
              <a:rPr lang="en-US" altLang="zh-CN" sz="2800" b="1" dirty="0"/>
              <a:t>Steepest Descent Algorithm</a:t>
            </a:r>
            <a:r>
              <a:rPr lang="zh-CN" altLang="en-US" sz="2800" b="1" dirty="0" smtClean="0"/>
              <a:t>）</a:t>
            </a:r>
            <a:endParaRPr lang="en-US" altLang="zh-CN" sz="2800" b="1" dirty="0" smtClean="0"/>
          </a:p>
          <a:p>
            <a:pPr>
              <a:lnSpc>
                <a:spcPct val="200000"/>
              </a:lnSpc>
            </a:pPr>
            <a:r>
              <a:rPr lang="zh-CN" altLang="en-US" sz="2800" b="1" dirty="0" smtClean="0"/>
              <a:t>最小二乘算法（</a:t>
            </a:r>
            <a:r>
              <a:rPr lang="en-US" altLang="zh-CN" sz="2800" b="1" dirty="0" smtClean="0"/>
              <a:t>Least-mean-square algorithm</a:t>
            </a:r>
            <a:r>
              <a:rPr lang="zh-CN" altLang="en-US" sz="2800" b="1" dirty="0" smtClean="0"/>
              <a:t>）</a:t>
            </a:r>
            <a:endParaRPr lang="en-US" altLang="zh-CN" sz="2800" b="1" dirty="0" smtClean="0"/>
          </a:p>
          <a:p>
            <a:pPr>
              <a:lnSpc>
                <a:spcPct val="200000"/>
              </a:lnSpc>
            </a:pPr>
            <a:r>
              <a:rPr lang="zh-CN" altLang="en-US" sz="2800" b="1" dirty="0" smtClean="0"/>
              <a:t>性能分析</a:t>
            </a:r>
            <a:endParaRPr lang="zh-CN" altLang="en-US" b="1" dirty="0"/>
          </a:p>
        </p:txBody>
      </p:sp>
      <p:sp>
        <p:nvSpPr>
          <p:cNvPr id="4" name="灯片编号占位符 3"/>
          <p:cNvSpPr>
            <a:spLocks noGrp="1"/>
          </p:cNvSpPr>
          <p:nvPr>
            <p:ph type="sldNum" sz="quarter" idx="12"/>
          </p:nvPr>
        </p:nvSpPr>
        <p:spPr/>
        <p:txBody>
          <a:bodyPr/>
          <a:lstStyle/>
          <a:p>
            <a:pPr>
              <a:defRPr/>
            </a:pPr>
            <a:fld id="{3ACE1859-598D-4001-8269-61C428827EE7}" type="slidenum">
              <a:rPr lang="zh-CN" altLang="en-US" smtClean="0"/>
              <a:pPr>
                <a:defRPr/>
              </a:pPr>
              <a:t>26</a:t>
            </a:fld>
            <a:endParaRPr lang="zh-CN" altLang="en-US"/>
          </a:p>
        </p:txBody>
      </p:sp>
    </p:spTree>
    <p:extLst>
      <p:ext uri="{BB962C8B-B14F-4D97-AF65-F5344CB8AC3E}">
        <p14:creationId xmlns:p14="http://schemas.microsoft.com/office/powerpoint/2010/main" val="400333666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zh-CN" altLang="en-US" b="1" dirty="0"/>
              <a:t>最小二乘滤波（</a:t>
            </a:r>
            <a:r>
              <a:rPr lang="en-US" altLang="zh-CN" b="1" dirty="0"/>
              <a:t>LMS Filter</a:t>
            </a:r>
            <a:r>
              <a:rPr lang="zh-CN" altLang="en-US" b="1" dirty="0"/>
              <a:t>）</a:t>
            </a:r>
            <a:endParaRPr lang="zh-TW" altLang="en-US" dirty="0">
              <a:solidFill>
                <a:srgbClr val="000000"/>
              </a:solidFill>
              <a:latin typeface="Arial" pitchFamily="34" charset="0"/>
              <a:ea typeface="新細明體" pitchFamily="18" charset="-120"/>
            </a:endParaRPr>
          </a:p>
        </p:txBody>
      </p:sp>
      <p:sp>
        <p:nvSpPr>
          <p:cNvPr id="60419" name="Rectangle 3" descr="Rectangle: Click to edit Master text styles&#10;Second level&#10;Third level&#10;Fourth level&#10;Fifth level"/>
          <p:cNvSpPr>
            <a:spLocks noGrp="1" noChangeArrowheads="1"/>
          </p:cNvSpPr>
          <p:nvPr>
            <p:ph type="body" idx="1"/>
          </p:nvPr>
        </p:nvSpPr>
        <p:spPr>
          <a:xfrm>
            <a:off x="971600" y="1982688"/>
            <a:ext cx="7992888" cy="4038600"/>
          </a:xfrm>
        </p:spPr>
        <p:txBody>
          <a:bodyPr/>
          <a:lstStyle/>
          <a:p>
            <a:pPr>
              <a:lnSpc>
                <a:spcPct val="90000"/>
              </a:lnSpc>
            </a:pPr>
            <a:r>
              <a:rPr lang="zh-CN" altLang="en-US" sz="2800" dirty="0" smtClean="0">
                <a:solidFill>
                  <a:srgbClr val="000000"/>
                </a:solidFill>
                <a:latin typeface="Arial" pitchFamily="34" charset="0"/>
                <a:ea typeface="AdobePiStd" charset="-122"/>
              </a:rPr>
              <a:t>由</a:t>
            </a:r>
            <a:r>
              <a:rPr lang="en-US" altLang="zh-TW" sz="2800" dirty="0" err="1" smtClean="0">
                <a:solidFill>
                  <a:srgbClr val="000000"/>
                </a:solidFill>
                <a:latin typeface="Arial" pitchFamily="34" charset="0"/>
                <a:ea typeface="AdobePiStd" charset="-122"/>
              </a:rPr>
              <a:t>Widrow</a:t>
            </a:r>
            <a:r>
              <a:rPr lang="en-US" altLang="zh-TW" sz="2800" dirty="0" smtClean="0">
                <a:solidFill>
                  <a:srgbClr val="000000"/>
                </a:solidFill>
                <a:latin typeface="Arial" pitchFamily="34" charset="0"/>
                <a:ea typeface="AdobePiStd" charset="-122"/>
              </a:rPr>
              <a:t> </a:t>
            </a:r>
            <a:r>
              <a:rPr lang="en-US" altLang="zh-TW" sz="2800" dirty="0">
                <a:solidFill>
                  <a:srgbClr val="000000"/>
                </a:solidFill>
                <a:latin typeface="Arial" pitchFamily="34" charset="0"/>
                <a:ea typeface="AdobePiStd" charset="-122"/>
              </a:rPr>
              <a:t>&amp; Hoff </a:t>
            </a:r>
            <a:r>
              <a:rPr lang="zh-CN" altLang="en-US" sz="2800" dirty="0" smtClean="0">
                <a:solidFill>
                  <a:srgbClr val="000000"/>
                </a:solidFill>
                <a:latin typeface="Arial" pitchFamily="34" charset="0"/>
                <a:ea typeface="AdobePiStd" charset="-122"/>
              </a:rPr>
              <a:t>在</a:t>
            </a:r>
            <a:r>
              <a:rPr lang="en-US" altLang="zh-TW" sz="2800" dirty="0" smtClean="0">
                <a:solidFill>
                  <a:srgbClr val="000000"/>
                </a:solidFill>
                <a:latin typeface="Arial" pitchFamily="34" charset="0"/>
                <a:ea typeface="AdobePiStd" charset="-122"/>
              </a:rPr>
              <a:t>1959</a:t>
            </a:r>
            <a:r>
              <a:rPr lang="zh-CN" altLang="en-US" sz="2800" dirty="0" smtClean="0">
                <a:solidFill>
                  <a:srgbClr val="000000"/>
                </a:solidFill>
                <a:latin typeface="Arial" pitchFamily="34" charset="0"/>
                <a:ea typeface="AdobePiStd" charset="-122"/>
              </a:rPr>
              <a:t>年提出</a:t>
            </a:r>
            <a:endParaRPr lang="en-US" altLang="zh-CN" sz="2800" dirty="0" smtClean="0">
              <a:solidFill>
                <a:srgbClr val="000000"/>
              </a:solidFill>
              <a:latin typeface="Arial" pitchFamily="34" charset="0"/>
              <a:ea typeface="AdobePiStd" charset="-122"/>
            </a:endParaRPr>
          </a:p>
          <a:p>
            <a:pPr>
              <a:lnSpc>
                <a:spcPct val="90000"/>
              </a:lnSpc>
            </a:pPr>
            <a:endParaRPr lang="en-US" altLang="zh-TW" sz="2800" dirty="0">
              <a:solidFill>
                <a:srgbClr val="000000"/>
              </a:solidFill>
              <a:latin typeface="Arial" pitchFamily="34" charset="0"/>
              <a:ea typeface="AdobePiStd" charset="-122"/>
            </a:endParaRPr>
          </a:p>
          <a:p>
            <a:pPr>
              <a:lnSpc>
                <a:spcPct val="90000"/>
              </a:lnSpc>
            </a:pPr>
            <a:r>
              <a:rPr lang="zh-CN" altLang="en-US" sz="2800" dirty="0" smtClean="0">
                <a:solidFill>
                  <a:srgbClr val="000000"/>
                </a:solidFill>
                <a:latin typeface="Arial" pitchFamily="34" charset="0"/>
                <a:ea typeface="AdobePiStd" charset="-122"/>
              </a:rPr>
              <a:t>位列自适应算法的</a:t>
            </a:r>
            <a:r>
              <a:rPr lang="en-US" altLang="zh-TW" sz="2800" dirty="0" smtClean="0">
                <a:solidFill>
                  <a:srgbClr val="000000"/>
                </a:solidFill>
                <a:latin typeface="Arial" pitchFamily="34" charset="0"/>
                <a:ea typeface="AdobePiStd" charset="-122"/>
              </a:rPr>
              <a:t>Top</a:t>
            </a:r>
            <a:r>
              <a:rPr lang="en-US" altLang="zh-CN" sz="2800" dirty="0" smtClean="0">
                <a:solidFill>
                  <a:srgbClr val="000000"/>
                </a:solidFill>
                <a:latin typeface="Arial" pitchFamily="34" charset="0"/>
                <a:ea typeface="AdobePiStd" charset="-122"/>
              </a:rPr>
              <a:t>10</a:t>
            </a:r>
            <a:endParaRPr lang="en-US" altLang="zh-TW" sz="2800" dirty="0">
              <a:solidFill>
                <a:srgbClr val="000000"/>
              </a:solidFill>
              <a:latin typeface="Arial" pitchFamily="34" charset="0"/>
              <a:ea typeface="AdobePiStd" charset="-122"/>
            </a:endParaRPr>
          </a:p>
          <a:p>
            <a:pPr>
              <a:lnSpc>
                <a:spcPct val="90000"/>
              </a:lnSpc>
              <a:buNone/>
            </a:pPr>
            <a:r>
              <a:rPr lang="en-US" altLang="zh-TW" sz="2800" dirty="0">
                <a:solidFill>
                  <a:srgbClr val="000000"/>
                </a:solidFill>
                <a:latin typeface="AdobePiStd" charset="-122"/>
                <a:ea typeface="AdobePiStd" charset="-122"/>
              </a:rPr>
              <a:t> </a:t>
            </a:r>
            <a:r>
              <a:rPr lang="en-US" altLang="zh-TW" sz="2800" dirty="0" smtClean="0">
                <a:solidFill>
                  <a:srgbClr val="000000"/>
                </a:solidFill>
                <a:latin typeface="AdobePiStd" charset="-122"/>
                <a:ea typeface="AdobePiStd" charset="-122"/>
              </a:rPr>
              <a:t>   ✔ </a:t>
            </a:r>
            <a:r>
              <a:rPr lang="zh-CN" altLang="en-US" sz="2800" dirty="0" smtClean="0">
                <a:solidFill>
                  <a:srgbClr val="000000"/>
                </a:solidFill>
                <a:latin typeface="AdobePiStd" charset="-122"/>
                <a:ea typeface="AdobePiStd" charset="-122"/>
              </a:rPr>
              <a:t>算法简单，自适应调整过程速度快</a:t>
            </a:r>
            <a:endParaRPr lang="en-US" altLang="zh-CN" sz="2800" dirty="0" smtClean="0">
              <a:solidFill>
                <a:srgbClr val="000000"/>
              </a:solidFill>
              <a:latin typeface="AdobePiStd" charset="-122"/>
              <a:ea typeface="AdobePiStd" charset="-122"/>
            </a:endParaRPr>
          </a:p>
          <a:p>
            <a:pPr>
              <a:lnSpc>
                <a:spcPct val="90000"/>
              </a:lnSpc>
              <a:buNone/>
            </a:pPr>
            <a:r>
              <a:rPr lang="en-US" altLang="zh-TW" sz="2800" dirty="0" smtClean="0">
                <a:solidFill>
                  <a:srgbClr val="6600FF"/>
                </a:solidFill>
                <a:latin typeface="Arial" pitchFamily="34" charset="0"/>
                <a:ea typeface="AdobePiStd" charset="-122"/>
              </a:rPr>
              <a:t>       </a:t>
            </a:r>
            <a:r>
              <a:rPr lang="en-US" altLang="zh-TW" sz="2800" dirty="0" smtClean="0">
                <a:solidFill>
                  <a:srgbClr val="000000"/>
                </a:solidFill>
                <a:latin typeface="AdobePiStd" charset="-122"/>
                <a:ea typeface="AdobePiStd" charset="-122"/>
              </a:rPr>
              <a:t>✔ </a:t>
            </a:r>
            <a:r>
              <a:rPr lang="zh-CN" altLang="en-US" sz="2800" dirty="0" smtClean="0">
                <a:solidFill>
                  <a:srgbClr val="000000"/>
                </a:solidFill>
                <a:latin typeface="AdobePiStd" charset="-122"/>
                <a:ea typeface="AdobePiStd" charset="-122"/>
              </a:rPr>
              <a:t>属于梯度下降算法，可以保证收敛性</a:t>
            </a:r>
            <a:endParaRPr lang="en-US" altLang="zh-TW" sz="2800" dirty="0">
              <a:solidFill>
                <a:srgbClr val="000000"/>
              </a:solidFill>
              <a:latin typeface="AdobePiStd" charset="-122"/>
              <a:ea typeface="AdobePiStd" charset="-122"/>
            </a:endParaRPr>
          </a:p>
          <a:p>
            <a:pPr>
              <a:lnSpc>
                <a:spcPct val="90000"/>
              </a:lnSpc>
              <a:buFont typeface="Wingdings" pitchFamily="2" charset="2"/>
              <a:buNone/>
            </a:pPr>
            <a:endParaRPr lang="zh-TW" altLang="en-US" dirty="0">
              <a:ea typeface="新細明體" pitchFamily="18" charset="-120"/>
            </a:endParaRPr>
          </a:p>
        </p:txBody>
      </p:sp>
    </p:spTree>
    <p:extLst>
      <p:ext uri="{BB962C8B-B14F-4D97-AF65-F5344CB8AC3E}">
        <p14:creationId xmlns:p14="http://schemas.microsoft.com/office/powerpoint/2010/main" val="365662052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3" descr="Rectangle: Click to edit Master text styles&#10;Second level&#10;Third level&#10;Fourth level&#10;Fifth level"/>
          <p:cNvSpPr>
            <a:spLocks noGrp="1" noChangeArrowheads="1"/>
          </p:cNvSpPr>
          <p:nvPr>
            <p:ph type="body" idx="1"/>
          </p:nvPr>
        </p:nvSpPr>
        <p:spPr>
          <a:xfrm>
            <a:off x="976064" y="1648544"/>
            <a:ext cx="7772400" cy="4876800"/>
          </a:xfrm>
        </p:spPr>
        <p:txBody>
          <a:bodyPr/>
          <a:lstStyle/>
          <a:p>
            <a:pPr>
              <a:buFont typeface="Wingdings" pitchFamily="2" charset="2"/>
              <a:buNone/>
            </a:pPr>
            <a:r>
              <a:rPr lang="zh-TW" altLang="en-US" dirty="0">
                <a:solidFill>
                  <a:srgbClr val="000000"/>
                </a:solidFill>
                <a:latin typeface="AdobePiStd" charset="-122"/>
                <a:ea typeface="AdobePiStd" charset="-122"/>
              </a:rPr>
              <a:t>❏ </a:t>
            </a:r>
            <a:r>
              <a:rPr lang="en-US" altLang="zh-TW" b="1" dirty="0">
                <a:solidFill>
                  <a:srgbClr val="000000"/>
                </a:solidFill>
                <a:latin typeface="Arial" pitchFamily="34" charset="0"/>
                <a:ea typeface="AdobePiStd" charset="-122"/>
              </a:rPr>
              <a:t>LMS </a:t>
            </a:r>
            <a:r>
              <a:rPr lang="en-US" altLang="zh-TW" b="1" dirty="0" smtClean="0">
                <a:solidFill>
                  <a:srgbClr val="000000"/>
                </a:solidFill>
                <a:latin typeface="Arial" pitchFamily="34" charset="0"/>
                <a:ea typeface="AdobePiStd" charset="-122"/>
              </a:rPr>
              <a:t>filtering</a:t>
            </a:r>
            <a:r>
              <a:rPr lang="zh-CN" altLang="en-US" b="1" dirty="0" smtClean="0">
                <a:solidFill>
                  <a:srgbClr val="000000"/>
                </a:solidFill>
                <a:latin typeface="Arial" pitchFamily="34" charset="0"/>
                <a:ea typeface="AdobePiStd" charset="-122"/>
              </a:rPr>
              <a:t>分为</a:t>
            </a:r>
            <a:r>
              <a:rPr lang="zh-CN" altLang="en-US" b="1" dirty="0" smtClean="0">
                <a:solidFill>
                  <a:srgbClr val="000000"/>
                </a:solidFill>
                <a:latin typeface="AdobePiStd" charset="-122"/>
                <a:ea typeface="AdobePiStd" charset="-122"/>
              </a:rPr>
              <a:t>两个步骤：</a:t>
            </a:r>
            <a:endParaRPr lang="en-US" altLang="zh-TW" b="1" dirty="0">
              <a:solidFill>
                <a:srgbClr val="000000"/>
              </a:solidFill>
              <a:latin typeface="Arial" pitchFamily="34" charset="0"/>
              <a:ea typeface="AdobePiStd" charset="-122"/>
            </a:endParaRPr>
          </a:p>
          <a:p>
            <a:pPr>
              <a:buFont typeface="Wingdings" pitchFamily="2" charset="2"/>
              <a:buNone/>
            </a:pPr>
            <a:r>
              <a:rPr lang="en-US" altLang="zh-TW" dirty="0">
                <a:solidFill>
                  <a:srgbClr val="000000"/>
                </a:solidFill>
                <a:latin typeface="AdobePiStd" charset="-122"/>
                <a:ea typeface="AdobePiStd" charset="-122"/>
              </a:rPr>
              <a:t>    ✔ </a:t>
            </a:r>
            <a:r>
              <a:rPr lang="en-US" altLang="zh-TW" dirty="0" smtClean="0">
                <a:solidFill>
                  <a:srgbClr val="000000"/>
                </a:solidFill>
                <a:latin typeface="Arial" pitchFamily="34" charset="0"/>
                <a:ea typeface="AdobePiStd" charset="-122"/>
              </a:rPr>
              <a:t>Filtering, </a:t>
            </a:r>
            <a:r>
              <a:rPr lang="en-US" altLang="zh-TW" dirty="0">
                <a:solidFill>
                  <a:srgbClr val="000000"/>
                </a:solidFill>
                <a:latin typeface="Arial" pitchFamily="34" charset="0"/>
                <a:ea typeface="AdobePiStd" charset="-122"/>
              </a:rPr>
              <a:t>producing</a:t>
            </a:r>
          </a:p>
          <a:p>
            <a:pPr>
              <a:buFont typeface="Wingdings" pitchFamily="2" charset="2"/>
              <a:buNone/>
            </a:pPr>
            <a:r>
              <a:rPr lang="en-US" altLang="zh-TW" dirty="0">
                <a:solidFill>
                  <a:srgbClr val="000000"/>
                </a:solidFill>
                <a:latin typeface="Arial" pitchFamily="34" charset="0"/>
                <a:ea typeface="AdobePiStd" charset="-122"/>
              </a:rPr>
              <a:t>        1) output signal</a:t>
            </a:r>
          </a:p>
          <a:p>
            <a:pPr>
              <a:buFont typeface="Wingdings" pitchFamily="2" charset="2"/>
              <a:buNone/>
            </a:pPr>
            <a:r>
              <a:rPr lang="en-US" altLang="zh-TW" dirty="0">
                <a:solidFill>
                  <a:srgbClr val="000000"/>
                </a:solidFill>
                <a:latin typeface="Arial" pitchFamily="34" charset="0"/>
                <a:ea typeface="AdobePiStd" charset="-122"/>
              </a:rPr>
              <a:t>        2) estimation error</a:t>
            </a:r>
          </a:p>
          <a:p>
            <a:pPr>
              <a:buFont typeface="Wingdings" pitchFamily="2" charset="2"/>
              <a:buNone/>
            </a:pPr>
            <a:r>
              <a:rPr lang="en-US" altLang="zh-TW" dirty="0">
                <a:solidFill>
                  <a:srgbClr val="000000"/>
                </a:solidFill>
                <a:latin typeface="AdobePiStd" charset="-122"/>
                <a:ea typeface="AdobePiStd" charset="-122"/>
              </a:rPr>
              <a:t>    ✔ </a:t>
            </a:r>
            <a:r>
              <a:rPr lang="en-US" altLang="zh-TW" dirty="0">
                <a:solidFill>
                  <a:srgbClr val="000000"/>
                </a:solidFill>
                <a:latin typeface="Arial" pitchFamily="34" charset="0"/>
                <a:ea typeface="AdobePiStd" charset="-122"/>
              </a:rPr>
              <a:t>Adaptive process</a:t>
            </a:r>
            <a:r>
              <a:rPr lang="en-US" altLang="zh-TW" dirty="0" smtClean="0">
                <a:solidFill>
                  <a:srgbClr val="000000"/>
                </a:solidFill>
                <a:latin typeface="Arial" pitchFamily="34" charset="0"/>
                <a:ea typeface="AdobePiStd" charset="-122"/>
              </a:rPr>
              <a:t>, </a:t>
            </a:r>
            <a:r>
              <a:rPr lang="en-US" altLang="zh-TW" dirty="0">
                <a:solidFill>
                  <a:srgbClr val="000000"/>
                </a:solidFill>
                <a:latin typeface="Arial" pitchFamily="34" charset="0"/>
                <a:ea typeface="AdobePiStd" charset="-122"/>
              </a:rPr>
              <a:t>automatic </a:t>
            </a:r>
          </a:p>
          <a:p>
            <a:pPr>
              <a:buFont typeface="Wingdings" pitchFamily="2" charset="2"/>
              <a:buNone/>
            </a:pPr>
            <a:r>
              <a:rPr lang="en-US" altLang="zh-TW" dirty="0">
                <a:solidFill>
                  <a:srgbClr val="000000"/>
                </a:solidFill>
                <a:latin typeface="Arial" pitchFamily="34" charset="0"/>
                <a:ea typeface="AdobePiStd" charset="-122"/>
              </a:rPr>
              <a:t>        adjustment of filter tap weights</a:t>
            </a:r>
            <a:endParaRPr lang="en-US" altLang="zh-TW" dirty="0">
              <a:solidFill>
                <a:srgbClr val="000000"/>
              </a:solidFill>
              <a:latin typeface="AdobePiStd" charset="-122"/>
              <a:ea typeface="AdobePiStd" charset="-122"/>
            </a:endParaRPr>
          </a:p>
          <a:p>
            <a:pPr>
              <a:buFont typeface="Wingdings" pitchFamily="2" charset="2"/>
              <a:buNone/>
            </a:pPr>
            <a:endParaRPr lang="zh-TW" altLang="en-US" dirty="0">
              <a:solidFill>
                <a:srgbClr val="000000"/>
              </a:solidFill>
              <a:ea typeface="新細明體" pitchFamily="18" charset="-120"/>
            </a:endParaRPr>
          </a:p>
        </p:txBody>
      </p:sp>
      <p:sp>
        <p:nvSpPr>
          <p:cNvPr id="4" name="Rectangle 2"/>
          <p:cNvSpPr>
            <a:spLocks noGrp="1" noChangeArrowheads="1"/>
          </p:cNvSpPr>
          <p:nvPr>
            <p:ph type="title"/>
          </p:nvPr>
        </p:nvSpPr>
        <p:spPr>
          <a:xfrm>
            <a:off x="1219200" y="609600"/>
            <a:ext cx="7543800" cy="762000"/>
          </a:xfrm>
        </p:spPr>
        <p:txBody>
          <a:bodyPr/>
          <a:lstStyle/>
          <a:p>
            <a:r>
              <a:rPr lang="zh-CN" altLang="en-US" b="1" dirty="0"/>
              <a:t>最小二乘滤波（</a:t>
            </a:r>
            <a:r>
              <a:rPr lang="en-US" altLang="zh-CN" b="1" dirty="0"/>
              <a:t>LMS Filter</a:t>
            </a:r>
            <a:r>
              <a:rPr lang="zh-CN" altLang="en-US" b="1" dirty="0"/>
              <a:t>）</a:t>
            </a:r>
            <a:endParaRPr lang="zh-TW" altLang="en-US" dirty="0">
              <a:solidFill>
                <a:srgbClr val="000000"/>
              </a:solidFill>
              <a:latin typeface="Arial" pitchFamily="34" charset="0"/>
              <a:ea typeface="新細明體" pitchFamily="18" charset="-120"/>
            </a:endParaRPr>
          </a:p>
        </p:txBody>
      </p:sp>
    </p:spTree>
    <p:extLst>
      <p:ext uri="{BB962C8B-B14F-4D97-AF65-F5344CB8AC3E}">
        <p14:creationId xmlns:p14="http://schemas.microsoft.com/office/powerpoint/2010/main" val="297055538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3" descr="Rectangle: Click to edit Master text styles&#10;Second level&#10;Third level&#10;Fourth level&#10;Fifth level"/>
          <p:cNvSpPr>
            <a:spLocks noGrp="1" noChangeArrowheads="1"/>
          </p:cNvSpPr>
          <p:nvPr>
            <p:ph type="body" idx="1"/>
          </p:nvPr>
        </p:nvSpPr>
        <p:spPr>
          <a:xfrm>
            <a:off x="976064" y="1648544"/>
            <a:ext cx="7772400" cy="4876800"/>
          </a:xfrm>
        </p:spPr>
        <p:txBody>
          <a:bodyPr/>
          <a:lstStyle/>
          <a:p>
            <a:pPr>
              <a:buFont typeface="Wingdings" pitchFamily="2" charset="2"/>
              <a:buNone/>
            </a:pPr>
            <a:r>
              <a:rPr lang="zh-TW" altLang="en-US" dirty="0">
                <a:solidFill>
                  <a:srgbClr val="000000"/>
                </a:solidFill>
                <a:latin typeface="AdobePiStd" charset="-122"/>
                <a:ea typeface="AdobePiStd" charset="-122"/>
              </a:rPr>
              <a:t>❏ </a:t>
            </a:r>
            <a:r>
              <a:rPr lang="en-US" altLang="zh-TW" b="1" dirty="0">
                <a:solidFill>
                  <a:srgbClr val="000000"/>
                </a:solidFill>
                <a:latin typeface="Arial" pitchFamily="34" charset="0"/>
                <a:ea typeface="AdobePiStd" charset="-122"/>
              </a:rPr>
              <a:t>LMS </a:t>
            </a:r>
            <a:r>
              <a:rPr lang="en-US" altLang="zh-TW" b="1" dirty="0" smtClean="0">
                <a:solidFill>
                  <a:srgbClr val="000000"/>
                </a:solidFill>
                <a:latin typeface="Arial" pitchFamily="34" charset="0"/>
                <a:ea typeface="AdobePiStd" charset="-122"/>
              </a:rPr>
              <a:t>filtering</a:t>
            </a:r>
            <a:r>
              <a:rPr lang="zh-CN" altLang="en-US" b="1" dirty="0" smtClean="0">
                <a:solidFill>
                  <a:srgbClr val="000000"/>
                </a:solidFill>
                <a:latin typeface="Arial" pitchFamily="34" charset="0"/>
                <a:ea typeface="AdobePiStd" charset="-122"/>
              </a:rPr>
              <a:t>分为</a:t>
            </a:r>
            <a:r>
              <a:rPr lang="zh-CN" altLang="en-US" b="1" dirty="0" smtClean="0">
                <a:solidFill>
                  <a:srgbClr val="000000"/>
                </a:solidFill>
                <a:latin typeface="AdobePiStd" charset="-122"/>
                <a:ea typeface="AdobePiStd" charset="-122"/>
              </a:rPr>
              <a:t>两个步骤：</a:t>
            </a:r>
            <a:endParaRPr lang="en-US" altLang="zh-TW" b="1" dirty="0">
              <a:solidFill>
                <a:srgbClr val="000000"/>
              </a:solidFill>
              <a:latin typeface="Arial" pitchFamily="34" charset="0"/>
              <a:ea typeface="AdobePiStd" charset="-122"/>
            </a:endParaRPr>
          </a:p>
          <a:p>
            <a:pPr>
              <a:buFont typeface="Wingdings" pitchFamily="2" charset="2"/>
              <a:buNone/>
            </a:pPr>
            <a:r>
              <a:rPr lang="en-US" altLang="zh-TW" dirty="0">
                <a:solidFill>
                  <a:srgbClr val="000000"/>
                </a:solidFill>
                <a:latin typeface="AdobePiStd" charset="-122"/>
                <a:ea typeface="AdobePiStd" charset="-122"/>
              </a:rPr>
              <a:t>    ✔ </a:t>
            </a:r>
            <a:r>
              <a:rPr lang="en-US" altLang="zh-TW" dirty="0" smtClean="0">
                <a:solidFill>
                  <a:srgbClr val="000000"/>
                </a:solidFill>
                <a:latin typeface="Arial" pitchFamily="34" charset="0"/>
                <a:ea typeface="AdobePiStd" charset="-122"/>
              </a:rPr>
              <a:t>Filtering, </a:t>
            </a:r>
            <a:r>
              <a:rPr lang="en-US" altLang="zh-TW" dirty="0">
                <a:solidFill>
                  <a:srgbClr val="000000"/>
                </a:solidFill>
                <a:latin typeface="Arial" pitchFamily="34" charset="0"/>
                <a:ea typeface="AdobePiStd" charset="-122"/>
              </a:rPr>
              <a:t>producing</a:t>
            </a:r>
          </a:p>
          <a:p>
            <a:pPr>
              <a:buFont typeface="Wingdings" pitchFamily="2" charset="2"/>
              <a:buNone/>
            </a:pPr>
            <a:r>
              <a:rPr lang="en-US" altLang="zh-TW" dirty="0">
                <a:solidFill>
                  <a:srgbClr val="000000"/>
                </a:solidFill>
                <a:latin typeface="Arial" pitchFamily="34" charset="0"/>
                <a:ea typeface="AdobePiStd" charset="-122"/>
              </a:rPr>
              <a:t>        1) output signal</a:t>
            </a:r>
          </a:p>
          <a:p>
            <a:pPr>
              <a:buFont typeface="Wingdings" pitchFamily="2" charset="2"/>
              <a:buNone/>
            </a:pPr>
            <a:r>
              <a:rPr lang="en-US" altLang="zh-TW" dirty="0">
                <a:solidFill>
                  <a:srgbClr val="000000"/>
                </a:solidFill>
                <a:latin typeface="Arial" pitchFamily="34" charset="0"/>
                <a:ea typeface="AdobePiStd" charset="-122"/>
              </a:rPr>
              <a:t>        2) estimation error</a:t>
            </a:r>
          </a:p>
          <a:p>
            <a:pPr>
              <a:buFont typeface="Wingdings" pitchFamily="2" charset="2"/>
              <a:buNone/>
            </a:pPr>
            <a:r>
              <a:rPr lang="en-US" altLang="zh-TW" dirty="0">
                <a:solidFill>
                  <a:srgbClr val="FF0000"/>
                </a:solidFill>
                <a:latin typeface="AdobePiStd" charset="-122"/>
                <a:ea typeface="AdobePiStd" charset="-122"/>
              </a:rPr>
              <a:t>    ✔ </a:t>
            </a:r>
            <a:r>
              <a:rPr lang="en-US" altLang="zh-TW" dirty="0">
                <a:solidFill>
                  <a:srgbClr val="FF0000"/>
                </a:solidFill>
                <a:latin typeface="Arial" pitchFamily="34" charset="0"/>
                <a:ea typeface="AdobePiStd" charset="-122"/>
              </a:rPr>
              <a:t>Adaptive process</a:t>
            </a:r>
            <a:r>
              <a:rPr lang="en-US" altLang="zh-TW" dirty="0" smtClean="0">
                <a:solidFill>
                  <a:srgbClr val="FF0000"/>
                </a:solidFill>
                <a:latin typeface="Arial" pitchFamily="34" charset="0"/>
                <a:ea typeface="AdobePiStd" charset="-122"/>
              </a:rPr>
              <a:t>, </a:t>
            </a:r>
            <a:r>
              <a:rPr lang="en-US" altLang="zh-TW" dirty="0">
                <a:solidFill>
                  <a:srgbClr val="FF0000"/>
                </a:solidFill>
                <a:latin typeface="Arial" pitchFamily="34" charset="0"/>
                <a:ea typeface="AdobePiStd" charset="-122"/>
              </a:rPr>
              <a:t>automatic </a:t>
            </a:r>
          </a:p>
          <a:p>
            <a:pPr>
              <a:buFont typeface="Wingdings" pitchFamily="2" charset="2"/>
              <a:buNone/>
            </a:pPr>
            <a:r>
              <a:rPr lang="en-US" altLang="zh-TW" dirty="0">
                <a:solidFill>
                  <a:srgbClr val="FF0000"/>
                </a:solidFill>
                <a:latin typeface="Arial" pitchFamily="34" charset="0"/>
                <a:ea typeface="AdobePiStd" charset="-122"/>
              </a:rPr>
              <a:t>        adjustment of filter tap weights</a:t>
            </a:r>
            <a:endParaRPr lang="en-US" altLang="zh-TW" dirty="0">
              <a:solidFill>
                <a:srgbClr val="FF0000"/>
              </a:solidFill>
              <a:latin typeface="AdobePiStd" charset="-122"/>
              <a:ea typeface="AdobePiStd" charset="-122"/>
            </a:endParaRPr>
          </a:p>
          <a:p>
            <a:pPr>
              <a:buFont typeface="Wingdings" pitchFamily="2" charset="2"/>
              <a:buNone/>
            </a:pPr>
            <a:endParaRPr lang="zh-TW" altLang="en-US" dirty="0">
              <a:solidFill>
                <a:srgbClr val="000000"/>
              </a:solidFill>
              <a:ea typeface="新細明體" pitchFamily="18" charset="-120"/>
            </a:endParaRPr>
          </a:p>
        </p:txBody>
      </p:sp>
      <p:sp>
        <p:nvSpPr>
          <p:cNvPr id="4" name="Rectangle 2"/>
          <p:cNvSpPr>
            <a:spLocks noGrp="1" noChangeArrowheads="1"/>
          </p:cNvSpPr>
          <p:nvPr>
            <p:ph type="title"/>
          </p:nvPr>
        </p:nvSpPr>
        <p:spPr>
          <a:xfrm>
            <a:off x="1219200" y="609600"/>
            <a:ext cx="7543800" cy="762000"/>
          </a:xfrm>
        </p:spPr>
        <p:txBody>
          <a:bodyPr/>
          <a:lstStyle/>
          <a:p>
            <a:r>
              <a:rPr lang="zh-CN" altLang="en-US" b="1" dirty="0"/>
              <a:t>最小二乘滤波（</a:t>
            </a:r>
            <a:r>
              <a:rPr lang="en-US" altLang="zh-CN" b="1" dirty="0"/>
              <a:t>LMS Filter</a:t>
            </a:r>
            <a:r>
              <a:rPr lang="zh-CN" altLang="en-US" b="1" dirty="0"/>
              <a:t>）</a:t>
            </a:r>
            <a:endParaRPr lang="zh-TW" altLang="en-US" dirty="0">
              <a:solidFill>
                <a:srgbClr val="000000"/>
              </a:solidFill>
              <a:latin typeface="Arial" pitchFamily="34" charset="0"/>
              <a:ea typeface="新細明體" pitchFamily="18" charset="-120"/>
            </a:endParaRPr>
          </a:p>
        </p:txBody>
      </p:sp>
    </p:spTree>
    <p:extLst>
      <p:ext uri="{BB962C8B-B14F-4D97-AF65-F5344CB8AC3E}">
        <p14:creationId xmlns:p14="http://schemas.microsoft.com/office/powerpoint/2010/main" val="270464343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1043608" y="620688"/>
            <a:ext cx="7772400" cy="762000"/>
          </a:xfrm>
        </p:spPr>
        <p:txBody>
          <a:bodyPr/>
          <a:lstStyle/>
          <a:p>
            <a:r>
              <a:rPr lang="zh-CN" altLang="en-US" b="1" dirty="0"/>
              <a:t>最小二乘滤波（</a:t>
            </a:r>
            <a:r>
              <a:rPr lang="en-US" altLang="zh-CN" b="1" dirty="0"/>
              <a:t>LMS Filter</a:t>
            </a:r>
            <a:r>
              <a:rPr lang="zh-CN" altLang="en-US" b="1" dirty="0"/>
              <a:t>）</a:t>
            </a:r>
            <a:endParaRPr lang="zh-TW" altLang="en-US" dirty="0">
              <a:solidFill>
                <a:srgbClr val="000000"/>
              </a:solidFill>
              <a:latin typeface="Arial" pitchFamily="34" charset="0"/>
              <a:ea typeface="新細明體" pitchFamily="18" charset="-120"/>
            </a:endParaRPr>
          </a:p>
        </p:txBody>
      </p:sp>
      <p:pic>
        <p:nvPicPr>
          <p:cNvPr id="62467" name="Picture 3"/>
          <p:cNvPicPr>
            <a:picLocks noGrp="1" noChangeAspect="1" noChangeArrowheads="1"/>
          </p:cNvPicPr>
          <p:nvPr>
            <p:ph type="body" idx="1"/>
          </p:nvPr>
        </p:nvPicPr>
        <p:blipFill>
          <a:blip r:embed="rId2" cstate="print"/>
          <a:srcRect/>
          <a:stretch>
            <a:fillRect/>
          </a:stretch>
        </p:blipFill>
        <p:spPr>
          <a:xfrm>
            <a:off x="1187624" y="1628800"/>
            <a:ext cx="7583760" cy="5055840"/>
          </a:xfrm>
        </p:spPr>
      </p:pic>
    </p:spTree>
    <p:extLst>
      <p:ext uri="{BB962C8B-B14F-4D97-AF65-F5344CB8AC3E}">
        <p14:creationId xmlns:p14="http://schemas.microsoft.com/office/powerpoint/2010/main" val="385288557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最小二乘滤波（</a:t>
            </a:r>
            <a:r>
              <a:rPr lang="en-US" altLang="zh-CN" b="1" dirty="0"/>
              <a:t>LMS Filter</a:t>
            </a:r>
            <a:r>
              <a:rPr lang="zh-CN" altLang="en-US" b="1" dirty="0"/>
              <a:t>）</a:t>
            </a:r>
          </a:p>
        </p:txBody>
      </p:sp>
      <p:sp>
        <p:nvSpPr>
          <p:cNvPr id="4" name="灯片编号占位符 3"/>
          <p:cNvSpPr>
            <a:spLocks noGrp="1"/>
          </p:cNvSpPr>
          <p:nvPr>
            <p:ph type="sldNum" sz="quarter" idx="12"/>
          </p:nvPr>
        </p:nvSpPr>
        <p:spPr/>
        <p:txBody>
          <a:bodyPr/>
          <a:lstStyle/>
          <a:p>
            <a:pPr>
              <a:defRPr/>
            </a:pPr>
            <a:fld id="{3ACE1859-598D-4001-8269-61C428827EE7}" type="slidenum">
              <a:rPr lang="zh-CN" altLang="en-US" smtClean="0"/>
              <a:pPr>
                <a:defRPr/>
              </a:pPr>
              <a:t>31</a:t>
            </a:fld>
            <a:endParaRPr lang="zh-CN" altLang="en-US"/>
          </a:p>
        </p:txBody>
      </p:sp>
      <p:sp>
        <p:nvSpPr>
          <p:cNvPr id="5" name="矩形 4"/>
          <p:cNvSpPr/>
          <p:nvPr/>
        </p:nvSpPr>
        <p:spPr>
          <a:xfrm>
            <a:off x="1259632" y="2158405"/>
            <a:ext cx="6912768" cy="830997"/>
          </a:xfrm>
          <a:prstGeom prst="rect">
            <a:avLst/>
          </a:prstGeom>
        </p:spPr>
        <p:txBody>
          <a:bodyPr wrap="square">
            <a:spAutoFit/>
          </a:bodyPr>
          <a:lstStyle/>
          <a:p>
            <a:r>
              <a:rPr lang="zh-CN" altLang="en-US" sz="2400" b="1" dirty="0" smtClean="0"/>
              <a:t>设</a:t>
            </a:r>
            <a:r>
              <a:rPr lang="en-US" altLang="zh-CN" sz="2400" b="1" dirty="0" smtClean="0"/>
              <a:t>W(n)</a:t>
            </a:r>
            <a:r>
              <a:rPr lang="zh-CN" altLang="en-US" sz="2400" b="1" dirty="0" smtClean="0"/>
              <a:t>为 第</a:t>
            </a:r>
            <a:r>
              <a:rPr lang="en-US" altLang="zh-CN" sz="2400" b="1" dirty="0" smtClean="0"/>
              <a:t>n</a:t>
            </a:r>
            <a:r>
              <a:rPr lang="zh-CN" altLang="en-US" sz="2400" b="1" dirty="0" smtClean="0"/>
              <a:t>次迭代后得到的滤波器参数，则第</a:t>
            </a:r>
            <a:r>
              <a:rPr lang="en-US" altLang="zh-CN" sz="2400" b="1" dirty="0" smtClean="0"/>
              <a:t>n+1</a:t>
            </a:r>
            <a:r>
              <a:rPr lang="zh-CN" altLang="en-US" sz="2400" b="1" dirty="0" smtClean="0"/>
              <a:t>次迭代的参数估计可表示为：</a:t>
            </a:r>
            <a:endParaRPr lang="zh-CN" altLang="en-US" sz="2400" b="1" dirty="0"/>
          </a:p>
        </p:txBody>
      </p:sp>
      <p:pic>
        <p:nvPicPr>
          <p:cNvPr id="4098" name="Picture 2"/>
          <p:cNvPicPr>
            <a:picLocks noChangeAspect="1" noChangeArrowheads="1"/>
          </p:cNvPicPr>
          <p:nvPr/>
        </p:nvPicPr>
        <p:blipFill>
          <a:blip r:embed="rId2" cstate="print"/>
          <a:srcRect/>
          <a:stretch>
            <a:fillRect/>
          </a:stretch>
        </p:blipFill>
        <p:spPr bwMode="auto">
          <a:xfrm>
            <a:off x="2699792" y="3022501"/>
            <a:ext cx="3551933" cy="648072"/>
          </a:xfrm>
          <a:prstGeom prst="rect">
            <a:avLst/>
          </a:prstGeom>
          <a:noFill/>
          <a:ln w="9525">
            <a:noFill/>
            <a:miter lim="800000"/>
            <a:headEnd/>
            <a:tailEnd/>
          </a:ln>
        </p:spPr>
      </p:pic>
      <p:sp>
        <p:nvSpPr>
          <p:cNvPr id="7" name="矩形 6"/>
          <p:cNvSpPr/>
          <p:nvPr/>
        </p:nvSpPr>
        <p:spPr>
          <a:xfrm>
            <a:off x="1259632" y="3631664"/>
            <a:ext cx="7128792" cy="1938992"/>
          </a:xfrm>
          <a:prstGeom prst="rect">
            <a:avLst/>
          </a:prstGeom>
        </p:spPr>
        <p:txBody>
          <a:bodyPr wrap="square">
            <a:spAutoFit/>
          </a:bodyPr>
          <a:lstStyle/>
          <a:p>
            <a:pPr algn="just"/>
            <a:r>
              <a:rPr lang="zh-CN" altLang="en-US" sz="2400" b="1" dirty="0" smtClean="0"/>
              <a:t>其中，</a:t>
            </a:r>
            <a:r>
              <a:rPr lang="en-US" altLang="zh-CN" sz="2400" b="1" dirty="0" smtClean="0"/>
              <a:t>g(n) </a:t>
            </a:r>
            <a:r>
              <a:rPr lang="zh-CN" altLang="en-US" sz="2400" b="1" dirty="0" smtClean="0"/>
              <a:t>为方向向量，其</a:t>
            </a:r>
            <a:r>
              <a:rPr lang="zh-CN" altLang="en-US" sz="2400" b="1" dirty="0"/>
              <a:t>作用是最小</a:t>
            </a:r>
            <a:r>
              <a:rPr lang="zh-CN" altLang="en-US" sz="2400" b="1" dirty="0" smtClean="0"/>
              <a:t>化目标函数</a:t>
            </a:r>
            <a:r>
              <a:rPr lang="en-US" altLang="zh-CN" sz="2400" b="1" dirty="0" smtClean="0"/>
              <a:t> J(W(n+1)) =J(W(n)+g(n)).</a:t>
            </a:r>
          </a:p>
          <a:p>
            <a:pPr algn="just"/>
            <a:endParaRPr lang="en-US" altLang="zh-CN" sz="2400" dirty="0" smtClean="0"/>
          </a:p>
          <a:p>
            <a:pPr algn="just"/>
            <a:r>
              <a:rPr lang="zh-CN" altLang="en-US" sz="2400" b="1" dirty="0" smtClean="0"/>
              <a:t>为实现目标函数的最小化</a:t>
            </a:r>
            <a:r>
              <a:rPr lang="en-US" altLang="zh-CN" sz="2400" b="1" dirty="0" smtClean="0"/>
              <a:t>, </a:t>
            </a:r>
            <a:r>
              <a:rPr lang="zh-CN" altLang="en-US" sz="2400" b="1" dirty="0" smtClean="0"/>
              <a:t>可以对</a:t>
            </a:r>
            <a:r>
              <a:rPr lang="en-US" altLang="zh-CN" sz="2400" b="1" dirty="0"/>
              <a:t>J(W(n+1))</a:t>
            </a:r>
            <a:r>
              <a:rPr lang="zh-CN" altLang="en-US" sz="2400" b="1" dirty="0" smtClean="0"/>
              <a:t>进行泰勒级数展开。</a:t>
            </a:r>
            <a:r>
              <a:rPr lang="en-US" altLang="zh-CN" sz="2400" b="1" dirty="0" smtClean="0"/>
              <a:t> </a:t>
            </a:r>
          </a:p>
        </p:txBody>
      </p:sp>
      <p:sp>
        <p:nvSpPr>
          <p:cNvPr id="8" name="矩形 7"/>
          <p:cNvSpPr/>
          <p:nvPr/>
        </p:nvSpPr>
        <p:spPr>
          <a:xfrm>
            <a:off x="1259632" y="1671191"/>
            <a:ext cx="6912768" cy="461665"/>
          </a:xfrm>
          <a:prstGeom prst="rect">
            <a:avLst/>
          </a:prstGeom>
        </p:spPr>
        <p:txBody>
          <a:bodyPr wrap="square">
            <a:spAutoFit/>
          </a:bodyPr>
          <a:lstStyle/>
          <a:p>
            <a:r>
              <a:rPr lang="zh-CN" altLang="en-US" sz="2400" b="1" dirty="0" smtClean="0"/>
              <a:t>基于递归机制的参数自适应</a:t>
            </a:r>
            <a:endParaRPr lang="zh-CN" altLang="en-US" sz="2400" b="1" dirty="0"/>
          </a:p>
        </p:txBody>
      </p:sp>
    </p:spTree>
    <p:extLst>
      <p:ext uri="{BB962C8B-B14F-4D97-AF65-F5344CB8AC3E}">
        <p14:creationId xmlns:p14="http://schemas.microsoft.com/office/powerpoint/2010/main" val="669881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 calcmode="lin" valueType="num">
                                      <p:cBhvr additive="base">
                                        <p:cTn id="11"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098"/>
                                        </p:tgtEl>
                                        <p:attrNameLst>
                                          <p:attrName>style.visibility</p:attrName>
                                        </p:attrNameLst>
                                      </p:cBhvr>
                                      <p:to>
                                        <p:strVal val="visible"/>
                                      </p:to>
                                    </p:set>
                                    <p:anim calcmode="lin" valueType="num">
                                      <p:cBhvr additive="base">
                                        <p:cTn id="17" dur="500" fill="hold"/>
                                        <p:tgtEl>
                                          <p:spTgt spid="4098"/>
                                        </p:tgtEl>
                                        <p:attrNameLst>
                                          <p:attrName>ppt_x</p:attrName>
                                        </p:attrNameLst>
                                      </p:cBhvr>
                                      <p:tavLst>
                                        <p:tav tm="0">
                                          <p:val>
                                            <p:strVal val="#ppt_x"/>
                                          </p:val>
                                        </p:tav>
                                        <p:tav tm="100000">
                                          <p:val>
                                            <p:strVal val="#ppt_x"/>
                                          </p:val>
                                        </p:tav>
                                      </p:tavLst>
                                    </p:anim>
                                    <p:anim calcmode="lin" valueType="num">
                                      <p:cBhvr additive="base">
                                        <p:cTn id="18" dur="500" fill="hold"/>
                                        <p:tgtEl>
                                          <p:spTgt spid="4098"/>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7" grpId="0"/>
      <p:bldP spid="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最小二乘滤波（</a:t>
            </a:r>
            <a:r>
              <a:rPr lang="en-US" altLang="zh-CN" b="1" dirty="0"/>
              <a:t>LMS Filter</a:t>
            </a:r>
            <a:r>
              <a:rPr lang="zh-CN" altLang="en-US" b="1" dirty="0"/>
              <a:t>）</a:t>
            </a:r>
            <a:endParaRPr lang="zh-CN" altLang="en-US" dirty="0"/>
          </a:p>
        </p:txBody>
      </p:sp>
      <p:sp>
        <p:nvSpPr>
          <p:cNvPr id="4" name="灯片编号占位符 3"/>
          <p:cNvSpPr>
            <a:spLocks noGrp="1"/>
          </p:cNvSpPr>
          <p:nvPr>
            <p:ph type="sldNum" sz="quarter" idx="12"/>
          </p:nvPr>
        </p:nvSpPr>
        <p:spPr/>
        <p:txBody>
          <a:bodyPr/>
          <a:lstStyle/>
          <a:p>
            <a:pPr>
              <a:defRPr/>
            </a:pPr>
            <a:fld id="{3ACE1859-598D-4001-8269-61C428827EE7}" type="slidenum">
              <a:rPr lang="zh-CN" altLang="en-US" smtClean="0"/>
              <a:pPr>
                <a:defRPr/>
              </a:pPr>
              <a:t>32</a:t>
            </a:fld>
            <a:endParaRPr lang="zh-CN" altLang="en-US"/>
          </a:p>
        </p:txBody>
      </p:sp>
      <p:pic>
        <p:nvPicPr>
          <p:cNvPr id="5" name="Picture 3"/>
          <p:cNvPicPr>
            <a:picLocks noChangeAspect="1" noChangeArrowheads="1"/>
          </p:cNvPicPr>
          <p:nvPr/>
        </p:nvPicPr>
        <p:blipFill>
          <a:blip r:embed="rId2" cstate="print"/>
          <a:srcRect/>
          <a:stretch>
            <a:fillRect/>
          </a:stretch>
        </p:blipFill>
        <p:spPr bwMode="auto">
          <a:xfrm>
            <a:off x="1475656" y="2479551"/>
            <a:ext cx="6336704" cy="805596"/>
          </a:xfrm>
          <a:prstGeom prst="rect">
            <a:avLst/>
          </a:prstGeom>
          <a:noFill/>
          <a:ln w="9525">
            <a:noFill/>
            <a:miter lim="800000"/>
            <a:headEnd/>
            <a:tailEnd/>
          </a:ln>
        </p:spPr>
      </p:pic>
      <p:sp>
        <p:nvSpPr>
          <p:cNvPr id="6" name="矩形 5"/>
          <p:cNvSpPr/>
          <p:nvPr/>
        </p:nvSpPr>
        <p:spPr>
          <a:xfrm>
            <a:off x="1547664" y="1831479"/>
            <a:ext cx="4549643" cy="461665"/>
          </a:xfrm>
          <a:prstGeom prst="rect">
            <a:avLst/>
          </a:prstGeom>
        </p:spPr>
        <p:txBody>
          <a:bodyPr wrap="none">
            <a:spAutoFit/>
          </a:bodyPr>
          <a:lstStyle/>
          <a:p>
            <a:r>
              <a:rPr lang="en-US" altLang="zh-CN" sz="2400" b="1" dirty="0" smtClean="0"/>
              <a:t>J(W(n+1)) </a:t>
            </a:r>
            <a:r>
              <a:rPr lang="zh-CN" altLang="en-US" sz="2400" b="1" dirty="0" smtClean="0"/>
              <a:t>的泰勒级数展开为：</a:t>
            </a:r>
            <a:r>
              <a:rPr lang="en-US" altLang="zh-CN" sz="2400" b="1" dirty="0" smtClean="0"/>
              <a:t> </a:t>
            </a:r>
            <a:endParaRPr lang="zh-CN" altLang="en-US" sz="2400" b="1" dirty="0"/>
          </a:p>
        </p:txBody>
      </p:sp>
      <p:sp>
        <p:nvSpPr>
          <p:cNvPr id="7" name="矩形 6"/>
          <p:cNvSpPr/>
          <p:nvPr/>
        </p:nvSpPr>
        <p:spPr>
          <a:xfrm>
            <a:off x="1547664" y="3399383"/>
            <a:ext cx="6912768" cy="461665"/>
          </a:xfrm>
          <a:prstGeom prst="rect">
            <a:avLst/>
          </a:prstGeom>
        </p:spPr>
        <p:txBody>
          <a:bodyPr wrap="square">
            <a:spAutoFit/>
          </a:bodyPr>
          <a:lstStyle/>
          <a:p>
            <a:r>
              <a:rPr lang="zh-CN" altLang="en-US" sz="2400" b="1" dirty="0" smtClean="0"/>
              <a:t>以二元滤波器为例，</a:t>
            </a:r>
            <a:endParaRPr lang="zh-CN" altLang="en-US" sz="2400" b="1" dirty="0"/>
          </a:p>
        </p:txBody>
      </p:sp>
      <p:pic>
        <p:nvPicPr>
          <p:cNvPr id="5122" name="Picture 2"/>
          <p:cNvPicPr>
            <a:picLocks noChangeAspect="1" noChangeArrowheads="1"/>
          </p:cNvPicPr>
          <p:nvPr/>
        </p:nvPicPr>
        <p:blipFill>
          <a:blip r:embed="rId3" cstate="print"/>
          <a:srcRect/>
          <a:stretch>
            <a:fillRect/>
          </a:stretch>
        </p:blipFill>
        <p:spPr bwMode="auto">
          <a:xfrm>
            <a:off x="1043608" y="4207743"/>
            <a:ext cx="4343400" cy="685800"/>
          </a:xfrm>
          <a:prstGeom prst="rect">
            <a:avLst/>
          </a:prstGeom>
          <a:noFill/>
          <a:ln w="9525">
            <a:noFill/>
            <a:miter lim="800000"/>
            <a:headEnd/>
            <a:tailEnd/>
          </a:ln>
        </p:spPr>
      </p:pic>
      <p:pic>
        <p:nvPicPr>
          <p:cNvPr id="5123" name="Picture 3"/>
          <p:cNvPicPr>
            <a:picLocks noChangeAspect="1" noChangeArrowheads="1"/>
          </p:cNvPicPr>
          <p:nvPr/>
        </p:nvPicPr>
        <p:blipFill>
          <a:blip r:embed="rId4" cstate="print"/>
          <a:srcRect/>
          <a:stretch>
            <a:fillRect/>
          </a:stretch>
        </p:blipFill>
        <p:spPr bwMode="auto">
          <a:xfrm>
            <a:off x="5220072" y="4207743"/>
            <a:ext cx="3124200" cy="771525"/>
          </a:xfrm>
          <a:prstGeom prst="rect">
            <a:avLst/>
          </a:prstGeom>
          <a:noFill/>
          <a:ln w="9525">
            <a:noFill/>
            <a:miter lim="800000"/>
            <a:headEnd/>
            <a:tailEnd/>
          </a:ln>
        </p:spPr>
      </p:pic>
      <p:pic>
        <p:nvPicPr>
          <p:cNvPr id="5124" name="Picture 4"/>
          <p:cNvPicPr>
            <a:picLocks noChangeAspect="1" noChangeArrowheads="1"/>
          </p:cNvPicPr>
          <p:nvPr/>
        </p:nvPicPr>
        <p:blipFill>
          <a:blip r:embed="rId5" cstate="print"/>
          <a:srcRect/>
          <a:stretch>
            <a:fillRect/>
          </a:stretch>
        </p:blipFill>
        <p:spPr bwMode="auto">
          <a:xfrm>
            <a:off x="2123728" y="4927823"/>
            <a:ext cx="3086100" cy="733425"/>
          </a:xfrm>
          <a:prstGeom prst="rect">
            <a:avLst/>
          </a:prstGeom>
          <a:noFill/>
          <a:ln w="9525">
            <a:noFill/>
            <a:miter lim="800000"/>
            <a:headEnd/>
            <a:tailEnd/>
          </a:ln>
        </p:spPr>
      </p:pic>
    </p:spTree>
    <p:extLst>
      <p:ext uri="{BB962C8B-B14F-4D97-AF65-F5344CB8AC3E}">
        <p14:creationId xmlns:p14="http://schemas.microsoft.com/office/powerpoint/2010/main" val="711136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122"/>
                                        </p:tgtEl>
                                        <p:attrNameLst>
                                          <p:attrName>style.visibility</p:attrName>
                                        </p:attrNameLst>
                                      </p:cBhvr>
                                      <p:to>
                                        <p:strVal val="visible"/>
                                      </p:to>
                                    </p:set>
                                    <p:anim calcmode="lin" valueType="num">
                                      <p:cBhvr additive="base">
                                        <p:cTn id="19" dur="500" fill="hold"/>
                                        <p:tgtEl>
                                          <p:spTgt spid="5122"/>
                                        </p:tgtEl>
                                        <p:attrNameLst>
                                          <p:attrName>ppt_x</p:attrName>
                                        </p:attrNameLst>
                                      </p:cBhvr>
                                      <p:tavLst>
                                        <p:tav tm="0">
                                          <p:val>
                                            <p:strVal val="#ppt_x"/>
                                          </p:val>
                                        </p:tav>
                                        <p:tav tm="100000">
                                          <p:val>
                                            <p:strVal val="#ppt_x"/>
                                          </p:val>
                                        </p:tav>
                                      </p:tavLst>
                                    </p:anim>
                                    <p:anim calcmode="lin" valueType="num">
                                      <p:cBhvr additive="base">
                                        <p:cTn id="20" dur="500" fill="hold"/>
                                        <p:tgtEl>
                                          <p:spTgt spid="5122"/>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123"/>
                                        </p:tgtEl>
                                        <p:attrNameLst>
                                          <p:attrName>style.visibility</p:attrName>
                                        </p:attrNameLst>
                                      </p:cBhvr>
                                      <p:to>
                                        <p:strVal val="visible"/>
                                      </p:to>
                                    </p:set>
                                    <p:anim calcmode="lin" valueType="num">
                                      <p:cBhvr additive="base">
                                        <p:cTn id="23" dur="500" fill="hold"/>
                                        <p:tgtEl>
                                          <p:spTgt spid="5123"/>
                                        </p:tgtEl>
                                        <p:attrNameLst>
                                          <p:attrName>ppt_x</p:attrName>
                                        </p:attrNameLst>
                                      </p:cBhvr>
                                      <p:tavLst>
                                        <p:tav tm="0">
                                          <p:val>
                                            <p:strVal val="#ppt_x"/>
                                          </p:val>
                                        </p:tav>
                                        <p:tav tm="100000">
                                          <p:val>
                                            <p:strVal val="#ppt_x"/>
                                          </p:val>
                                        </p:tav>
                                      </p:tavLst>
                                    </p:anim>
                                    <p:anim calcmode="lin" valueType="num">
                                      <p:cBhvr additive="base">
                                        <p:cTn id="24" dur="500" fill="hold"/>
                                        <p:tgtEl>
                                          <p:spTgt spid="5123"/>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5124"/>
                                        </p:tgtEl>
                                        <p:attrNameLst>
                                          <p:attrName>style.visibility</p:attrName>
                                        </p:attrNameLst>
                                      </p:cBhvr>
                                      <p:to>
                                        <p:strVal val="visible"/>
                                      </p:to>
                                    </p:set>
                                    <p:anim calcmode="lin" valueType="num">
                                      <p:cBhvr additive="base">
                                        <p:cTn id="27" dur="500" fill="hold"/>
                                        <p:tgtEl>
                                          <p:spTgt spid="5124"/>
                                        </p:tgtEl>
                                        <p:attrNameLst>
                                          <p:attrName>ppt_x</p:attrName>
                                        </p:attrNameLst>
                                      </p:cBhvr>
                                      <p:tavLst>
                                        <p:tav tm="0">
                                          <p:val>
                                            <p:strVal val="#ppt_x"/>
                                          </p:val>
                                        </p:tav>
                                        <p:tav tm="100000">
                                          <p:val>
                                            <p:strVal val="#ppt_x"/>
                                          </p:val>
                                        </p:tav>
                                      </p:tavLst>
                                    </p:anim>
                                    <p:anim calcmode="lin" valueType="num">
                                      <p:cBhvr additive="base">
                                        <p:cTn id="28" dur="500" fill="hold"/>
                                        <p:tgtEl>
                                          <p:spTgt spid="51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最小二乘滤波（</a:t>
            </a:r>
            <a:r>
              <a:rPr lang="en-US" altLang="zh-CN" b="1" dirty="0"/>
              <a:t>LMS Filter</a:t>
            </a:r>
            <a:r>
              <a:rPr lang="zh-CN" altLang="en-US" b="1" dirty="0"/>
              <a:t>）</a:t>
            </a:r>
            <a:endParaRPr lang="zh-CN" altLang="en-US" dirty="0"/>
          </a:p>
        </p:txBody>
      </p:sp>
      <p:sp>
        <p:nvSpPr>
          <p:cNvPr id="4" name="灯片编号占位符 3"/>
          <p:cNvSpPr>
            <a:spLocks noGrp="1"/>
          </p:cNvSpPr>
          <p:nvPr>
            <p:ph type="sldNum" sz="quarter" idx="12"/>
          </p:nvPr>
        </p:nvSpPr>
        <p:spPr/>
        <p:txBody>
          <a:bodyPr/>
          <a:lstStyle/>
          <a:p>
            <a:pPr>
              <a:defRPr/>
            </a:pPr>
            <a:fld id="{3ACE1859-598D-4001-8269-61C428827EE7}" type="slidenum">
              <a:rPr lang="zh-CN" altLang="en-US" smtClean="0"/>
              <a:pPr>
                <a:defRPr/>
              </a:pPr>
              <a:t>33</a:t>
            </a:fld>
            <a:endParaRPr lang="zh-CN" altLang="en-US"/>
          </a:p>
        </p:txBody>
      </p:sp>
      <p:sp>
        <p:nvSpPr>
          <p:cNvPr id="5" name="矩形 4"/>
          <p:cNvSpPr/>
          <p:nvPr/>
        </p:nvSpPr>
        <p:spPr>
          <a:xfrm>
            <a:off x="1259632" y="1628800"/>
            <a:ext cx="5064207" cy="461665"/>
          </a:xfrm>
          <a:prstGeom prst="rect">
            <a:avLst/>
          </a:prstGeom>
        </p:spPr>
        <p:txBody>
          <a:bodyPr wrap="none">
            <a:spAutoFit/>
          </a:bodyPr>
          <a:lstStyle/>
          <a:p>
            <a:r>
              <a:rPr lang="zh-CN" altLang="en-US" sz="2400" b="1" dirty="0" smtClean="0"/>
              <a:t>对上式分别对</a:t>
            </a:r>
            <a:r>
              <a:rPr lang="en-US" altLang="zh-CN" sz="2400" b="1" dirty="0" smtClean="0"/>
              <a:t>g</a:t>
            </a:r>
            <a:r>
              <a:rPr lang="en-US" altLang="zh-CN" sz="2400" b="1" baseline="-25000" dirty="0" smtClean="0"/>
              <a:t>0</a:t>
            </a:r>
            <a:r>
              <a:rPr lang="en-US" altLang="zh-CN" sz="2400" b="1" dirty="0"/>
              <a:t> </a:t>
            </a:r>
            <a:r>
              <a:rPr lang="zh-CN" altLang="en-US" sz="2400" b="1" dirty="0" smtClean="0"/>
              <a:t>和</a:t>
            </a:r>
            <a:r>
              <a:rPr lang="en-US" altLang="zh-CN" sz="2400" b="1" dirty="0" smtClean="0"/>
              <a:t> g</a:t>
            </a:r>
            <a:r>
              <a:rPr lang="en-US" altLang="zh-CN" sz="2400" b="1" baseline="-25000" dirty="0" smtClean="0"/>
              <a:t>1</a:t>
            </a:r>
            <a:r>
              <a:rPr lang="en-US" altLang="zh-CN" sz="2400" b="1" dirty="0" smtClean="0"/>
              <a:t> </a:t>
            </a:r>
            <a:r>
              <a:rPr lang="zh-CN" altLang="en-US" sz="2400" b="1" dirty="0" smtClean="0"/>
              <a:t>求梯度，可得</a:t>
            </a:r>
            <a:endParaRPr lang="zh-CN" altLang="en-US" sz="2400" b="1" dirty="0"/>
          </a:p>
        </p:txBody>
      </p:sp>
      <p:pic>
        <p:nvPicPr>
          <p:cNvPr id="6146" name="Picture 2"/>
          <p:cNvPicPr>
            <a:picLocks noChangeAspect="1" noChangeArrowheads="1"/>
          </p:cNvPicPr>
          <p:nvPr/>
        </p:nvPicPr>
        <p:blipFill>
          <a:blip r:embed="rId2" cstate="print"/>
          <a:srcRect/>
          <a:stretch>
            <a:fillRect/>
          </a:stretch>
        </p:blipFill>
        <p:spPr bwMode="auto">
          <a:xfrm>
            <a:off x="2123728" y="2060848"/>
            <a:ext cx="5761497" cy="936104"/>
          </a:xfrm>
          <a:prstGeom prst="rect">
            <a:avLst/>
          </a:prstGeom>
          <a:noFill/>
          <a:ln w="9525">
            <a:noFill/>
            <a:miter lim="800000"/>
            <a:headEnd/>
            <a:tailEnd/>
          </a:ln>
        </p:spPr>
      </p:pic>
      <p:pic>
        <p:nvPicPr>
          <p:cNvPr id="6147" name="Picture 3"/>
          <p:cNvPicPr>
            <a:picLocks noChangeAspect="1" noChangeArrowheads="1"/>
          </p:cNvPicPr>
          <p:nvPr/>
        </p:nvPicPr>
        <p:blipFill>
          <a:blip r:embed="rId3" cstate="print"/>
          <a:srcRect/>
          <a:stretch>
            <a:fillRect/>
          </a:stretch>
        </p:blipFill>
        <p:spPr bwMode="auto">
          <a:xfrm>
            <a:off x="2123728" y="2924944"/>
            <a:ext cx="5760640" cy="977150"/>
          </a:xfrm>
          <a:prstGeom prst="rect">
            <a:avLst/>
          </a:prstGeom>
          <a:noFill/>
          <a:ln w="9525">
            <a:noFill/>
            <a:miter lim="800000"/>
            <a:headEnd/>
            <a:tailEnd/>
          </a:ln>
        </p:spPr>
      </p:pic>
      <p:sp>
        <p:nvSpPr>
          <p:cNvPr id="8" name="矩形 7"/>
          <p:cNvSpPr/>
          <p:nvPr/>
        </p:nvSpPr>
        <p:spPr>
          <a:xfrm>
            <a:off x="1259632" y="3789040"/>
            <a:ext cx="2350323" cy="461665"/>
          </a:xfrm>
          <a:prstGeom prst="rect">
            <a:avLst/>
          </a:prstGeom>
        </p:spPr>
        <p:txBody>
          <a:bodyPr wrap="none">
            <a:spAutoFit/>
          </a:bodyPr>
          <a:lstStyle/>
          <a:p>
            <a:r>
              <a:rPr lang="zh-CN" altLang="en-US" sz="2400" b="1" dirty="0" smtClean="0"/>
              <a:t>其矩阵形式为：</a:t>
            </a:r>
            <a:endParaRPr lang="zh-CN" altLang="en-US" sz="2400" b="1" dirty="0"/>
          </a:p>
        </p:txBody>
      </p:sp>
      <p:pic>
        <p:nvPicPr>
          <p:cNvPr id="6148" name="Picture 4"/>
          <p:cNvPicPr>
            <a:picLocks noChangeAspect="1" noChangeArrowheads="1"/>
          </p:cNvPicPr>
          <p:nvPr/>
        </p:nvPicPr>
        <p:blipFill>
          <a:blip r:embed="rId4" cstate="print"/>
          <a:srcRect/>
          <a:stretch>
            <a:fillRect/>
          </a:stretch>
        </p:blipFill>
        <p:spPr bwMode="auto">
          <a:xfrm>
            <a:off x="2051720" y="4293096"/>
            <a:ext cx="5718129" cy="1872208"/>
          </a:xfrm>
          <a:prstGeom prst="rect">
            <a:avLst/>
          </a:prstGeom>
          <a:noFill/>
          <a:ln w="9525">
            <a:noFill/>
            <a:miter lim="800000"/>
            <a:headEnd/>
            <a:tailEnd/>
          </a:ln>
        </p:spPr>
      </p:pic>
      <p:sp>
        <p:nvSpPr>
          <p:cNvPr id="9" name="矩形 8"/>
          <p:cNvSpPr/>
          <p:nvPr/>
        </p:nvSpPr>
        <p:spPr bwMode="auto">
          <a:xfrm>
            <a:off x="4283968" y="4221088"/>
            <a:ext cx="2592288" cy="2088232"/>
          </a:xfrm>
          <a:prstGeom prst="rect">
            <a:avLst/>
          </a:prstGeom>
          <a:noFill/>
          <a:ln w="25400" cap="flat" cmpd="sng" algn="ctr">
            <a:solidFill>
              <a:srgbClr val="FF0000"/>
            </a:solidFill>
            <a:prstDash val="solid"/>
            <a:round/>
            <a:headEnd type="triangl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800" b="1" i="0" u="none" strike="noStrike" cap="none" normalizeH="0" baseline="0" smtClean="0">
              <a:ln>
                <a:noFill/>
              </a:ln>
              <a:solidFill>
                <a:srgbClr val="003366"/>
              </a:solidFill>
              <a:effectLst/>
              <a:latin typeface="Times New Roman" pitchFamily="18" charset="0"/>
              <a:ea typeface="宋体" pitchFamily="2" charset="-122"/>
            </a:endParaRPr>
          </a:p>
        </p:txBody>
      </p:sp>
      <p:cxnSp>
        <p:nvCxnSpPr>
          <p:cNvPr id="11" name="直接连接符 10"/>
          <p:cNvCxnSpPr/>
          <p:nvPr/>
        </p:nvCxnSpPr>
        <p:spPr bwMode="auto">
          <a:xfrm flipH="1">
            <a:off x="2699792" y="5733256"/>
            <a:ext cx="1512168" cy="432048"/>
          </a:xfrm>
          <a:prstGeom prst="line">
            <a:avLst/>
          </a:prstGeom>
          <a:noFill/>
          <a:ln w="25400" cap="flat" cmpd="sng" algn="ctr">
            <a:solidFill>
              <a:srgbClr val="FF0000"/>
            </a:solidFill>
            <a:prstDash val="solid"/>
            <a:round/>
            <a:headEnd type="triangle" w="med" len="med"/>
            <a:tailEnd type="triangle" w="med" len="med"/>
          </a:ln>
          <a:effectLst/>
        </p:spPr>
      </p:cxnSp>
      <p:sp>
        <p:nvSpPr>
          <p:cNvPr id="12" name="矩形 11"/>
          <p:cNvSpPr/>
          <p:nvPr/>
        </p:nvSpPr>
        <p:spPr>
          <a:xfrm>
            <a:off x="1475656" y="6156012"/>
            <a:ext cx="1813317" cy="369332"/>
          </a:xfrm>
          <a:prstGeom prst="rect">
            <a:avLst/>
          </a:prstGeom>
        </p:spPr>
        <p:txBody>
          <a:bodyPr wrap="none">
            <a:spAutoFit/>
          </a:bodyPr>
          <a:lstStyle/>
          <a:p>
            <a:r>
              <a:rPr lang="en-US" altLang="zh-CN" b="1" dirty="0" smtClean="0"/>
              <a:t>Hessian Matrix</a:t>
            </a:r>
            <a:endParaRPr lang="zh-CN" altLang="en-US" b="1" dirty="0"/>
          </a:p>
        </p:txBody>
      </p:sp>
    </p:spTree>
    <p:extLst>
      <p:ext uri="{BB962C8B-B14F-4D97-AF65-F5344CB8AC3E}">
        <p14:creationId xmlns:p14="http://schemas.microsoft.com/office/powerpoint/2010/main" val="237617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146"/>
                                        </p:tgtEl>
                                        <p:attrNameLst>
                                          <p:attrName>style.visibility</p:attrName>
                                        </p:attrNameLst>
                                      </p:cBhvr>
                                      <p:to>
                                        <p:strVal val="visible"/>
                                      </p:to>
                                    </p:set>
                                    <p:anim calcmode="lin" valueType="num">
                                      <p:cBhvr additive="base">
                                        <p:cTn id="13" dur="500" fill="hold"/>
                                        <p:tgtEl>
                                          <p:spTgt spid="6146"/>
                                        </p:tgtEl>
                                        <p:attrNameLst>
                                          <p:attrName>ppt_x</p:attrName>
                                        </p:attrNameLst>
                                      </p:cBhvr>
                                      <p:tavLst>
                                        <p:tav tm="0">
                                          <p:val>
                                            <p:strVal val="#ppt_x"/>
                                          </p:val>
                                        </p:tav>
                                        <p:tav tm="100000">
                                          <p:val>
                                            <p:strVal val="#ppt_x"/>
                                          </p:val>
                                        </p:tav>
                                      </p:tavLst>
                                    </p:anim>
                                    <p:anim calcmode="lin" valueType="num">
                                      <p:cBhvr additive="base">
                                        <p:cTn id="14" dur="500" fill="hold"/>
                                        <p:tgtEl>
                                          <p:spTgt spid="6146"/>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6147"/>
                                        </p:tgtEl>
                                        <p:attrNameLst>
                                          <p:attrName>style.visibility</p:attrName>
                                        </p:attrNameLst>
                                      </p:cBhvr>
                                      <p:to>
                                        <p:strVal val="visible"/>
                                      </p:to>
                                    </p:set>
                                    <p:anim calcmode="lin" valueType="num">
                                      <p:cBhvr additive="base">
                                        <p:cTn id="17" dur="500" fill="hold"/>
                                        <p:tgtEl>
                                          <p:spTgt spid="6147"/>
                                        </p:tgtEl>
                                        <p:attrNameLst>
                                          <p:attrName>ppt_x</p:attrName>
                                        </p:attrNameLst>
                                      </p:cBhvr>
                                      <p:tavLst>
                                        <p:tav tm="0">
                                          <p:val>
                                            <p:strVal val="#ppt_x"/>
                                          </p:val>
                                        </p:tav>
                                        <p:tav tm="100000">
                                          <p:val>
                                            <p:strVal val="#ppt_x"/>
                                          </p:val>
                                        </p:tav>
                                      </p:tavLst>
                                    </p:anim>
                                    <p:anim calcmode="lin" valueType="num">
                                      <p:cBhvr additive="base">
                                        <p:cTn id="18" dur="500" fill="hold"/>
                                        <p:tgtEl>
                                          <p:spTgt spid="614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6148"/>
                                        </p:tgtEl>
                                        <p:attrNameLst>
                                          <p:attrName>style.visibility</p:attrName>
                                        </p:attrNameLst>
                                      </p:cBhvr>
                                      <p:to>
                                        <p:strVal val="visible"/>
                                      </p:to>
                                    </p:set>
                                    <p:anim calcmode="lin" valueType="num">
                                      <p:cBhvr additive="base">
                                        <p:cTn id="29" dur="500" fill="hold"/>
                                        <p:tgtEl>
                                          <p:spTgt spid="6148"/>
                                        </p:tgtEl>
                                        <p:attrNameLst>
                                          <p:attrName>ppt_x</p:attrName>
                                        </p:attrNameLst>
                                      </p:cBhvr>
                                      <p:tavLst>
                                        <p:tav tm="0">
                                          <p:val>
                                            <p:strVal val="#ppt_x"/>
                                          </p:val>
                                        </p:tav>
                                        <p:tav tm="100000">
                                          <p:val>
                                            <p:strVal val="#ppt_x"/>
                                          </p:val>
                                        </p:tav>
                                      </p:tavLst>
                                    </p:anim>
                                    <p:anim calcmode="lin" valueType="num">
                                      <p:cBhvr additive="base">
                                        <p:cTn id="30" dur="500" fill="hold"/>
                                        <p:tgtEl>
                                          <p:spTgt spid="6148"/>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500" fill="hold"/>
                                        <p:tgtEl>
                                          <p:spTgt spid="9"/>
                                        </p:tgtEl>
                                        <p:attrNameLst>
                                          <p:attrName>ppt_x</p:attrName>
                                        </p:attrNameLst>
                                      </p:cBhvr>
                                      <p:tavLst>
                                        <p:tav tm="0">
                                          <p:val>
                                            <p:strVal val="#ppt_x"/>
                                          </p:val>
                                        </p:tav>
                                        <p:tav tm="100000">
                                          <p:val>
                                            <p:strVal val="#ppt_x"/>
                                          </p:val>
                                        </p:tav>
                                      </p:tavLst>
                                    </p:anim>
                                    <p:anim calcmode="lin" valueType="num">
                                      <p:cBhvr additive="base">
                                        <p:cTn id="3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ppt_x"/>
                                          </p:val>
                                        </p:tav>
                                        <p:tav tm="100000">
                                          <p:val>
                                            <p:strVal val="#ppt_x"/>
                                          </p:val>
                                        </p:tav>
                                      </p:tavLst>
                                    </p:anim>
                                    <p:anim calcmode="lin" valueType="num">
                                      <p:cBhvr additive="base">
                                        <p:cTn id="4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500" fill="hold"/>
                                        <p:tgtEl>
                                          <p:spTgt spid="12"/>
                                        </p:tgtEl>
                                        <p:attrNameLst>
                                          <p:attrName>ppt_x</p:attrName>
                                        </p:attrNameLst>
                                      </p:cBhvr>
                                      <p:tavLst>
                                        <p:tav tm="0">
                                          <p:val>
                                            <p:strVal val="#ppt_x"/>
                                          </p:val>
                                        </p:tav>
                                        <p:tav tm="100000">
                                          <p:val>
                                            <p:strVal val="#ppt_x"/>
                                          </p:val>
                                        </p:tav>
                                      </p:tavLst>
                                    </p:anim>
                                    <p:anim calcmode="lin" valueType="num">
                                      <p:cBhvr additive="base">
                                        <p:cTn id="4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9" grpId="0" animBg="1"/>
      <p:bldP spid="1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最小二乘滤波（</a:t>
            </a:r>
            <a:r>
              <a:rPr lang="en-US" altLang="zh-CN" b="1" dirty="0"/>
              <a:t>LMS Filter</a:t>
            </a:r>
            <a:r>
              <a:rPr lang="zh-CN" altLang="en-US" b="1" dirty="0"/>
              <a:t>）</a:t>
            </a:r>
            <a:endParaRPr lang="zh-CN" altLang="en-US" dirty="0"/>
          </a:p>
        </p:txBody>
      </p:sp>
      <p:sp>
        <p:nvSpPr>
          <p:cNvPr id="4" name="灯片编号占位符 3"/>
          <p:cNvSpPr>
            <a:spLocks noGrp="1"/>
          </p:cNvSpPr>
          <p:nvPr>
            <p:ph type="sldNum" sz="quarter" idx="12"/>
          </p:nvPr>
        </p:nvSpPr>
        <p:spPr/>
        <p:txBody>
          <a:bodyPr/>
          <a:lstStyle/>
          <a:p>
            <a:pPr>
              <a:defRPr/>
            </a:pPr>
            <a:fld id="{3ACE1859-598D-4001-8269-61C428827EE7}" type="slidenum">
              <a:rPr lang="zh-CN" altLang="en-US" smtClean="0"/>
              <a:pPr>
                <a:defRPr/>
              </a:pPr>
              <a:t>34</a:t>
            </a:fld>
            <a:endParaRPr lang="zh-CN" altLang="en-US"/>
          </a:p>
        </p:txBody>
      </p:sp>
      <p:sp>
        <p:nvSpPr>
          <p:cNvPr id="5" name="矩形 4"/>
          <p:cNvSpPr/>
          <p:nvPr/>
        </p:nvSpPr>
        <p:spPr>
          <a:xfrm>
            <a:off x="1115616" y="1940639"/>
            <a:ext cx="7353295" cy="1200329"/>
          </a:xfrm>
          <a:prstGeom prst="rect">
            <a:avLst/>
          </a:prstGeom>
        </p:spPr>
        <p:txBody>
          <a:bodyPr wrap="none">
            <a:spAutoFit/>
          </a:bodyPr>
          <a:lstStyle/>
          <a:p>
            <a:r>
              <a:rPr lang="zh-CN" altLang="en-US" sz="2400" b="1" dirty="0" smtClean="0"/>
              <a:t>上式中的矩阵叫做</a:t>
            </a:r>
            <a:r>
              <a:rPr lang="en-US" altLang="zh-CN" sz="2400" b="1" dirty="0" smtClean="0"/>
              <a:t>Hessian Matrix</a:t>
            </a:r>
            <a:r>
              <a:rPr lang="zh-CN" altLang="en-US" sz="2400" b="1" dirty="0" smtClean="0"/>
              <a:t>，表示为</a:t>
            </a:r>
            <a:r>
              <a:rPr lang="en-US" altLang="zh-CN" sz="2400" b="1" dirty="0" smtClean="0"/>
              <a:t> </a:t>
            </a:r>
            <a:r>
              <a:rPr lang="en-US" altLang="zh-CN" sz="2400" b="1" i="1" dirty="0" smtClean="0"/>
              <a:t>H</a:t>
            </a:r>
            <a:r>
              <a:rPr lang="en-US" altLang="zh-CN" sz="2400" b="1" dirty="0" smtClean="0"/>
              <a:t>.</a:t>
            </a:r>
          </a:p>
          <a:p>
            <a:endParaRPr lang="en-US" altLang="zh-CN" sz="2400" dirty="0" smtClean="0"/>
          </a:p>
          <a:p>
            <a:r>
              <a:rPr lang="zh-CN" altLang="en-US" sz="2400" b="1" dirty="0" smtClean="0"/>
              <a:t>为实现</a:t>
            </a:r>
            <a:r>
              <a:rPr lang="en-US" altLang="zh-CN" sz="2400" b="1" dirty="0" smtClean="0"/>
              <a:t>J(</a:t>
            </a:r>
            <a:r>
              <a:rPr lang="en-US" altLang="zh-CN" sz="2400" b="1" dirty="0" err="1" smtClean="0"/>
              <a:t>W+g</a:t>
            </a:r>
            <a:r>
              <a:rPr lang="en-US" altLang="zh-CN" sz="2400" b="1" dirty="0" smtClean="0"/>
              <a:t>)</a:t>
            </a:r>
            <a:r>
              <a:rPr lang="zh-CN" altLang="en-US" sz="2400" b="1" dirty="0" smtClean="0"/>
              <a:t>的最小化，令上式等于</a:t>
            </a:r>
            <a:r>
              <a:rPr lang="en-US" altLang="zh-CN" sz="2400" b="1" dirty="0" smtClean="0"/>
              <a:t> 0</a:t>
            </a:r>
            <a:r>
              <a:rPr lang="zh-CN" altLang="en-US" sz="2400" b="1" dirty="0" smtClean="0"/>
              <a:t>，可以得到：</a:t>
            </a:r>
            <a:endParaRPr lang="zh-CN" altLang="en-US" sz="2400" b="1" dirty="0"/>
          </a:p>
        </p:txBody>
      </p:sp>
      <p:pic>
        <p:nvPicPr>
          <p:cNvPr id="7170" name="Picture 2"/>
          <p:cNvPicPr>
            <a:picLocks noChangeAspect="1" noChangeArrowheads="1"/>
          </p:cNvPicPr>
          <p:nvPr/>
        </p:nvPicPr>
        <p:blipFill>
          <a:blip r:embed="rId2" cstate="print"/>
          <a:srcRect/>
          <a:stretch>
            <a:fillRect/>
          </a:stretch>
        </p:blipFill>
        <p:spPr bwMode="auto">
          <a:xfrm>
            <a:off x="3419872" y="3429000"/>
            <a:ext cx="2529973" cy="648072"/>
          </a:xfrm>
          <a:prstGeom prst="rect">
            <a:avLst/>
          </a:prstGeom>
          <a:noFill/>
          <a:ln w="9525">
            <a:noFill/>
            <a:miter lim="800000"/>
            <a:headEnd/>
            <a:tailEnd/>
          </a:ln>
        </p:spPr>
      </p:pic>
      <p:sp>
        <p:nvSpPr>
          <p:cNvPr id="7" name="矩形 6"/>
          <p:cNvSpPr/>
          <p:nvPr/>
        </p:nvSpPr>
        <p:spPr>
          <a:xfrm>
            <a:off x="1115616" y="4335487"/>
            <a:ext cx="7300396" cy="461665"/>
          </a:xfrm>
          <a:prstGeom prst="rect">
            <a:avLst/>
          </a:prstGeom>
        </p:spPr>
        <p:txBody>
          <a:bodyPr wrap="none">
            <a:spAutoFit/>
          </a:bodyPr>
          <a:lstStyle/>
          <a:p>
            <a:r>
              <a:rPr lang="zh-CN" altLang="en-US" sz="2400" b="1" dirty="0" smtClean="0"/>
              <a:t>可得到牛顿迭代法（一种梯度下降策略）的表达式：</a:t>
            </a:r>
            <a:endParaRPr lang="zh-CN" altLang="en-US" sz="2400" b="1" dirty="0"/>
          </a:p>
        </p:txBody>
      </p:sp>
      <p:pic>
        <p:nvPicPr>
          <p:cNvPr id="7171" name="Picture 3"/>
          <p:cNvPicPr>
            <a:picLocks noChangeAspect="1" noChangeArrowheads="1"/>
          </p:cNvPicPr>
          <p:nvPr/>
        </p:nvPicPr>
        <p:blipFill>
          <a:blip r:embed="rId3" cstate="print"/>
          <a:srcRect/>
          <a:stretch>
            <a:fillRect/>
          </a:stretch>
        </p:blipFill>
        <p:spPr bwMode="auto">
          <a:xfrm>
            <a:off x="2555776" y="4941168"/>
            <a:ext cx="4534658" cy="576064"/>
          </a:xfrm>
          <a:prstGeom prst="rect">
            <a:avLst/>
          </a:prstGeom>
          <a:noFill/>
          <a:ln w="9525">
            <a:noFill/>
            <a:miter lim="800000"/>
            <a:headEnd/>
            <a:tailEnd/>
          </a:ln>
        </p:spPr>
      </p:pic>
    </p:spTree>
    <p:extLst>
      <p:ext uri="{BB962C8B-B14F-4D97-AF65-F5344CB8AC3E}">
        <p14:creationId xmlns:p14="http://schemas.microsoft.com/office/powerpoint/2010/main" val="3516570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170"/>
                                        </p:tgtEl>
                                        <p:attrNameLst>
                                          <p:attrName>style.visibility</p:attrName>
                                        </p:attrNameLst>
                                      </p:cBhvr>
                                      <p:to>
                                        <p:strVal val="visible"/>
                                      </p:to>
                                    </p:set>
                                    <p:anim calcmode="lin" valueType="num">
                                      <p:cBhvr additive="base">
                                        <p:cTn id="13" dur="500" fill="hold"/>
                                        <p:tgtEl>
                                          <p:spTgt spid="7170"/>
                                        </p:tgtEl>
                                        <p:attrNameLst>
                                          <p:attrName>ppt_x</p:attrName>
                                        </p:attrNameLst>
                                      </p:cBhvr>
                                      <p:tavLst>
                                        <p:tav tm="0">
                                          <p:val>
                                            <p:strVal val="#ppt_x"/>
                                          </p:val>
                                        </p:tav>
                                        <p:tav tm="100000">
                                          <p:val>
                                            <p:strVal val="#ppt_x"/>
                                          </p:val>
                                        </p:tav>
                                      </p:tavLst>
                                    </p:anim>
                                    <p:anim calcmode="lin" valueType="num">
                                      <p:cBhvr additive="base">
                                        <p:cTn id="14"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171"/>
                                        </p:tgtEl>
                                        <p:attrNameLst>
                                          <p:attrName>style.visibility</p:attrName>
                                        </p:attrNameLst>
                                      </p:cBhvr>
                                      <p:to>
                                        <p:strVal val="visible"/>
                                      </p:to>
                                    </p:set>
                                    <p:anim calcmode="lin" valueType="num">
                                      <p:cBhvr additive="base">
                                        <p:cTn id="25" dur="500" fill="hold"/>
                                        <p:tgtEl>
                                          <p:spTgt spid="7171"/>
                                        </p:tgtEl>
                                        <p:attrNameLst>
                                          <p:attrName>ppt_x</p:attrName>
                                        </p:attrNameLst>
                                      </p:cBhvr>
                                      <p:tavLst>
                                        <p:tav tm="0">
                                          <p:val>
                                            <p:strVal val="#ppt_x"/>
                                          </p:val>
                                        </p:tav>
                                        <p:tav tm="100000">
                                          <p:val>
                                            <p:strVal val="#ppt_x"/>
                                          </p:val>
                                        </p:tav>
                                      </p:tavLst>
                                    </p:anim>
                                    <p:anim calcmode="lin" valueType="num">
                                      <p:cBhvr additive="base">
                                        <p:cTn id="26" dur="500" fill="hold"/>
                                        <p:tgtEl>
                                          <p:spTgt spid="717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b="1" dirty="0"/>
              <a:t>最小二乘滤波（</a:t>
            </a:r>
            <a:r>
              <a:rPr lang="en-US" altLang="zh-CN" sz="3600" b="1" dirty="0"/>
              <a:t>LMS Filter</a:t>
            </a:r>
            <a:r>
              <a:rPr lang="zh-CN" altLang="en-US" sz="3600" b="1" dirty="0"/>
              <a:t>）</a:t>
            </a:r>
            <a:endParaRPr lang="zh-CN" altLang="en-US" sz="3600" dirty="0"/>
          </a:p>
        </p:txBody>
      </p:sp>
      <p:sp>
        <p:nvSpPr>
          <p:cNvPr id="4" name="灯片编号占位符 3"/>
          <p:cNvSpPr>
            <a:spLocks noGrp="1"/>
          </p:cNvSpPr>
          <p:nvPr>
            <p:ph type="sldNum" sz="quarter" idx="12"/>
          </p:nvPr>
        </p:nvSpPr>
        <p:spPr>
          <a:xfrm>
            <a:off x="3429000" y="5771728"/>
            <a:ext cx="838200" cy="457200"/>
          </a:xfrm>
        </p:spPr>
        <p:txBody>
          <a:bodyPr/>
          <a:lstStyle/>
          <a:p>
            <a:pPr>
              <a:defRPr/>
            </a:pPr>
            <a:fld id="{3ACE1859-598D-4001-8269-61C428827EE7}" type="slidenum">
              <a:rPr lang="zh-CN" altLang="en-US" smtClean="0"/>
              <a:pPr>
                <a:defRPr/>
              </a:pPr>
              <a:t>35</a:t>
            </a:fld>
            <a:endParaRPr lang="zh-CN" altLang="en-US"/>
          </a:p>
        </p:txBody>
      </p:sp>
      <p:sp>
        <p:nvSpPr>
          <p:cNvPr id="5" name="矩形 4"/>
          <p:cNvSpPr/>
          <p:nvPr/>
        </p:nvSpPr>
        <p:spPr>
          <a:xfrm>
            <a:off x="1331640" y="1700808"/>
            <a:ext cx="7560840" cy="830997"/>
          </a:xfrm>
          <a:prstGeom prst="rect">
            <a:avLst/>
          </a:prstGeom>
        </p:spPr>
        <p:txBody>
          <a:bodyPr wrap="square">
            <a:spAutoFit/>
          </a:bodyPr>
          <a:lstStyle/>
          <a:p>
            <a:r>
              <a:rPr lang="zh-CN" altLang="en-US" sz="2400" b="1" dirty="0" smtClean="0"/>
              <a:t>将上式中的</a:t>
            </a:r>
            <a:r>
              <a:rPr lang="en-US" altLang="zh-CN" sz="2400" b="1" dirty="0" smtClean="0"/>
              <a:t>Hessian</a:t>
            </a:r>
            <a:r>
              <a:rPr lang="zh-CN" altLang="en-US" sz="2400" b="1" dirty="0" smtClean="0"/>
              <a:t>矩阵近似为</a:t>
            </a:r>
            <a:r>
              <a:rPr lang="en-US" altLang="zh-CN" sz="2400" b="1" dirty="0" smtClean="0"/>
              <a:t> H=2I </a:t>
            </a:r>
            <a:r>
              <a:rPr lang="zh-CN" altLang="en-US" sz="2400" b="1" dirty="0" smtClean="0"/>
              <a:t>，则可以得到最速下降法的通用表达式：</a:t>
            </a:r>
            <a:endParaRPr lang="en-US" altLang="zh-CN" sz="2400" b="1" dirty="0" smtClean="0"/>
          </a:p>
        </p:txBody>
      </p:sp>
      <p:pic>
        <p:nvPicPr>
          <p:cNvPr id="10242" name="Picture 2"/>
          <p:cNvPicPr>
            <a:picLocks noChangeAspect="1" noChangeArrowheads="1"/>
          </p:cNvPicPr>
          <p:nvPr/>
        </p:nvPicPr>
        <p:blipFill>
          <a:blip r:embed="rId2" cstate="print"/>
          <a:srcRect/>
          <a:stretch>
            <a:fillRect/>
          </a:stretch>
        </p:blipFill>
        <p:spPr bwMode="auto">
          <a:xfrm>
            <a:off x="3131840" y="2780928"/>
            <a:ext cx="3010750" cy="576064"/>
          </a:xfrm>
          <a:prstGeom prst="rect">
            <a:avLst/>
          </a:prstGeom>
          <a:noFill/>
          <a:ln w="9525">
            <a:noFill/>
            <a:miter lim="800000"/>
            <a:headEnd/>
            <a:tailEnd/>
          </a:ln>
        </p:spPr>
      </p:pic>
      <p:sp>
        <p:nvSpPr>
          <p:cNvPr id="7" name="矩形 6"/>
          <p:cNvSpPr/>
          <p:nvPr/>
        </p:nvSpPr>
        <p:spPr>
          <a:xfrm>
            <a:off x="1403648" y="3316922"/>
            <a:ext cx="3905236" cy="400110"/>
          </a:xfrm>
          <a:prstGeom prst="rect">
            <a:avLst/>
          </a:prstGeom>
        </p:spPr>
        <p:txBody>
          <a:bodyPr wrap="none">
            <a:spAutoFit/>
          </a:bodyPr>
          <a:lstStyle/>
          <a:p>
            <a:r>
              <a:rPr lang="zh-CN" altLang="en-US" sz="2000" b="1" dirty="0" smtClean="0"/>
              <a:t>这里</a:t>
            </a:r>
            <a:r>
              <a:rPr lang="en-US" altLang="zh-CN" sz="2000" b="1" dirty="0" smtClean="0"/>
              <a:t>, </a:t>
            </a:r>
            <a:r>
              <a:rPr lang="zh-CN" altLang="en-US" sz="2000" b="1" dirty="0" smtClean="0"/>
              <a:t>常数</a:t>
            </a:r>
            <a:r>
              <a:rPr lang="el-GR" altLang="zh-CN" sz="2000" b="1" i="1" dirty="0" smtClean="0">
                <a:ea typeface="宋体"/>
              </a:rPr>
              <a:t>μ</a:t>
            </a:r>
            <a:r>
              <a:rPr lang="en-US" altLang="zh-CN" sz="2000" b="1" dirty="0" smtClean="0">
                <a:ea typeface="宋体"/>
              </a:rPr>
              <a:t> </a:t>
            </a:r>
            <a:r>
              <a:rPr lang="zh-CN" altLang="en-US" sz="2000" b="1" dirty="0" smtClean="0">
                <a:ea typeface="宋体"/>
              </a:rPr>
              <a:t>用于控制收敛速度。</a:t>
            </a:r>
            <a:endParaRPr lang="en-US" altLang="zh-CN" sz="2000" b="1" dirty="0" smtClean="0"/>
          </a:p>
        </p:txBody>
      </p:sp>
      <p:pic>
        <p:nvPicPr>
          <p:cNvPr id="10243" name="Picture 3"/>
          <p:cNvPicPr>
            <a:picLocks noChangeAspect="1" noChangeArrowheads="1"/>
          </p:cNvPicPr>
          <p:nvPr/>
        </p:nvPicPr>
        <p:blipFill>
          <a:blip r:embed="rId3" cstate="print"/>
          <a:srcRect/>
          <a:stretch>
            <a:fillRect/>
          </a:stretch>
        </p:blipFill>
        <p:spPr bwMode="auto">
          <a:xfrm>
            <a:off x="4627190" y="3861048"/>
            <a:ext cx="3905250" cy="2447925"/>
          </a:xfrm>
          <a:prstGeom prst="rect">
            <a:avLst/>
          </a:prstGeom>
          <a:noFill/>
          <a:ln w="9525">
            <a:noFill/>
            <a:miter lim="800000"/>
            <a:headEnd/>
            <a:tailEnd/>
          </a:ln>
        </p:spPr>
      </p:pic>
      <p:sp>
        <p:nvSpPr>
          <p:cNvPr id="9" name="矩形 8"/>
          <p:cNvSpPr/>
          <p:nvPr/>
        </p:nvSpPr>
        <p:spPr>
          <a:xfrm>
            <a:off x="179512" y="4608512"/>
            <a:ext cx="4139275" cy="830997"/>
          </a:xfrm>
          <a:prstGeom prst="rect">
            <a:avLst/>
          </a:prstGeom>
        </p:spPr>
        <p:txBody>
          <a:bodyPr wrap="none">
            <a:spAutoFit/>
          </a:bodyPr>
          <a:lstStyle/>
          <a:p>
            <a:r>
              <a:rPr lang="en-US" altLang="zh-CN" sz="2400" dirty="0" smtClean="0"/>
              <a:t>The algorithm is summarized</a:t>
            </a:r>
          </a:p>
          <a:p>
            <a:r>
              <a:rPr lang="en-US" altLang="zh-CN" sz="2400" dirty="0" smtClean="0"/>
              <a:t> in the right table. </a:t>
            </a:r>
          </a:p>
        </p:txBody>
      </p:sp>
      <p:pic>
        <p:nvPicPr>
          <p:cNvPr id="829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6340" y="3819097"/>
            <a:ext cx="2095500" cy="2409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6862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242"/>
                                        </p:tgtEl>
                                        <p:attrNameLst>
                                          <p:attrName>style.visibility</p:attrName>
                                        </p:attrNameLst>
                                      </p:cBhvr>
                                      <p:to>
                                        <p:strVal val="visible"/>
                                      </p:to>
                                    </p:set>
                                    <p:anim calcmode="lin" valueType="num">
                                      <p:cBhvr additive="base">
                                        <p:cTn id="13" dur="500" fill="hold"/>
                                        <p:tgtEl>
                                          <p:spTgt spid="10242"/>
                                        </p:tgtEl>
                                        <p:attrNameLst>
                                          <p:attrName>ppt_x</p:attrName>
                                        </p:attrNameLst>
                                      </p:cBhvr>
                                      <p:tavLst>
                                        <p:tav tm="0">
                                          <p:val>
                                            <p:strVal val="#ppt_x"/>
                                          </p:val>
                                        </p:tav>
                                        <p:tav tm="100000">
                                          <p:val>
                                            <p:strVal val="#ppt_x"/>
                                          </p:val>
                                        </p:tav>
                                      </p:tavLst>
                                    </p:anim>
                                    <p:anim calcmode="lin" valueType="num">
                                      <p:cBhvr additive="base">
                                        <p:cTn id="14" dur="500" fill="hold"/>
                                        <p:tgtEl>
                                          <p:spTgt spid="1024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0243"/>
                                        </p:tgtEl>
                                        <p:attrNameLst>
                                          <p:attrName>style.visibility</p:attrName>
                                        </p:attrNameLst>
                                      </p:cBhvr>
                                      <p:to>
                                        <p:strVal val="visible"/>
                                      </p:to>
                                    </p:set>
                                    <p:anim calcmode="lin" valueType="num">
                                      <p:cBhvr additive="base">
                                        <p:cTn id="31" dur="500" fill="hold"/>
                                        <p:tgtEl>
                                          <p:spTgt spid="10243"/>
                                        </p:tgtEl>
                                        <p:attrNameLst>
                                          <p:attrName>ppt_x</p:attrName>
                                        </p:attrNameLst>
                                      </p:cBhvr>
                                      <p:tavLst>
                                        <p:tav tm="0">
                                          <p:val>
                                            <p:strVal val="#ppt_x"/>
                                          </p:val>
                                        </p:tav>
                                        <p:tav tm="100000">
                                          <p:val>
                                            <p:strVal val="#ppt_x"/>
                                          </p:val>
                                        </p:tav>
                                      </p:tavLst>
                                    </p:anim>
                                    <p:anim calcmode="lin" valueType="num">
                                      <p:cBhvr additive="base">
                                        <p:cTn id="32" dur="500" fill="hold"/>
                                        <p:tgtEl>
                                          <p:spTgt spid="1024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82946"/>
                                        </p:tgtEl>
                                        <p:attrNameLst>
                                          <p:attrName>style.visibility</p:attrName>
                                        </p:attrNameLst>
                                      </p:cBhvr>
                                      <p:to>
                                        <p:strVal val="visible"/>
                                      </p:to>
                                    </p:set>
                                    <p:anim calcmode="lin" valueType="num">
                                      <p:cBhvr additive="base">
                                        <p:cTn id="37" dur="500" fill="hold"/>
                                        <p:tgtEl>
                                          <p:spTgt spid="82946"/>
                                        </p:tgtEl>
                                        <p:attrNameLst>
                                          <p:attrName>ppt_x</p:attrName>
                                        </p:attrNameLst>
                                      </p:cBhvr>
                                      <p:tavLst>
                                        <p:tav tm="0">
                                          <p:val>
                                            <p:strVal val="#ppt_x"/>
                                          </p:val>
                                        </p:tav>
                                        <p:tav tm="100000">
                                          <p:val>
                                            <p:strVal val="#ppt_x"/>
                                          </p:val>
                                        </p:tav>
                                      </p:tavLst>
                                    </p:anim>
                                    <p:anim calcmode="lin" valueType="num">
                                      <p:cBhvr additive="base">
                                        <p:cTn id="38" dur="500" fill="hold"/>
                                        <p:tgtEl>
                                          <p:spTgt spid="829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1120080" y="381000"/>
            <a:ext cx="7772400" cy="1066800"/>
          </a:xfrm>
        </p:spPr>
        <p:txBody>
          <a:bodyPr/>
          <a:lstStyle/>
          <a:p>
            <a:r>
              <a:rPr lang="zh-CN" altLang="en-US" sz="3200" b="1" dirty="0"/>
              <a:t>最小二乘滤波（</a:t>
            </a:r>
            <a:r>
              <a:rPr lang="en-US" altLang="zh-CN" sz="3200" b="1" dirty="0"/>
              <a:t>LMS Filter</a:t>
            </a:r>
            <a:r>
              <a:rPr lang="zh-CN" altLang="en-US" sz="3200" b="1" dirty="0"/>
              <a:t>）</a:t>
            </a:r>
            <a:endParaRPr lang="zh-TW" altLang="en-US" sz="3200" dirty="0">
              <a:solidFill>
                <a:srgbClr val="000000"/>
              </a:solidFill>
              <a:latin typeface="Arial" pitchFamily="34" charset="0"/>
              <a:ea typeface="新細明體" pitchFamily="18" charset="-120"/>
            </a:endParaRPr>
          </a:p>
        </p:txBody>
      </p:sp>
      <p:sp>
        <p:nvSpPr>
          <p:cNvPr id="63491" name="Rectangle 3" descr="Rectangle: Click to edit Master text styles&#10;Second level&#10;Third level&#10;Fourth level&#10;Fifth level"/>
          <p:cNvSpPr>
            <a:spLocks noGrp="1" noChangeArrowheads="1"/>
          </p:cNvSpPr>
          <p:nvPr>
            <p:ph type="body" idx="1"/>
          </p:nvPr>
        </p:nvSpPr>
        <p:spPr>
          <a:xfrm>
            <a:off x="1120080" y="1447800"/>
            <a:ext cx="7772400" cy="4572000"/>
          </a:xfrm>
        </p:spPr>
        <p:txBody>
          <a:bodyPr/>
          <a:lstStyle/>
          <a:p>
            <a:pPr>
              <a:buFont typeface="Wingdings" pitchFamily="2" charset="2"/>
              <a:buNone/>
            </a:pPr>
            <a:r>
              <a:rPr lang="zh-TW" altLang="en-US" sz="2400" dirty="0">
                <a:solidFill>
                  <a:srgbClr val="000000"/>
                </a:solidFill>
                <a:latin typeface="AdobePiStd" charset="-122"/>
                <a:ea typeface="AdobePiStd" charset="-122"/>
              </a:rPr>
              <a:t>❏ </a:t>
            </a:r>
            <a:r>
              <a:rPr lang="zh-CN" altLang="en-US" sz="2400" dirty="0" smtClean="0">
                <a:solidFill>
                  <a:srgbClr val="000000"/>
                </a:solidFill>
                <a:latin typeface="AdobePiStd" charset="-122"/>
                <a:ea typeface="AdobePiStd" charset="-122"/>
              </a:rPr>
              <a:t>将</a:t>
            </a:r>
            <a:r>
              <a:rPr lang="zh-CN" altLang="en-US" sz="2400" dirty="0" smtClean="0">
                <a:solidFill>
                  <a:srgbClr val="000000"/>
                </a:solidFill>
                <a:latin typeface="Arial" pitchFamily="34" charset="0"/>
                <a:ea typeface="AdobePiStd" charset="-122"/>
              </a:rPr>
              <a:t>维纳滤波器的表达式代入到最速下降滤波中，可得</a:t>
            </a:r>
            <a:r>
              <a:rPr lang="en-US" altLang="zh-TW" sz="2400" dirty="0" smtClean="0">
                <a:solidFill>
                  <a:srgbClr val="000000"/>
                </a:solidFill>
                <a:latin typeface="Arial" pitchFamily="34" charset="0"/>
                <a:ea typeface="AdobePiStd" charset="-122"/>
              </a:rPr>
              <a:t>:</a:t>
            </a:r>
            <a:endParaRPr lang="en-US" altLang="zh-TW" sz="2400" dirty="0">
              <a:solidFill>
                <a:srgbClr val="000000"/>
              </a:solidFill>
              <a:latin typeface="Arial" pitchFamily="34" charset="0"/>
              <a:ea typeface="AdobePiStd" charset="-122"/>
            </a:endParaRPr>
          </a:p>
          <a:p>
            <a:pPr>
              <a:buFont typeface="Wingdings" pitchFamily="2" charset="2"/>
              <a:buNone/>
            </a:pPr>
            <a:endParaRPr lang="zh-TW" altLang="en-US" dirty="0">
              <a:solidFill>
                <a:srgbClr val="000000"/>
              </a:solidFill>
              <a:latin typeface="Arial" pitchFamily="34" charset="0"/>
              <a:ea typeface="AdobePiStd" charset="-122"/>
            </a:endParaRPr>
          </a:p>
          <a:p>
            <a:pPr>
              <a:buFont typeface="Wingdings" pitchFamily="2" charset="2"/>
              <a:buNone/>
            </a:pPr>
            <a:endParaRPr lang="zh-TW" altLang="en-US" dirty="0">
              <a:solidFill>
                <a:srgbClr val="000000"/>
              </a:solidFill>
              <a:ea typeface="新細明體" pitchFamily="18" charset="-120"/>
            </a:endParaRPr>
          </a:p>
          <a:p>
            <a:pPr>
              <a:buFont typeface="Wingdings" pitchFamily="2" charset="2"/>
              <a:buNone/>
            </a:pPr>
            <a:r>
              <a:rPr lang="zh-TW" altLang="en-US" sz="2400" dirty="0">
                <a:solidFill>
                  <a:srgbClr val="000000"/>
                </a:solidFill>
                <a:latin typeface="+mj-lt"/>
                <a:ea typeface="AdobePiStd" charset="-122"/>
              </a:rPr>
              <a:t>❏</a:t>
            </a:r>
            <a:r>
              <a:rPr lang="zh-TW" altLang="en-US" dirty="0">
                <a:solidFill>
                  <a:srgbClr val="000000"/>
                </a:solidFill>
                <a:latin typeface="+mj-lt"/>
                <a:ea typeface="AdobePiStd" charset="-122"/>
              </a:rPr>
              <a:t> </a:t>
            </a:r>
            <a:r>
              <a:rPr lang="zh-CN" altLang="en-US" sz="2400" dirty="0" smtClean="0">
                <a:solidFill>
                  <a:srgbClr val="000000"/>
                </a:solidFill>
                <a:latin typeface="+mj-lt"/>
                <a:ea typeface="AdobePiStd" charset="-122"/>
              </a:rPr>
              <a:t>其中，</a:t>
            </a:r>
            <a:r>
              <a:rPr lang="en-US" altLang="zh-CN" sz="2400" dirty="0" smtClean="0">
                <a:solidFill>
                  <a:srgbClr val="000000"/>
                </a:solidFill>
                <a:latin typeface="+mj-lt"/>
                <a:ea typeface="AdobePiStd" charset="-122"/>
              </a:rPr>
              <a:t>R</a:t>
            </a:r>
            <a:r>
              <a:rPr lang="zh-CN" altLang="en-US" sz="2400" dirty="0" smtClean="0">
                <a:solidFill>
                  <a:srgbClr val="000000"/>
                </a:solidFill>
                <a:latin typeface="+mj-lt"/>
                <a:ea typeface="AdobePiStd" charset="-122"/>
              </a:rPr>
              <a:t>和</a:t>
            </a:r>
            <a:r>
              <a:rPr lang="en-US" altLang="zh-CN" sz="2400" dirty="0" smtClean="0">
                <a:solidFill>
                  <a:srgbClr val="000000"/>
                </a:solidFill>
                <a:latin typeface="+mj-lt"/>
                <a:ea typeface="AdobePiStd" charset="-122"/>
              </a:rPr>
              <a:t>P</a:t>
            </a:r>
            <a:r>
              <a:rPr lang="zh-CN" altLang="en-US" sz="2400" dirty="0" smtClean="0">
                <a:solidFill>
                  <a:srgbClr val="000000"/>
                </a:solidFill>
                <a:latin typeface="+mj-lt"/>
                <a:ea typeface="AdobePiStd" charset="-122"/>
              </a:rPr>
              <a:t>为瞬态估计，</a:t>
            </a:r>
            <a:endParaRPr lang="zh-TW" altLang="en-US" sz="2400" dirty="0">
              <a:solidFill>
                <a:srgbClr val="000000"/>
              </a:solidFill>
              <a:latin typeface="+mj-lt"/>
              <a:ea typeface="新細明體" pitchFamily="18" charset="-120"/>
            </a:endParaRPr>
          </a:p>
        </p:txBody>
      </p:sp>
      <p:pic>
        <p:nvPicPr>
          <p:cNvPr id="63492" name="Picture 4"/>
          <p:cNvPicPr>
            <a:picLocks noChangeAspect="1" noChangeArrowheads="1"/>
          </p:cNvPicPr>
          <p:nvPr/>
        </p:nvPicPr>
        <p:blipFill>
          <a:blip r:embed="rId3" cstate="print"/>
          <a:srcRect/>
          <a:stretch>
            <a:fillRect/>
          </a:stretch>
        </p:blipFill>
        <p:spPr bwMode="auto">
          <a:xfrm>
            <a:off x="2545432" y="1916832"/>
            <a:ext cx="4114800" cy="1255713"/>
          </a:xfrm>
          <a:prstGeom prst="rect">
            <a:avLst/>
          </a:prstGeom>
          <a:noFill/>
          <a:ln w="9525">
            <a:noFill/>
            <a:miter lim="800000"/>
            <a:headEnd/>
            <a:tailEnd/>
          </a:ln>
          <a:effectLst/>
        </p:spPr>
      </p:pic>
      <p:pic>
        <p:nvPicPr>
          <p:cNvPr id="63493" name="Picture 5"/>
          <p:cNvPicPr>
            <a:picLocks noChangeAspect="1" noChangeArrowheads="1"/>
          </p:cNvPicPr>
          <p:nvPr/>
        </p:nvPicPr>
        <p:blipFill>
          <a:blip r:embed="rId4" cstate="print"/>
          <a:srcRect/>
          <a:stretch>
            <a:fillRect/>
          </a:stretch>
        </p:blipFill>
        <p:spPr bwMode="auto">
          <a:xfrm>
            <a:off x="1458416" y="3789040"/>
            <a:ext cx="6858000" cy="574675"/>
          </a:xfrm>
          <a:prstGeom prst="rect">
            <a:avLst/>
          </a:prstGeom>
          <a:noFill/>
          <a:ln w="9525">
            <a:noFill/>
            <a:miter lim="800000"/>
            <a:headEnd/>
            <a:tailEnd/>
          </a:ln>
          <a:effectLst/>
        </p:spPr>
      </p:pic>
      <p:sp>
        <p:nvSpPr>
          <p:cNvPr id="8" name="矩形 7"/>
          <p:cNvSpPr/>
          <p:nvPr/>
        </p:nvSpPr>
        <p:spPr>
          <a:xfrm>
            <a:off x="1147283" y="4581128"/>
            <a:ext cx="7632848" cy="461665"/>
          </a:xfrm>
          <a:prstGeom prst="rect">
            <a:avLst/>
          </a:prstGeom>
        </p:spPr>
        <p:txBody>
          <a:bodyPr wrap="square">
            <a:spAutoFit/>
          </a:bodyPr>
          <a:lstStyle/>
          <a:p>
            <a:pPr>
              <a:buFont typeface="Wingdings" pitchFamily="2" charset="2"/>
              <a:buNone/>
            </a:pPr>
            <a:r>
              <a:rPr lang="en-US" altLang="zh-TW" sz="2400" dirty="0" smtClean="0">
                <a:solidFill>
                  <a:srgbClr val="000000"/>
                </a:solidFill>
                <a:latin typeface="AdobePiStd" charset="-122"/>
                <a:ea typeface="AdobePiStd" charset="-122"/>
              </a:rPr>
              <a:t>❏ </a:t>
            </a:r>
            <a:r>
              <a:rPr lang="zh-CN" altLang="en-US" sz="2400" dirty="0" smtClean="0">
                <a:solidFill>
                  <a:srgbClr val="000000"/>
                </a:solidFill>
                <a:latin typeface="AdobePiStd" charset="-122"/>
                <a:ea typeface="AdobePiStd" charset="-122"/>
              </a:rPr>
              <a:t>上式也有其它的表现形式，比如使用瞬态误差</a:t>
            </a:r>
            <a:r>
              <a:rPr lang="en-US" altLang="zh-TW" sz="2400" dirty="0" smtClean="0">
                <a:solidFill>
                  <a:srgbClr val="000000"/>
                </a:solidFill>
                <a:latin typeface="Arial" pitchFamily="34" charset="0"/>
                <a:ea typeface="新細明體" pitchFamily="18" charset="-120"/>
              </a:rPr>
              <a:t> </a:t>
            </a:r>
            <a:endParaRPr lang="zh-CN" altLang="en-US" sz="2400" dirty="0"/>
          </a:p>
        </p:txBody>
      </p:sp>
      <p:graphicFrame>
        <p:nvGraphicFramePr>
          <p:cNvPr id="2" name="对象 1"/>
          <p:cNvGraphicFramePr>
            <a:graphicFrameLocks noChangeAspect="1"/>
          </p:cNvGraphicFramePr>
          <p:nvPr>
            <p:extLst>
              <p:ext uri="{D42A27DB-BD31-4B8C-83A1-F6EECF244321}">
                <p14:modId xmlns:p14="http://schemas.microsoft.com/office/powerpoint/2010/main" val="3992865993"/>
              </p:ext>
            </p:extLst>
          </p:nvPr>
        </p:nvGraphicFramePr>
        <p:xfrm>
          <a:off x="7812360" y="4509120"/>
          <a:ext cx="720725" cy="536575"/>
        </p:xfrm>
        <a:graphic>
          <a:graphicData uri="http://schemas.openxmlformats.org/presentationml/2006/ole">
            <mc:AlternateContent xmlns:mc="http://schemas.openxmlformats.org/markup-compatibility/2006">
              <mc:Choice xmlns:v="urn:schemas-microsoft-com:vml" Requires="v">
                <p:oleObj spid="_x0000_s13344" name="Equation" r:id="rId5" imgW="495085" imgH="368140" progId="Equation.3">
                  <p:embed/>
                </p:oleObj>
              </mc:Choice>
              <mc:Fallback>
                <p:oleObj name="Equation" r:id="rId5" imgW="495085" imgH="368140"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12360" y="4509120"/>
                        <a:ext cx="720725"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420666928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685800" y="381000"/>
            <a:ext cx="7772400" cy="1143000"/>
          </a:xfrm>
        </p:spPr>
        <p:txBody>
          <a:bodyPr/>
          <a:lstStyle/>
          <a:p>
            <a:r>
              <a:rPr lang="zh-CN" altLang="en-US" sz="3600" b="1" dirty="0"/>
              <a:t>最小二乘滤波（</a:t>
            </a:r>
            <a:r>
              <a:rPr lang="en-US" altLang="zh-CN" sz="3600" b="1" dirty="0"/>
              <a:t>LMS Filter</a:t>
            </a:r>
            <a:r>
              <a:rPr lang="zh-CN" altLang="en-US" sz="3600" b="1" dirty="0"/>
              <a:t>）</a:t>
            </a:r>
            <a:endParaRPr lang="zh-TW" altLang="en-US" sz="3600" dirty="0">
              <a:solidFill>
                <a:srgbClr val="000000"/>
              </a:solidFill>
              <a:latin typeface="Arial" pitchFamily="34" charset="0"/>
              <a:ea typeface="新細明體" pitchFamily="18" charset="-120"/>
            </a:endParaRPr>
          </a:p>
        </p:txBody>
      </p:sp>
      <p:sp>
        <p:nvSpPr>
          <p:cNvPr id="66563" name="Rectangle 3" descr="Rectangle: Click to edit Master text styles&#10;Second level&#10;Third level&#10;Fourth level&#10;Fifth level"/>
          <p:cNvSpPr>
            <a:spLocks noGrp="1" noChangeArrowheads="1"/>
          </p:cNvSpPr>
          <p:nvPr>
            <p:ph type="body" idx="1"/>
          </p:nvPr>
        </p:nvSpPr>
        <p:spPr>
          <a:xfrm>
            <a:off x="1048072" y="1556792"/>
            <a:ext cx="7772400" cy="4572000"/>
          </a:xfrm>
        </p:spPr>
        <p:txBody>
          <a:bodyPr/>
          <a:lstStyle/>
          <a:p>
            <a:pPr>
              <a:buFont typeface="Wingdings" pitchFamily="2" charset="2"/>
              <a:buNone/>
            </a:pPr>
            <a:r>
              <a:rPr lang="zh-TW" altLang="en-US" sz="2800" dirty="0">
                <a:solidFill>
                  <a:srgbClr val="000000"/>
                </a:solidFill>
                <a:latin typeface="AdobePiStd" charset="-122"/>
                <a:ea typeface="AdobePiStd" charset="-122"/>
              </a:rPr>
              <a:t>❏ </a:t>
            </a:r>
            <a:r>
              <a:rPr lang="zh-CN" altLang="en-US" sz="2800" dirty="0" smtClean="0">
                <a:solidFill>
                  <a:srgbClr val="000000"/>
                </a:solidFill>
                <a:latin typeface="AdobePiStd" charset="-122"/>
                <a:ea typeface="AdobePiStd" charset="-122"/>
              </a:rPr>
              <a:t>将瞬态误差     代入到最速下降滤波中，</a:t>
            </a:r>
            <a:endParaRPr lang="en-US" altLang="zh-TW" sz="2800" dirty="0">
              <a:solidFill>
                <a:srgbClr val="000000"/>
              </a:solidFill>
              <a:latin typeface="AdobePiStd" charset="-122"/>
              <a:ea typeface="AdobePiStd" charset="-122"/>
            </a:endParaRPr>
          </a:p>
          <a:p>
            <a:endParaRPr lang="zh-TW" altLang="en-US" dirty="0">
              <a:solidFill>
                <a:srgbClr val="000000"/>
              </a:solidFill>
              <a:ea typeface="新細明體" pitchFamily="18" charset="-120"/>
            </a:endParaRPr>
          </a:p>
        </p:txBody>
      </p:sp>
      <p:pic>
        <p:nvPicPr>
          <p:cNvPr id="66564" name="Picture 4"/>
          <p:cNvPicPr>
            <a:picLocks noChangeAspect="1" noChangeArrowheads="1"/>
          </p:cNvPicPr>
          <p:nvPr/>
        </p:nvPicPr>
        <p:blipFill>
          <a:blip r:embed="rId3" cstate="print"/>
          <a:srcRect/>
          <a:stretch>
            <a:fillRect/>
          </a:stretch>
        </p:blipFill>
        <p:spPr bwMode="auto">
          <a:xfrm>
            <a:off x="1835696" y="2284015"/>
            <a:ext cx="6324600" cy="2297113"/>
          </a:xfrm>
          <a:prstGeom prst="rect">
            <a:avLst/>
          </a:prstGeom>
          <a:noFill/>
          <a:ln w="9525">
            <a:noFill/>
            <a:miter lim="800000"/>
            <a:headEnd/>
            <a:tailEnd/>
          </a:ln>
          <a:effectLst/>
        </p:spPr>
      </p:pic>
      <p:graphicFrame>
        <p:nvGraphicFramePr>
          <p:cNvPr id="2" name="对象 1"/>
          <p:cNvGraphicFramePr>
            <a:graphicFrameLocks noChangeAspect="1"/>
          </p:cNvGraphicFramePr>
          <p:nvPr>
            <p:extLst>
              <p:ext uri="{D42A27DB-BD31-4B8C-83A1-F6EECF244321}">
                <p14:modId xmlns:p14="http://schemas.microsoft.com/office/powerpoint/2010/main" val="1451867787"/>
              </p:ext>
            </p:extLst>
          </p:nvPr>
        </p:nvGraphicFramePr>
        <p:xfrm>
          <a:off x="3563243" y="1524273"/>
          <a:ext cx="720725" cy="536575"/>
        </p:xfrm>
        <a:graphic>
          <a:graphicData uri="http://schemas.openxmlformats.org/presentationml/2006/ole">
            <mc:AlternateContent xmlns:mc="http://schemas.openxmlformats.org/markup-compatibility/2006">
              <mc:Choice xmlns:v="urn:schemas-microsoft-com:vml" Requires="v">
                <p:oleObj spid="_x0000_s14359" name="Equation" r:id="rId4" imgW="495085" imgH="368140" progId="Equation.3">
                  <p:embed/>
                </p:oleObj>
              </mc:Choice>
              <mc:Fallback>
                <p:oleObj name="Equation" r:id="rId4" imgW="495085" imgH="368140" progId="Equation.3">
                  <p:embed/>
                  <p:pic>
                    <p:nvPicPr>
                      <p:cNvPr id="0" name="对象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63243" y="1524273"/>
                        <a:ext cx="720725"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矩形 2"/>
          <p:cNvSpPr/>
          <p:nvPr/>
        </p:nvSpPr>
        <p:spPr>
          <a:xfrm>
            <a:off x="2267744" y="4941168"/>
            <a:ext cx="4608512" cy="646331"/>
          </a:xfrm>
          <a:prstGeom prst="rect">
            <a:avLst/>
          </a:prstGeom>
        </p:spPr>
        <p:txBody>
          <a:bodyPr wrap="square">
            <a:spAutoFit/>
          </a:bodyPr>
          <a:lstStyle/>
          <a:p>
            <a:pPr lvl="1">
              <a:lnSpc>
                <a:spcPct val="150000"/>
              </a:lnSpc>
            </a:pPr>
            <a:r>
              <a:rPr lang="zh-CN" altLang="en-US" sz="2400" b="1" dirty="0" smtClean="0">
                <a:ea typeface="宋体" charset="-122"/>
              </a:rPr>
              <a:t>滤波器输出：</a:t>
            </a:r>
            <a:r>
              <a:rPr lang="en-US" altLang="zh-CN" sz="2400" b="1" dirty="0" smtClean="0">
                <a:ea typeface="宋体" charset="-122"/>
              </a:rPr>
              <a:t>y(n</a:t>
            </a:r>
            <a:r>
              <a:rPr lang="en-US" altLang="zh-CN" sz="2400" b="1" dirty="0">
                <a:ea typeface="宋体" charset="-122"/>
              </a:rPr>
              <a:t>) </a:t>
            </a:r>
            <a:r>
              <a:rPr lang="en-US" altLang="zh-CN" sz="2400" b="1" dirty="0" smtClean="0">
                <a:ea typeface="宋体" charset="-122"/>
              </a:rPr>
              <a:t>= </a:t>
            </a:r>
            <a:r>
              <a:rPr lang="en-US" altLang="zh-CN" sz="2400" b="1" i="1" dirty="0" err="1" smtClean="0">
                <a:ea typeface="宋体" charset="-122"/>
              </a:rPr>
              <a:t>W</a:t>
            </a:r>
            <a:r>
              <a:rPr lang="en-US" altLang="zh-CN" sz="2400" b="1" baseline="30000" dirty="0" err="1" smtClean="0">
                <a:ea typeface="宋体" charset="-122"/>
              </a:rPr>
              <a:t>T</a:t>
            </a:r>
            <a:r>
              <a:rPr lang="en-US" altLang="zh-CN" sz="2400" b="1" dirty="0" err="1" smtClean="0">
                <a:ea typeface="宋体" charset="-122"/>
              </a:rPr>
              <a:t>u</a:t>
            </a:r>
            <a:r>
              <a:rPr lang="en-US" altLang="zh-CN" sz="2400" b="1" dirty="0" smtClean="0">
                <a:ea typeface="宋体" charset="-122"/>
              </a:rPr>
              <a:t>(n</a:t>
            </a:r>
            <a:r>
              <a:rPr lang="en-US" altLang="zh-CN" sz="2400" b="1" dirty="0">
                <a:ea typeface="宋体" charset="-122"/>
              </a:rPr>
              <a:t>)</a:t>
            </a:r>
          </a:p>
        </p:txBody>
      </p:sp>
    </p:spTree>
    <p:extLst>
      <p:ext uri="{BB962C8B-B14F-4D97-AF65-F5344CB8AC3E}">
        <p14:creationId xmlns:p14="http://schemas.microsoft.com/office/powerpoint/2010/main" val="2762739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zh-CN" altLang="en-US" b="1" dirty="0"/>
              <a:t>最小二乘滤波（</a:t>
            </a:r>
            <a:r>
              <a:rPr lang="en-US" altLang="zh-CN" b="1" dirty="0"/>
              <a:t>LMS Filter</a:t>
            </a:r>
            <a:r>
              <a:rPr lang="zh-CN" altLang="en-US" b="1" dirty="0"/>
              <a:t>）</a:t>
            </a:r>
            <a:endParaRPr lang="zh-TW" altLang="en-US" dirty="0">
              <a:ea typeface="新細明體" pitchFamily="18" charset="-120"/>
            </a:endParaRPr>
          </a:p>
        </p:txBody>
      </p:sp>
      <p:sp>
        <p:nvSpPr>
          <p:cNvPr id="67587" name="Rectangle 3" descr="Rectangle: Click to edit Master text styles&#10;Second level&#10;Third level&#10;Fourth level&#10;Fifth level"/>
          <p:cNvSpPr>
            <a:spLocks noGrp="1" noChangeArrowheads="1"/>
          </p:cNvSpPr>
          <p:nvPr>
            <p:ph type="body" idx="1"/>
          </p:nvPr>
        </p:nvSpPr>
        <p:spPr>
          <a:xfrm>
            <a:off x="971600" y="1700808"/>
            <a:ext cx="8172400" cy="4724400"/>
          </a:xfrm>
        </p:spPr>
        <p:txBody>
          <a:bodyPr/>
          <a:lstStyle/>
          <a:p>
            <a:pPr>
              <a:buFont typeface="Wingdings" pitchFamily="2" charset="2"/>
              <a:buNone/>
            </a:pPr>
            <a:r>
              <a:rPr lang="zh-TW" altLang="en-US" b="1" dirty="0">
                <a:solidFill>
                  <a:srgbClr val="000000"/>
                </a:solidFill>
                <a:latin typeface="AdobePiStd" charset="-122"/>
                <a:ea typeface="AdobePiStd" charset="-122"/>
              </a:rPr>
              <a:t>❏ </a:t>
            </a:r>
            <a:r>
              <a:rPr lang="zh-CN" altLang="en-US" b="1" dirty="0" smtClean="0">
                <a:solidFill>
                  <a:srgbClr val="000000"/>
                </a:solidFill>
                <a:latin typeface="AdobePiStd" charset="-122"/>
                <a:ea typeface="AdobePiStd" charset="-122"/>
              </a:rPr>
              <a:t>由于只能得到关于</a:t>
            </a:r>
            <a:r>
              <a:rPr lang="en-US" altLang="zh-TW" b="1" i="1" dirty="0" smtClean="0">
                <a:solidFill>
                  <a:srgbClr val="000000"/>
                </a:solidFill>
                <a:latin typeface="Arial" pitchFamily="34" charset="0"/>
                <a:ea typeface="AdobePiStd" charset="-122"/>
              </a:rPr>
              <a:t>R</a:t>
            </a:r>
            <a:r>
              <a:rPr lang="zh-CN" altLang="en-US" b="1" dirty="0" smtClean="0">
                <a:solidFill>
                  <a:srgbClr val="000000"/>
                </a:solidFill>
                <a:latin typeface="Arial" pitchFamily="34" charset="0"/>
                <a:ea typeface="AdobePiStd" charset="-122"/>
              </a:rPr>
              <a:t>和</a:t>
            </a:r>
            <a:r>
              <a:rPr lang="en-US" altLang="zh-TW" b="1" i="1" dirty="0" smtClean="0">
                <a:solidFill>
                  <a:srgbClr val="000000"/>
                </a:solidFill>
                <a:latin typeface="Arial" pitchFamily="34" charset="0"/>
                <a:ea typeface="AdobePiStd" charset="-122"/>
              </a:rPr>
              <a:t>p</a:t>
            </a:r>
            <a:r>
              <a:rPr lang="zh-CN" altLang="en-US" b="1" dirty="0" smtClean="0">
                <a:solidFill>
                  <a:srgbClr val="000000"/>
                </a:solidFill>
                <a:latin typeface="Arial" pitchFamily="34" charset="0"/>
                <a:ea typeface="AdobePiStd" charset="-122"/>
              </a:rPr>
              <a:t>的粗略估计，</a:t>
            </a:r>
            <a:r>
              <a:rPr lang="en-US" altLang="zh-TW" b="1" dirty="0" smtClean="0">
                <a:solidFill>
                  <a:srgbClr val="000000"/>
                </a:solidFill>
                <a:latin typeface="Arial" pitchFamily="34" charset="0"/>
                <a:ea typeface="AdobePiStd" charset="-122"/>
              </a:rPr>
              <a:t> </a:t>
            </a:r>
            <a:endParaRPr lang="en-US" altLang="zh-TW" b="1" dirty="0">
              <a:solidFill>
                <a:srgbClr val="000000"/>
              </a:solidFill>
              <a:latin typeface="Arial" pitchFamily="34" charset="0"/>
              <a:ea typeface="AdobePiStd" charset="-122"/>
            </a:endParaRPr>
          </a:p>
          <a:p>
            <a:pPr>
              <a:buFont typeface="Wingdings" pitchFamily="2" charset="2"/>
              <a:buNone/>
            </a:pPr>
            <a:r>
              <a:rPr lang="en-US" altLang="zh-TW" b="1" dirty="0">
                <a:solidFill>
                  <a:srgbClr val="000000"/>
                </a:solidFill>
                <a:latin typeface="Arial" pitchFamily="34" charset="0"/>
                <a:ea typeface="AdobePiStd" charset="-122"/>
              </a:rPr>
              <a:t>    </a:t>
            </a:r>
            <a:r>
              <a:rPr lang="zh-CN" altLang="en-US" b="1" dirty="0" smtClean="0">
                <a:solidFill>
                  <a:srgbClr val="000000"/>
                </a:solidFill>
                <a:latin typeface="Arial" pitchFamily="34" charset="0"/>
                <a:ea typeface="AdobePiStd" charset="-122"/>
              </a:rPr>
              <a:t>每一步的自适应步长是随机的。</a:t>
            </a:r>
            <a:endParaRPr lang="en-US" altLang="zh-TW" b="1" dirty="0">
              <a:solidFill>
                <a:srgbClr val="000000"/>
              </a:solidFill>
              <a:latin typeface="Arial" pitchFamily="34" charset="0"/>
              <a:ea typeface="AdobePiStd" charset="-122"/>
            </a:endParaRPr>
          </a:p>
          <a:p>
            <a:pPr>
              <a:buNone/>
            </a:pPr>
            <a:r>
              <a:rPr lang="en-US" altLang="zh-TW" b="1" dirty="0">
                <a:solidFill>
                  <a:srgbClr val="000000"/>
                </a:solidFill>
                <a:latin typeface="AdobePiStd" charset="-122"/>
                <a:ea typeface="AdobePiStd" charset="-122"/>
              </a:rPr>
              <a:t>❏ </a:t>
            </a:r>
            <a:r>
              <a:rPr lang="zh-CN" altLang="en-US" b="1" dirty="0" smtClean="0">
                <a:solidFill>
                  <a:srgbClr val="000000"/>
                </a:solidFill>
                <a:latin typeface="AdobePiStd" charset="-122"/>
                <a:ea typeface="AdobePiStd" charset="-122"/>
              </a:rPr>
              <a:t>算法中所采用的递归机制，相当于在参数的自适应调整过程中对于每一次的粗略估计进行了有效的平均处理，</a:t>
            </a:r>
            <a:r>
              <a:rPr lang="zh-CN" altLang="en-US" b="1" dirty="0">
                <a:solidFill>
                  <a:srgbClr val="000000"/>
                </a:solidFill>
                <a:latin typeface="AdobePiStd" charset="-122"/>
                <a:ea typeface="AdobePiStd" charset="-122"/>
              </a:rPr>
              <a:t>提高了</a:t>
            </a:r>
            <a:r>
              <a:rPr lang="zh-CN" altLang="en-US" b="1" dirty="0" smtClean="0">
                <a:solidFill>
                  <a:srgbClr val="000000"/>
                </a:solidFill>
                <a:latin typeface="AdobePiStd" charset="-122"/>
                <a:ea typeface="AdobePiStd" charset="-122"/>
              </a:rPr>
              <a:t>整体算法的有效性。</a:t>
            </a:r>
            <a:endParaRPr lang="zh-TW" altLang="en-US" b="1" dirty="0">
              <a:solidFill>
                <a:srgbClr val="000000"/>
              </a:solidFill>
              <a:ea typeface="新細明體" pitchFamily="18" charset="-120"/>
            </a:endParaRPr>
          </a:p>
        </p:txBody>
      </p:sp>
    </p:spTree>
    <p:extLst>
      <p:ext uri="{BB962C8B-B14F-4D97-AF65-F5344CB8AC3E}">
        <p14:creationId xmlns:p14="http://schemas.microsoft.com/office/powerpoint/2010/main" val="382249598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zh-CN" altLang="en-US" b="1" dirty="0"/>
              <a:t>最小二乘滤波（</a:t>
            </a:r>
            <a:r>
              <a:rPr lang="en-US" altLang="zh-CN" b="1" dirty="0"/>
              <a:t>LMS Filter</a:t>
            </a:r>
            <a:r>
              <a:rPr lang="zh-CN" altLang="en-US" b="1" dirty="0"/>
              <a:t>）</a:t>
            </a:r>
            <a:endParaRPr lang="zh-TW" altLang="en-US" dirty="0">
              <a:ea typeface="新細明體" pitchFamily="18" charset="-120"/>
            </a:endParaRPr>
          </a:p>
        </p:txBody>
      </p:sp>
      <p:sp>
        <p:nvSpPr>
          <p:cNvPr id="5" name="矩形 4"/>
          <p:cNvSpPr/>
          <p:nvPr/>
        </p:nvSpPr>
        <p:spPr>
          <a:xfrm>
            <a:off x="899592" y="1484784"/>
            <a:ext cx="4608512" cy="577850"/>
          </a:xfrm>
          <a:prstGeom prst="rect">
            <a:avLst/>
          </a:prstGeom>
        </p:spPr>
        <p:txBody>
          <a:bodyPr wrap="square">
            <a:spAutoFit/>
          </a:bodyPr>
          <a:lstStyle/>
          <a:p>
            <a:pPr lvl="1">
              <a:lnSpc>
                <a:spcPct val="150000"/>
              </a:lnSpc>
            </a:pPr>
            <a:r>
              <a:rPr lang="zh-CN" altLang="en-US" sz="2400" b="1" dirty="0" smtClean="0">
                <a:ea typeface="宋体" charset="-122"/>
              </a:rPr>
              <a:t>收敛性分析</a:t>
            </a:r>
            <a:endParaRPr lang="en-US" altLang="zh-CN" sz="2400" b="1" dirty="0">
              <a:ea typeface="宋体" charset="-122"/>
            </a:endParaRPr>
          </a:p>
        </p:txBody>
      </p:sp>
      <p:pic>
        <p:nvPicPr>
          <p:cNvPr id="6" name="Picture 3"/>
          <p:cNvPicPr>
            <a:picLocks noChangeAspect="1" noChangeArrowheads="1"/>
          </p:cNvPicPr>
          <p:nvPr/>
        </p:nvPicPr>
        <p:blipFill rotWithShape="1">
          <a:blip r:embed="rId2" cstate="print">
            <a:clrChange>
              <a:clrFrom>
                <a:srgbClr val="FFFFFF"/>
              </a:clrFrom>
              <a:clrTo>
                <a:srgbClr val="FFFFFF">
                  <a:alpha val="0"/>
                </a:srgbClr>
              </a:clrTo>
            </a:clrChange>
          </a:blip>
          <a:srcRect b="14709"/>
          <a:stretch/>
        </p:blipFill>
        <p:spPr bwMode="auto">
          <a:xfrm>
            <a:off x="683568" y="2167111"/>
            <a:ext cx="8070500" cy="4142209"/>
          </a:xfrm>
          <a:prstGeom prst="rect">
            <a:avLst/>
          </a:prstGeom>
          <a:noFill/>
          <a:ln w="9525">
            <a:noFill/>
            <a:miter lim="800000"/>
            <a:headEnd/>
            <a:tailEnd/>
          </a:ln>
        </p:spPr>
      </p:pic>
    </p:spTree>
    <p:extLst>
      <p:ext uri="{BB962C8B-B14F-4D97-AF65-F5344CB8AC3E}">
        <p14:creationId xmlns:p14="http://schemas.microsoft.com/office/powerpoint/2010/main" val="249975859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zh-CN" altLang="en-US" b="1" dirty="0"/>
              <a:t>最小二乘滤波（</a:t>
            </a:r>
            <a:r>
              <a:rPr lang="en-US" altLang="zh-CN" b="1" dirty="0"/>
              <a:t>LMS Filter</a:t>
            </a:r>
            <a:r>
              <a:rPr lang="zh-CN" altLang="en-US" b="1" dirty="0"/>
              <a:t>）</a:t>
            </a:r>
            <a:endParaRPr lang="zh-TW" altLang="en-US" dirty="0">
              <a:ea typeface="新細明體" pitchFamily="18" charset="-120"/>
            </a:endParaRPr>
          </a:p>
        </p:txBody>
      </p:sp>
      <p:sp>
        <p:nvSpPr>
          <p:cNvPr id="5" name="矩形 4"/>
          <p:cNvSpPr/>
          <p:nvPr/>
        </p:nvSpPr>
        <p:spPr>
          <a:xfrm>
            <a:off x="899592" y="1484784"/>
            <a:ext cx="4608512" cy="577850"/>
          </a:xfrm>
          <a:prstGeom prst="rect">
            <a:avLst/>
          </a:prstGeom>
        </p:spPr>
        <p:txBody>
          <a:bodyPr wrap="square">
            <a:spAutoFit/>
          </a:bodyPr>
          <a:lstStyle/>
          <a:p>
            <a:pPr lvl="1">
              <a:lnSpc>
                <a:spcPct val="150000"/>
              </a:lnSpc>
            </a:pPr>
            <a:r>
              <a:rPr lang="zh-CN" altLang="en-US" sz="2400" b="1" dirty="0" smtClean="0">
                <a:ea typeface="宋体" charset="-122"/>
              </a:rPr>
              <a:t>收敛性分析</a:t>
            </a:r>
            <a:endParaRPr lang="en-US" altLang="zh-CN" sz="2400" b="1" dirty="0">
              <a:ea typeface="宋体" charset="-122"/>
            </a:endParaRPr>
          </a:p>
        </p:txBody>
      </p:sp>
      <p:sp>
        <p:nvSpPr>
          <p:cNvPr id="6" name="矩形 5"/>
          <p:cNvSpPr/>
          <p:nvPr/>
        </p:nvSpPr>
        <p:spPr>
          <a:xfrm>
            <a:off x="467544" y="2060848"/>
            <a:ext cx="7560840" cy="646331"/>
          </a:xfrm>
          <a:prstGeom prst="rect">
            <a:avLst/>
          </a:prstGeom>
        </p:spPr>
        <p:txBody>
          <a:bodyPr wrap="square">
            <a:spAutoFit/>
          </a:bodyPr>
          <a:lstStyle/>
          <a:p>
            <a:pPr lvl="1">
              <a:lnSpc>
                <a:spcPct val="150000"/>
              </a:lnSpc>
            </a:pPr>
            <a:r>
              <a:rPr lang="zh-CN" altLang="en-US" sz="2400" b="1" dirty="0" smtClean="0">
                <a:ea typeface="宋体" charset="-122"/>
              </a:rPr>
              <a:t>由上述定义可知，</a:t>
            </a:r>
            <a:r>
              <a:rPr lang="en-US" altLang="zh-CN" sz="2400" b="1" dirty="0" smtClean="0">
                <a:ea typeface="宋体" charset="-122"/>
              </a:rPr>
              <a:t>tap-weight-error</a:t>
            </a:r>
            <a:r>
              <a:rPr lang="zh-CN" altLang="en-US" sz="2400" b="1" dirty="0" smtClean="0">
                <a:ea typeface="宋体" charset="-122"/>
              </a:rPr>
              <a:t>的变化率为</a:t>
            </a:r>
            <a:endParaRPr lang="en-US" altLang="zh-CN" sz="2400" b="1" dirty="0">
              <a:ea typeface="宋体" charset="-122"/>
            </a:endParaRPr>
          </a:p>
        </p:txBody>
      </p:sp>
      <p:pic>
        <p:nvPicPr>
          <p:cNvPr id="7" name="Picture 4"/>
          <p:cNvPicPr>
            <a:picLocks noChangeAspect="1" noChangeArrowheads="1"/>
          </p:cNvPicPr>
          <p:nvPr/>
        </p:nvPicPr>
        <p:blipFill>
          <a:blip r:embed="rId2" cstate="print"/>
          <a:srcRect/>
          <a:stretch>
            <a:fillRect/>
          </a:stretch>
        </p:blipFill>
        <p:spPr bwMode="auto">
          <a:xfrm>
            <a:off x="1907704" y="2708920"/>
            <a:ext cx="5616624" cy="1006003"/>
          </a:xfrm>
          <a:prstGeom prst="rect">
            <a:avLst/>
          </a:prstGeom>
          <a:noFill/>
          <a:ln w="9525">
            <a:noFill/>
            <a:miter lim="800000"/>
            <a:headEnd/>
            <a:tailEnd/>
          </a:ln>
          <a:effectLst/>
        </p:spPr>
      </p:pic>
      <p:sp>
        <p:nvSpPr>
          <p:cNvPr id="8" name="矩形 7"/>
          <p:cNvSpPr/>
          <p:nvPr/>
        </p:nvSpPr>
        <p:spPr>
          <a:xfrm>
            <a:off x="539552" y="3718773"/>
            <a:ext cx="7560840" cy="646331"/>
          </a:xfrm>
          <a:prstGeom prst="rect">
            <a:avLst/>
          </a:prstGeom>
        </p:spPr>
        <p:txBody>
          <a:bodyPr wrap="square">
            <a:spAutoFit/>
          </a:bodyPr>
          <a:lstStyle/>
          <a:p>
            <a:pPr lvl="1">
              <a:lnSpc>
                <a:spcPct val="150000"/>
              </a:lnSpc>
            </a:pPr>
            <a:r>
              <a:rPr lang="zh-CN" altLang="en-US" sz="2400" b="1" dirty="0" smtClean="0">
                <a:ea typeface="宋体" charset="-122"/>
              </a:rPr>
              <a:t>计算</a:t>
            </a:r>
            <a:r>
              <a:rPr lang="en-US" altLang="zh-CN" sz="2400" b="1" dirty="0" smtClean="0">
                <a:ea typeface="宋体" charset="-122"/>
              </a:rPr>
              <a:t>tap-weight-error</a:t>
            </a:r>
            <a:r>
              <a:rPr lang="zh-CN" altLang="en-US" sz="2400" b="1" dirty="0" smtClean="0">
                <a:ea typeface="宋体" charset="-122"/>
              </a:rPr>
              <a:t>的自相关矩阵</a:t>
            </a:r>
            <a:r>
              <a:rPr lang="en-US" altLang="zh-CN" sz="2400" b="1" dirty="0" smtClean="0">
                <a:ea typeface="宋体" charset="-122"/>
              </a:rPr>
              <a:t>K</a:t>
            </a:r>
            <a:r>
              <a:rPr lang="zh-CN" altLang="en-US" sz="2400" b="1" dirty="0" smtClean="0">
                <a:ea typeface="宋体" charset="-122"/>
              </a:rPr>
              <a:t>，</a:t>
            </a:r>
            <a:endParaRPr lang="en-US" altLang="zh-CN" sz="2400" b="1" dirty="0" smtClean="0">
              <a:ea typeface="宋体" charset="-122"/>
            </a:endParaRPr>
          </a:p>
        </p:txBody>
      </p:sp>
      <p:sp>
        <p:nvSpPr>
          <p:cNvPr id="2" name="矩形 1"/>
          <p:cNvSpPr/>
          <p:nvPr/>
        </p:nvSpPr>
        <p:spPr>
          <a:xfrm>
            <a:off x="611560" y="5733256"/>
            <a:ext cx="8388424" cy="646331"/>
          </a:xfrm>
          <a:prstGeom prst="rect">
            <a:avLst/>
          </a:prstGeom>
        </p:spPr>
        <p:txBody>
          <a:bodyPr wrap="square">
            <a:spAutoFit/>
          </a:bodyPr>
          <a:lstStyle/>
          <a:p>
            <a:pPr lvl="1">
              <a:lnSpc>
                <a:spcPct val="150000"/>
              </a:lnSpc>
            </a:pPr>
            <a:r>
              <a:rPr lang="zh-CN" altLang="en-US" sz="2400" b="1" dirty="0">
                <a:ea typeface="宋体" charset="-122"/>
              </a:rPr>
              <a:t>为此，</a:t>
            </a:r>
            <a:r>
              <a:rPr lang="en-US" altLang="zh-CN" sz="2400" b="1" dirty="0">
                <a:ea typeface="宋体" charset="-122"/>
              </a:rPr>
              <a:t> </a:t>
            </a:r>
            <a:r>
              <a:rPr lang="en-US" altLang="zh-CN" sz="2400" b="1" dirty="0" smtClean="0">
                <a:ea typeface="宋体" charset="-122"/>
              </a:rPr>
              <a:t>LMS</a:t>
            </a:r>
            <a:r>
              <a:rPr lang="zh-CN" altLang="en-US" sz="2400" b="1" dirty="0" smtClean="0">
                <a:ea typeface="宋体" charset="-122"/>
              </a:rPr>
              <a:t>算法的</a:t>
            </a:r>
            <a:r>
              <a:rPr lang="zh-CN" altLang="en-US" sz="2400" b="1" dirty="0">
                <a:ea typeface="宋体" charset="-122"/>
              </a:rPr>
              <a:t>收敛性</a:t>
            </a:r>
            <a:r>
              <a:rPr lang="zh-CN" altLang="en-US" sz="2400" b="1" dirty="0" smtClean="0">
                <a:ea typeface="宋体" charset="-122"/>
              </a:rPr>
              <a:t>与（</a:t>
            </a:r>
            <a:r>
              <a:rPr lang="en-US" altLang="zh-CN" sz="2400" b="1" dirty="0" smtClean="0">
                <a:ea typeface="宋体" charset="-122"/>
              </a:rPr>
              <a:t>I-</a:t>
            </a:r>
            <a:r>
              <a:rPr lang="el-GR" altLang="zh-CN" sz="2400" b="1" dirty="0">
                <a:latin typeface="Times New Roman"/>
                <a:ea typeface="宋体" charset="-122"/>
                <a:cs typeface="Times New Roman"/>
              </a:rPr>
              <a:t>μ</a:t>
            </a:r>
            <a:r>
              <a:rPr lang="en-US" altLang="zh-CN" sz="2400" b="1" dirty="0" smtClean="0">
                <a:latin typeface="Times New Roman"/>
                <a:ea typeface="宋体" charset="-122"/>
                <a:cs typeface="Times New Roman"/>
              </a:rPr>
              <a:t>R</a:t>
            </a:r>
            <a:r>
              <a:rPr lang="zh-CN" altLang="en-US" sz="2400" b="1" dirty="0" smtClean="0">
                <a:latin typeface="Times New Roman"/>
                <a:ea typeface="宋体" charset="-122"/>
                <a:cs typeface="Times New Roman"/>
              </a:rPr>
              <a:t>）的平方有着</a:t>
            </a:r>
            <a:r>
              <a:rPr lang="zh-CN" altLang="en-US" sz="2400" b="1" dirty="0">
                <a:latin typeface="Times New Roman"/>
                <a:ea typeface="宋体" charset="-122"/>
                <a:cs typeface="Times New Roman"/>
              </a:rPr>
              <a:t>极大关系。</a:t>
            </a:r>
            <a:endParaRPr lang="en-US" altLang="zh-CN" sz="2400" b="1" dirty="0">
              <a:ea typeface="宋体" charset="-122"/>
            </a:endParaRPr>
          </a:p>
        </p:txBody>
      </p:sp>
      <p:pic>
        <p:nvPicPr>
          <p:cNvPr id="9" name="Picture 3"/>
          <p:cNvPicPr>
            <a:picLocks noChangeAspect="1" noChangeArrowheads="1"/>
          </p:cNvPicPr>
          <p:nvPr/>
        </p:nvPicPr>
        <p:blipFill rotWithShape="1">
          <a:blip r:embed="rId3" cstate="print"/>
          <a:srcRect t="10727" b="64919"/>
          <a:stretch/>
        </p:blipFill>
        <p:spPr bwMode="auto">
          <a:xfrm>
            <a:off x="323528" y="4509120"/>
            <a:ext cx="7655768" cy="1095788"/>
          </a:xfrm>
          <a:prstGeom prst="rect">
            <a:avLst/>
          </a:prstGeom>
          <a:noFill/>
          <a:ln w="9525">
            <a:noFill/>
            <a:miter lim="800000"/>
            <a:headEnd/>
            <a:tailEnd/>
          </a:ln>
        </p:spPr>
      </p:pic>
    </p:spTree>
    <p:extLst>
      <p:ext uri="{BB962C8B-B14F-4D97-AF65-F5344CB8AC3E}">
        <p14:creationId xmlns:p14="http://schemas.microsoft.com/office/powerpoint/2010/main" val="1181929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ppt_x"/>
                                          </p:val>
                                        </p:tav>
                                        <p:tav tm="100000">
                                          <p:val>
                                            <p:strVal val="#ppt_x"/>
                                          </p:val>
                                        </p:tav>
                                      </p:tavLst>
                                    </p:anim>
                                    <p:anim calcmode="lin" valueType="num">
                                      <p:cBhvr additive="base">
                                        <p:cTn id="2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500" fill="hold"/>
                                        <p:tgtEl>
                                          <p:spTgt spid="2"/>
                                        </p:tgtEl>
                                        <p:attrNameLst>
                                          <p:attrName>ppt_x</p:attrName>
                                        </p:attrNameLst>
                                      </p:cBhvr>
                                      <p:tavLst>
                                        <p:tav tm="0">
                                          <p:val>
                                            <p:strVal val="#ppt_x"/>
                                          </p:val>
                                        </p:tav>
                                        <p:tav tm="100000">
                                          <p:val>
                                            <p:strVal val="#ppt_x"/>
                                          </p:val>
                                        </p:tav>
                                      </p:tavLst>
                                    </p:anim>
                                    <p:anim calcmode="lin" valueType="num">
                                      <p:cBhvr additive="base">
                                        <p:cTn id="2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zh-CN" altLang="en-US" b="1" dirty="0"/>
              <a:t>最小二乘滤波（</a:t>
            </a:r>
            <a:r>
              <a:rPr lang="en-US" altLang="zh-CN" b="1" dirty="0"/>
              <a:t>LMS Filter</a:t>
            </a:r>
            <a:r>
              <a:rPr lang="zh-CN" altLang="en-US" b="1" dirty="0"/>
              <a:t>）</a:t>
            </a:r>
            <a:endParaRPr lang="zh-TW" altLang="en-US" dirty="0">
              <a:ea typeface="新細明體" pitchFamily="18" charset="-120"/>
            </a:endParaRPr>
          </a:p>
        </p:txBody>
      </p:sp>
      <p:sp>
        <p:nvSpPr>
          <p:cNvPr id="5" name="矩形 4"/>
          <p:cNvSpPr/>
          <p:nvPr/>
        </p:nvSpPr>
        <p:spPr>
          <a:xfrm>
            <a:off x="899592" y="1484784"/>
            <a:ext cx="4608512" cy="577850"/>
          </a:xfrm>
          <a:prstGeom prst="rect">
            <a:avLst/>
          </a:prstGeom>
        </p:spPr>
        <p:txBody>
          <a:bodyPr wrap="square">
            <a:spAutoFit/>
          </a:bodyPr>
          <a:lstStyle/>
          <a:p>
            <a:pPr lvl="1">
              <a:lnSpc>
                <a:spcPct val="150000"/>
              </a:lnSpc>
            </a:pPr>
            <a:r>
              <a:rPr lang="zh-CN" altLang="en-US" sz="2400" b="1" dirty="0" smtClean="0">
                <a:ea typeface="宋体" charset="-122"/>
              </a:rPr>
              <a:t>收敛性分析</a:t>
            </a:r>
            <a:endParaRPr lang="en-US" altLang="zh-CN" sz="2400" b="1" dirty="0">
              <a:ea typeface="宋体" charset="-122"/>
            </a:endParaRPr>
          </a:p>
        </p:txBody>
      </p:sp>
      <p:sp>
        <p:nvSpPr>
          <p:cNvPr id="6" name="矩形 5"/>
          <p:cNvSpPr/>
          <p:nvPr/>
        </p:nvSpPr>
        <p:spPr>
          <a:xfrm>
            <a:off x="467544" y="2204864"/>
            <a:ext cx="8676456" cy="646331"/>
          </a:xfrm>
          <a:prstGeom prst="rect">
            <a:avLst/>
          </a:prstGeom>
        </p:spPr>
        <p:txBody>
          <a:bodyPr wrap="square">
            <a:spAutoFit/>
          </a:bodyPr>
          <a:lstStyle/>
          <a:p>
            <a:pPr lvl="1">
              <a:lnSpc>
                <a:spcPct val="150000"/>
              </a:lnSpc>
            </a:pPr>
            <a:r>
              <a:rPr lang="zh-CN" altLang="en-US" sz="2400" b="1" dirty="0" smtClean="0">
                <a:ea typeface="宋体" charset="-122"/>
              </a:rPr>
              <a:t>对于回归式                                          ，其中</a:t>
            </a:r>
            <a:r>
              <a:rPr lang="el-GR" altLang="zh-CN" sz="2400" b="1" dirty="0" smtClean="0">
                <a:latin typeface="Times New Roman"/>
                <a:ea typeface="宋体" charset="-122"/>
                <a:cs typeface="Times New Roman"/>
              </a:rPr>
              <a:t>λ</a:t>
            </a:r>
            <a:r>
              <a:rPr lang="zh-CN" altLang="en-US" sz="2400" b="1" dirty="0" smtClean="0">
                <a:latin typeface="Times New Roman"/>
                <a:ea typeface="宋体" charset="-122"/>
                <a:cs typeface="Times New Roman"/>
              </a:rPr>
              <a:t>是</a:t>
            </a:r>
            <a:r>
              <a:rPr lang="en-US" altLang="zh-CN" sz="2400" b="1" dirty="0" smtClean="0">
                <a:latin typeface="Times New Roman"/>
                <a:ea typeface="宋体" charset="-122"/>
                <a:cs typeface="Times New Roman"/>
              </a:rPr>
              <a:t>R</a:t>
            </a:r>
            <a:r>
              <a:rPr lang="zh-CN" altLang="en-US" sz="2400" b="1" dirty="0" smtClean="0">
                <a:latin typeface="Times New Roman"/>
                <a:ea typeface="宋体" charset="-122"/>
                <a:cs typeface="Times New Roman"/>
              </a:rPr>
              <a:t>的特征值，</a:t>
            </a:r>
            <a:endParaRPr lang="en-US" altLang="zh-CN" sz="2400" b="1" dirty="0">
              <a:ea typeface="宋体" charset="-122"/>
            </a:endParaRPr>
          </a:p>
        </p:txBody>
      </p:sp>
      <p:sp>
        <p:nvSpPr>
          <p:cNvPr id="8" name="矩形 7"/>
          <p:cNvSpPr/>
          <p:nvPr/>
        </p:nvSpPr>
        <p:spPr>
          <a:xfrm>
            <a:off x="395536" y="3936583"/>
            <a:ext cx="7560840" cy="577850"/>
          </a:xfrm>
          <a:prstGeom prst="rect">
            <a:avLst/>
          </a:prstGeom>
        </p:spPr>
        <p:txBody>
          <a:bodyPr wrap="square">
            <a:spAutoFit/>
          </a:bodyPr>
          <a:lstStyle/>
          <a:p>
            <a:pPr lvl="1">
              <a:lnSpc>
                <a:spcPct val="150000"/>
              </a:lnSpc>
            </a:pPr>
            <a:r>
              <a:rPr lang="zh-CN" altLang="en-US" sz="2400" b="1" dirty="0" smtClean="0">
                <a:ea typeface="宋体" charset="-122"/>
              </a:rPr>
              <a:t>也就是说</a:t>
            </a:r>
            <a:r>
              <a:rPr lang="en-US" altLang="zh-CN" sz="2400" b="1" dirty="0" smtClean="0">
                <a:ea typeface="宋体" charset="-122"/>
              </a:rPr>
              <a:t>LMS</a:t>
            </a:r>
            <a:r>
              <a:rPr lang="zh-CN" altLang="en-US" sz="2400" b="1" dirty="0" smtClean="0">
                <a:ea typeface="宋体" charset="-122"/>
              </a:rPr>
              <a:t>算法收敛的必要条件是</a:t>
            </a:r>
            <a:endParaRPr lang="en-US" altLang="zh-CN" sz="2400" b="1" dirty="0" smtClean="0">
              <a:ea typeface="宋体" charset="-122"/>
            </a:endParaRPr>
          </a:p>
        </p:txBody>
      </p:sp>
      <p:pic>
        <p:nvPicPr>
          <p:cNvPr id="10" name="Picture 3"/>
          <p:cNvPicPr>
            <a:picLocks noChangeAspect="1" noChangeArrowheads="1"/>
          </p:cNvPicPr>
          <p:nvPr/>
        </p:nvPicPr>
        <p:blipFill rotWithShape="1">
          <a:blip r:embed="rId2" cstate="print"/>
          <a:srcRect t="76651" b="1"/>
          <a:stretch/>
        </p:blipFill>
        <p:spPr bwMode="auto">
          <a:xfrm>
            <a:off x="867656" y="4581128"/>
            <a:ext cx="7898026" cy="1116121"/>
          </a:xfrm>
          <a:prstGeom prst="rect">
            <a:avLst/>
          </a:prstGeom>
          <a:noFill/>
          <a:ln w="9525">
            <a:noFill/>
            <a:miter lim="800000"/>
            <a:headEnd/>
            <a:tailEnd/>
          </a:ln>
        </p:spPr>
      </p:pic>
      <p:pic>
        <p:nvPicPr>
          <p:cNvPr id="11" name="Picture 3"/>
          <p:cNvPicPr>
            <a:picLocks noChangeAspect="1" noChangeArrowheads="1"/>
          </p:cNvPicPr>
          <p:nvPr/>
        </p:nvPicPr>
        <p:blipFill rotWithShape="1">
          <a:blip r:embed="rId2" cstate="print"/>
          <a:srcRect l="18165" t="59618" r="37293" b="29553"/>
          <a:stretch/>
        </p:blipFill>
        <p:spPr bwMode="auto">
          <a:xfrm>
            <a:off x="2638276" y="2335270"/>
            <a:ext cx="3517900" cy="517666"/>
          </a:xfrm>
          <a:prstGeom prst="rect">
            <a:avLst/>
          </a:prstGeom>
          <a:noFill/>
          <a:ln w="9525">
            <a:noFill/>
            <a:miter lim="800000"/>
            <a:headEnd/>
            <a:tailEnd/>
          </a:ln>
        </p:spPr>
      </p:pic>
      <p:sp>
        <p:nvSpPr>
          <p:cNvPr id="12" name="矩形 11"/>
          <p:cNvSpPr/>
          <p:nvPr/>
        </p:nvSpPr>
        <p:spPr>
          <a:xfrm>
            <a:off x="395536" y="2996952"/>
            <a:ext cx="7560840" cy="577850"/>
          </a:xfrm>
          <a:prstGeom prst="rect">
            <a:avLst/>
          </a:prstGeom>
        </p:spPr>
        <p:txBody>
          <a:bodyPr wrap="square">
            <a:spAutoFit/>
          </a:bodyPr>
          <a:lstStyle/>
          <a:p>
            <a:pPr lvl="1">
              <a:lnSpc>
                <a:spcPct val="150000"/>
              </a:lnSpc>
            </a:pPr>
            <a:r>
              <a:rPr lang="zh-CN" altLang="en-US" sz="2400" b="1" dirty="0" smtClean="0">
                <a:ea typeface="宋体" charset="-122"/>
              </a:rPr>
              <a:t>其收敛的必要条件是</a:t>
            </a:r>
            <a:endParaRPr lang="en-US" altLang="zh-CN" sz="2400" b="1" dirty="0">
              <a:ea typeface="宋体" charset="-122"/>
            </a:endParaRPr>
          </a:p>
        </p:txBody>
      </p:sp>
      <p:pic>
        <p:nvPicPr>
          <p:cNvPr id="15" name="Picture 3"/>
          <p:cNvPicPr>
            <a:picLocks noChangeAspect="1" noChangeArrowheads="1"/>
          </p:cNvPicPr>
          <p:nvPr/>
        </p:nvPicPr>
        <p:blipFill rotWithShape="1">
          <a:blip r:embed="rId2" cstate="print"/>
          <a:srcRect l="78116" t="59618" r="4518" b="28331"/>
          <a:stretch/>
        </p:blipFill>
        <p:spPr bwMode="auto">
          <a:xfrm>
            <a:off x="3851920" y="3142754"/>
            <a:ext cx="1371600" cy="576064"/>
          </a:xfrm>
          <a:prstGeom prst="rect">
            <a:avLst/>
          </a:prstGeom>
          <a:noFill/>
          <a:ln w="9525">
            <a:noFill/>
            <a:miter lim="800000"/>
            <a:headEnd/>
            <a:tailEnd/>
          </a:ln>
        </p:spPr>
      </p:pic>
    </p:spTree>
    <p:extLst>
      <p:ext uri="{BB962C8B-B14F-4D97-AF65-F5344CB8AC3E}">
        <p14:creationId xmlns:p14="http://schemas.microsoft.com/office/powerpoint/2010/main" val="248935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ppt_x"/>
                                          </p:val>
                                        </p:tav>
                                        <p:tav tm="100000">
                                          <p:val>
                                            <p:strVal val="#ppt_x"/>
                                          </p:val>
                                        </p:tav>
                                      </p:tavLst>
                                    </p:anim>
                                    <p:anim calcmode="lin" valueType="num">
                                      <p:cBhvr additive="base">
                                        <p:cTn id="18" dur="500" fill="hold"/>
                                        <p:tgtEl>
                                          <p:spTgt spid="12"/>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ppt_x"/>
                                          </p:val>
                                        </p:tav>
                                        <p:tav tm="100000">
                                          <p:val>
                                            <p:strVal val="#ppt_x"/>
                                          </p:val>
                                        </p:tav>
                                      </p:tavLst>
                                    </p:anim>
                                    <p:anim calcmode="lin" valueType="num">
                                      <p:cBhvr additive="base">
                                        <p:cTn id="2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2"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zh-CN" altLang="en-US" b="1" dirty="0"/>
              <a:t>最小二乘滤波（</a:t>
            </a:r>
            <a:r>
              <a:rPr lang="en-US" altLang="zh-CN" b="1" dirty="0"/>
              <a:t>LMS Filter</a:t>
            </a:r>
            <a:r>
              <a:rPr lang="zh-CN" altLang="en-US" b="1" dirty="0"/>
              <a:t>）</a:t>
            </a:r>
            <a:endParaRPr lang="zh-TW" altLang="en-US" dirty="0">
              <a:ea typeface="新細明體" pitchFamily="18" charset="-120"/>
            </a:endParaRPr>
          </a:p>
        </p:txBody>
      </p:sp>
      <p:sp>
        <p:nvSpPr>
          <p:cNvPr id="5" name="矩形 4"/>
          <p:cNvSpPr/>
          <p:nvPr/>
        </p:nvSpPr>
        <p:spPr>
          <a:xfrm>
            <a:off x="899592" y="1484784"/>
            <a:ext cx="4608512" cy="577850"/>
          </a:xfrm>
          <a:prstGeom prst="rect">
            <a:avLst/>
          </a:prstGeom>
        </p:spPr>
        <p:txBody>
          <a:bodyPr wrap="square">
            <a:spAutoFit/>
          </a:bodyPr>
          <a:lstStyle/>
          <a:p>
            <a:pPr lvl="1">
              <a:lnSpc>
                <a:spcPct val="150000"/>
              </a:lnSpc>
            </a:pPr>
            <a:r>
              <a:rPr lang="zh-CN" altLang="en-US" sz="2400" b="1" dirty="0" smtClean="0">
                <a:ea typeface="宋体" charset="-122"/>
              </a:rPr>
              <a:t>收敛性分析</a:t>
            </a:r>
            <a:endParaRPr lang="en-US" altLang="zh-CN" sz="2400" b="1" dirty="0">
              <a:ea typeface="宋体" charset="-122"/>
            </a:endParaRPr>
          </a:p>
        </p:txBody>
      </p:sp>
      <p:pic>
        <p:nvPicPr>
          <p:cNvPr id="13" name="Picture 4"/>
          <p:cNvPicPr>
            <a:picLocks noChangeAspect="1" noChangeArrowheads="1"/>
          </p:cNvPicPr>
          <p:nvPr/>
        </p:nvPicPr>
        <p:blipFill>
          <a:blip r:embed="rId2" cstate="print"/>
          <a:srcRect/>
          <a:stretch>
            <a:fillRect/>
          </a:stretch>
        </p:blipFill>
        <p:spPr bwMode="auto">
          <a:xfrm>
            <a:off x="3036007" y="2852936"/>
            <a:ext cx="2544105" cy="792088"/>
          </a:xfrm>
          <a:prstGeom prst="rect">
            <a:avLst/>
          </a:prstGeom>
          <a:noFill/>
          <a:ln w="9525">
            <a:noFill/>
            <a:miter lim="800000"/>
            <a:headEnd/>
            <a:tailEnd/>
          </a:ln>
          <a:effectLst/>
        </p:spPr>
      </p:pic>
      <p:sp>
        <p:nvSpPr>
          <p:cNvPr id="14" name="矩形 13"/>
          <p:cNvSpPr/>
          <p:nvPr/>
        </p:nvSpPr>
        <p:spPr>
          <a:xfrm>
            <a:off x="539552" y="2059062"/>
            <a:ext cx="4608512" cy="577850"/>
          </a:xfrm>
          <a:prstGeom prst="rect">
            <a:avLst/>
          </a:prstGeom>
        </p:spPr>
        <p:txBody>
          <a:bodyPr wrap="square">
            <a:spAutoFit/>
          </a:bodyPr>
          <a:lstStyle/>
          <a:p>
            <a:pPr lvl="1">
              <a:lnSpc>
                <a:spcPct val="150000"/>
              </a:lnSpc>
            </a:pPr>
            <a:r>
              <a:rPr lang="zh-CN" altLang="en-US" sz="2400" b="1" dirty="0" smtClean="0">
                <a:ea typeface="宋体" charset="-122"/>
              </a:rPr>
              <a:t>步长的选择</a:t>
            </a:r>
            <a:endParaRPr lang="en-US" altLang="zh-CN" sz="2400" b="1" dirty="0">
              <a:ea typeface="宋体" charset="-122"/>
            </a:endParaRPr>
          </a:p>
        </p:txBody>
      </p:sp>
      <p:pic>
        <p:nvPicPr>
          <p:cNvPr id="16" name="Picture 5"/>
          <p:cNvPicPr>
            <a:picLocks noChangeAspect="1" noChangeArrowheads="1"/>
          </p:cNvPicPr>
          <p:nvPr/>
        </p:nvPicPr>
        <p:blipFill>
          <a:blip r:embed="rId3" cstate="print"/>
          <a:srcRect/>
          <a:stretch>
            <a:fillRect/>
          </a:stretch>
        </p:blipFill>
        <p:spPr bwMode="auto">
          <a:xfrm>
            <a:off x="1331640" y="3883712"/>
            <a:ext cx="7291628" cy="2137576"/>
          </a:xfrm>
          <a:prstGeom prst="rect">
            <a:avLst/>
          </a:prstGeom>
          <a:noFill/>
          <a:ln w="9525">
            <a:noFill/>
            <a:miter lim="800000"/>
            <a:headEnd/>
            <a:tailEnd/>
          </a:ln>
          <a:effectLst/>
        </p:spPr>
      </p:pic>
    </p:spTree>
    <p:extLst>
      <p:ext uri="{BB962C8B-B14F-4D97-AF65-F5344CB8AC3E}">
        <p14:creationId xmlns:p14="http://schemas.microsoft.com/office/powerpoint/2010/main" val="3234098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fill="hold"/>
                                        <p:tgtEl>
                                          <p:spTgt spid="16"/>
                                        </p:tgtEl>
                                        <p:attrNameLst>
                                          <p:attrName>ppt_x</p:attrName>
                                        </p:attrNameLst>
                                      </p:cBhvr>
                                      <p:tavLst>
                                        <p:tav tm="0">
                                          <p:val>
                                            <p:strVal val="#ppt_x"/>
                                          </p:val>
                                        </p:tav>
                                        <p:tav tm="100000">
                                          <p:val>
                                            <p:strVal val="#ppt_x"/>
                                          </p:val>
                                        </p:tav>
                                      </p:tavLst>
                                    </p:anim>
                                    <p:anim calcmode="lin" valueType="num">
                                      <p:cBhvr additive="base">
                                        <p:cTn id="1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theme/theme1.xml><?xml version="1.0" encoding="utf-8"?>
<a:theme xmlns:a="http://schemas.openxmlformats.org/drawingml/2006/main" name="主题1">
  <a:themeElements>
    <a:clrScheme name="默认设计模板 8">
      <a:dk1>
        <a:srgbClr val="3333FF"/>
      </a:dk1>
      <a:lt1>
        <a:srgbClr val="FFFFFF"/>
      </a:lt1>
      <a:dk2>
        <a:srgbClr val="FF9900"/>
      </a:dk2>
      <a:lt2>
        <a:srgbClr val="808080"/>
      </a:lt2>
      <a:accent1>
        <a:srgbClr val="00CCFF"/>
      </a:accent1>
      <a:accent2>
        <a:srgbClr val="3333CC"/>
      </a:accent2>
      <a:accent3>
        <a:srgbClr val="FFFFFF"/>
      </a:accent3>
      <a:accent4>
        <a:srgbClr val="2A2ADA"/>
      </a:accent4>
      <a:accent5>
        <a:srgbClr val="AAE2FF"/>
      </a:accent5>
      <a:accent6>
        <a:srgbClr val="2D2DB9"/>
      </a:accent6>
      <a:hlink>
        <a:srgbClr val="CCCCFF"/>
      </a:hlink>
      <a:folHlink>
        <a:srgbClr val="B2B2B2"/>
      </a:folHlink>
    </a:clrScheme>
    <a:fontScheme name="默认设计模板">
      <a:majorFont>
        <a:latin typeface="Times New Roman"/>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hlink"/>
          </a:solidFill>
          <a:prstDash val="solid"/>
          <a:round/>
          <a:headEnd type="triangle" w="med" len="med"/>
          <a:tailEnd type="triangl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2800" b="1" i="0" u="none" strike="noStrike" cap="none" normalizeH="0" baseline="0" smtClean="0">
            <a:ln>
              <a:noFill/>
            </a:ln>
            <a:solidFill>
              <a:srgbClr val="003366"/>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noFill/>
        <a:ln w="9525" cap="flat" cmpd="sng" algn="ctr">
          <a:solidFill>
            <a:schemeClr val="hlink"/>
          </a:solidFill>
          <a:prstDash val="solid"/>
          <a:round/>
          <a:headEnd type="triangle" w="med" len="med"/>
          <a:tailEnd type="triangl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2800" b="1" i="0" u="none" strike="noStrike" cap="none" normalizeH="0" baseline="0" smtClean="0">
            <a:ln>
              <a:noFill/>
            </a:ln>
            <a:solidFill>
              <a:srgbClr val="003366"/>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默认设计模板 8">
        <a:dk1>
          <a:srgbClr val="3333FF"/>
        </a:dk1>
        <a:lt1>
          <a:srgbClr val="FFFFFF"/>
        </a:lt1>
        <a:dk2>
          <a:srgbClr val="FF9900"/>
        </a:dk2>
        <a:lt2>
          <a:srgbClr val="808080"/>
        </a:lt2>
        <a:accent1>
          <a:srgbClr val="00CCFF"/>
        </a:accent1>
        <a:accent2>
          <a:srgbClr val="3333CC"/>
        </a:accent2>
        <a:accent3>
          <a:srgbClr val="FFFFFF"/>
        </a:accent3>
        <a:accent4>
          <a:srgbClr val="2A2ADA"/>
        </a:accent4>
        <a:accent5>
          <a:srgbClr val="AAE2FF"/>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9199</TotalTime>
  <Words>1712</Words>
  <Application>Microsoft Office PowerPoint</Application>
  <PresentationFormat>全屏显示(4:3)</PresentationFormat>
  <Paragraphs>243</Paragraphs>
  <Slides>42</Slides>
  <Notes>5</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42</vt:i4>
      </vt:variant>
    </vt:vector>
  </HeadingPairs>
  <TitlesOfParts>
    <vt:vector size="44" baseType="lpstr">
      <vt:lpstr>主题1</vt:lpstr>
      <vt:lpstr>Equation</vt:lpstr>
      <vt:lpstr>信号与图像处理基础</vt:lpstr>
      <vt:lpstr>主要内容</vt:lpstr>
      <vt:lpstr>4.1 自适应滤波综述</vt:lpstr>
      <vt:lpstr>自适应滤波</vt:lpstr>
      <vt:lpstr>自适应滤波</vt:lpstr>
      <vt:lpstr>自适应滤波</vt:lpstr>
      <vt:lpstr>自适应滤波的应用：系统辨识</vt:lpstr>
      <vt:lpstr>自适应滤波的应用：信道均衡</vt:lpstr>
      <vt:lpstr>自适应滤波的应用：信道均衡</vt:lpstr>
      <vt:lpstr>自适应滤波的应用：预测估计</vt:lpstr>
      <vt:lpstr>自适应滤波的应用：预测估计</vt:lpstr>
      <vt:lpstr>自适应滤波的应用：消除干扰</vt:lpstr>
      <vt:lpstr>自适应滤波的应用：消除噪声</vt:lpstr>
      <vt:lpstr>自适应滤波的应用：消除噪声</vt:lpstr>
      <vt:lpstr>自适应滤波的应用：消除干扰</vt:lpstr>
      <vt:lpstr>自适应滤波的应用：消除回声</vt:lpstr>
      <vt:lpstr>自适应滤波的应用：消除回声</vt:lpstr>
      <vt:lpstr>4.2 维纳滤波</vt:lpstr>
      <vt:lpstr>维纳滤波</vt:lpstr>
      <vt:lpstr>维纳滤波</vt:lpstr>
      <vt:lpstr>维纳滤波</vt:lpstr>
      <vt:lpstr>二次型代价函数</vt:lpstr>
      <vt:lpstr>维纳滤波</vt:lpstr>
      <vt:lpstr>维纳滤波</vt:lpstr>
      <vt:lpstr>维纳滤波</vt:lpstr>
      <vt:lpstr>4.3 最小二乘滤波（LMS Filter）</vt:lpstr>
      <vt:lpstr>最小二乘滤波（LMS Filter）</vt:lpstr>
      <vt:lpstr>最小二乘滤波（LMS Filter）</vt:lpstr>
      <vt:lpstr>最小二乘滤波（LMS Filter）</vt:lpstr>
      <vt:lpstr>最小二乘滤波（LMS Filter）</vt:lpstr>
      <vt:lpstr>最小二乘滤波（LMS Filter）</vt:lpstr>
      <vt:lpstr>最小二乘滤波（LMS Filter）</vt:lpstr>
      <vt:lpstr>最小二乘滤波（LMS Filter）</vt:lpstr>
      <vt:lpstr>最小二乘滤波（LMS Filter）</vt:lpstr>
      <vt:lpstr>最小二乘滤波（LMS Filter）</vt:lpstr>
      <vt:lpstr>最小二乘滤波（LMS Filter）</vt:lpstr>
      <vt:lpstr>最小二乘滤波（LMS Filter）</vt:lpstr>
      <vt:lpstr>最小二乘滤波（LMS Filter）</vt:lpstr>
      <vt:lpstr>最小二乘滤波（LMS Filter）</vt:lpstr>
      <vt:lpstr>最小二乘滤波（LMS Filter）</vt:lpstr>
      <vt:lpstr>最小二乘滤波（LMS Filter）</vt:lpstr>
      <vt:lpstr>最小二乘滤波（LMS Filter）</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基于彩色和深度信息融合的  车辆形状检测</dc:title>
  <dc:creator>Administrator</dc:creator>
  <cp:lastModifiedBy>NTKO</cp:lastModifiedBy>
  <cp:revision>509</cp:revision>
  <dcterms:modified xsi:type="dcterms:W3CDTF">2018-04-18T09:34:31Z</dcterms:modified>
</cp:coreProperties>
</file>